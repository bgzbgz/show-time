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5" r:id="rId1"/>
    <p:sldMasterId id="2147483666" r:id="rId2"/>
    <p:sldMasterId id="2147483673" r:id="rId3"/>
  </p:sldMasterIdLst>
  <p:notesMasterIdLst>
    <p:notesMasterId r:id="rId8"/>
  </p:notesMasterIdLst>
  <p:handoutMasterIdLst>
    <p:handoutMasterId r:id="rId9"/>
  </p:handoutMasterIdLst>
  <p:sldIdLst>
    <p:sldId id="651" r:id="rId4"/>
    <p:sldId id="625" r:id="rId5"/>
    <p:sldId id="650" r:id="rId6"/>
    <p:sldId id="384" r:id="rId7"/>
  </p:sldIdLst>
  <p:sldSz cx="6858000" cy="9906000" type="A4"/>
  <p:notesSz cx="7315200" cy="9601200"/>
  <p:embeddedFontLst>
    <p:embeddedFont>
      <p:font typeface="Monument Grotesk Mono" panose="02010504030000020004" pitchFamily="2" charset="0"/>
      <p:regular r:id="rId10"/>
    </p:embeddedFont>
    <p:embeddedFont>
      <p:font typeface="MonumentGrotesk-Mono" panose="02010504030000020004" pitchFamily="2" charset="0"/>
      <p:regular r:id="rId11"/>
    </p:embeddedFont>
    <p:embeddedFont>
      <p:font typeface="Plaak 3 Trial Regular" panose="02000000000000000000" pitchFamily="2" charset="0"/>
      <p:bold r:id="rId12"/>
    </p:embeddedFont>
    <p:embeddedFont>
      <p:font typeface="Plaak3Trial-43-Bold" panose="02000000000000000000" pitchFamily="2" charset="0"/>
      <p:bold r:id="rId13"/>
    </p:embeddedFont>
    <p:embeddedFont>
      <p:font typeface="Riforma LL" panose="020B0504020101020102" pitchFamily="34" charset="77"/>
      <p:regular r:id="rId14"/>
    </p:embeddedFont>
  </p:embeddedFontLst>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a Stoyanova" initials="YS" lastIdx="3" clrIdx="0">
    <p:extLst>
      <p:ext uri="{19B8F6BF-5375-455C-9EA6-DF929625EA0E}">
        <p15:presenceInfo xmlns:p15="http://schemas.microsoft.com/office/powerpoint/2012/main" userId="fc8e5911812096b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FFF469"/>
    <a:srgbClr val="00582D"/>
    <a:srgbClr val="A20100"/>
    <a:srgbClr val="C00000"/>
    <a:srgbClr val="548235"/>
    <a:srgbClr val="A20200"/>
    <a:srgbClr val="BF9000"/>
    <a:srgbClr val="D7A21D"/>
    <a:srgbClr val="8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7" autoAdjust="0"/>
    <p:restoredTop sz="95903"/>
  </p:normalViewPr>
  <p:slideViewPr>
    <p:cSldViewPr snapToGrid="0">
      <p:cViewPr>
        <p:scale>
          <a:sx n="116" d="100"/>
          <a:sy n="116" d="100"/>
        </p:scale>
        <p:origin x="2784" y="544"/>
      </p:cViewPr>
      <p:guideLst/>
    </p:cSldViewPr>
  </p:slideViewPr>
  <p:notesTextViewPr>
    <p:cViewPr>
      <p:scale>
        <a:sx n="1" d="1"/>
        <a:sy n="1" d="1"/>
      </p:scale>
      <p:origin x="0" y="0"/>
    </p:cViewPr>
  </p:notesTextViewPr>
  <p:sorterViewPr>
    <p:cViewPr>
      <p:scale>
        <a:sx n="1" d="1"/>
        <a:sy n="1" d="1"/>
      </p:scale>
      <p:origin x="0" y="0"/>
    </p:cViewPr>
  </p:sorterViewPr>
  <p:notesViewPr>
    <p:cSldViewPr snapToGrid="0">
      <p:cViewPr varScale="1">
        <p:scale>
          <a:sx n="88" d="100"/>
          <a:sy n="88" d="100"/>
        </p:scale>
        <p:origin x="296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font" Target="fonts/font2.fntdata"/><Relationship Id="rId5" Type="http://schemas.openxmlformats.org/officeDocument/2006/relationships/slide" Target="slides/slide2.xml"/><Relationship Id="rId15" Type="http://schemas.openxmlformats.org/officeDocument/2006/relationships/tags" Target="tags/tag1.xml"/><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handoutMaster" Target="handoutMasters/handoutMaster1.xml"/><Relationship Id="rId14" Type="http://schemas.openxmlformats.org/officeDocument/2006/relationships/font" Target="fonts/font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088C1345-A2A6-4D11-BDE0-E058081ED8CA}" type="datetimeFigureOut">
              <a:rPr lang="en-US" smtClean="0"/>
              <a:t>11/29/24</a:t>
            </a:fld>
            <a:endParaRPr lang="en-US" dirty="0"/>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3272A2CD-9876-40E1-BBE3-8EE1DE0C556B}" type="slidenum">
              <a:rPr lang="en-US" smtClean="0"/>
              <a:t>‹#›</a:t>
            </a:fld>
            <a:endParaRPr lang="en-US" dirty="0"/>
          </a:p>
        </p:txBody>
      </p:sp>
    </p:spTree>
    <p:extLst>
      <p:ext uri="{BB962C8B-B14F-4D97-AF65-F5344CB8AC3E}">
        <p14:creationId xmlns:p14="http://schemas.microsoft.com/office/powerpoint/2010/main" val="15599891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7870C1C-DBCF-424F-AA99-58B43FA2B41C}" type="datetimeFigureOut">
              <a:rPr lang="en-US" smtClean="0"/>
              <a:t>11/29/24</a:t>
            </a:fld>
            <a:endParaRPr lang="en-US" dirty="0"/>
          </a:p>
        </p:txBody>
      </p:sp>
      <p:sp>
        <p:nvSpPr>
          <p:cNvPr id="4" name="Slide Image Placeholder 3"/>
          <p:cNvSpPr>
            <a:spLocks noGrp="1" noRot="1" noChangeAspect="1"/>
          </p:cNvSpPr>
          <p:nvPr>
            <p:ph type="sldImg" idx="2"/>
          </p:nvPr>
        </p:nvSpPr>
        <p:spPr>
          <a:xfrm>
            <a:off x="2535238" y="1200150"/>
            <a:ext cx="2244725"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5298323-809A-4F9F-92DE-CBB614E4595B}" type="slidenum">
              <a:rPr lang="en-US" smtClean="0"/>
              <a:t>‹#›</a:t>
            </a:fld>
            <a:endParaRPr lang="en-US" dirty="0"/>
          </a:p>
        </p:txBody>
      </p:sp>
    </p:spTree>
    <p:extLst>
      <p:ext uri="{BB962C8B-B14F-4D97-AF65-F5344CB8AC3E}">
        <p14:creationId xmlns:p14="http://schemas.microsoft.com/office/powerpoint/2010/main" val="68604564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6940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8087035"/>
      </p:ext>
    </p:extLst>
  </p:cSld>
  <p:clrMapOvr>
    <a:masterClrMapping/>
  </p:clrMapOvr>
  <p:extLst>
    <p:ext uri="{DCECCB84-F9BA-43D5-87BE-67443E8EF086}">
      <p15:sldGuideLst xmlns:p15="http://schemas.microsoft.com/office/powerpoint/2012/main">
        <p15:guide id="1" orient="horz" pos="6078" userDrawn="1">
          <p15:clr>
            <a:srgbClr val="FBAE40"/>
          </p15:clr>
        </p15:guide>
        <p15:guide id="2" orient="horz" pos="156" userDrawn="1">
          <p15:clr>
            <a:srgbClr val="FBAE40"/>
          </p15:clr>
        </p15:guide>
        <p15:guide id="4" pos="2016" userDrawn="1">
          <p15:clr>
            <a:srgbClr val="FBAE40"/>
          </p15:clr>
        </p15:guide>
        <p15:guide id="5" pos="4160" userDrawn="1">
          <p15:clr>
            <a:srgbClr val="FBAE40"/>
          </p15:clr>
        </p15:guide>
        <p15:guide id="6" pos="3876" userDrawn="1">
          <p15:clr>
            <a:srgbClr val="FBAE40"/>
          </p15:clr>
        </p15:guide>
        <p15:guide id="7" pos="159" userDrawn="1">
          <p15:clr>
            <a:srgbClr val="FBAE40"/>
          </p15:clr>
        </p15:guide>
        <p15:guide id="8" orient="horz" pos="586" userDrawn="1">
          <p15:clr>
            <a:srgbClr val="FBAE40"/>
          </p15:clr>
        </p15:guide>
        <p15:guide id="9" orient="horz" pos="2461" userDrawn="1">
          <p15:clr>
            <a:srgbClr val="FBAE40"/>
          </p15:clr>
        </p15:guide>
        <p15:guide id="10" orient="horz" pos="2311" userDrawn="1">
          <p15:clr>
            <a:srgbClr val="FBAE40"/>
          </p15:clr>
        </p15:guide>
        <p15:guide id="11" orient="horz" pos="4197" userDrawn="1">
          <p15:clr>
            <a:srgbClr val="FBAE40"/>
          </p15:clr>
        </p15:guide>
        <p15:guide id="12" orient="horz" pos="4345" userDrawn="1">
          <p15:clr>
            <a:srgbClr val="FBAE40"/>
          </p15:clr>
        </p15:guide>
        <p15:guide id="13" pos="1937" userDrawn="1">
          <p15:clr>
            <a:srgbClr val="FBAE40"/>
          </p15:clr>
        </p15:guide>
        <p15:guide id="14" pos="210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rgbClr val="B2B2B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30759795"/>
      </p:ext>
    </p:extLst>
  </p:cSld>
  <p:clrMapOvr>
    <a:masterClrMapping/>
  </p:clrMapOvr>
  <p:extLst>
    <p:ext uri="{DCECCB84-F9BA-43D5-87BE-67443E8EF086}">
      <p15:sldGuideLst xmlns:p15="http://schemas.microsoft.com/office/powerpoint/2012/main">
        <p15:guide id="1" orient="horz" pos="6078" userDrawn="1">
          <p15:clr>
            <a:srgbClr val="FBAE40"/>
          </p15:clr>
        </p15:guide>
        <p15:guide id="2" orient="horz" pos="156" userDrawn="1">
          <p15:clr>
            <a:srgbClr val="FBAE40"/>
          </p15:clr>
        </p15:guide>
        <p15:guide id="4" pos="2016" userDrawn="1">
          <p15:clr>
            <a:srgbClr val="FBAE40"/>
          </p15:clr>
        </p15:guide>
        <p15:guide id="5" pos="4160" userDrawn="1">
          <p15:clr>
            <a:srgbClr val="FBAE40"/>
          </p15:clr>
        </p15:guide>
        <p15:guide id="6" pos="3876" userDrawn="1">
          <p15:clr>
            <a:srgbClr val="FBAE40"/>
          </p15:clr>
        </p15:guide>
        <p15:guide id="7" pos="159" userDrawn="1">
          <p15:clr>
            <a:srgbClr val="FBAE40"/>
          </p15:clr>
        </p15:guide>
        <p15:guide id="8" orient="horz" pos="586" userDrawn="1">
          <p15:clr>
            <a:srgbClr val="FBAE40"/>
          </p15:clr>
        </p15:guide>
        <p15:guide id="9" orient="horz" pos="2461" userDrawn="1">
          <p15:clr>
            <a:srgbClr val="FBAE40"/>
          </p15:clr>
        </p15:guide>
        <p15:guide id="10" orient="horz" pos="2311" userDrawn="1">
          <p15:clr>
            <a:srgbClr val="FBAE40"/>
          </p15:clr>
        </p15:guide>
        <p15:guide id="11" orient="horz" pos="4197" userDrawn="1">
          <p15:clr>
            <a:srgbClr val="FBAE40"/>
          </p15:clr>
        </p15:guide>
        <p15:guide id="12" orient="horz" pos="4345" userDrawn="1">
          <p15:clr>
            <a:srgbClr val="FBAE40"/>
          </p15:clr>
        </p15:guide>
        <p15:guide id="13" pos="1937" userDrawn="1">
          <p15:clr>
            <a:srgbClr val="FBAE40"/>
          </p15:clr>
        </p15:guide>
        <p15:guide id="14" pos="210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79"/>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26850880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6819215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C1E3C102-28F4-55C1-2550-37787607E5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68819" y="218687"/>
            <a:ext cx="326362" cy="362563"/>
          </a:xfrm>
          <a:prstGeom prst="rect">
            <a:avLst/>
          </a:prstGeom>
        </p:spPr>
      </p:pic>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0" y="697356"/>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697356"/>
            <a:ext cx="0" cy="92086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11DB68B7-7FEF-4BEB-999E-15C9B29401CA}"/>
              </a:ext>
            </a:extLst>
          </p:cNvPr>
          <p:cNvPicPr>
            <a:picLocks noChangeAspect="1"/>
          </p:cNvPicPr>
          <p:nvPr userDrawn="1"/>
        </p:nvPicPr>
        <p:blipFill>
          <a:blip r:embed="rId3"/>
          <a:stretch>
            <a:fillRect/>
          </a:stretch>
        </p:blipFill>
        <p:spPr>
          <a:xfrm>
            <a:off x="252414" y="162206"/>
            <a:ext cx="370026" cy="419044"/>
          </a:xfrm>
          <a:prstGeom prst="rect">
            <a:avLst/>
          </a:prstGeom>
        </p:spPr>
      </p:pic>
      <p:sp>
        <p:nvSpPr>
          <p:cNvPr id="13" name="TextBox 12">
            <a:extLst>
              <a:ext uri="{FF2B5EF4-FFF2-40B4-BE49-F238E27FC236}">
                <a16:creationId xmlns:a16="http://schemas.microsoft.com/office/drawing/2014/main" id="{24EB965B-40E2-4592-A7A1-8D97CCD73287}"/>
              </a:ext>
            </a:extLst>
          </p:cNvPr>
          <p:cNvSpPr txBox="1"/>
          <p:nvPr userDrawn="1"/>
        </p:nvSpPr>
        <p:spPr>
          <a:xfrm>
            <a:off x="0" y="9559128"/>
            <a:ext cx="4033585" cy="215444"/>
          </a:xfrm>
          <a:prstGeom prst="rect">
            <a:avLst/>
          </a:prstGeom>
          <a:noFill/>
        </p:spPr>
        <p:txBody>
          <a:bodyPr wrap="square">
            <a:spAutoFit/>
          </a:bodyPr>
          <a:lstStyle/>
          <a:p>
            <a:pPr algn="l"/>
            <a:r>
              <a:rPr lang="en-US" sz="800" cap="all" baseline="0" dirty="0">
                <a:solidFill>
                  <a:schemeClr val="tx1"/>
                </a:solidFill>
                <a:latin typeface="Monument Grotesk Mono" panose="02010504030000020004" pitchFamily="50" charset="0"/>
              </a:rPr>
              <a:t>The Fast Track Way Workshop_2023_Feedback Summary</a:t>
            </a:r>
            <a:endParaRPr lang="en-US" cap="all" baseline="0" dirty="0">
              <a:solidFill>
                <a:schemeClr val="tx1"/>
              </a:solidFill>
              <a:latin typeface="Monument Grotesk Mono" panose="02010504030000020004" pitchFamily="50" charset="0"/>
            </a:endParaRPr>
          </a:p>
        </p:txBody>
      </p:sp>
      <p:pic>
        <p:nvPicPr>
          <p:cNvPr id="12" name="Picture 11" descr="A black and white logo&#10;&#10;Description automatically generated with low confidence">
            <a:extLst>
              <a:ext uri="{FF2B5EF4-FFF2-40B4-BE49-F238E27FC236}">
                <a16:creationId xmlns:a16="http://schemas.microsoft.com/office/drawing/2014/main" id="{6C3A4C37-168F-0C6B-6685-F50B2B40393D}"/>
              </a:ext>
            </a:extLst>
          </p:cNvPr>
          <p:cNvPicPr>
            <a:picLocks noChangeAspect="1"/>
          </p:cNvPicPr>
          <p:nvPr userDrawn="1"/>
        </p:nvPicPr>
        <p:blipFill>
          <a:blip r:embed="rId4" cstate="print">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10270842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B4E51BE-A2C4-4B7E-A25B-9DB83F9ACBA2}"/>
              </a:ext>
            </a:extLst>
          </p:cNvPr>
          <p:cNvCxnSpPr>
            <a:cxnSpLocks/>
          </p:cNvCxnSpPr>
          <p:nvPr userDrawn="1"/>
        </p:nvCxnSpPr>
        <p:spPr>
          <a:xfrm flipH="1">
            <a:off x="1" y="3816240"/>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8AD7230-F7FF-4432-9CB7-570D060E950F}"/>
              </a:ext>
            </a:extLst>
          </p:cNvPr>
          <p:cNvCxnSpPr>
            <a:cxnSpLocks/>
          </p:cNvCxnSpPr>
          <p:nvPr userDrawn="1"/>
        </p:nvCxnSpPr>
        <p:spPr>
          <a:xfrm flipH="1">
            <a:off x="1" y="6866222"/>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1583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6"/>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11/29/24</a:t>
            </a:fld>
            <a:endParaRPr lang="en-US" dirty="0"/>
          </a:p>
        </p:txBody>
      </p:sp>
      <p:sp>
        <p:nvSpPr>
          <p:cNvPr id="5" name="Footer Placeholder 4"/>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68618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7" y="2469625"/>
            <a:ext cx="5915025" cy="4120620"/>
          </a:xfrm>
          <a:prstGeom prst="rect">
            <a:avLst/>
          </a:prstGeom>
        </p:spPr>
        <p:txBody>
          <a:bodyPr anchor="b"/>
          <a:lstStyle>
            <a:lvl1pPr>
              <a:defRPr sz="4154"/>
            </a:lvl1pPr>
          </a:lstStyle>
          <a:p>
            <a:r>
              <a:rPr lang="en-US"/>
              <a:t>Click to edit Master title style</a:t>
            </a:r>
            <a:endParaRPr lang="en-US" dirty="0"/>
          </a:p>
        </p:txBody>
      </p:sp>
      <p:sp>
        <p:nvSpPr>
          <p:cNvPr id="3" name="Text Placeholder 2"/>
          <p:cNvSpPr>
            <a:spLocks noGrp="1"/>
          </p:cNvSpPr>
          <p:nvPr>
            <p:ph type="body" idx="1"/>
          </p:nvPr>
        </p:nvSpPr>
        <p:spPr>
          <a:xfrm>
            <a:off x="467917" y="6629228"/>
            <a:ext cx="5915025" cy="2166937"/>
          </a:xfrm>
          <a:prstGeom prst="rect">
            <a:avLst/>
          </a:prstGeom>
        </p:spPr>
        <p:txBody>
          <a:bodyPr/>
          <a:lstStyle>
            <a:lvl1pPr marL="0" indent="0">
              <a:buNone/>
              <a:defRPr sz="1662">
                <a:solidFill>
                  <a:schemeClr val="tx1"/>
                </a:solidFill>
              </a:defRPr>
            </a:lvl1pPr>
            <a:lvl2pPr marL="316520" indent="0">
              <a:buNone/>
              <a:defRPr sz="1385">
                <a:solidFill>
                  <a:schemeClr val="tx1">
                    <a:tint val="75000"/>
                  </a:schemeClr>
                </a:solidFill>
              </a:defRPr>
            </a:lvl2pPr>
            <a:lvl3pPr marL="633039" indent="0">
              <a:buNone/>
              <a:defRPr sz="1246">
                <a:solidFill>
                  <a:schemeClr val="tx1">
                    <a:tint val="75000"/>
                  </a:schemeClr>
                </a:solidFill>
              </a:defRPr>
            </a:lvl3pPr>
            <a:lvl4pPr marL="949559" indent="0">
              <a:buNone/>
              <a:defRPr sz="1108">
                <a:solidFill>
                  <a:schemeClr val="tx1">
                    <a:tint val="75000"/>
                  </a:schemeClr>
                </a:solidFill>
              </a:defRPr>
            </a:lvl4pPr>
            <a:lvl5pPr marL="1266078" indent="0">
              <a:buNone/>
              <a:defRPr sz="1108">
                <a:solidFill>
                  <a:schemeClr val="tx1">
                    <a:tint val="75000"/>
                  </a:schemeClr>
                </a:solidFill>
              </a:defRPr>
            </a:lvl5pPr>
            <a:lvl6pPr marL="1582598" indent="0">
              <a:buNone/>
              <a:defRPr sz="1108">
                <a:solidFill>
                  <a:schemeClr val="tx1">
                    <a:tint val="75000"/>
                  </a:schemeClr>
                </a:solidFill>
              </a:defRPr>
            </a:lvl6pPr>
            <a:lvl7pPr marL="1899117" indent="0">
              <a:buNone/>
              <a:defRPr sz="1108">
                <a:solidFill>
                  <a:schemeClr val="tx1">
                    <a:tint val="75000"/>
                  </a:schemeClr>
                </a:solidFill>
              </a:defRPr>
            </a:lvl7pPr>
            <a:lvl8pPr marL="2215637" indent="0">
              <a:buNone/>
              <a:defRPr sz="1108">
                <a:solidFill>
                  <a:schemeClr val="tx1">
                    <a:tint val="75000"/>
                  </a:schemeClr>
                </a:solidFill>
              </a:defRPr>
            </a:lvl8pPr>
            <a:lvl9pPr marL="2532156" indent="0">
              <a:buNone/>
              <a:defRPr sz="110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11/29/24</a:t>
            </a:fld>
            <a:endParaRPr lang="en-US" dirty="0"/>
          </a:p>
        </p:txBody>
      </p:sp>
      <p:sp>
        <p:nvSpPr>
          <p:cNvPr id="5" name="Footer Placeholder 4"/>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08689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6"/>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471488" y="9181398"/>
            <a:ext cx="1543050" cy="527403"/>
          </a:xfrm>
          <a:prstGeom prst="rect">
            <a:avLst/>
          </a:prstGeom>
        </p:spPr>
        <p:txBody>
          <a:bodyPr/>
          <a:lstStyle/>
          <a:p>
            <a:fld id="{C764DE79-268F-4C1A-8933-263129D2AF90}" type="datetimeFigureOut">
              <a:rPr lang="en-US" dirty="0"/>
              <a:t>11/29/24</a:t>
            </a:fld>
            <a:endParaRPr lang="en-US" dirty="0"/>
          </a:p>
        </p:txBody>
      </p:sp>
      <p:sp>
        <p:nvSpPr>
          <p:cNvPr id="6" name="Footer Placeholder 5"/>
          <p:cNvSpPr>
            <a:spLocks noGrp="1"/>
          </p:cNvSpPr>
          <p:nvPr>
            <p:ph type="ftr" sz="quarter" idx="11"/>
          </p:nvPr>
        </p:nvSpPr>
        <p:spPr>
          <a:xfrm>
            <a:off x="2271713" y="9181398"/>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a:xfrm>
            <a:off x="4843463" y="9181398"/>
            <a:ext cx="1543050" cy="527403"/>
          </a:xfrm>
          <a:prstGeom prst="rect">
            <a:avLst/>
          </a:prstGeo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8079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257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6DB9D7B-ABA1-46FF-8D95-5ED05CEB41EE}"/>
              </a:ext>
            </a:extLst>
          </p:cNvPr>
          <p:cNvCxnSpPr/>
          <p:nvPr userDrawn="1"/>
        </p:nvCxnSpPr>
        <p:spPr>
          <a:xfrm>
            <a:off x="6452482" y="0"/>
            <a:ext cx="0" cy="9906000"/>
          </a:xfrm>
          <a:prstGeom prst="line">
            <a:avLst/>
          </a:prstGeom>
          <a:ln w="127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1C2D4D-102A-4801-A783-15836A733F29}"/>
              </a:ext>
            </a:extLst>
          </p:cNvPr>
          <p:cNvCxnSpPr>
            <a:cxnSpLocks/>
          </p:cNvCxnSpPr>
          <p:nvPr userDrawn="1"/>
        </p:nvCxnSpPr>
        <p:spPr>
          <a:xfrm flipH="1">
            <a:off x="1" y="799884"/>
            <a:ext cx="6452481" cy="0"/>
          </a:xfrm>
          <a:prstGeom prst="line">
            <a:avLst/>
          </a:prstGeom>
          <a:ln w="127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191DF2A1-61C9-4897-9F10-923D1DF7CF36}"/>
              </a:ext>
            </a:extLst>
          </p:cNvPr>
          <p:cNvGrpSpPr/>
          <p:nvPr userDrawn="1"/>
        </p:nvGrpSpPr>
        <p:grpSpPr>
          <a:xfrm>
            <a:off x="6545302" y="174444"/>
            <a:ext cx="237175" cy="550304"/>
            <a:chOff x="9563413" y="152519"/>
            <a:chExt cx="342586" cy="380980"/>
          </a:xfrm>
        </p:grpSpPr>
        <p:sp>
          <p:nvSpPr>
            <p:cNvPr id="16" name="Rectangle 15">
              <a:extLst>
                <a:ext uri="{FF2B5EF4-FFF2-40B4-BE49-F238E27FC236}">
                  <a16:creationId xmlns:a16="http://schemas.microsoft.com/office/drawing/2014/main" id="{EFED4D8C-9F30-4DF2-9C3B-200E81BBBF57}"/>
                </a:ext>
              </a:extLst>
            </p:cNvPr>
            <p:cNvSpPr/>
            <p:nvPr userDrawn="1"/>
          </p:nvSpPr>
          <p:spPr>
            <a:xfrm>
              <a:off x="9563413" y="152519"/>
              <a:ext cx="342586"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7" name="Rectangle 16">
              <a:extLst>
                <a:ext uri="{FF2B5EF4-FFF2-40B4-BE49-F238E27FC236}">
                  <a16:creationId xmlns:a16="http://schemas.microsoft.com/office/drawing/2014/main" id="{0EF9DA57-1BB1-4497-A138-C7AAF64929C6}"/>
                </a:ext>
              </a:extLst>
            </p:cNvPr>
            <p:cNvSpPr/>
            <p:nvPr userDrawn="1"/>
          </p:nvSpPr>
          <p:spPr>
            <a:xfrm>
              <a:off x="9563413" y="287506"/>
              <a:ext cx="221935"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8" name="Rectangle 17">
              <a:extLst>
                <a:ext uri="{FF2B5EF4-FFF2-40B4-BE49-F238E27FC236}">
                  <a16:creationId xmlns:a16="http://schemas.microsoft.com/office/drawing/2014/main" id="{D1299D26-C7CC-43F3-BE87-977207921A95}"/>
                </a:ext>
              </a:extLst>
            </p:cNvPr>
            <p:cNvSpPr/>
            <p:nvPr userDrawn="1"/>
          </p:nvSpPr>
          <p:spPr>
            <a:xfrm>
              <a:off x="9563414" y="422493"/>
              <a:ext cx="117162" cy="111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grpSp>
    </p:spTree>
    <p:extLst>
      <p:ext uri="{BB962C8B-B14F-4D97-AF65-F5344CB8AC3E}">
        <p14:creationId xmlns:p14="http://schemas.microsoft.com/office/powerpoint/2010/main" val="4064701343"/>
      </p:ext>
    </p:extLst>
  </p:cSld>
  <p:clrMapOvr>
    <a:masterClrMapping/>
  </p:clrMapOvr>
  <p:extLst>
    <p:ext uri="{DCECCB84-F9BA-43D5-87BE-67443E8EF086}">
      <p15:sldGuideLst xmlns:p15="http://schemas.microsoft.com/office/powerpoint/2012/main">
        <p15:guide id="1" orient="horz" pos="4208">
          <p15:clr>
            <a:srgbClr val="FBAE40"/>
          </p15:clr>
        </p15:guide>
        <p15:guide id="2" orient="horz" pos="108">
          <p15:clr>
            <a:srgbClr val="FBAE40"/>
          </p15:clr>
        </p15:guide>
        <p15:guide id="4" pos="2912">
          <p15:clr>
            <a:srgbClr val="FBAE40"/>
          </p15:clr>
        </p15:guide>
        <p15:guide id="5" pos="6009">
          <p15:clr>
            <a:srgbClr val="FBAE40"/>
          </p15:clr>
        </p15:guide>
        <p15:guide id="6" pos="5599">
          <p15:clr>
            <a:srgbClr val="FBAE40"/>
          </p15:clr>
        </p15:guide>
        <p15:guide id="7" pos="230">
          <p15:clr>
            <a:srgbClr val="FBAE40"/>
          </p15:clr>
        </p15:guide>
        <p15:guide id="8" orient="horz" pos="406">
          <p15:clr>
            <a:srgbClr val="FBAE40"/>
          </p15:clr>
        </p15:guide>
        <p15:guide id="9" orient="horz" pos="1704">
          <p15:clr>
            <a:srgbClr val="FBAE40"/>
          </p15:clr>
        </p15:guide>
        <p15:guide id="10" orient="horz" pos="1600">
          <p15:clr>
            <a:srgbClr val="FBAE40"/>
          </p15:clr>
        </p15:guide>
        <p15:guide id="11" orient="horz" pos="2906">
          <p15:clr>
            <a:srgbClr val="FBAE40"/>
          </p15:clr>
        </p15:guide>
        <p15:guide id="12" orient="horz" pos="3008">
          <p15:clr>
            <a:srgbClr val="FBAE40"/>
          </p15:clr>
        </p15:guide>
        <p15:guide id="13" pos="2798">
          <p15:clr>
            <a:srgbClr val="FBAE40"/>
          </p15:clr>
        </p15:guide>
        <p15:guide id="14" pos="303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472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1142531"/>
      </p:ext>
    </p:extLst>
  </p:cSld>
  <p:clrMapOvr>
    <a:masterClrMapping/>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rgbClr val="B2B2B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04504" y="91372"/>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80"/>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6915197"/>
      </p:ext>
    </p:extLst>
  </p:cSld>
  <p:clrMapOvr>
    <a:masterClrMapping/>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443885" y="448779"/>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177553"/>
            <a:ext cx="0" cy="10083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18959717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pic>
        <p:nvPicPr>
          <p:cNvPr id="5" name="Picture 4" descr="A picture containing drawing&#10;&#10;Description automatically generated">
            <a:extLst>
              <a:ext uri="{FF2B5EF4-FFF2-40B4-BE49-F238E27FC236}">
                <a16:creationId xmlns:a16="http://schemas.microsoft.com/office/drawing/2014/main" id="{55FC4BF2-EA6D-41A5-9E84-584CE6EE7C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2583"/>
          <a:stretch/>
        </p:blipFill>
        <p:spPr>
          <a:xfrm>
            <a:off x="6521033" y="126884"/>
            <a:ext cx="259006" cy="280758"/>
          </a:xfrm>
          <a:prstGeom prst="rect">
            <a:avLst/>
          </a:prstGeom>
        </p:spPr>
      </p:pic>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ack and white logo&#10;&#10;Description automatically generated with low confidence">
            <a:extLst>
              <a:ext uri="{FF2B5EF4-FFF2-40B4-BE49-F238E27FC236}">
                <a16:creationId xmlns:a16="http://schemas.microsoft.com/office/drawing/2014/main" id="{9C6323E2-8F19-C082-FD50-EB53366FD440}"/>
              </a:ext>
            </a:extLst>
          </p:cNvPr>
          <p:cNvPicPr>
            <a:picLocks noChangeAspect="1"/>
          </p:cNvPicPr>
          <p:nvPr userDrawn="1"/>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pic>
        <p:nvPicPr>
          <p:cNvPr id="3" name="Picture 2" descr="Shape&#10;&#10;Description automatically generated">
            <a:extLst>
              <a:ext uri="{FF2B5EF4-FFF2-40B4-BE49-F238E27FC236}">
                <a16:creationId xmlns:a16="http://schemas.microsoft.com/office/drawing/2014/main" id="{45FDA4F2-ABB4-4F7C-31CA-0C37DE40B75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06427" y="126884"/>
            <a:ext cx="255161" cy="283464"/>
          </a:xfrm>
          <a:prstGeom prst="rect">
            <a:avLst/>
          </a:prstGeom>
        </p:spPr>
      </p:pic>
    </p:spTree>
    <p:extLst>
      <p:ext uri="{BB962C8B-B14F-4D97-AF65-F5344CB8AC3E}">
        <p14:creationId xmlns:p14="http://schemas.microsoft.com/office/powerpoint/2010/main" val="42337829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C1E3C102-28F4-55C1-2550-37787607E5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68819" y="218687"/>
            <a:ext cx="326362" cy="362563"/>
          </a:xfrm>
          <a:prstGeom prst="rect">
            <a:avLst/>
          </a:prstGeom>
        </p:spPr>
      </p:pic>
      <p:sp>
        <p:nvSpPr>
          <p:cNvPr id="2" name="Title 1"/>
          <p:cNvSpPr>
            <a:spLocks noGrp="1"/>
          </p:cNvSpPr>
          <p:nvPr>
            <p:ph type="title"/>
          </p:nvPr>
        </p:nvSpPr>
        <p:spPr>
          <a:xfrm>
            <a:off x="252413" y="933805"/>
            <a:ext cx="5900737" cy="1914702"/>
          </a:xfrm>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1376DCEF-712E-4802-A292-C9F5CB038191}"/>
              </a:ext>
            </a:extLst>
          </p:cNvPr>
          <p:cNvCxnSpPr>
            <a:cxnSpLocks/>
          </p:cNvCxnSpPr>
          <p:nvPr userDrawn="1"/>
        </p:nvCxnSpPr>
        <p:spPr>
          <a:xfrm flipH="1">
            <a:off x="0" y="697356"/>
            <a:ext cx="68580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62CD0E-D1FA-46E4-8F04-34AF4CB9DCB1}"/>
              </a:ext>
            </a:extLst>
          </p:cNvPr>
          <p:cNvCxnSpPr>
            <a:cxnSpLocks/>
          </p:cNvCxnSpPr>
          <p:nvPr userDrawn="1"/>
        </p:nvCxnSpPr>
        <p:spPr>
          <a:xfrm>
            <a:off x="6410014" y="697356"/>
            <a:ext cx="0" cy="92086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7274593-40D9-457C-A956-6204627F8234}"/>
              </a:ext>
            </a:extLst>
          </p:cNvPr>
          <p:cNvSpPr>
            <a:spLocks noGrp="1"/>
          </p:cNvSpPr>
          <p:nvPr>
            <p:ph idx="1"/>
          </p:nvPr>
        </p:nvSpPr>
        <p:spPr>
          <a:xfrm>
            <a:off x="252414" y="3068814"/>
            <a:ext cx="5900737" cy="1655586"/>
          </a:xfrm>
          <a:prstGeom prst="rect">
            <a:avLst/>
          </a:prstGeom>
        </p:spPr>
        <p:txBody>
          <a:bodyPr vert="horz" lIns="91440" tIns="45720" rIns="91440" bIns="45720" rtlCol="0">
            <a:normAutofit/>
          </a:bodyPr>
          <a:lstStyle>
            <a:lvl1pPr>
              <a:defRPr b="0" i="0">
                <a:latin typeface="Riforma LL" panose="020B0504020101020102" pitchFamily="34" charset="77"/>
                <a:ea typeface="Riforma LL" panose="020B0504020101020102" pitchFamily="34" charset="77"/>
                <a:cs typeface="Riforma LL" panose="020B0504020101020102" pitchFamily="34" charset="77"/>
              </a:defRPr>
            </a:lvl1pPr>
            <a:lvl2pPr>
              <a:defRPr b="0" i="0">
                <a:latin typeface="Riforma LL" panose="020B0504020101020102" pitchFamily="34" charset="77"/>
                <a:ea typeface="Riforma LL" panose="020B0504020101020102" pitchFamily="34" charset="77"/>
                <a:cs typeface="Riforma LL" panose="020B0504020101020102" pitchFamily="34" charset="77"/>
              </a:defRPr>
            </a:lvl2pPr>
            <a:lvl3pPr>
              <a:defRPr b="0" i="0">
                <a:latin typeface="Riforma LL" panose="020B0504020101020102" pitchFamily="34" charset="77"/>
                <a:ea typeface="Riforma LL" panose="020B0504020101020102" pitchFamily="34" charset="77"/>
                <a:cs typeface="Riforma LL" panose="020B0504020101020102" pitchFamily="34" charset="77"/>
              </a:defRPr>
            </a:lvl3pPr>
            <a:lvl4pPr>
              <a:defRPr b="0" i="0">
                <a:latin typeface="Riforma LL" panose="020B0504020101020102" pitchFamily="34" charset="77"/>
                <a:ea typeface="Riforma LL" panose="020B0504020101020102" pitchFamily="34" charset="77"/>
                <a:cs typeface="Riforma LL" panose="020B0504020101020102" pitchFamily="34" charset="77"/>
              </a:defRPr>
            </a:lvl4pPr>
            <a:lvl5pPr>
              <a:defRPr b="0" i="0">
                <a:latin typeface="Riforma LL" panose="020B0504020101020102" pitchFamily="34" charset="77"/>
                <a:ea typeface="Riforma LL" panose="020B0504020101020102" pitchFamily="34" charset="77"/>
                <a:cs typeface="Riforma LL" panose="020B0504020101020102" pitchFamily="34"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11DB68B7-7FEF-4BEB-999E-15C9B29401CA}"/>
              </a:ext>
            </a:extLst>
          </p:cNvPr>
          <p:cNvPicPr>
            <a:picLocks noChangeAspect="1"/>
          </p:cNvPicPr>
          <p:nvPr userDrawn="1"/>
        </p:nvPicPr>
        <p:blipFill>
          <a:blip r:embed="rId3"/>
          <a:stretch>
            <a:fillRect/>
          </a:stretch>
        </p:blipFill>
        <p:spPr>
          <a:xfrm>
            <a:off x="252414" y="162206"/>
            <a:ext cx="370026" cy="419044"/>
          </a:xfrm>
          <a:prstGeom prst="rect">
            <a:avLst/>
          </a:prstGeom>
        </p:spPr>
      </p:pic>
      <p:sp>
        <p:nvSpPr>
          <p:cNvPr id="13" name="TextBox 12">
            <a:extLst>
              <a:ext uri="{FF2B5EF4-FFF2-40B4-BE49-F238E27FC236}">
                <a16:creationId xmlns:a16="http://schemas.microsoft.com/office/drawing/2014/main" id="{24EB965B-40E2-4592-A7A1-8D97CCD73287}"/>
              </a:ext>
            </a:extLst>
          </p:cNvPr>
          <p:cNvSpPr txBox="1"/>
          <p:nvPr userDrawn="1"/>
        </p:nvSpPr>
        <p:spPr>
          <a:xfrm>
            <a:off x="0" y="9559128"/>
            <a:ext cx="4033585" cy="215444"/>
          </a:xfrm>
          <a:prstGeom prst="rect">
            <a:avLst/>
          </a:prstGeom>
          <a:noFill/>
        </p:spPr>
        <p:txBody>
          <a:bodyPr wrap="square">
            <a:spAutoFit/>
          </a:bodyPr>
          <a:lstStyle/>
          <a:p>
            <a:pPr algn="l"/>
            <a:r>
              <a:rPr lang="en-US" sz="800" cap="all" baseline="0" dirty="0">
                <a:solidFill>
                  <a:schemeClr val="tx1"/>
                </a:solidFill>
                <a:latin typeface="Monument Grotesk Mono" panose="02010504030000020004" pitchFamily="50" charset="0"/>
              </a:rPr>
              <a:t>The Fast Track Way Workshop_2023_Feedback Summary</a:t>
            </a:r>
            <a:endParaRPr lang="en-US" cap="all" baseline="0" dirty="0">
              <a:solidFill>
                <a:schemeClr val="tx1"/>
              </a:solidFill>
              <a:latin typeface="Monument Grotesk Mono" panose="02010504030000020004" pitchFamily="50" charset="0"/>
            </a:endParaRPr>
          </a:p>
        </p:txBody>
      </p:sp>
      <p:pic>
        <p:nvPicPr>
          <p:cNvPr id="12" name="Picture 11" descr="A black and white logo&#10;&#10;Description automatically generated with low confidence">
            <a:extLst>
              <a:ext uri="{FF2B5EF4-FFF2-40B4-BE49-F238E27FC236}">
                <a16:creationId xmlns:a16="http://schemas.microsoft.com/office/drawing/2014/main" id="{6C3A4C37-168F-0C6B-6685-F50B2B40393D}"/>
              </a:ext>
            </a:extLst>
          </p:cNvPr>
          <p:cNvPicPr>
            <a:picLocks noChangeAspect="1"/>
          </p:cNvPicPr>
          <p:nvPr userDrawn="1"/>
        </p:nvPicPr>
        <p:blipFill>
          <a:blip r:embed="rId4" cstate="print">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52413" y="94286"/>
            <a:ext cx="824620" cy="313356"/>
          </a:xfrm>
          <a:prstGeom prst="rect">
            <a:avLst/>
          </a:prstGeom>
        </p:spPr>
      </p:pic>
    </p:spTree>
    <p:extLst>
      <p:ext uri="{BB962C8B-B14F-4D97-AF65-F5344CB8AC3E}">
        <p14:creationId xmlns:p14="http://schemas.microsoft.com/office/powerpoint/2010/main" val="7764600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078">
          <p15:clr>
            <a:srgbClr val="FBAE40"/>
          </p15:clr>
        </p15:guide>
        <p15:guide id="2" orient="horz" pos="156">
          <p15:clr>
            <a:srgbClr val="FBAE40"/>
          </p15:clr>
        </p15:guide>
        <p15:guide id="4" pos="2016">
          <p15:clr>
            <a:srgbClr val="FBAE40"/>
          </p15:clr>
        </p15:guide>
        <p15:guide id="5" pos="4160">
          <p15:clr>
            <a:srgbClr val="FBAE40"/>
          </p15:clr>
        </p15:guide>
        <p15:guide id="6" pos="3876">
          <p15:clr>
            <a:srgbClr val="FBAE40"/>
          </p15:clr>
        </p15:guide>
        <p15:guide id="7" pos="159">
          <p15:clr>
            <a:srgbClr val="FBAE40"/>
          </p15:clr>
        </p15:guide>
        <p15:guide id="8" orient="horz" pos="586">
          <p15:clr>
            <a:srgbClr val="FBAE40"/>
          </p15:clr>
        </p15:guide>
        <p15:guide id="9" orient="horz" pos="2461">
          <p15:clr>
            <a:srgbClr val="FBAE40"/>
          </p15:clr>
        </p15:guide>
        <p15:guide id="10" orient="horz" pos="2311">
          <p15:clr>
            <a:srgbClr val="FBAE40"/>
          </p15:clr>
        </p15:guide>
        <p15:guide id="11" orient="horz" pos="4197">
          <p15:clr>
            <a:srgbClr val="FBAE40"/>
          </p15:clr>
        </p15:guide>
        <p15:guide id="12" orient="horz" pos="4345">
          <p15:clr>
            <a:srgbClr val="FBAE40"/>
          </p15:clr>
        </p15:guide>
        <p15:guide id="13" pos="1937">
          <p15:clr>
            <a:srgbClr val="FBAE40"/>
          </p15:clr>
        </p15:guide>
        <p15:guide id="14" pos="21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13" Type="http://schemas.openxmlformats.org/officeDocument/2006/relationships/image" Target="../media/image7.svg"/><Relationship Id="rId3" Type="http://schemas.openxmlformats.org/officeDocument/2006/relationships/slideLayout" Target="../slideLayouts/slideLayout9.xml"/><Relationship Id="rId7" Type="http://schemas.openxmlformats.org/officeDocument/2006/relationships/theme" Target="../theme/theme2.xml"/><Relationship Id="rId12" Type="http://schemas.openxmlformats.org/officeDocument/2006/relationships/image" Target="../media/image6.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1.emf"/><Relationship Id="rId5" Type="http://schemas.openxmlformats.org/officeDocument/2006/relationships/slideLayout" Target="../slideLayouts/slideLayout11.xml"/><Relationship Id="rId15" Type="http://schemas.openxmlformats.org/officeDocument/2006/relationships/image" Target="../media/image9.svg"/><Relationship Id="rId10" Type="http://schemas.openxmlformats.org/officeDocument/2006/relationships/oleObject" Target="../embeddings/oleObject1.bin"/><Relationship Id="rId4" Type="http://schemas.openxmlformats.org/officeDocument/2006/relationships/slideLayout" Target="../slideLayouts/slideLayout10.xml"/><Relationship Id="rId9" Type="http://schemas.openxmlformats.org/officeDocument/2006/relationships/tags" Target="../tags/tag4.xml"/><Relationship Id="rId14"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5.xml"/><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1.emf"/><Relationship Id="rId4" Type="http://schemas.openxmlformats.org/officeDocument/2006/relationships/slideLayout" Target="../slideLayouts/slideLayout16.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323F13F9-AD74-4E4E-84C9-3C59484F0DD6}"/>
              </a:ext>
            </a:extLst>
          </p:cNvPr>
          <p:cNvGraphicFramePr>
            <a:graphicFrameLocks noChangeAspect="1"/>
          </p:cNvGraphicFramePr>
          <p:nvPr userDrawn="1">
            <p:custDataLst>
              <p:tags r:id="rId8"/>
            </p:custDataLst>
            <p:extLst>
              <p:ext uri="{D42A27DB-BD31-4B8C-83A1-F6EECF244321}">
                <p14:modId xmlns:p14="http://schemas.microsoft.com/office/powerpoint/2010/main" val="1085371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80" imgH="481" progId="TCLayout.ActiveDocument.1">
                  <p:embed/>
                </p:oleObj>
              </mc:Choice>
              <mc:Fallback>
                <p:oleObj name="think-cell Slide" r:id="rId9" imgW="480" imgH="481" progId="TCLayout.ActiveDocument.1">
                  <p:embed/>
                  <p:pic>
                    <p:nvPicPr>
                      <p:cNvPr id="4" name="Object 3">
                        <a:extLst>
                          <a:ext uri="{FF2B5EF4-FFF2-40B4-BE49-F238E27FC236}">
                            <a16:creationId xmlns:a16="http://schemas.microsoft.com/office/drawing/2014/main" id="{323F13F9-AD74-4E4E-84C9-3C59484F0DD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71488" y="959205"/>
            <a:ext cx="5915025" cy="1914702"/>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170500182"/>
      </p:ext>
    </p:extLst>
  </p:cSld>
  <p:clrMap bg1="lt1" tx1="dk1" bg2="lt2" tx2="dk2" accent1="accent1" accent2="accent2" accent3="accent3" accent4="accent4" accent5="accent5" accent6="accent6" hlink="hlink" folHlink="folHlink"/>
  <p:sldLayoutIdLst>
    <p:sldLayoutId id="2147483662" r:id="rId1"/>
    <p:sldLayoutId id="2147483661" r:id="rId2"/>
    <p:sldLayoutId id="2147483665" r:id="rId3"/>
    <p:sldLayoutId id="2147483664" r:id="rId4"/>
    <p:sldLayoutId id="2147483680" r:id="rId5"/>
    <p:sldLayoutId id="2147483663" r:id="rId6"/>
  </p:sldLayoutIdLst>
  <p:hf hdr="0" dt="0"/>
  <p:txStyles>
    <p:title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0516505-193D-47A9-B4A0-CD5068E8FB7E}"/>
              </a:ext>
            </a:extLst>
          </p:cNvPr>
          <p:cNvGraphicFramePr>
            <a:graphicFrameLocks noChangeAspect="1"/>
          </p:cNvGraphicFramePr>
          <p:nvPr userDrawn="1">
            <p:custDataLst>
              <p:tags r:id="rId8"/>
            </p:custDataLst>
            <p:extLst>
              <p:ext uri="{D42A27DB-BD31-4B8C-83A1-F6EECF244321}">
                <p14:modId xmlns:p14="http://schemas.microsoft.com/office/powerpoint/2010/main" val="1184235197"/>
              </p:ext>
            </p:extLst>
          </p:nvPr>
        </p:nvGraphicFramePr>
        <p:xfrm>
          <a:off x="1588" y="1593"/>
          <a:ext cx="1588" cy="1587"/>
        </p:xfrm>
        <a:graphic>
          <a:graphicData uri="http://schemas.openxmlformats.org/presentationml/2006/ole">
            <mc:AlternateContent xmlns:mc="http://schemas.openxmlformats.org/markup-compatibility/2006">
              <mc:Choice xmlns:v="urn:schemas-microsoft-com:vml" Requires="v">
                <p:oleObj name="think-cell Slide" r:id="rId10" imgW="480" imgH="481" progId="TCLayout.ActiveDocument.1">
                  <p:embed/>
                </p:oleObj>
              </mc:Choice>
              <mc:Fallback>
                <p:oleObj name="think-cell Slide" r:id="rId10" imgW="480" imgH="481" progId="TCLayout.ActiveDocument.1">
                  <p:embed/>
                  <p:pic>
                    <p:nvPicPr>
                      <p:cNvPr id="7" name="Object 6" hidden="1">
                        <a:extLst>
                          <a:ext uri="{FF2B5EF4-FFF2-40B4-BE49-F238E27FC236}">
                            <a16:creationId xmlns:a16="http://schemas.microsoft.com/office/drawing/2014/main" id="{50516505-193D-47A9-B4A0-CD5068E8FB7E}"/>
                          </a:ext>
                        </a:extLst>
                      </p:cNvPr>
                      <p:cNvPicPr/>
                      <p:nvPr/>
                    </p:nvPicPr>
                    <p:blipFill>
                      <a:blip r:embed="rId11"/>
                      <a:stretch>
                        <a:fillRect/>
                      </a:stretch>
                    </p:blipFill>
                    <p:spPr>
                      <a:xfrm>
                        <a:off x="1588" y="1593"/>
                        <a:ext cx="1588" cy="1587"/>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55179B-A8A1-4A99-8E10-5CFCD830FCBE}"/>
              </a:ext>
            </a:extLst>
          </p:cNvPr>
          <p:cNvSpPr/>
          <p:nvPr userDrawn="1">
            <p:custDataLst>
              <p:tags r:id="rId9"/>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1582" b="0" i="0" baseline="0" dirty="0">
              <a:latin typeface="Plaak 3 Trial Regular" panose="02000000000000000000" pitchFamily="50" charset="0"/>
              <a:ea typeface="+mj-ea"/>
              <a:cs typeface="+mj-cs"/>
              <a:sym typeface="Plaak 3 Trial Regular" panose="02000000000000000000" pitchFamily="50" charset="0"/>
            </a:endParaRPr>
          </a:p>
        </p:txBody>
      </p:sp>
      <p:cxnSp>
        <p:nvCxnSpPr>
          <p:cNvPr id="9" name="Straight Connector 8">
            <a:extLst>
              <a:ext uri="{FF2B5EF4-FFF2-40B4-BE49-F238E27FC236}">
                <a16:creationId xmlns:a16="http://schemas.microsoft.com/office/drawing/2014/main" id="{AC2ABC29-4FA3-4FF4-AEFB-B36D74161AEC}"/>
              </a:ext>
            </a:extLst>
          </p:cNvPr>
          <p:cNvCxnSpPr/>
          <p:nvPr userDrawn="1"/>
        </p:nvCxnSpPr>
        <p:spPr>
          <a:xfrm>
            <a:off x="6452482" y="0"/>
            <a:ext cx="0" cy="990600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9994BB4-84AB-4F20-9DF1-03D32F97D3DB}"/>
              </a:ext>
            </a:extLst>
          </p:cNvPr>
          <p:cNvCxnSpPr>
            <a:cxnSpLocks/>
          </p:cNvCxnSpPr>
          <p:nvPr userDrawn="1"/>
        </p:nvCxnSpPr>
        <p:spPr>
          <a:xfrm flipH="1">
            <a:off x="1" y="799884"/>
            <a:ext cx="6452481" cy="0"/>
          </a:xfrm>
          <a:prstGeom prst="line">
            <a:avLst/>
          </a:prstGeom>
          <a:ln w="127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11ABC95-A7FC-4EE1-86D6-BE7CA3B366ED}"/>
              </a:ext>
            </a:extLst>
          </p:cNvPr>
          <p:cNvGrpSpPr/>
          <p:nvPr userDrawn="1"/>
        </p:nvGrpSpPr>
        <p:grpSpPr>
          <a:xfrm>
            <a:off x="6545302" y="174444"/>
            <a:ext cx="237175" cy="550304"/>
            <a:chOff x="9563413" y="152519"/>
            <a:chExt cx="342586" cy="380980"/>
          </a:xfrm>
          <a:solidFill>
            <a:schemeClr val="bg1"/>
          </a:solidFill>
        </p:grpSpPr>
        <p:sp>
          <p:nvSpPr>
            <p:cNvPr id="12" name="Rectangle 11">
              <a:extLst>
                <a:ext uri="{FF2B5EF4-FFF2-40B4-BE49-F238E27FC236}">
                  <a16:creationId xmlns:a16="http://schemas.microsoft.com/office/drawing/2014/main" id="{A50E15B3-DE89-4100-B778-6CA54B642DC5}"/>
                </a:ext>
              </a:extLst>
            </p:cNvPr>
            <p:cNvSpPr/>
            <p:nvPr userDrawn="1"/>
          </p:nvSpPr>
          <p:spPr>
            <a:xfrm>
              <a:off x="9563413" y="152519"/>
              <a:ext cx="342586"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3" name="Rectangle 12">
              <a:extLst>
                <a:ext uri="{FF2B5EF4-FFF2-40B4-BE49-F238E27FC236}">
                  <a16:creationId xmlns:a16="http://schemas.microsoft.com/office/drawing/2014/main" id="{2E33FE9C-6978-4CC7-9277-ADB57A0F0B10}"/>
                </a:ext>
              </a:extLst>
            </p:cNvPr>
            <p:cNvSpPr/>
            <p:nvPr userDrawn="1"/>
          </p:nvSpPr>
          <p:spPr>
            <a:xfrm>
              <a:off x="9563413" y="287506"/>
              <a:ext cx="221935"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sp>
          <p:nvSpPr>
            <p:cNvPr id="14" name="Rectangle 13">
              <a:extLst>
                <a:ext uri="{FF2B5EF4-FFF2-40B4-BE49-F238E27FC236}">
                  <a16:creationId xmlns:a16="http://schemas.microsoft.com/office/drawing/2014/main" id="{3F99D8F1-0F7B-4FF4-9403-6912CC5FF0E4}"/>
                </a:ext>
              </a:extLst>
            </p:cNvPr>
            <p:cNvSpPr/>
            <p:nvPr userDrawn="1"/>
          </p:nvSpPr>
          <p:spPr>
            <a:xfrm>
              <a:off x="9563414" y="422493"/>
              <a:ext cx="117162" cy="1110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46">
                <a:ln>
                  <a:noFill/>
                </a:ln>
              </a:endParaRPr>
            </a:p>
          </p:txBody>
        </p:sp>
      </p:grpSp>
      <p:pic>
        <p:nvPicPr>
          <p:cNvPr id="15" name="Graphic 14">
            <a:extLst>
              <a:ext uri="{FF2B5EF4-FFF2-40B4-BE49-F238E27FC236}">
                <a16:creationId xmlns:a16="http://schemas.microsoft.com/office/drawing/2014/main" id="{13649BF4-654A-48AF-832D-0BABDBEC792F}"/>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5523" y="233340"/>
            <a:ext cx="1147234" cy="411238"/>
          </a:xfrm>
          <a:prstGeom prst="rect">
            <a:avLst/>
          </a:prstGeom>
        </p:spPr>
      </p:pic>
      <p:pic>
        <p:nvPicPr>
          <p:cNvPr id="16" name="Graphic 15">
            <a:extLst>
              <a:ext uri="{FF2B5EF4-FFF2-40B4-BE49-F238E27FC236}">
                <a16:creationId xmlns:a16="http://schemas.microsoft.com/office/drawing/2014/main" id="{532C1A5D-D25A-AE7B-3D20-7E634F4B2AC3}"/>
              </a:ext>
            </a:extLst>
          </p:cNvPr>
          <p:cNvPicPr>
            <a:picLocks noChangeAspect="1"/>
          </p:cNvPicPr>
          <p:nvPr userDrawn="1"/>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32467" t="3622" b="-1"/>
          <a:stretch/>
        </p:blipFill>
        <p:spPr>
          <a:xfrm>
            <a:off x="447993" y="254616"/>
            <a:ext cx="774765" cy="396345"/>
          </a:xfrm>
          <a:prstGeom prst="rect">
            <a:avLst/>
          </a:prstGeom>
        </p:spPr>
      </p:pic>
    </p:spTree>
    <p:extLst>
      <p:ext uri="{BB962C8B-B14F-4D97-AF65-F5344CB8AC3E}">
        <p14:creationId xmlns:p14="http://schemas.microsoft.com/office/powerpoint/2010/main" val="404928044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xStyles>
    <p:titleStyle>
      <a:lvl1pPr algn="l" defTabSz="633039" rtl="0" eaLnBrk="1" latinLnBrk="0" hangingPunct="1">
        <a:lnSpc>
          <a:spcPct val="90000"/>
        </a:lnSpc>
        <a:spcBef>
          <a:spcPct val="0"/>
        </a:spcBef>
        <a:buNone/>
        <a:defRPr sz="3046" kern="1200">
          <a:solidFill>
            <a:schemeClr val="tx1"/>
          </a:solidFill>
          <a:latin typeface="+mj-lt"/>
          <a:ea typeface="+mj-ea"/>
          <a:cs typeface="+mj-cs"/>
        </a:defRPr>
      </a:lvl1pPr>
    </p:titleStyle>
    <p:bodyStyle>
      <a:lvl1pPr marL="158260" indent="-158260" algn="l" defTabSz="633039" rtl="0" eaLnBrk="1" latinLnBrk="0" hangingPunct="1">
        <a:lnSpc>
          <a:spcPct val="90000"/>
        </a:lnSpc>
        <a:spcBef>
          <a:spcPts val="692"/>
        </a:spcBef>
        <a:buFont typeface="Arial" panose="020B0604020202020204" pitchFamily="34" charset="0"/>
        <a:buChar char="•"/>
        <a:defRPr sz="1938" kern="1200">
          <a:solidFill>
            <a:schemeClr val="tx1"/>
          </a:solidFill>
          <a:latin typeface="+mn-lt"/>
          <a:ea typeface="+mn-ea"/>
          <a:cs typeface="+mn-cs"/>
        </a:defRPr>
      </a:lvl1pPr>
      <a:lvl2pPr marL="474779" indent="-158260" algn="l" defTabSz="633039" rtl="0" eaLnBrk="1" latinLnBrk="0" hangingPunct="1">
        <a:lnSpc>
          <a:spcPct val="90000"/>
        </a:lnSpc>
        <a:spcBef>
          <a:spcPts val="346"/>
        </a:spcBef>
        <a:buFont typeface="Arial" panose="020B0604020202020204" pitchFamily="34" charset="0"/>
        <a:buChar char="•"/>
        <a:defRPr sz="1662" kern="1200">
          <a:solidFill>
            <a:schemeClr val="tx1"/>
          </a:solidFill>
          <a:latin typeface="+mn-lt"/>
          <a:ea typeface="+mn-ea"/>
          <a:cs typeface="+mn-cs"/>
        </a:defRPr>
      </a:lvl2pPr>
      <a:lvl3pPr marL="791299" indent="-158260" algn="l" defTabSz="633039" rtl="0" eaLnBrk="1" latinLnBrk="0" hangingPunct="1">
        <a:lnSpc>
          <a:spcPct val="90000"/>
        </a:lnSpc>
        <a:spcBef>
          <a:spcPts val="346"/>
        </a:spcBef>
        <a:buFont typeface="Arial" panose="020B0604020202020204" pitchFamily="34" charset="0"/>
        <a:buChar char="•"/>
        <a:defRPr sz="1385" kern="1200">
          <a:solidFill>
            <a:schemeClr val="tx1"/>
          </a:solidFill>
          <a:latin typeface="+mn-lt"/>
          <a:ea typeface="+mn-ea"/>
          <a:cs typeface="+mn-cs"/>
        </a:defRPr>
      </a:lvl3pPr>
      <a:lvl4pPr marL="110781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4pPr>
      <a:lvl5pPr marL="142433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5pPr>
      <a:lvl6pPr marL="174085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6pPr>
      <a:lvl7pPr marL="2057377"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7pPr>
      <a:lvl8pPr marL="2373897"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8pPr>
      <a:lvl9pPr marL="2690416"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9pPr>
    </p:bodyStyle>
    <p:otherStyle>
      <a:defPPr>
        <a:defRPr lang="en-US"/>
      </a:defPPr>
      <a:lvl1pPr marL="0" algn="l" defTabSz="633039" rtl="0" eaLnBrk="1" latinLnBrk="0" hangingPunct="1">
        <a:defRPr sz="1246" kern="1200">
          <a:solidFill>
            <a:schemeClr val="tx1"/>
          </a:solidFill>
          <a:latin typeface="+mn-lt"/>
          <a:ea typeface="+mn-ea"/>
          <a:cs typeface="+mn-cs"/>
        </a:defRPr>
      </a:lvl1pPr>
      <a:lvl2pPr marL="316520" algn="l" defTabSz="633039" rtl="0" eaLnBrk="1" latinLnBrk="0" hangingPunct="1">
        <a:defRPr sz="1246" kern="1200">
          <a:solidFill>
            <a:schemeClr val="tx1"/>
          </a:solidFill>
          <a:latin typeface="+mn-lt"/>
          <a:ea typeface="+mn-ea"/>
          <a:cs typeface="+mn-cs"/>
        </a:defRPr>
      </a:lvl2pPr>
      <a:lvl3pPr marL="633039" algn="l" defTabSz="633039" rtl="0" eaLnBrk="1" latinLnBrk="0" hangingPunct="1">
        <a:defRPr sz="1246" kern="1200">
          <a:solidFill>
            <a:schemeClr val="tx1"/>
          </a:solidFill>
          <a:latin typeface="+mn-lt"/>
          <a:ea typeface="+mn-ea"/>
          <a:cs typeface="+mn-cs"/>
        </a:defRPr>
      </a:lvl3pPr>
      <a:lvl4pPr marL="949559" algn="l" defTabSz="633039" rtl="0" eaLnBrk="1" latinLnBrk="0" hangingPunct="1">
        <a:defRPr sz="1246" kern="1200">
          <a:solidFill>
            <a:schemeClr val="tx1"/>
          </a:solidFill>
          <a:latin typeface="+mn-lt"/>
          <a:ea typeface="+mn-ea"/>
          <a:cs typeface="+mn-cs"/>
        </a:defRPr>
      </a:lvl4pPr>
      <a:lvl5pPr marL="1266078" algn="l" defTabSz="633039" rtl="0" eaLnBrk="1" latinLnBrk="0" hangingPunct="1">
        <a:defRPr sz="1246" kern="1200">
          <a:solidFill>
            <a:schemeClr val="tx1"/>
          </a:solidFill>
          <a:latin typeface="+mn-lt"/>
          <a:ea typeface="+mn-ea"/>
          <a:cs typeface="+mn-cs"/>
        </a:defRPr>
      </a:lvl5pPr>
      <a:lvl6pPr marL="1582598" algn="l" defTabSz="633039" rtl="0" eaLnBrk="1" latinLnBrk="0" hangingPunct="1">
        <a:defRPr sz="1246" kern="1200">
          <a:solidFill>
            <a:schemeClr val="tx1"/>
          </a:solidFill>
          <a:latin typeface="+mn-lt"/>
          <a:ea typeface="+mn-ea"/>
          <a:cs typeface="+mn-cs"/>
        </a:defRPr>
      </a:lvl6pPr>
      <a:lvl7pPr marL="1899117" algn="l" defTabSz="633039" rtl="0" eaLnBrk="1" latinLnBrk="0" hangingPunct="1">
        <a:defRPr sz="1246" kern="1200">
          <a:solidFill>
            <a:schemeClr val="tx1"/>
          </a:solidFill>
          <a:latin typeface="+mn-lt"/>
          <a:ea typeface="+mn-ea"/>
          <a:cs typeface="+mn-cs"/>
        </a:defRPr>
      </a:lvl7pPr>
      <a:lvl8pPr marL="2215637" algn="l" defTabSz="633039" rtl="0" eaLnBrk="1" latinLnBrk="0" hangingPunct="1">
        <a:defRPr sz="1246" kern="1200">
          <a:solidFill>
            <a:schemeClr val="tx1"/>
          </a:solidFill>
          <a:latin typeface="+mn-lt"/>
          <a:ea typeface="+mn-ea"/>
          <a:cs typeface="+mn-cs"/>
        </a:defRPr>
      </a:lvl8pPr>
      <a:lvl9pPr marL="2532156" algn="l" defTabSz="633039" rtl="0" eaLnBrk="1" latinLnBrk="0" hangingPunct="1">
        <a:defRPr sz="124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323F13F9-AD74-4E4E-84C9-3C59484F0DD6}"/>
              </a:ext>
            </a:extLst>
          </p:cNvPr>
          <p:cNvGraphicFramePr>
            <a:graphicFrameLocks noChangeAspect="1"/>
          </p:cNvGraphicFramePr>
          <p:nvPr userDrawn="1">
            <p:custDataLst>
              <p:tags r:id="rId8"/>
            </p:custDataLst>
            <p:extLst>
              <p:ext uri="{D42A27DB-BD31-4B8C-83A1-F6EECF244321}">
                <p14:modId xmlns:p14="http://schemas.microsoft.com/office/powerpoint/2010/main" val="1085371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80" imgH="481" progId="TCLayout.ActiveDocument.1">
                  <p:embed/>
                </p:oleObj>
              </mc:Choice>
              <mc:Fallback>
                <p:oleObj name="think-cell Slide" r:id="rId9" imgW="480" imgH="481" progId="TCLayout.ActiveDocument.1">
                  <p:embed/>
                  <p:pic>
                    <p:nvPicPr>
                      <p:cNvPr id="4" name="Object 3">
                        <a:extLst>
                          <a:ext uri="{FF2B5EF4-FFF2-40B4-BE49-F238E27FC236}">
                            <a16:creationId xmlns:a16="http://schemas.microsoft.com/office/drawing/2014/main" id="{323F13F9-AD74-4E4E-84C9-3C59484F0DD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71488" y="959205"/>
            <a:ext cx="5915025" cy="1914702"/>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6571940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Lst>
  <p:hf hdr="0" dt="0"/>
  <p:txStyles>
    <p:title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Riforma LL" panose="020B0504020101020102" pitchFamily="34" charset="0"/>
          <a:ea typeface="Riforma LL" panose="020B0504020101020102" pitchFamily="34" charset="0"/>
          <a:cs typeface="Riforma LL" panose="020B0504020101020102"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54F6D-CC8A-524A-DB95-6300C7A84351}"/>
            </a:ext>
          </a:extLst>
        </p:cNvPr>
        <p:cNvGrpSpPr/>
        <p:nvPr/>
      </p:nvGrpSpPr>
      <p:grpSpPr>
        <a:xfrm>
          <a:off x="0" y="0"/>
          <a:ext cx="0" cy="0"/>
          <a:chOff x="0" y="0"/>
          <a:chExt cx="0" cy="0"/>
        </a:xfrm>
      </p:grpSpPr>
      <p:sp>
        <p:nvSpPr>
          <p:cNvPr id="105" name="Rectangle 1">
            <a:extLst>
              <a:ext uri="{FF2B5EF4-FFF2-40B4-BE49-F238E27FC236}">
                <a16:creationId xmlns:a16="http://schemas.microsoft.com/office/drawing/2014/main" id="{5F71EA1C-F4FB-48A7-2DEC-3C07E2CBE703}"/>
              </a:ext>
            </a:extLst>
          </p:cNvPr>
          <p:cNvSpPr>
            <a:spLocks noChangeArrowheads="1"/>
          </p:cNvSpPr>
          <p:nvPr/>
        </p:nvSpPr>
        <p:spPr bwMode="auto">
          <a:xfrm>
            <a:off x="-2827682" y="5430277"/>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43" name="TextBox 42">
            <a:extLst>
              <a:ext uri="{FF2B5EF4-FFF2-40B4-BE49-F238E27FC236}">
                <a16:creationId xmlns:a16="http://schemas.microsoft.com/office/drawing/2014/main" id="{9DA415BD-B819-AB80-C6B8-EC36CB3DFB80}"/>
              </a:ext>
            </a:extLst>
          </p:cNvPr>
          <p:cNvSpPr txBox="1"/>
          <p:nvPr/>
        </p:nvSpPr>
        <p:spPr>
          <a:xfrm>
            <a:off x="204514" y="3481435"/>
            <a:ext cx="1659455" cy="869717"/>
          </a:xfrm>
          <a:prstGeom prst="rect">
            <a:avLst/>
          </a:prstGeom>
        </p:spPr>
        <p:txBody>
          <a:bodyPr>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2000" dirty="0"/>
              <a:t>SPRINT Objectives</a:t>
            </a:r>
          </a:p>
        </p:txBody>
      </p:sp>
      <p:cxnSp>
        <p:nvCxnSpPr>
          <p:cNvPr id="47" name="Straight Connector 46">
            <a:extLst>
              <a:ext uri="{FF2B5EF4-FFF2-40B4-BE49-F238E27FC236}">
                <a16:creationId xmlns:a16="http://schemas.microsoft.com/office/drawing/2014/main" id="{E6887590-9F8C-DC5D-A3E5-C40263149D9C}"/>
              </a:ext>
            </a:extLst>
          </p:cNvPr>
          <p:cNvCxnSpPr>
            <a:cxnSpLocks/>
          </p:cNvCxnSpPr>
          <p:nvPr/>
        </p:nvCxnSpPr>
        <p:spPr>
          <a:xfrm flipH="1">
            <a:off x="288251" y="3931822"/>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7369A6FF-6348-F8E3-F5C4-F8369ED17979}"/>
              </a:ext>
            </a:extLst>
          </p:cNvPr>
          <p:cNvSpPr txBox="1"/>
          <p:nvPr/>
        </p:nvSpPr>
        <p:spPr>
          <a:xfrm>
            <a:off x="738485" y="1127196"/>
            <a:ext cx="5051124" cy="278153"/>
          </a:xfrm>
          <a:prstGeom prst="rect">
            <a:avLst/>
          </a:prstGeom>
          <a:noFill/>
        </p:spPr>
        <p:txBody>
          <a:bodyPr wrap="square">
            <a:spAutoFit/>
          </a:bodyPr>
          <a:lstStyle>
            <a:defPPr>
              <a:defRPr lang="en-US"/>
            </a:defPPr>
            <a:lvl1pPr>
              <a:lnSpc>
                <a:spcPct val="115000"/>
              </a:lnSpc>
              <a:spcBef>
                <a:spcPts val="840"/>
              </a:spcBef>
              <a:spcAft>
                <a:spcPts val="840"/>
              </a:spcAft>
              <a:defRPr sz="1000">
                <a:effectLst/>
                <a:latin typeface="Riforma LL" panose="020B0504020101020102" pitchFamily="34" charset="77"/>
                <a:ea typeface="Times New Roman" panose="02020603050405020304" pitchFamily="18" charset="0"/>
              </a:defRPr>
            </a:lvl1pPr>
          </a:lstStyle>
          <a:p>
            <a:r>
              <a:rPr lang="en-US" dirty="0"/>
              <a:t>Purpose</a:t>
            </a:r>
          </a:p>
        </p:txBody>
      </p:sp>
      <p:sp>
        <p:nvSpPr>
          <p:cNvPr id="79" name="TextBox 78">
            <a:extLst>
              <a:ext uri="{FF2B5EF4-FFF2-40B4-BE49-F238E27FC236}">
                <a16:creationId xmlns:a16="http://schemas.microsoft.com/office/drawing/2014/main" id="{9A9756B4-C5A5-6294-5DD4-2F08A30CAC1E}"/>
              </a:ext>
            </a:extLst>
          </p:cNvPr>
          <p:cNvSpPr txBox="1"/>
          <p:nvPr/>
        </p:nvSpPr>
        <p:spPr>
          <a:xfrm>
            <a:off x="204514" y="1143773"/>
            <a:ext cx="555935" cy="200055"/>
          </a:xfrm>
          <a:prstGeom prst="rect">
            <a:avLst/>
          </a:prstGeom>
          <a:noFill/>
        </p:spPr>
        <p:txBody>
          <a:bodyPr wrap="square">
            <a:spAutoFit/>
          </a:bodyPr>
          <a:lstStyle/>
          <a:p>
            <a:pPr lvl="0">
              <a:buSzPts val="1000"/>
              <a:tabLst>
                <a:tab pos="457200" algn="l"/>
              </a:tabLst>
            </a:pPr>
            <a:r>
              <a:rPr lang="en-BG" sz="700" kern="100" dirty="0">
                <a:effectLst/>
                <a:latin typeface="Monument Grotesk Mono" panose="02010504030000020004" pitchFamily="2" charset="0"/>
                <a:ea typeface="Riforma LL" panose="020B0504020101020102" pitchFamily="34" charset="77"/>
                <a:cs typeface="Riforma LL" panose="020B0504020101020102" pitchFamily="34" charset="77"/>
              </a:rPr>
              <a:t>[01]</a:t>
            </a:r>
          </a:p>
        </p:txBody>
      </p:sp>
      <p:sp>
        <p:nvSpPr>
          <p:cNvPr id="81" name="TextBox 80">
            <a:extLst>
              <a:ext uri="{FF2B5EF4-FFF2-40B4-BE49-F238E27FC236}">
                <a16:creationId xmlns:a16="http://schemas.microsoft.com/office/drawing/2014/main" id="{84221735-16A2-A9F7-FC85-68DCFC355B7E}"/>
              </a:ext>
            </a:extLst>
          </p:cNvPr>
          <p:cNvSpPr txBox="1"/>
          <p:nvPr/>
        </p:nvSpPr>
        <p:spPr>
          <a:xfrm>
            <a:off x="738485" y="1350910"/>
            <a:ext cx="5119727" cy="1685077"/>
          </a:xfrm>
          <a:prstGeom prst="rect">
            <a:avLst/>
          </a:prstGeom>
          <a:noFill/>
        </p:spPr>
        <p:txBody>
          <a:bodyPr wrap="square">
            <a:spAutoFit/>
          </a:bodyPr>
          <a:lstStyle>
            <a:defPPr>
              <a:defRPr lang="en-US"/>
            </a:defPPr>
            <a:lvl1pPr marL="171450" indent="-171450">
              <a:lnSpc>
                <a:spcPct val="100000"/>
              </a:lnSpc>
              <a:spcBef>
                <a:spcPts val="0"/>
              </a:spcBef>
              <a:spcAft>
                <a:spcPts val="0"/>
              </a:spcAft>
              <a:buFont typeface="Arial" panose="020B0604020202020204" pitchFamily="34" charset="0"/>
              <a:buChar char="•"/>
              <a:defRPr sz="900">
                <a:latin typeface="Riforma LL" panose="020B0504020101020102" pitchFamily="34" charset="77"/>
              </a:defRPr>
            </a:lvl1pPr>
          </a:lstStyle>
          <a:p>
            <a:pPr marL="0" indent="0">
              <a:buNone/>
            </a:pPr>
            <a:r>
              <a:rPr lang="en-US" dirty="0"/>
              <a:t>This guide aims to equip you, the Guru, with the tools and knowledge needed to lead the sprint meeting effectively. Your role is to guide the team, address challenges, and ensure alignment with the sprint’s objectives.</a:t>
            </a:r>
            <a:r>
              <a:rPr lang="en-BG" dirty="0"/>
              <a:t> </a:t>
            </a:r>
            <a:endParaRPr lang="en-US" dirty="0"/>
          </a:p>
        </p:txBody>
      </p:sp>
      <p:sp>
        <p:nvSpPr>
          <p:cNvPr id="95" name="TextBox 94">
            <a:extLst>
              <a:ext uri="{FF2B5EF4-FFF2-40B4-BE49-F238E27FC236}">
                <a16:creationId xmlns:a16="http://schemas.microsoft.com/office/drawing/2014/main" id="{1933E4B8-C15B-F470-FBF0-833A76BA1213}"/>
              </a:ext>
            </a:extLst>
          </p:cNvPr>
          <p:cNvSpPr txBox="1"/>
          <p:nvPr/>
        </p:nvSpPr>
        <p:spPr>
          <a:xfrm>
            <a:off x="5858213" y="3093199"/>
            <a:ext cx="784747"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02</a:t>
            </a:r>
          </a:p>
        </p:txBody>
      </p:sp>
      <p:sp>
        <p:nvSpPr>
          <p:cNvPr id="12" name="TextBox 11">
            <a:extLst>
              <a:ext uri="{FF2B5EF4-FFF2-40B4-BE49-F238E27FC236}">
                <a16:creationId xmlns:a16="http://schemas.microsoft.com/office/drawing/2014/main" id="{449956EA-FF98-6625-86B7-3892C265B32F}"/>
              </a:ext>
            </a:extLst>
          </p:cNvPr>
          <p:cNvSpPr txBox="1"/>
          <p:nvPr/>
        </p:nvSpPr>
        <p:spPr>
          <a:xfrm>
            <a:off x="738485" y="1854514"/>
            <a:ext cx="5051124" cy="269304"/>
          </a:xfrm>
          <a:prstGeom prst="rect">
            <a:avLst/>
          </a:prstGeom>
          <a:noFill/>
        </p:spPr>
        <p:txBody>
          <a:bodyPr wrap="square">
            <a:spAutoFit/>
          </a:bodyPr>
          <a:lstStyle>
            <a:defPPr>
              <a:defRPr lang="en-US"/>
            </a:defPPr>
            <a:lvl1pPr>
              <a:lnSpc>
                <a:spcPct val="115000"/>
              </a:lnSpc>
              <a:spcBef>
                <a:spcPts val="840"/>
              </a:spcBef>
              <a:spcAft>
                <a:spcPts val="840"/>
              </a:spcAft>
              <a:defRPr sz="1050">
                <a:effectLst/>
                <a:latin typeface="Riforma LL" panose="020B0504020101020102" pitchFamily="34" charset="77"/>
                <a:ea typeface="Times New Roman" panose="02020603050405020304" pitchFamily="18" charset="0"/>
              </a:defRPr>
            </a:lvl1pPr>
          </a:lstStyle>
          <a:p>
            <a:r>
              <a:rPr lang="en-US" sz="1000" dirty="0"/>
              <a:t>Guide how to engage and manage the team.</a:t>
            </a:r>
          </a:p>
        </p:txBody>
      </p:sp>
      <p:sp>
        <p:nvSpPr>
          <p:cNvPr id="13" name="TextBox 12">
            <a:extLst>
              <a:ext uri="{FF2B5EF4-FFF2-40B4-BE49-F238E27FC236}">
                <a16:creationId xmlns:a16="http://schemas.microsoft.com/office/drawing/2014/main" id="{7E5307B9-BEEB-6CBC-C807-DBA8B2866260}"/>
              </a:ext>
            </a:extLst>
          </p:cNvPr>
          <p:cNvSpPr txBox="1"/>
          <p:nvPr/>
        </p:nvSpPr>
        <p:spPr>
          <a:xfrm>
            <a:off x="204514" y="1871091"/>
            <a:ext cx="555935" cy="200055"/>
          </a:xfrm>
          <a:prstGeom prst="rect">
            <a:avLst/>
          </a:prstGeom>
          <a:noFill/>
        </p:spPr>
        <p:txBody>
          <a:bodyPr wrap="square">
            <a:spAutoFit/>
          </a:bodyPr>
          <a:lstStyle/>
          <a:p>
            <a:pPr lvl="0">
              <a:buSzPts val="1000"/>
              <a:tabLst>
                <a:tab pos="457200" algn="l"/>
              </a:tabLst>
            </a:pPr>
            <a:r>
              <a:rPr lang="en-BG" sz="700" kern="100" dirty="0">
                <a:effectLst/>
                <a:latin typeface="Monument Grotesk Mono" panose="02010504030000020004" pitchFamily="2" charset="0"/>
                <a:ea typeface="Riforma LL" panose="020B0504020101020102" pitchFamily="34" charset="77"/>
                <a:cs typeface="Riforma LL" panose="020B0504020101020102" pitchFamily="34" charset="77"/>
              </a:rPr>
              <a:t>[02]</a:t>
            </a:r>
          </a:p>
        </p:txBody>
      </p:sp>
      <p:sp>
        <p:nvSpPr>
          <p:cNvPr id="16" name="TextBox 15">
            <a:extLst>
              <a:ext uri="{FF2B5EF4-FFF2-40B4-BE49-F238E27FC236}">
                <a16:creationId xmlns:a16="http://schemas.microsoft.com/office/drawing/2014/main" id="{7639A2D2-8200-8FB3-F137-3323F7F3261A}"/>
              </a:ext>
            </a:extLst>
          </p:cNvPr>
          <p:cNvSpPr txBox="1"/>
          <p:nvPr/>
        </p:nvSpPr>
        <p:spPr>
          <a:xfrm>
            <a:off x="204514" y="610788"/>
            <a:ext cx="1877965"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dirty="0"/>
              <a:t>guru guide</a:t>
            </a:r>
          </a:p>
          <a:p>
            <a:r>
              <a:rPr lang="en-US" dirty="0"/>
              <a:t>overview</a:t>
            </a:r>
          </a:p>
        </p:txBody>
      </p:sp>
      <p:cxnSp>
        <p:nvCxnSpPr>
          <p:cNvPr id="17" name="Straight Connector 16">
            <a:extLst>
              <a:ext uri="{FF2B5EF4-FFF2-40B4-BE49-F238E27FC236}">
                <a16:creationId xmlns:a16="http://schemas.microsoft.com/office/drawing/2014/main" id="{384BC4FF-EB42-7AB0-FDED-1993B2112290}"/>
              </a:ext>
            </a:extLst>
          </p:cNvPr>
          <p:cNvCxnSpPr>
            <a:cxnSpLocks/>
          </p:cNvCxnSpPr>
          <p:nvPr/>
        </p:nvCxnSpPr>
        <p:spPr>
          <a:xfrm flipH="1">
            <a:off x="288251" y="1082526"/>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A917970-A7DA-C0E4-FB72-71250DA59E37}"/>
              </a:ext>
            </a:extLst>
          </p:cNvPr>
          <p:cNvSpPr txBox="1"/>
          <p:nvPr/>
        </p:nvSpPr>
        <p:spPr>
          <a:xfrm>
            <a:off x="204514" y="3987016"/>
            <a:ext cx="6047833" cy="570156"/>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r>
              <a:rPr lang="en-US" sz="900" dirty="0"/>
              <a:t>The Performance Analysis and Accountability sprint is designed to establish robust systems for tracking and improving individual and team performance. It focuses on aligning tasks with strategic goals, implementing accountability frameworks, and leveraging actionable insights to drive continuous improvement.</a:t>
            </a:r>
          </a:p>
        </p:txBody>
      </p:sp>
      <p:sp>
        <p:nvSpPr>
          <p:cNvPr id="19" name="TextBox 18">
            <a:extLst>
              <a:ext uri="{FF2B5EF4-FFF2-40B4-BE49-F238E27FC236}">
                <a16:creationId xmlns:a16="http://schemas.microsoft.com/office/drawing/2014/main" id="{F8422B9A-883E-3D48-EFC0-5C74EE61F0A0}"/>
              </a:ext>
            </a:extLst>
          </p:cNvPr>
          <p:cNvSpPr txBox="1"/>
          <p:nvPr/>
        </p:nvSpPr>
        <p:spPr>
          <a:xfrm>
            <a:off x="5858213" y="230512"/>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01</a:t>
            </a:r>
          </a:p>
        </p:txBody>
      </p:sp>
      <p:sp>
        <p:nvSpPr>
          <p:cNvPr id="24" name="TextBox 23">
            <a:extLst>
              <a:ext uri="{FF2B5EF4-FFF2-40B4-BE49-F238E27FC236}">
                <a16:creationId xmlns:a16="http://schemas.microsoft.com/office/drawing/2014/main" id="{C88BE5DA-C830-7C61-E70A-A037C4C4D494}"/>
              </a:ext>
            </a:extLst>
          </p:cNvPr>
          <p:cNvSpPr txBox="1"/>
          <p:nvPr/>
        </p:nvSpPr>
        <p:spPr>
          <a:xfrm>
            <a:off x="1412421" y="220638"/>
            <a:ext cx="5039877"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rPr>
              <a:t>[MODULE:MASTER THE CORE ELEMENT OF PERFORMANCE - SPRINT:PERFORMANCE ANALYSIS AND ACCOUNTABILITY] </a:t>
            </a:r>
          </a:p>
        </p:txBody>
      </p:sp>
      <p:sp>
        <p:nvSpPr>
          <p:cNvPr id="15" name="TextBox 14">
            <a:extLst>
              <a:ext uri="{FF2B5EF4-FFF2-40B4-BE49-F238E27FC236}">
                <a16:creationId xmlns:a16="http://schemas.microsoft.com/office/drawing/2014/main" id="{35CEE4BF-DD35-B439-F6D5-7D675B3E1B95}"/>
              </a:ext>
            </a:extLst>
          </p:cNvPr>
          <p:cNvSpPr txBox="1"/>
          <p:nvPr/>
        </p:nvSpPr>
        <p:spPr>
          <a:xfrm>
            <a:off x="738485" y="2059388"/>
            <a:ext cx="6047833" cy="923330"/>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marL="171450" indent="-171450">
              <a:lnSpc>
                <a:spcPct val="100000"/>
              </a:lnSpc>
              <a:spcBef>
                <a:spcPts val="0"/>
              </a:spcBef>
              <a:spcAft>
                <a:spcPts val="0"/>
              </a:spcAft>
              <a:buFont typeface="Arial" panose="020B0604020202020204" pitchFamily="34" charset="0"/>
              <a:buChar char="•"/>
            </a:pPr>
            <a:r>
              <a:rPr lang="en-US" sz="900" dirty="0"/>
              <a:t>Break into smaller groups if the discussion becomes stagnant or off-topic.</a:t>
            </a:r>
          </a:p>
          <a:p>
            <a:pPr marL="171450" indent="-171450">
              <a:lnSpc>
                <a:spcPct val="100000"/>
              </a:lnSpc>
              <a:spcBef>
                <a:spcPts val="0"/>
              </a:spcBef>
              <a:spcAft>
                <a:spcPts val="0"/>
              </a:spcAft>
              <a:buFont typeface="Arial" panose="020B0604020202020204" pitchFamily="34" charset="0"/>
              <a:buChar char="•"/>
            </a:pPr>
            <a:r>
              <a:rPr lang="en-US" sz="900" dirty="0"/>
              <a:t>Use direct questions to re-engage team members.</a:t>
            </a:r>
          </a:p>
          <a:p>
            <a:pPr marL="171450" indent="-171450">
              <a:lnSpc>
                <a:spcPct val="100000"/>
              </a:lnSpc>
              <a:spcBef>
                <a:spcPts val="0"/>
              </a:spcBef>
              <a:spcAft>
                <a:spcPts val="0"/>
              </a:spcAft>
              <a:buFont typeface="Arial" panose="020B0604020202020204" pitchFamily="34" charset="0"/>
              <a:buChar char="•"/>
            </a:pPr>
            <a:r>
              <a:rPr lang="en-US" sz="900" dirty="0"/>
              <a:t>Address issues early by acknowledging differing perspectives and finding common ground.</a:t>
            </a:r>
          </a:p>
          <a:p>
            <a:pPr marL="171450" indent="-171450">
              <a:lnSpc>
                <a:spcPct val="100000"/>
              </a:lnSpc>
              <a:spcBef>
                <a:spcPts val="0"/>
              </a:spcBef>
              <a:spcAft>
                <a:spcPts val="0"/>
              </a:spcAft>
              <a:buFont typeface="Arial" panose="020B0604020202020204" pitchFamily="34" charset="0"/>
              <a:buChar char="•"/>
            </a:pPr>
            <a:r>
              <a:rPr lang="en-US" sz="900" dirty="0"/>
              <a:t>If discussions go off-track, refocus the team by revisiting the session’s objectives.</a:t>
            </a:r>
          </a:p>
          <a:p>
            <a:pPr marL="171450" indent="-171450">
              <a:lnSpc>
                <a:spcPct val="100000"/>
              </a:lnSpc>
              <a:spcBef>
                <a:spcPts val="0"/>
              </a:spcBef>
              <a:spcAft>
                <a:spcPts val="0"/>
              </a:spcAft>
              <a:buFont typeface="Arial" panose="020B0604020202020204" pitchFamily="34" charset="0"/>
              <a:buChar char="•"/>
            </a:pPr>
            <a:r>
              <a:rPr lang="en-US" sz="900" dirty="0"/>
              <a:t>Keep a timer to ensure each agenda item stays on track.</a:t>
            </a:r>
          </a:p>
          <a:p>
            <a:pPr marL="171450" indent="-171450">
              <a:lnSpc>
                <a:spcPct val="100000"/>
              </a:lnSpc>
              <a:spcBef>
                <a:spcPts val="0"/>
              </a:spcBef>
              <a:spcAft>
                <a:spcPts val="0"/>
              </a:spcAft>
              <a:buFont typeface="Arial" panose="020B0604020202020204" pitchFamily="34" charset="0"/>
              <a:buChar char="•"/>
            </a:pPr>
            <a:r>
              <a:rPr lang="en-US" sz="900" dirty="0"/>
              <a:t>If time is running short, prioritize key decisions and put less critical issues for follow-up.</a:t>
            </a:r>
          </a:p>
        </p:txBody>
      </p:sp>
      <p:sp>
        <p:nvSpPr>
          <p:cNvPr id="2" name="TextBox 1">
            <a:extLst>
              <a:ext uri="{FF2B5EF4-FFF2-40B4-BE49-F238E27FC236}">
                <a16:creationId xmlns:a16="http://schemas.microsoft.com/office/drawing/2014/main" id="{0FB4E275-0870-AD8D-9C96-AF8E3C786D68}"/>
              </a:ext>
            </a:extLst>
          </p:cNvPr>
          <p:cNvSpPr txBox="1"/>
          <p:nvPr/>
        </p:nvSpPr>
        <p:spPr>
          <a:xfrm>
            <a:off x="260482" y="4542649"/>
            <a:ext cx="5051124" cy="269304"/>
          </a:xfrm>
          <a:prstGeom prst="rect">
            <a:avLst/>
          </a:prstGeom>
          <a:noFill/>
        </p:spPr>
        <p:txBody>
          <a:bodyPr wrap="square">
            <a:spAutoFit/>
          </a:bodyPr>
          <a:lstStyle>
            <a:defPPr>
              <a:defRPr lang="en-US"/>
            </a:defPPr>
            <a:lvl1pPr>
              <a:lnSpc>
                <a:spcPct val="115000"/>
              </a:lnSpc>
              <a:spcBef>
                <a:spcPts val="840"/>
              </a:spcBef>
              <a:spcAft>
                <a:spcPts val="840"/>
              </a:spcAft>
              <a:defRPr sz="1050">
                <a:effectLst/>
                <a:latin typeface="Riforma LL" panose="020B0504020101020102" pitchFamily="34" charset="77"/>
                <a:ea typeface="Times New Roman" panose="02020603050405020304" pitchFamily="18" charset="0"/>
              </a:defRPr>
            </a:lvl1pPr>
          </a:lstStyle>
          <a:p>
            <a:r>
              <a:rPr lang="en-US" sz="1000" dirty="0"/>
              <a:t>Core principles</a:t>
            </a:r>
          </a:p>
        </p:txBody>
      </p:sp>
      <p:sp>
        <p:nvSpPr>
          <p:cNvPr id="3" name="TextBox 2">
            <a:extLst>
              <a:ext uri="{FF2B5EF4-FFF2-40B4-BE49-F238E27FC236}">
                <a16:creationId xmlns:a16="http://schemas.microsoft.com/office/drawing/2014/main" id="{AF89C883-10A3-F2E5-CE55-0570E1869437}"/>
              </a:ext>
            </a:extLst>
          </p:cNvPr>
          <p:cNvSpPr txBox="1"/>
          <p:nvPr/>
        </p:nvSpPr>
        <p:spPr>
          <a:xfrm>
            <a:off x="260482" y="4744684"/>
            <a:ext cx="6047833" cy="923330"/>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marL="171450" lvl="0" indent="-171450">
              <a:lnSpc>
                <a:spcPct val="100000"/>
              </a:lnSpc>
              <a:spcBef>
                <a:spcPts val="0"/>
              </a:spcBef>
              <a:spcAft>
                <a:spcPts val="0"/>
              </a:spcAft>
              <a:buFont typeface="Arial" panose="020B0604020202020204" pitchFamily="34" charset="0"/>
              <a:buChar char="•"/>
              <a:tabLst>
                <a:tab pos="457200" algn="l"/>
              </a:tabLst>
            </a:pPr>
            <a:r>
              <a:rPr lang="en-US" sz="900" dirty="0"/>
              <a:t>Performance Analysis: Measure tasks daily and weekly, focusing on “done” vs. “not done.” Leverage tools like dashboards for transparency​.</a:t>
            </a:r>
          </a:p>
          <a:p>
            <a:pPr marL="171450" lvl="0" indent="-171450">
              <a:lnSpc>
                <a:spcPct val="100000"/>
              </a:lnSpc>
              <a:spcBef>
                <a:spcPts val="0"/>
              </a:spcBef>
              <a:spcAft>
                <a:spcPts val="0"/>
              </a:spcAft>
              <a:buFont typeface="Arial" panose="020B0604020202020204" pitchFamily="34" charset="0"/>
              <a:buChar char="•"/>
              <a:tabLst>
                <a:tab pos="457200" algn="l"/>
              </a:tabLst>
            </a:pPr>
            <a:r>
              <a:rPr lang="en-US" sz="900" dirty="0"/>
              <a:t>Accountability and Consequences: Establish clear roles, ownership, and repercussions for task completion​.</a:t>
            </a:r>
          </a:p>
          <a:p>
            <a:pPr marL="171450" lvl="0" indent="-171450">
              <a:lnSpc>
                <a:spcPct val="100000"/>
              </a:lnSpc>
              <a:spcBef>
                <a:spcPts val="0"/>
              </a:spcBef>
              <a:spcAft>
                <a:spcPts val="0"/>
              </a:spcAft>
              <a:buFont typeface="Arial" panose="020B0604020202020204" pitchFamily="34" charset="0"/>
              <a:buChar char="•"/>
              <a:tabLst>
                <a:tab pos="457200" algn="l"/>
              </a:tabLst>
            </a:pPr>
            <a:r>
              <a:rPr lang="en-US" sz="900" dirty="0"/>
              <a:t>Root Cause Analysis: Use methods like the 5 Whys and Theory of Constraints (TOC) to uncover underlying issues​.</a:t>
            </a:r>
          </a:p>
        </p:txBody>
      </p:sp>
      <p:sp>
        <p:nvSpPr>
          <p:cNvPr id="5" name="TextBox 4">
            <a:extLst>
              <a:ext uri="{FF2B5EF4-FFF2-40B4-BE49-F238E27FC236}">
                <a16:creationId xmlns:a16="http://schemas.microsoft.com/office/drawing/2014/main" id="{997164C3-0F10-D248-6B13-5F4FA6D16BDF}"/>
              </a:ext>
            </a:extLst>
          </p:cNvPr>
          <p:cNvSpPr txBox="1"/>
          <p:nvPr/>
        </p:nvSpPr>
        <p:spPr>
          <a:xfrm>
            <a:off x="288251" y="5704827"/>
            <a:ext cx="5051124" cy="269304"/>
          </a:xfrm>
          <a:prstGeom prst="rect">
            <a:avLst/>
          </a:prstGeom>
          <a:noFill/>
        </p:spPr>
        <p:txBody>
          <a:bodyPr wrap="square">
            <a:spAutoFit/>
          </a:bodyPr>
          <a:lstStyle>
            <a:defPPr>
              <a:defRPr lang="en-US"/>
            </a:defPPr>
            <a:lvl1pPr>
              <a:lnSpc>
                <a:spcPct val="115000"/>
              </a:lnSpc>
              <a:spcBef>
                <a:spcPts val="840"/>
              </a:spcBef>
              <a:spcAft>
                <a:spcPts val="840"/>
              </a:spcAft>
              <a:defRPr sz="1050">
                <a:effectLst/>
                <a:latin typeface="Riforma LL" panose="020B0504020101020102" pitchFamily="34" charset="77"/>
                <a:ea typeface="Times New Roman" panose="02020603050405020304" pitchFamily="18" charset="0"/>
              </a:defRPr>
            </a:lvl1pPr>
          </a:lstStyle>
          <a:p>
            <a:r>
              <a:rPr lang="en-US" sz="1000" dirty="0"/>
              <a:t>Application in the meeting</a:t>
            </a:r>
          </a:p>
        </p:txBody>
      </p:sp>
      <p:sp>
        <p:nvSpPr>
          <p:cNvPr id="6" name="TextBox 5">
            <a:extLst>
              <a:ext uri="{FF2B5EF4-FFF2-40B4-BE49-F238E27FC236}">
                <a16:creationId xmlns:a16="http://schemas.microsoft.com/office/drawing/2014/main" id="{8888C22D-ECE8-4B43-3C82-A83EAE3D9889}"/>
              </a:ext>
            </a:extLst>
          </p:cNvPr>
          <p:cNvSpPr txBox="1"/>
          <p:nvPr/>
        </p:nvSpPr>
        <p:spPr>
          <a:xfrm>
            <a:off x="288251" y="5906862"/>
            <a:ext cx="6047833" cy="507831"/>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marL="171450" indent="-171450">
              <a:lnSpc>
                <a:spcPct val="100000"/>
              </a:lnSpc>
              <a:spcBef>
                <a:spcPts val="0"/>
              </a:spcBef>
              <a:spcAft>
                <a:spcPts val="0"/>
              </a:spcAft>
              <a:buFont typeface="Arial" panose="020B0604020202020204" pitchFamily="34" charset="0"/>
              <a:buChar char="•"/>
              <a:tabLst>
                <a:tab pos="457200" algn="l"/>
              </a:tabLst>
            </a:pPr>
            <a:r>
              <a:rPr lang="en-US" sz="900" dirty="0"/>
              <a:t>Discuss individual and team-level performance metrics.</a:t>
            </a:r>
          </a:p>
          <a:p>
            <a:pPr marL="171450" indent="-171450">
              <a:lnSpc>
                <a:spcPct val="100000"/>
              </a:lnSpc>
              <a:spcBef>
                <a:spcPts val="0"/>
              </a:spcBef>
              <a:spcAft>
                <a:spcPts val="0"/>
              </a:spcAft>
              <a:buFont typeface="Arial" panose="020B0604020202020204" pitchFamily="34" charset="0"/>
              <a:buChar char="•"/>
              <a:tabLst>
                <a:tab pos="457200" algn="l"/>
              </a:tabLst>
            </a:pPr>
            <a:r>
              <a:rPr lang="en-US" sz="900" dirty="0"/>
              <a:t>Align priorities using the Impact-Easy matrix and 80/20 principles​.</a:t>
            </a:r>
          </a:p>
          <a:p>
            <a:pPr marL="171450" indent="-171450">
              <a:lnSpc>
                <a:spcPct val="100000"/>
              </a:lnSpc>
              <a:spcBef>
                <a:spcPts val="0"/>
              </a:spcBef>
              <a:spcAft>
                <a:spcPts val="0"/>
              </a:spcAft>
              <a:buFont typeface="Arial" panose="020B0604020202020204" pitchFamily="34" charset="0"/>
              <a:buChar char="•"/>
              <a:tabLst>
                <a:tab pos="457200" algn="l"/>
              </a:tabLst>
            </a:pPr>
            <a:r>
              <a:rPr lang="en-US" sz="900" dirty="0"/>
              <a:t>Identify actionable improvements and assign ownership.</a:t>
            </a:r>
          </a:p>
        </p:txBody>
      </p:sp>
      <p:cxnSp>
        <p:nvCxnSpPr>
          <p:cNvPr id="7" name="Straight Connector 6">
            <a:extLst>
              <a:ext uri="{FF2B5EF4-FFF2-40B4-BE49-F238E27FC236}">
                <a16:creationId xmlns:a16="http://schemas.microsoft.com/office/drawing/2014/main" id="{F35185AA-5573-9304-B4D6-1F5C36486089}"/>
              </a:ext>
            </a:extLst>
          </p:cNvPr>
          <p:cNvCxnSpPr>
            <a:cxnSpLocks/>
          </p:cNvCxnSpPr>
          <p:nvPr/>
        </p:nvCxnSpPr>
        <p:spPr>
          <a:xfrm flipH="1">
            <a:off x="294414" y="7514737"/>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98AE7E1-7FD5-EB7C-E006-40E983FD8571}"/>
              </a:ext>
            </a:extLst>
          </p:cNvPr>
          <p:cNvSpPr txBox="1"/>
          <p:nvPr/>
        </p:nvSpPr>
        <p:spPr>
          <a:xfrm>
            <a:off x="206056" y="7062002"/>
            <a:ext cx="2081486" cy="869717"/>
          </a:xfrm>
          <a:prstGeom prst="rect">
            <a:avLst/>
          </a:prstGeom>
        </p:spPr>
        <p:txBody>
          <a:bodyPr>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2000" dirty="0"/>
              <a:t>expected Challenges and Solutions</a:t>
            </a:r>
          </a:p>
          <a:p>
            <a:pPr>
              <a:lnSpc>
                <a:spcPct val="70000"/>
              </a:lnSpc>
            </a:pPr>
            <a:endParaRPr lang="en-US" sz="2000" dirty="0"/>
          </a:p>
        </p:txBody>
      </p:sp>
      <p:sp>
        <p:nvSpPr>
          <p:cNvPr id="9" name="TextBox 8">
            <a:extLst>
              <a:ext uri="{FF2B5EF4-FFF2-40B4-BE49-F238E27FC236}">
                <a16:creationId xmlns:a16="http://schemas.microsoft.com/office/drawing/2014/main" id="{01331BDC-210A-4F27-0919-98C904F936B9}"/>
              </a:ext>
            </a:extLst>
          </p:cNvPr>
          <p:cNvSpPr txBox="1"/>
          <p:nvPr/>
        </p:nvSpPr>
        <p:spPr>
          <a:xfrm>
            <a:off x="5836005" y="6673766"/>
            <a:ext cx="784747"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03</a:t>
            </a:r>
          </a:p>
        </p:txBody>
      </p:sp>
      <p:sp>
        <p:nvSpPr>
          <p:cNvPr id="10" name="TextBox 9">
            <a:extLst>
              <a:ext uri="{FF2B5EF4-FFF2-40B4-BE49-F238E27FC236}">
                <a16:creationId xmlns:a16="http://schemas.microsoft.com/office/drawing/2014/main" id="{2B7F1F53-2F36-8E67-DED1-814C3AB1F0FC}"/>
              </a:ext>
            </a:extLst>
          </p:cNvPr>
          <p:cNvSpPr txBox="1"/>
          <p:nvPr/>
        </p:nvSpPr>
        <p:spPr>
          <a:xfrm>
            <a:off x="224838" y="7567583"/>
            <a:ext cx="6047833" cy="1123384"/>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a:lnSpc>
                <a:spcPct val="100000"/>
              </a:lnSpc>
              <a:spcBef>
                <a:spcPts val="0"/>
              </a:spcBef>
              <a:spcAft>
                <a:spcPts val="0"/>
              </a:spcAft>
            </a:pPr>
            <a:r>
              <a:rPr lang="en-US" sz="1000" b="1" dirty="0">
                <a:ea typeface="Riforma LL" panose="020B0504020101020102" pitchFamily="34" charset="77"/>
                <a:cs typeface="Riforma LL" panose="020B0504020101020102" pitchFamily="34" charset="77"/>
              </a:rPr>
              <a:t>Resistance to accountability systems  </a:t>
            </a:r>
          </a:p>
          <a:p>
            <a:pPr marL="171450" indent="-171450">
              <a:lnSpc>
                <a:spcPct val="100000"/>
              </a:lnSpc>
              <a:spcBef>
                <a:spcPts val="0"/>
              </a:spcBef>
              <a:spcAft>
                <a:spcPts val="0"/>
              </a:spcAft>
              <a:buFont typeface="Arial" panose="020B0604020202020204" pitchFamily="34" charset="0"/>
              <a:buChar char="•"/>
            </a:pPr>
            <a:r>
              <a:rPr lang="en-US" sz="900" dirty="0"/>
              <a:t>Facilitate open discussions to address concerns, emphasizing fairness and shared success.</a:t>
            </a:r>
          </a:p>
          <a:p>
            <a:pPr>
              <a:lnSpc>
                <a:spcPct val="100000"/>
              </a:lnSpc>
              <a:spcBef>
                <a:spcPts val="600"/>
              </a:spcBef>
              <a:spcAft>
                <a:spcPts val="0"/>
              </a:spcAft>
            </a:pPr>
            <a:r>
              <a:rPr lang="en-US" sz="1000" b="1" dirty="0">
                <a:ea typeface="Riforma LL" panose="020B0504020101020102" pitchFamily="34" charset="77"/>
                <a:cs typeface="Riforma LL" panose="020B0504020101020102" pitchFamily="34" charset="77"/>
              </a:rPr>
              <a:t>Misaligned priorities</a:t>
            </a:r>
          </a:p>
          <a:p>
            <a:pPr marL="171450" indent="-171450">
              <a:lnSpc>
                <a:spcPct val="100000"/>
              </a:lnSpc>
              <a:spcBef>
                <a:spcPts val="0"/>
              </a:spcBef>
              <a:spcAft>
                <a:spcPts val="0"/>
              </a:spcAft>
              <a:buFont typeface="Arial" panose="020B0604020202020204" pitchFamily="34" charset="0"/>
              <a:buChar char="•"/>
            </a:pPr>
            <a:r>
              <a:rPr lang="en-US" sz="900" kern="100" dirty="0">
                <a:effectLst/>
              </a:rPr>
              <a:t>Use Impact-Easy to prioritize high-impact, low-effort tasks​.</a:t>
            </a:r>
            <a:endParaRPr lang="en-US" sz="900" dirty="0"/>
          </a:p>
          <a:p>
            <a:pPr>
              <a:lnSpc>
                <a:spcPct val="100000"/>
              </a:lnSpc>
              <a:spcBef>
                <a:spcPts val="600"/>
              </a:spcBef>
              <a:spcAft>
                <a:spcPts val="0"/>
              </a:spcAft>
            </a:pPr>
            <a:r>
              <a:rPr lang="en-US" sz="1000" b="1" dirty="0">
                <a:ea typeface="Riforma LL" panose="020B0504020101020102" pitchFamily="34" charset="77"/>
                <a:cs typeface="Riforma LL" panose="020B0504020101020102" pitchFamily="34" charset="77"/>
              </a:rPr>
              <a:t>Overrunning discussions</a:t>
            </a:r>
          </a:p>
          <a:p>
            <a:pPr marL="171450" indent="-171450">
              <a:lnSpc>
                <a:spcPct val="100000"/>
              </a:lnSpc>
              <a:spcBef>
                <a:spcPts val="0"/>
              </a:spcBef>
              <a:spcAft>
                <a:spcPts val="0"/>
              </a:spcAft>
              <a:buFont typeface="Arial" panose="020B0604020202020204" pitchFamily="34" charset="0"/>
              <a:buChar char="•"/>
            </a:pPr>
            <a:r>
              <a:rPr lang="en-US" sz="900" dirty="0"/>
              <a:t>Keep track of time, redirect conversations to actionable points, and summarize frequently. </a:t>
            </a:r>
          </a:p>
        </p:txBody>
      </p:sp>
    </p:spTree>
    <p:extLst>
      <p:ext uri="{BB962C8B-B14F-4D97-AF65-F5344CB8AC3E}">
        <p14:creationId xmlns:p14="http://schemas.microsoft.com/office/powerpoint/2010/main" val="2165972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1">
            <a:extLst>
              <a:ext uri="{FF2B5EF4-FFF2-40B4-BE49-F238E27FC236}">
                <a16:creationId xmlns:a16="http://schemas.microsoft.com/office/drawing/2014/main" id="{8B3EAF75-0EE9-85C8-A84F-4F2A994C0FC0}"/>
              </a:ext>
            </a:extLst>
          </p:cNvPr>
          <p:cNvSpPr>
            <a:spLocks noChangeArrowheads="1"/>
          </p:cNvSpPr>
          <p:nvPr/>
        </p:nvSpPr>
        <p:spPr bwMode="auto">
          <a:xfrm>
            <a:off x="-2827682" y="5430277"/>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24" name="TextBox 23">
            <a:extLst>
              <a:ext uri="{FF2B5EF4-FFF2-40B4-BE49-F238E27FC236}">
                <a16:creationId xmlns:a16="http://schemas.microsoft.com/office/drawing/2014/main" id="{F0FC0411-4536-79D6-D061-37E01A7F9091}"/>
              </a:ext>
            </a:extLst>
          </p:cNvPr>
          <p:cNvSpPr txBox="1"/>
          <p:nvPr/>
        </p:nvSpPr>
        <p:spPr>
          <a:xfrm>
            <a:off x="1412421" y="220638"/>
            <a:ext cx="5039877" cy="184666"/>
          </a:xfrm>
          <a:prstGeom prst="rect">
            <a:avLst/>
          </a:prstGeom>
          <a:noFill/>
        </p:spPr>
        <p:txBody>
          <a:bodyPr wrap="square" rtlCol="0">
            <a:spAutoFit/>
          </a:bodyPr>
          <a:lstStyle>
            <a:defPPr>
              <a:defRPr lang="en-US"/>
            </a:defPPr>
            <a:lvl1pPr>
              <a:defRPr sz="600">
                <a:solidFill>
                  <a:schemeClr val="bg1"/>
                </a:solidFill>
                <a:latin typeface="Monument Grotesk Mono" panose="02010504030000020004" pitchFamily="50" charset="0"/>
                <a:ea typeface="Riforma LL" panose="020B0504020101020102" pitchFamily="34" charset="0"/>
                <a:cs typeface="Riforma LL" panose="020B0504020101020102" pitchFamily="34" charset="0"/>
              </a:defRPr>
            </a:lvl1pPr>
          </a:lstStyle>
          <a:p>
            <a:pPr algn="r">
              <a:defRPr/>
            </a:pPr>
            <a:r>
              <a:rPr kumimoji="0" lang="en-US" u="none" strike="noStrike" kern="1200" cap="none" spc="0" normalizeH="0" baseline="0" noProof="0" dirty="0">
                <a:ln>
                  <a:noFill/>
                </a:ln>
                <a:solidFill>
                  <a:schemeClr val="tx1"/>
                </a:solidFill>
                <a:effectLst/>
                <a:uLnTx/>
                <a:uFillTx/>
                <a:latin typeface="Monument Grotesk Mono" panose="02010504030000020004" pitchFamily="50" charset="0"/>
                <a:ea typeface="Riforma LL" panose="020B0504020101020102" pitchFamily="34" charset="77"/>
                <a:cs typeface="Riforma LL" panose="020B0504020101020102" pitchFamily="34" charset="77"/>
              </a:rPr>
              <a:t>[MODULE:MASTER THE CORE ELEMENT OF PERFORMANCE - SPRINT:PERFORMANCE ANALYSIS AND ACCOUNTABILITY] </a:t>
            </a:r>
          </a:p>
        </p:txBody>
      </p:sp>
      <p:sp>
        <p:nvSpPr>
          <p:cNvPr id="27" name="Rectangle 26">
            <a:extLst>
              <a:ext uri="{FF2B5EF4-FFF2-40B4-BE49-F238E27FC236}">
                <a16:creationId xmlns:a16="http://schemas.microsoft.com/office/drawing/2014/main" id="{4020DC2B-31AD-8426-D838-EEE26B86A116}"/>
              </a:ext>
            </a:extLst>
          </p:cNvPr>
          <p:cNvSpPr/>
          <p:nvPr/>
        </p:nvSpPr>
        <p:spPr>
          <a:xfrm>
            <a:off x="-314307" y="453303"/>
            <a:ext cx="6713987" cy="4976973"/>
          </a:xfrm>
          <a:prstGeom prst="rect">
            <a:avLst/>
          </a:prstGeom>
          <a:solidFill>
            <a:schemeClr val="bg1">
              <a:lumMod val="85000"/>
            </a:schemeClr>
          </a:solidFill>
          <a:ln>
            <a:noFill/>
          </a:ln>
        </p:spPr>
        <p:style>
          <a:lnRef idx="2">
            <a:schemeClr val="dk1">
              <a:shade val="15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indent="-180340">
              <a:lnSpc>
                <a:spcPct val="115000"/>
              </a:lnSpc>
              <a:spcBef>
                <a:spcPts val="300"/>
              </a:spcBef>
            </a:pPr>
            <a:endParaRPr lang="en-BG" sz="1000" dirty="0">
              <a:solidFill>
                <a:srgbClr val="000000"/>
              </a:solidFill>
              <a:effectLst/>
              <a:latin typeface="Riforma LL" panose="020B0504020101020102" pitchFamily="34" charset="77"/>
              <a:ea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834DF652-480E-1B3A-F6EB-93783AD7BE53}"/>
              </a:ext>
            </a:extLst>
          </p:cNvPr>
          <p:cNvSpPr txBox="1"/>
          <p:nvPr/>
        </p:nvSpPr>
        <p:spPr>
          <a:xfrm>
            <a:off x="244758" y="1263330"/>
            <a:ext cx="5928695" cy="4462760"/>
          </a:xfrm>
          <a:prstGeom prst="rect">
            <a:avLst/>
          </a:prstGeom>
          <a:noFill/>
        </p:spPr>
        <p:txBody>
          <a:bodyPr wrap="square">
            <a:spAutoFit/>
          </a:bodyPr>
          <a:lstStyle>
            <a:defPPr>
              <a:defRPr lang="en-US"/>
            </a:defPPr>
            <a:lvl1pPr marL="171450" indent="-171450">
              <a:lnSpc>
                <a:spcPct val="100000"/>
              </a:lnSpc>
              <a:spcBef>
                <a:spcPts val="100"/>
              </a:spcBef>
              <a:spcAft>
                <a:spcPts val="100"/>
              </a:spcAft>
              <a:buFont typeface="Arial" panose="020B0604020202020204" pitchFamily="34" charset="0"/>
              <a:buChar char="•"/>
              <a:defRPr sz="1000">
                <a:latin typeface="Riforma LL" panose="020B0504020101020102" pitchFamily="34" charset="77"/>
              </a:defRPr>
            </a:lvl1pPr>
          </a:lstStyle>
          <a:p>
            <a:pPr marL="0" indent="0">
              <a:spcBef>
                <a:spcPts val="0"/>
              </a:spcBef>
              <a:spcAft>
                <a:spcPts val="0"/>
              </a:spcAft>
              <a:buNone/>
            </a:pPr>
            <a:r>
              <a:rPr lang="en-US" dirty="0"/>
              <a:t>(Duration: 90 min) </a:t>
            </a:r>
          </a:p>
          <a:p>
            <a:pPr marL="0" indent="0">
              <a:spcBef>
                <a:spcPts val="0"/>
              </a:spcBef>
              <a:spcAft>
                <a:spcPts val="0"/>
              </a:spcAft>
              <a:buNone/>
            </a:pPr>
            <a:endParaRPr lang="en-US" sz="900" dirty="0"/>
          </a:p>
          <a:p>
            <a:pPr marL="0" indent="0">
              <a:spcBef>
                <a:spcPts val="0"/>
              </a:spcBef>
              <a:spcAft>
                <a:spcPts val="0"/>
              </a:spcAft>
              <a:buNone/>
            </a:pPr>
            <a:r>
              <a:rPr lang="en-US" b="1" dirty="0">
                <a:ea typeface="Riforma LL" panose="020B0504020101020102" pitchFamily="34" charset="77"/>
                <a:cs typeface="Riforma LL" panose="020B0504020101020102" pitchFamily="34" charset="77"/>
              </a:rPr>
              <a:t>1. Welcome and objective setting (5 minutes):</a:t>
            </a:r>
          </a:p>
          <a:p>
            <a:pPr>
              <a:spcBef>
                <a:spcPts val="0"/>
              </a:spcBef>
              <a:spcAft>
                <a:spcPts val="0"/>
              </a:spcAft>
            </a:pPr>
            <a:r>
              <a:rPr lang="en-US" sz="900" b="1" dirty="0"/>
              <a:t>How to Introduce</a:t>
            </a:r>
            <a:r>
              <a:rPr lang="en-US" sz="900" dirty="0"/>
              <a:t>: Start by recapping the sprint goals and emphasizing the importance of performance analysis and accountability.</a:t>
            </a:r>
          </a:p>
          <a:p>
            <a:pPr>
              <a:spcBef>
                <a:spcPts val="0"/>
              </a:spcBef>
              <a:spcAft>
                <a:spcPts val="0"/>
              </a:spcAft>
            </a:pPr>
            <a:r>
              <a:rPr lang="en-US" sz="900" b="1" dirty="0"/>
              <a:t>Key message</a:t>
            </a:r>
            <a:r>
              <a:rPr lang="en-US" sz="900" dirty="0"/>
              <a:t>: “Today, we’ll align on how to track our performance effectively and implement systems for clear accountability.”</a:t>
            </a:r>
          </a:p>
          <a:p>
            <a:pPr marL="0" indent="0">
              <a:spcBef>
                <a:spcPts val="0"/>
              </a:spcBef>
              <a:spcAft>
                <a:spcPts val="0"/>
              </a:spcAft>
              <a:buNone/>
            </a:pPr>
            <a:endParaRPr lang="en-US" sz="900" dirty="0">
              <a:ea typeface="Riforma LL" panose="020B0504020101020102" pitchFamily="34" charset="77"/>
              <a:cs typeface="Riforma LL" panose="020B0504020101020102" pitchFamily="34" charset="77"/>
            </a:endParaRPr>
          </a:p>
          <a:p>
            <a:pPr marL="0" indent="0">
              <a:spcBef>
                <a:spcPts val="0"/>
              </a:spcBef>
              <a:spcAft>
                <a:spcPts val="0"/>
              </a:spcAft>
              <a:buNone/>
            </a:pPr>
            <a:r>
              <a:rPr lang="en-US" b="1" dirty="0">
                <a:ea typeface="Riforma LL" panose="020B0504020101020102" pitchFamily="34" charset="77"/>
                <a:cs typeface="Riforma LL" panose="020B0504020101020102" pitchFamily="34" charset="77"/>
              </a:rPr>
              <a:t>2. Setting up the performance analysis system (25 minutes):</a:t>
            </a:r>
          </a:p>
          <a:p>
            <a:pPr>
              <a:spcBef>
                <a:spcPts val="0"/>
              </a:spcBef>
              <a:spcAft>
                <a:spcPts val="0"/>
              </a:spcAft>
            </a:pPr>
            <a:r>
              <a:rPr lang="en-US" sz="900" b="1" dirty="0"/>
              <a:t>How to Introduce</a:t>
            </a:r>
            <a:r>
              <a:rPr lang="en-US" sz="900" dirty="0"/>
              <a:t>: Explain the binary approach to task completion (“done” vs. “not done”) and the importance of dashboards for visualization.</a:t>
            </a:r>
          </a:p>
          <a:p>
            <a:pPr>
              <a:spcBef>
                <a:spcPts val="0"/>
              </a:spcBef>
              <a:spcAft>
                <a:spcPts val="0"/>
              </a:spcAft>
            </a:pPr>
            <a:r>
              <a:rPr lang="en-US" sz="900" b="1" dirty="0"/>
              <a:t>Questions to prompt</a:t>
            </a:r>
            <a:r>
              <a:rPr lang="en-US" sz="900" dirty="0"/>
              <a:t>:</a:t>
            </a:r>
          </a:p>
          <a:p>
            <a:pPr marL="742950" lvl="1" indent="-285750">
              <a:buFont typeface="Arial" panose="020B0604020202020204" pitchFamily="34" charset="0"/>
              <a:buChar char="•"/>
            </a:pPr>
            <a:r>
              <a:rPr lang="en-US" sz="900" dirty="0">
                <a:latin typeface="Riforma LL" panose="020B0504020101020102" pitchFamily="34" charset="77"/>
                <a:ea typeface="Riforma LL" panose="020B0504020101020102" pitchFamily="34" charset="77"/>
                <a:cs typeface="Riforma LL" panose="020B0504020101020102" pitchFamily="34" charset="77"/>
              </a:rPr>
              <a:t>“What barriers have you faced in completing tasks?”</a:t>
            </a:r>
          </a:p>
          <a:p>
            <a:pPr marL="742950" lvl="1" indent="-285750">
              <a:spcBef>
                <a:spcPts val="0"/>
              </a:spcBef>
              <a:spcAft>
                <a:spcPts val="0"/>
              </a:spcAft>
              <a:buFont typeface="Arial" panose="020B0604020202020204" pitchFamily="34" charset="0"/>
              <a:buChar char="•"/>
            </a:pPr>
            <a:r>
              <a:rPr lang="en-US" sz="900" dirty="0">
                <a:latin typeface="Riforma LL" panose="020B0504020101020102" pitchFamily="34" charset="77"/>
                <a:ea typeface="Riforma LL" panose="020B0504020101020102" pitchFamily="34" charset="77"/>
                <a:cs typeface="Riforma LL" panose="020B0504020101020102" pitchFamily="34" charset="77"/>
              </a:rPr>
              <a:t>“How can we make dashboards more actionable and accessible?”</a:t>
            </a:r>
          </a:p>
          <a:p>
            <a:pPr>
              <a:spcBef>
                <a:spcPts val="0"/>
              </a:spcBef>
              <a:spcAft>
                <a:spcPts val="0"/>
              </a:spcAft>
            </a:pPr>
            <a:r>
              <a:rPr lang="en-US" sz="900" dirty="0"/>
              <a:t>I</a:t>
            </a:r>
            <a:r>
              <a:rPr lang="en-US" sz="900" b="1" dirty="0"/>
              <a:t>nstructions</a:t>
            </a:r>
            <a:r>
              <a:rPr lang="en-US" sz="900" dirty="0"/>
              <a:t>: Facilitate </a:t>
            </a:r>
            <a:r>
              <a:rPr lang="en-US" sz="900" dirty="0">
                <a:ea typeface="Riforma LL" panose="020B0504020101020102" pitchFamily="34" charset="77"/>
                <a:cs typeface="Riforma LL" panose="020B0504020101020102" pitchFamily="34" charset="77"/>
              </a:rPr>
              <a:t>a discussion on designing and implementing team dashboards.</a:t>
            </a:r>
          </a:p>
          <a:p>
            <a:pPr marL="0" indent="0">
              <a:spcBef>
                <a:spcPts val="0"/>
              </a:spcBef>
              <a:spcAft>
                <a:spcPts val="0"/>
              </a:spcAft>
              <a:buNone/>
            </a:pPr>
            <a:endParaRPr lang="en-US" sz="900" dirty="0">
              <a:ea typeface="Riforma LL" panose="020B0504020101020102" pitchFamily="34" charset="77"/>
              <a:cs typeface="Riforma LL" panose="020B0504020101020102" pitchFamily="34" charset="77"/>
            </a:endParaRPr>
          </a:p>
          <a:p>
            <a:pPr marL="0" indent="0">
              <a:spcBef>
                <a:spcPts val="0"/>
              </a:spcBef>
              <a:spcAft>
                <a:spcPts val="0"/>
              </a:spcAft>
              <a:buNone/>
            </a:pPr>
            <a:r>
              <a:rPr lang="en-US" b="1" dirty="0">
                <a:ea typeface="Riforma LL" panose="020B0504020101020102" pitchFamily="34" charset="77"/>
                <a:cs typeface="Riforma LL" panose="020B0504020101020102" pitchFamily="34" charset="77"/>
              </a:rPr>
              <a:t>3. Planning the accountability and consequences system (25 minutes):</a:t>
            </a:r>
          </a:p>
          <a:p>
            <a:pPr>
              <a:spcBef>
                <a:spcPts val="0"/>
              </a:spcBef>
              <a:spcAft>
                <a:spcPts val="0"/>
              </a:spcAft>
            </a:pPr>
            <a:r>
              <a:rPr lang="en-US" sz="900" b="1" dirty="0"/>
              <a:t>How to Introduce: </a:t>
            </a:r>
            <a:r>
              <a:rPr lang="en-US" sz="900" dirty="0"/>
              <a:t>Highlight the importance of fairness and clarity in accountability systems.</a:t>
            </a:r>
          </a:p>
          <a:p>
            <a:pPr>
              <a:spcBef>
                <a:spcPts val="0"/>
              </a:spcBef>
              <a:spcAft>
                <a:spcPts val="0"/>
              </a:spcAft>
            </a:pPr>
            <a:r>
              <a:rPr lang="en-US" sz="900" b="1" dirty="0"/>
              <a:t>Questions to prompt</a:t>
            </a:r>
            <a:r>
              <a:rPr lang="en-US" sz="900" dirty="0"/>
              <a:t>:</a:t>
            </a:r>
          </a:p>
          <a:p>
            <a:pPr marL="742950" lvl="1" indent="-285750">
              <a:buFont typeface="Arial" panose="020B0604020202020204" pitchFamily="34" charset="0"/>
              <a:buChar char="•"/>
            </a:pPr>
            <a:r>
              <a:rPr lang="en-US" sz="900" dirty="0">
                <a:latin typeface="Riforma LL" panose="020B0504020101020102" pitchFamily="34" charset="77"/>
                <a:ea typeface="Riforma LL" panose="020B0504020101020102" pitchFamily="34" charset="77"/>
                <a:cs typeface="Riforma LL" panose="020B0504020101020102" pitchFamily="34" charset="77"/>
              </a:rPr>
              <a:t>“What does accountability mean in your role?”</a:t>
            </a:r>
          </a:p>
          <a:p>
            <a:pPr marL="742950" lvl="1" indent="-285750">
              <a:buFont typeface="Arial" panose="020B0604020202020204" pitchFamily="34" charset="0"/>
              <a:buChar char="•"/>
            </a:pPr>
            <a:r>
              <a:rPr lang="en-US" sz="900" dirty="0">
                <a:latin typeface="Riforma LL" panose="020B0504020101020102" pitchFamily="34" charset="77"/>
                <a:ea typeface="Riforma LL" panose="020B0504020101020102" pitchFamily="34" charset="77"/>
                <a:cs typeface="Riforma LL" panose="020B0504020101020102" pitchFamily="34" charset="77"/>
              </a:rPr>
              <a:t>“How can we balance recognition for achievements and corrective measures for gaps?”</a:t>
            </a:r>
          </a:p>
          <a:p>
            <a:pPr>
              <a:spcBef>
                <a:spcPts val="0"/>
              </a:spcBef>
              <a:spcAft>
                <a:spcPts val="0"/>
              </a:spcAft>
            </a:pPr>
            <a:r>
              <a:rPr lang="en-US" sz="900" b="1" dirty="0">
                <a:ea typeface="Riforma LL" panose="020B0504020101020102" pitchFamily="34" charset="77"/>
                <a:cs typeface="Riforma LL" panose="020B0504020101020102" pitchFamily="34" charset="77"/>
              </a:rPr>
              <a:t>Instructions</a:t>
            </a:r>
            <a:r>
              <a:rPr lang="en-US" sz="900" dirty="0">
                <a:ea typeface="Riforma LL" panose="020B0504020101020102" pitchFamily="34" charset="77"/>
                <a:cs typeface="Riforma LL" panose="020B0504020101020102" pitchFamily="34" charset="77"/>
              </a:rPr>
              <a:t>: Review the proposed checklist and align on consequences frameworks.</a:t>
            </a:r>
          </a:p>
          <a:p>
            <a:pPr marL="0" indent="0">
              <a:spcBef>
                <a:spcPts val="0"/>
              </a:spcBef>
              <a:spcAft>
                <a:spcPts val="0"/>
              </a:spcAft>
              <a:buNone/>
            </a:pPr>
            <a:endParaRPr lang="en-US" sz="900" dirty="0">
              <a:ea typeface="Riforma LL" panose="020B0504020101020102" pitchFamily="34" charset="77"/>
              <a:cs typeface="Riforma LL" panose="020B0504020101020102" pitchFamily="34" charset="77"/>
            </a:endParaRPr>
          </a:p>
          <a:p>
            <a:pPr marL="0" indent="0">
              <a:spcBef>
                <a:spcPts val="0"/>
              </a:spcBef>
              <a:spcAft>
                <a:spcPts val="0"/>
              </a:spcAft>
              <a:buNone/>
            </a:pPr>
            <a:r>
              <a:rPr lang="en-US" b="1" dirty="0">
                <a:ea typeface="Riforma LL" panose="020B0504020101020102" pitchFamily="34" charset="77"/>
                <a:cs typeface="Riforma LL" panose="020B0504020101020102" pitchFamily="34" charset="77"/>
              </a:rPr>
              <a:t>4. Action plan and closing (5 minutes):</a:t>
            </a:r>
          </a:p>
          <a:p>
            <a:pPr>
              <a:spcBef>
                <a:spcPts val="0"/>
              </a:spcBef>
              <a:spcAft>
                <a:spcPts val="0"/>
              </a:spcAft>
            </a:pPr>
            <a:r>
              <a:rPr lang="en-US" sz="900" b="1" dirty="0">
                <a:ea typeface="Riforma LL" panose="020B0504020101020102" pitchFamily="34" charset="77"/>
                <a:cs typeface="Riforma LL" panose="020B0504020101020102" pitchFamily="34" charset="77"/>
              </a:rPr>
              <a:t>How to Introduce: </a:t>
            </a:r>
            <a:r>
              <a:rPr lang="en-US" sz="900" dirty="0">
                <a:ea typeface="Riforma LL" panose="020B0504020101020102" pitchFamily="34" charset="77"/>
                <a:cs typeface="Riforma LL" panose="020B0504020101020102" pitchFamily="34" charset="77"/>
              </a:rPr>
              <a:t>Summarize the key decisions and next steps, ensuring everyone knows their </a:t>
            </a:r>
            <a:r>
              <a:rPr lang="en-US" sz="900" dirty="0"/>
              <a:t>responsibilities.</a:t>
            </a:r>
          </a:p>
          <a:p>
            <a:pPr>
              <a:spcBef>
                <a:spcPts val="0"/>
              </a:spcBef>
              <a:spcAft>
                <a:spcPts val="0"/>
              </a:spcAft>
            </a:pPr>
            <a:r>
              <a:rPr lang="en-US" sz="900" b="1" dirty="0"/>
              <a:t>Key message: </a:t>
            </a:r>
            <a:r>
              <a:rPr lang="en-US" sz="900" dirty="0"/>
              <a:t>“By aligning </a:t>
            </a:r>
            <a:r>
              <a:rPr lang="en-US" sz="900" dirty="0">
                <a:ea typeface="Riforma LL" panose="020B0504020101020102" pitchFamily="34" charset="77"/>
                <a:cs typeface="Riforma LL" panose="020B0504020101020102" pitchFamily="34" charset="77"/>
              </a:rPr>
              <a:t>on these systems, we’re setting ourselves up for consistent success.”</a:t>
            </a:r>
          </a:p>
          <a:p>
            <a:pPr marL="0" indent="0">
              <a:spcBef>
                <a:spcPts val="0"/>
              </a:spcBef>
              <a:spcAft>
                <a:spcPts val="0"/>
              </a:spcAft>
              <a:buNone/>
            </a:pPr>
            <a:endParaRPr lang="en-US" sz="900" dirty="0">
              <a:ea typeface="Riforma LL" panose="020B0504020101020102" pitchFamily="34" charset="77"/>
              <a:cs typeface="Riforma LL" panose="020B0504020101020102" pitchFamily="34" charset="77"/>
            </a:endParaRPr>
          </a:p>
          <a:p>
            <a:pPr marL="0" indent="0">
              <a:spcBef>
                <a:spcPts val="0"/>
              </a:spcBef>
              <a:spcAft>
                <a:spcPts val="0"/>
              </a:spcAft>
              <a:buNone/>
            </a:pPr>
            <a:endParaRPr lang="en-US" b="1" dirty="0">
              <a:ea typeface="Riforma LL" panose="020B0504020101020102" pitchFamily="34" charset="77"/>
              <a:cs typeface="Riforma LL" panose="020B0504020101020102" pitchFamily="34" charset="77"/>
            </a:endParaRPr>
          </a:p>
          <a:p>
            <a:pPr marL="0" indent="0">
              <a:spcBef>
                <a:spcPts val="0"/>
              </a:spcBef>
              <a:spcAft>
                <a:spcPts val="0"/>
              </a:spcAft>
              <a:buNone/>
            </a:pPr>
            <a:endParaRPr lang="en-US" sz="900" dirty="0">
              <a:ea typeface="Riforma LL" panose="020B0504020101020102" pitchFamily="34" charset="77"/>
              <a:cs typeface="Riforma LL" panose="020B0504020101020102" pitchFamily="34" charset="77"/>
            </a:endParaRPr>
          </a:p>
        </p:txBody>
      </p:sp>
      <p:sp>
        <p:nvSpPr>
          <p:cNvPr id="29" name="TextBox 28">
            <a:extLst>
              <a:ext uri="{FF2B5EF4-FFF2-40B4-BE49-F238E27FC236}">
                <a16:creationId xmlns:a16="http://schemas.microsoft.com/office/drawing/2014/main" id="{44555FA1-E305-A373-7077-D7EBF914326F}"/>
              </a:ext>
            </a:extLst>
          </p:cNvPr>
          <p:cNvSpPr txBox="1"/>
          <p:nvPr/>
        </p:nvSpPr>
        <p:spPr>
          <a:xfrm>
            <a:off x="203078" y="743158"/>
            <a:ext cx="2253829" cy="869717"/>
          </a:xfrm>
          <a:prstGeom prst="rect">
            <a:avLst/>
          </a:prstGeom>
        </p:spPr>
        <p:txBody>
          <a:bodyPr>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2000" dirty="0"/>
              <a:t>Proposed </a:t>
            </a:r>
          </a:p>
          <a:p>
            <a:pPr>
              <a:lnSpc>
                <a:spcPct val="70000"/>
              </a:lnSpc>
            </a:pPr>
            <a:r>
              <a:rPr lang="en-US" sz="2000" dirty="0"/>
              <a:t>Meeting Agenda</a:t>
            </a:r>
          </a:p>
        </p:txBody>
      </p:sp>
      <p:sp>
        <p:nvSpPr>
          <p:cNvPr id="30" name="TextBox 29">
            <a:extLst>
              <a:ext uri="{FF2B5EF4-FFF2-40B4-BE49-F238E27FC236}">
                <a16:creationId xmlns:a16="http://schemas.microsoft.com/office/drawing/2014/main" id="{24FD367F-CF76-D88C-3D9F-6B99551E6D97}"/>
              </a:ext>
            </a:extLst>
          </p:cNvPr>
          <p:cNvSpPr txBox="1"/>
          <p:nvPr/>
        </p:nvSpPr>
        <p:spPr>
          <a:xfrm>
            <a:off x="5856777" y="393581"/>
            <a:ext cx="784747"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04</a:t>
            </a:r>
          </a:p>
        </p:txBody>
      </p:sp>
      <p:cxnSp>
        <p:nvCxnSpPr>
          <p:cNvPr id="31" name="Straight Connector 30">
            <a:extLst>
              <a:ext uri="{FF2B5EF4-FFF2-40B4-BE49-F238E27FC236}">
                <a16:creationId xmlns:a16="http://schemas.microsoft.com/office/drawing/2014/main" id="{5CEE11D9-FECC-DB65-AF46-8CE3E8AF40F1}"/>
              </a:ext>
            </a:extLst>
          </p:cNvPr>
          <p:cNvCxnSpPr>
            <a:cxnSpLocks/>
          </p:cNvCxnSpPr>
          <p:nvPr/>
        </p:nvCxnSpPr>
        <p:spPr>
          <a:xfrm flipH="1">
            <a:off x="259046" y="1239645"/>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51653B0-AE62-4E47-9C0A-D6967EC5F58D}"/>
              </a:ext>
            </a:extLst>
          </p:cNvPr>
          <p:cNvSpPr txBox="1"/>
          <p:nvPr/>
        </p:nvSpPr>
        <p:spPr>
          <a:xfrm>
            <a:off x="5858213" y="5830645"/>
            <a:ext cx="784747"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endParaRPr lang="en-US" sz="4000" dirty="0">
              <a:solidFill>
                <a:schemeClr val="tx1"/>
              </a:solidFill>
            </a:endParaRPr>
          </a:p>
        </p:txBody>
      </p:sp>
      <p:sp>
        <p:nvSpPr>
          <p:cNvPr id="5" name="TextBox 4">
            <a:extLst>
              <a:ext uri="{FF2B5EF4-FFF2-40B4-BE49-F238E27FC236}">
                <a16:creationId xmlns:a16="http://schemas.microsoft.com/office/drawing/2014/main" id="{F8022519-EFF5-598B-2BB7-0CDDE4BA037B}"/>
              </a:ext>
            </a:extLst>
          </p:cNvPr>
          <p:cNvSpPr txBox="1"/>
          <p:nvPr/>
        </p:nvSpPr>
        <p:spPr>
          <a:xfrm>
            <a:off x="206056" y="5753420"/>
            <a:ext cx="2922734"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dirty="0"/>
              <a:t>Questions and answers</a:t>
            </a:r>
            <a:r>
              <a:rPr lang="en-BG" dirty="0"/>
              <a:t> </a:t>
            </a:r>
          </a:p>
          <a:p>
            <a:r>
              <a:rPr lang="en-BG" dirty="0"/>
              <a:t>for agenda items</a:t>
            </a:r>
            <a:endParaRPr lang="en-US" dirty="0"/>
          </a:p>
        </p:txBody>
      </p:sp>
      <p:cxnSp>
        <p:nvCxnSpPr>
          <p:cNvPr id="6" name="Straight Connector 5">
            <a:extLst>
              <a:ext uri="{FF2B5EF4-FFF2-40B4-BE49-F238E27FC236}">
                <a16:creationId xmlns:a16="http://schemas.microsoft.com/office/drawing/2014/main" id="{F818CDCC-BDE3-AE9B-FD51-010EFF95FBF2}"/>
              </a:ext>
            </a:extLst>
          </p:cNvPr>
          <p:cNvCxnSpPr>
            <a:cxnSpLocks/>
          </p:cNvCxnSpPr>
          <p:nvPr/>
        </p:nvCxnSpPr>
        <p:spPr>
          <a:xfrm flipH="1">
            <a:off x="294414" y="6225158"/>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1B8E221-11D7-E5E9-F03F-504218626BF7}"/>
              </a:ext>
            </a:extLst>
          </p:cNvPr>
          <p:cNvSpPr txBox="1"/>
          <p:nvPr/>
        </p:nvSpPr>
        <p:spPr>
          <a:xfrm>
            <a:off x="5858213" y="5262974"/>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05</a:t>
            </a:r>
          </a:p>
        </p:txBody>
      </p:sp>
      <p:sp>
        <p:nvSpPr>
          <p:cNvPr id="8" name="TextBox 7">
            <a:extLst>
              <a:ext uri="{FF2B5EF4-FFF2-40B4-BE49-F238E27FC236}">
                <a16:creationId xmlns:a16="http://schemas.microsoft.com/office/drawing/2014/main" id="{29B21956-061A-C696-77E9-432FC35C26C1}"/>
              </a:ext>
            </a:extLst>
          </p:cNvPr>
          <p:cNvSpPr txBox="1"/>
          <p:nvPr/>
        </p:nvSpPr>
        <p:spPr>
          <a:xfrm>
            <a:off x="224838" y="6291990"/>
            <a:ext cx="6047833" cy="2385268"/>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a:lnSpc>
                <a:spcPct val="100000"/>
              </a:lnSpc>
              <a:spcBef>
                <a:spcPts val="600"/>
              </a:spcBef>
              <a:spcAft>
                <a:spcPts val="100"/>
              </a:spcAft>
            </a:pPr>
            <a:r>
              <a:rPr lang="en-US" sz="900" b="1" dirty="0"/>
              <a:t>1. Performance analysis</a:t>
            </a:r>
          </a:p>
          <a:p>
            <a:pPr marL="171450" indent="-171450">
              <a:lnSpc>
                <a:spcPct val="100000"/>
              </a:lnSpc>
              <a:spcBef>
                <a:spcPts val="0"/>
              </a:spcBef>
              <a:spcAft>
                <a:spcPts val="0"/>
              </a:spcAft>
              <a:buFont typeface="Arial" panose="020B0604020202020204" pitchFamily="34" charset="0"/>
              <a:buChar char="•"/>
            </a:pPr>
            <a:r>
              <a:rPr lang="en-US" sz="900" dirty="0"/>
              <a:t>Q: “What if tasks aren’t completed due to resource issues?”</a:t>
            </a:r>
          </a:p>
          <a:p>
            <a:pPr marL="171450" indent="-171450">
              <a:lnSpc>
                <a:spcPct val="100000"/>
              </a:lnSpc>
              <a:spcBef>
                <a:spcPts val="0"/>
              </a:spcBef>
              <a:spcAft>
                <a:spcPts val="0"/>
              </a:spcAft>
              <a:buFont typeface="Arial" panose="020B0604020202020204" pitchFamily="34" charset="0"/>
              <a:buChar char="•"/>
            </a:pPr>
            <a:r>
              <a:rPr lang="en-US" sz="900" dirty="0"/>
              <a:t>A: Use TOC to analyze and address bottlenecks.</a:t>
            </a:r>
          </a:p>
          <a:p>
            <a:pPr>
              <a:lnSpc>
                <a:spcPct val="100000"/>
              </a:lnSpc>
              <a:spcBef>
                <a:spcPts val="600"/>
              </a:spcBef>
              <a:spcAft>
                <a:spcPts val="100"/>
              </a:spcAft>
            </a:pPr>
            <a:r>
              <a:rPr lang="en-US" sz="900" b="1" dirty="0"/>
              <a:t>2. Accountability systems</a:t>
            </a:r>
          </a:p>
          <a:p>
            <a:pPr marL="171450" indent="-171450">
              <a:lnSpc>
                <a:spcPct val="100000"/>
              </a:lnSpc>
              <a:spcBef>
                <a:spcPts val="0"/>
              </a:spcBef>
              <a:spcAft>
                <a:spcPts val="0"/>
              </a:spcAft>
              <a:buFont typeface="Arial" panose="020B0604020202020204" pitchFamily="34" charset="0"/>
              <a:buChar char="•"/>
            </a:pPr>
            <a:r>
              <a:rPr lang="en-US" sz="900" dirty="0"/>
              <a:t>Q: “How do we ensure fairness in consequences?”</a:t>
            </a:r>
          </a:p>
          <a:p>
            <a:pPr marL="171450" indent="-171450">
              <a:lnSpc>
                <a:spcPct val="100000"/>
              </a:lnSpc>
              <a:spcBef>
                <a:spcPts val="0"/>
              </a:spcBef>
              <a:spcAft>
                <a:spcPts val="0"/>
              </a:spcAft>
              <a:buFont typeface="Arial" panose="020B0604020202020204" pitchFamily="34" charset="0"/>
              <a:buChar char="•"/>
            </a:pPr>
            <a:r>
              <a:rPr lang="en-US" sz="900" dirty="0"/>
              <a:t>A: Use a transparent framework with predefined metrics​.</a:t>
            </a:r>
          </a:p>
          <a:p>
            <a:pPr>
              <a:lnSpc>
                <a:spcPct val="100000"/>
              </a:lnSpc>
              <a:spcBef>
                <a:spcPts val="600"/>
              </a:spcBef>
              <a:spcAft>
                <a:spcPts val="100"/>
              </a:spcAft>
            </a:pPr>
            <a:r>
              <a:rPr lang="en-US" sz="900" b="1" dirty="0"/>
              <a:t>3. Action plans</a:t>
            </a:r>
          </a:p>
          <a:p>
            <a:pPr marL="171450" indent="-171450">
              <a:lnSpc>
                <a:spcPct val="100000"/>
              </a:lnSpc>
              <a:spcBef>
                <a:spcPts val="0"/>
              </a:spcBef>
              <a:spcAft>
                <a:spcPts val="0"/>
              </a:spcAft>
              <a:buFont typeface="Arial" panose="020B0604020202020204" pitchFamily="34" charset="0"/>
              <a:buChar char="•"/>
            </a:pPr>
            <a:r>
              <a:rPr lang="en-US" sz="900" dirty="0"/>
              <a:t>Q: “Who ensures follow-through on tasks?”</a:t>
            </a:r>
          </a:p>
          <a:p>
            <a:pPr marL="171450" indent="-171450">
              <a:lnSpc>
                <a:spcPct val="100000"/>
              </a:lnSpc>
              <a:spcBef>
                <a:spcPts val="0"/>
              </a:spcBef>
              <a:spcAft>
                <a:spcPts val="0"/>
              </a:spcAft>
              <a:buFont typeface="Arial" panose="020B0604020202020204" pitchFamily="34" charset="0"/>
              <a:buChar char="•"/>
            </a:pPr>
            <a:r>
              <a:rPr lang="en-US" sz="900" dirty="0"/>
              <a:t>A: Assign a single accountable owner per task and review weekly.</a:t>
            </a:r>
          </a:p>
          <a:p>
            <a:pPr>
              <a:lnSpc>
                <a:spcPct val="100000"/>
              </a:lnSpc>
              <a:spcBef>
                <a:spcPts val="0"/>
              </a:spcBef>
              <a:spcAft>
                <a:spcPts val="0"/>
              </a:spcAft>
            </a:pPr>
            <a:endParaRPr lang="en-US" sz="900" dirty="0"/>
          </a:p>
          <a:p>
            <a:pPr>
              <a:lnSpc>
                <a:spcPct val="100000"/>
              </a:lnSpc>
              <a:spcBef>
                <a:spcPts val="0"/>
              </a:spcBef>
              <a:spcAft>
                <a:spcPts val="0"/>
              </a:spcAft>
            </a:pPr>
            <a:endParaRPr lang="en-US" sz="900" dirty="0"/>
          </a:p>
          <a:p>
            <a:pPr>
              <a:lnSpc>
                <a:spcPct val="100000"/>
              </a:lnSpc>
              <a:spcBef>
                <a:spcPts val="0"/>
              </a:spcBef>
              <a:spcAft>
                <a:spcPts val="0"/>
              </a:spcAft>
            </a:pPr>
            <a:r>
              <a:rPr lang="en-US" sz="1050" b="1" dirty="0"/>
              <a:t>Guidelines on timing</a:t>
            </a:r>
          </a:p>
          <a:p>
            <a:pPr marL="171450" indent="-171450">
              <a:lnSpc>
                <a:spcPct val="100000"/>
              </a:lnSpc>
              <a:spcBef>
                <a:spcPts val="0"/>
              </a:spcBef>
              <a:spcAft>
                <a:spcPts val="0"/>
              </a:spcAft>
              <a:buFont typeface="Arial" panose="020B0604020202020204" pitchFamily="34" charset="0"/>
              <a:buChar char="•"/>
            </a:pPr>
            <a:r>
              <a:rPr lang="en-US" sz="900" dirty="0"/>
              <a:t>Keep each section concise and focused; avoid delving into operational details during strategic discussions.</a:t>
            </a:r>
          </a:p>
          <a:p>
            <a:pPr marL="171450" indent="-171450">
              <a:lnSpc>
                <a:spcPct val="100000"/>
              </a:lnSpc>
              <a:spcBef>
                <a:spcPts val="0"/>
              </a:spcBef>
              <a:spcAft>
                <a:spcPts val="0"/>
              </a:spcAft>
              <a:buFont typeface="Arial" panose="020B0604020202020204" pitchFamily="34" charset="0"/>
              <a:buChar char="•"/>
            </a:pPr>
            <a:r>
              <a:rPr lang="en-US" sz="900" dirty="0"/>
              <a:t>Use a timer to ensure sections don’t overrun.</a:t>
            </a:r>
          </a:p>
        </p:txBody>
      </p:sp>
    </p:spTree>
    <p:extLst>
      <p:ext uri="{BB962C8B-B14F-4D97-AF65-F5344CB8AC3E}">
        <p14:creationId xmlns:p14="http://schemas.microsoft.com/office/powerpoint/2010/main" val="2482181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B4464-4BC6-CA01-FC7A-04A04ADCCAE1}"/>
            </a:ext>
          </a:extLst>
        </p:cNvPr>
        <p:cNvGrpSpPr/>
        <p:nvPr/>
      </p:nvGrpSpPr>
      <p:grpSpPr>
        <a:xfrm>
          <a:off x="0" y="0"/>
          <a:ext cx="0" cy="0"/>
          <a:chOff x="0" y="0"/>
          <a:chExt cx="0" cy="0"/>
        </a:xfrm>
      </p:grpSpPr>
      <p:sp>
        <p:nvSpPr>
          <p:cNvPr id="105" name="Rectangle 1">
            <a:extLst>
              <a:ext uri="{FF2B5EF4-FFF2-40B4-BE49-F238E27FC236}">
                <a16:creationId xmlns:a16="http://schemas.microsoft.com/office/drawing/2014/main" id="{919EC9ED-F4D3-78A2-DED2-CD00B5CDCB21}"/>
              </a:ext>
            </a:extLst>
          </p:cNvPr>
          <p:cNvSpPr>
            <a:spLocks noChangeArrowheads="1"/>
          </p:cNvSpPr>
          <p:nvPr/>
        </p:nvSpPr>
        <p:spPr bwMode="auto">
          <a:xfrm>
            <a:off x="-2827682" y="9002157"/>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BG" sz="1100" dirty="0">
              <a:solidFill>
                <a:schemeClr val="bg1"/>
              </a:solidFill>
              <a:latin typeface="Riforma LL" panose="020B0504020101020102" pitchFamily="34" charset="77"/>
              <a:ea typeface="Riforma LL" panose="020B0504020101020102" pitchFamily="34" charset="77"/>
              <a:cs typeface="Riforma LL" panose="020B0504020101020102" pitchFamily="34" charset="77"/>
            </a:endParaRPr>
          </a:p>
        </p:txBody>
      </p:sp>
      <p:sp>
        <p:nvSpPr>
          <p:cNvPr id="13" name="TextBox 12">
            <a:extLst>
              <a:ext uri="{FF2B5EF4-FFF2-40B4-BE49-F238E27FC236}">
                <a16:creationId xmlns:a16="http://schemas.microsoft.com/office/drawing/2014/main" id="{3F07C88D-565B-19AD-9555-11649F9541E8}"/>
              </a:ext>
            </a:extLst>
          </p:cNvPr>
          <p:cNvSpPr txBox="1"/>
          <p:nvPr/>
        </p:nvSpPr>
        <p:spPr>
          <a:xfrm>
            <a:off x="195039" y="530815"/>
            <a:ext cx="2922734"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dirty="0"/>
              <a:t>Examples of </a:t>
            </a:r>
          </a:p>
          <a:p>
            <a:r>
              <a:rPr lang="en-US" dirty="0"/>
              <a:t>Good and Bad Work</a:t>
            </a:r>
          </a:p>
        </p:txBody>
      </p:sp>
      <p:cxnSp>
        <p:nvCxnSpPr>
          <p:cNvPr id="14" name="Straight Connector 13">
            <a:extLst>
              <a:ext uri="{FF2B5EF4-FFF2-40B4-BE49-F238E27FC236}">
                <a16:creationId xmlns:a16="http://schemas.microsoft.com/office/drawing/2014/main" id="{F38E838F-F6ED-4CC1-47F6-2EC2A9FB5D39}"/>
              </a:ext>
            </a:extLst>
          </p:cNvPr>
          <p:cNvCxnSpPr>
            <a:cxnSpLocks/>
          </p:cNvCxnSpPr>
          <p:nvPr/>
        </p:nvCxnSpPr>
        <p:spPr>
          <a:xfrm flipH="1">
            <a:off x="283397" y="1002553"/>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B2BBDF9-99ED-9DCF-0683-C849A900CA02}"/>
              </a:ext>
            </a:extLst>
          </p:cNvPr>
          <p:cNvSpPr txBox="1"/>
          <p:nvPr/>
        </p:nvSpPr>
        <p:spPr>
          <a:xfrm>
            <a:off x="5847196" y="150539"/>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06</a:t>
            </a:r>
          </a:p>
        </p:txBody>
      </p:sp>
      <p:sp>
        <p:nvSpPr>
          <p:cNvPr id="17" name="TextBox 16">
            <a:extLst>
              <a:ext uri="{FF2B5EF4-FFF2-40B4-BE49-F238E27FC236}">
                <a16:creationId xmlns:a16="http://schemas.microsoft.com/office/drawing/2014/main" id="{908AA126-28E8-2617-1D08-7E35A3AD3437}"/>
              </a:ext>
            </a:extLst>
          </p:cNvPr>
          <p:cNvSpPr txBox="1"/>
          <p:nvPr/>
        </p:nvSpPr>
        <p:spPr>
          <a:xfrm>
            <a:off x="213821" y="1069385"/>
            <a:ext cx="6047833" cy="1061829"/>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a:lnSpc>
                <a:spcPct val="100000"/>
              </a:lnSpc>
              <a:spcBef>
                <a:spcPts val="0"/>
              </a:spcBef>
              <a:spcAft>
                <a:spcPts val="0"/>
              </a:spcAft>
            </a:pPr>
            <a:r>
              <a:rPr lang="en-US" sz="900" b="1" dirty="0"/>
              <a:t>Good work</a:t>
            </a:r>
          </a:p>
          <a:p>
            <a:pPr marL="171450" indent="-171450">
              <a:lnSpc>
                <a:spcPct val="100000"/>
              </a:lnSpc>
              <a:spcBef>
                <a:spcPts val="0"/>
              </a:spcBef>
              <a:spcAft>
                <a:spcPts val="0"/>
              </a:spcAft>
              <a:buFont typeface="Arial" panose="020B0604020202020204" pitchFamily="34" charset="0"/>
              <a:buChar char="•"/>
            </a:pPr>
            <a:r>
              <a:rPr lang="en-US" sz="900" dirty="0"/>
              <a:t>A team dashboard that visually tracks progress and highlights bottlenecks.</a:t>
            </a:r>
          </a:p>
          <a:p>
            <a:pPr marL="171450" indent="-171450">
              <a:lnSpc>
                <a:spcPct val="100000"/>
              </a:lnSpc>
              <a:spcBef>
                <a:spcPts val="0"/>
              </a:spcBef>
              <a:spcAft>
                <a:spcPts val="0"/>
              </a:spcAft>
              <a:buFont typeface="Arial" panose="020B0604020202020204" pitchFamily="34" charset="0"/>
              <a:buChar char="•"/>
            </a:pPr>
            <a:r>
              <a:rPr lang="en-US" sz="900" dirty="0"/>
              <a:t>Clear accountability where each team member knows their role and next steps.</a:t>
            </a:r>
          </a:p>
          <a:p>
            <a:pPr>
              <a:lnSpc>
                <a:spcPct val="100000"/>
              </a:lnSpc>
              <a:spcBef>
                <a:spcPts val="0"/>
              </a:spcBef>
              <a:spcAft>
                <a:spcPts val="0"/>
              </a:spcAft>
            </a:pPr>
            <a:endParaRPr lang="en-US" sz="900" b="1" dirty="0"/>
          </a:p>
          <a:p>
            <a:pPr>
              <a:lnSpc>
                <a:spcPct val="100000"/>
              </a:lnSpc>
              <a:spcBef>
                <a:spcPts val="0"/>
              </a:spcBef>
              <a:spcAft>
                <a:spcPts val="0"/>
              </a:spcAft>
            </a:pPr>
            <a:r>
              <a:rPr lang="en-US" sz="900" b="1" dirty="0"/>
              <a:t>Bad work</a:t>
            </a:r>
          </a:p>
          <a:p>
            <a:pPr marL="171450" indent="-171450">
              <a:lnSpc>
                <a:spcPct val="100000"/>
              </a:lnSpc>
              <a:spcBef>
                <a:spcPts val="0"/>
              </a:spcBef>
              <a:spcAft>
                <a:spcPts val="0"/>
              </a:spcAft>
              <a:buFont typeface="Arial" panose="020B0604020202020204" pitchFamily="34" charset="0"/>
              <a:buChar char="•"/>
            </a:pPr>
            <a:r>
              <a:rPr lang="en-US" sz="900" dirty="0"/>
              <a:t>Overcomplicated dashboards that confuse rather than clarify.</a:t>
            </a:r>
          </a:p>
          <a:p>
            <a:pPr marL="171450" indent="-171450">
              <a:lnSpc>
                <a:spcPct val="100000"/>
              </a:lnSpc>
              <a:spcBef>
                <a:spcPts val="0"/>
              </a:spcBef>
              <a:spcAft>
                <a:spcPts val="0"/>
              </a:spcAft>
              <a:buFont typeface="Arial" panose="020B0604020202020204" pitchFamily="34" charset="0"/>
              <a:buChar char="•"/>
            </a:pPr>
            <a:r>
              <a:rPr lang="en-US" sz="900" dirty="0"/>
              <a:t>Ambiguous accountability where ownership is shared or undefined.</a:t>
            </a:r>
          </a:p>
        </p:txBody>
      </p:sp>
      <p:sp>
        <p:nvSpPr>
          <p:cNvPr id="31" name="TextBox 30">
            <a:extLst>
              <a:ext uri="{FF2B5EF4-FFF2-40B4-BE49-F238E27FC236}">
                <a16:creationId xmlns:a16="http://schemas.microsoft.com/office/drawing/2014/main" id="{FFA5FF2A-47C0-E636-D406-971BB4DE64EB}"/>
              </a:ext>
            </a:extLst>
          </p:cNvPr>
          <p:cNvSpPr txBox="1"/>
          <p:nvPr/>
        </p:nvSpPr>
        <p:spPr>
          <a:xfrm>
            <a:off x="213821" y="2531709"/>
            <a:ext cx="2922734"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r>
              <a:rPr lang="en-US" dirty="0"/>
              <a:t>Troubleshooting </a:t>
            </a:r>
          </a:p>
          <a:p>
            <a:r>
              <a:rPr lang="en-US" dirty="0"/>
              <a:t>Common Pitfalls</a:t>
            </a:r>
          </a:p>
        </p:txBody>
      </p:sp>
      <p:cxnSp>
        <p:nvCxnSpPr>
          <p:cNvPr id="32" name="Straight Connector 31">
            <a:extLst>
              <a:ext uri="{FF2B5EF4-FFF2-40B4-BE49-F238E27FC236}">
                <a16:creationId xmlns:a16="http://schemas.microsoft.com/office/drawing/2014/main" id="{8C573A13-E7E0-2A56-B88C-1F8B331F060D}"/>
              </a:ext>
            </a:extLst>
          </p:cNvPr>
          <p:cNvCxnSpPr>
            <a:cxnSpLocks/>
          </p:cNvCxnSpPr>
          <p:nvPr/>
        </p:nvCxnSpPr>
        <p:spPr>
          <a:xfrm flipH="1">
            <a:off x="302179" y="3003447"/>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5E41565-B87A-54D4-EAE0-B9C465B13103}"/>
              </a:ext>
            </a:extLst>
          </p:cNvPr>
          <p:cNvSpPr txBox="1"/>
          <p:nvPr/>
        </p:nvSpPr>
        <p:spPr>
          <a:xfrm>
            <a:off x="5865978" y="2151433"/>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07</a:t>
            </a:r>
          </a:p>
        </p:txBody>
      </p:sp>
      <p:sp>
        <p:nvSpPr>
          <p:cNvPr id="34" name="TextBox 33">
            <a:extLst>
              <a:ext uri="{FF2B5EF4-FFF2-40B4-BE49-F238E27FC236}">
                <a16:creationId xmlns:a16="http://schemas.microsoft.com/office/drawing/2014/main" id="{60C51A0A-FBBA-66C3-9204-BC884EBF1EBD}"/>
              </a:ext>
            </a:extLst>
          </p:cNvPr>
          <p:cNvSpPr txBox="1"/>
          <p:nvPr/>
        </p:nvSpPr>
        <p:spPr>
          <a:xfrm>
            <a:off x="232603" y="3070279"/>
            <a:ext cx="6047833" cy="784830"/>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a:lnSpc>
                <a:spcPct val="100000"/>
              </a:lnSpc>
              <a:spcBef>
                <a:spcPts val="0"/>
              </a:spcBef>
              <a:spcAft>
                <a:spcPts val="0"/>
              </a:spcAft>
            </a:pPr>
            <a:r>
              <a:rPr lang="en-US" sz="900" dirty="0"/>
              <a:t>Pitfall: Discussions veer off-topic.</a:t>
            </a:r>
          </a:p>
          <a:p>
            <a:pPr marL="171450" indent="-171450">
              <a:lnSpc>
                <a:spcPct val="100000"/>
              </a:lnSpc>
              <a:spcBef>
                <a:spcPts val="0"/>
              </a:spcBef>
              <a:spcAft>
                <a:spcPts val="0"/>
              </a:spcAft>
              <a:buFont typeface="Arial" panose="020B0604020202020204" pitchFamily="34" charset="0"/>
              <a:buChar char="•"/>
            </a:pPr>
            <a:r>
              <a:rPr lang="en-US" sz="900" dirty="0"/>
              <a:t>Solution: Redirect by summarizing key points and refocusing on the agenda.</a:t>
            </a:r>
          </a:p>
          <a:p>
            <a:pPr>
              <a:lnSpc>
                <a:spcPct val="100000"/>
              </a:lnSpc>
              <a:spcBef>
                <a:spcPts val="0"/>
              </a:spcBef>
              <a:spcAft>
                <a:spcPts val="0"/>
              </a:spcAft>
            </a:pPr>
            <a:endParaRPr lang="en-US" sz="900" dirty="0"/>
          </a:p>
          <a:p>
            <a:pPr>
              <a:lnSpc>
                <a:spcPct val="100000"/>
              </a:lnSpc>
              <a:spcBef>
                <a:spcPts val="0"/>
              </a:spcBef>
              <a:spcAft>
                <a:spcPts val="0"/>
              </a:spcAft>
            </a:pPr>
            <a:r>
              <a:rPr lang="en-US" sz="900" dirty="0"/>
              <a:t>Pitfall: Resistance to proposed systems.</a:t>
            </a:r>
          </a:p>
          <a:p>
            <a:pPr marL="171450" indent="-171450">
              <a:lnSpc>
                <a:spcPct val="100000"/>
              </a:lnSpc>
              <a:spcBef>
                <a:spcPts val="0"/>
              </a:spcBef>
              <a:spcAft>
                <a:spcPts val="0"/>
              </a:spcAft>
              <a:buFont typeface="Arial" panose="020B0604020202020204" pitchFamily="34" charset="0"/>
              <a:buChar char="•"/>
            </a:pPr>
            <a:r>
              <a:rPr lang="en-US" sz="900" dirty="0"/>
              <a:t>Solution: Highlight benefits and share success stories from similar implementations.</a:t>
            </a:r>
          </a:p>
        </p:txBody>
      </p:sp>
      <p:sp>
        <p:nvSpPr>
          <p:cNvPr id="35" name="TextBox 34">
            <a:extLst>
              <a:ext uri="{FF2B5EF4-FFF2-40B4-BE49-F238E27FC236}">
                <a16:creationId xmlns:a16="http://schemas.microsoft.com/office/drawing/2014/main" id="{3BEB2C1A-25BD-2A38-7322-BE2F8791B83B}"/>
              </a:ext>
            </a:extLst>
          </p:cNvPr>
          <p:cNvSpPr txBox="1"/>
          <p:nvPr/>
        </p:nvSpPr>
        <p:spPr>
          <a:xfrm>
            <a:off x="213821" y="4202835"/>
            <a:ext cx="2922734" cy="869717"/>
          </a:xfrm>
          <a:prstGeom prst="rect">
            <a:avLst/>
          </a:prstGeom>
        </p:spPr>
        <p:txBody>
          <a:bodyPr>
            <a:normAutofit/>
          </a:bodyPr>
          <a:lstStyle>
            <a:defPPr>
              <a:defRPr lang="en-US"/>
            </a:defPPr>
            <a:lvl1pPr>
              <a:lnSpc>
                <a:spcPct val="70000"/>
              </a:lnSpc>
              <a:spcBef>
                <a:spcPct val="0"/>
              </a:spcBef>
              <a:buNone/>
              <a:defRPr sz="2000" i="0" cap="none" spc="0" baseline="0">
                <a:solidFill>
                  <a:schemeClr val="tx1">
                    <a:lumMod val="85000"/>
                    <a:lumOff val="15000"/>
                  </a:schemeClr>
                </a:solidFill>
                <a:effectLst/>
                <a:latin typeface="Plaak 3 Trial Regular" panose="02000000000000000000" pitchFamily="50" charset="0"/>
              </a:defRPr>
            </a:lvl1pPr>
          </a:lstStyle>
          <a:p>
            <a:pPr>
              <a:lnSpc>
                <a:spcPct val="100000"/>
              </a:lnSpc>
              <a:spcBef>
                <a:spcPts val="0"/>
              </a:spcBef>
              <a:spcAft>
                <a:spcPts val="0"/>
              </a:spcAft>
            </a:pPr>
            <a:r>
              <a:rPr lang="en-US" sz="2000" dirty="0"/>
              <a:t>Conclusion</a:t>
            </a:r>
          </a:p>
        </p:txBody>
      </p:sp>
      <p:cxnSp>
        <p:nvCxnSpPr>
          <p:cNvPr id="36" name="Straight Connector 35">
            <a:extLst>
              <a:ext uri="{FF2B5EF4-FFF2-40B4-BE49-F238E27FC236}">
                <a16:creationId xmlns:a16="http://schemas.microsoft.com/office/drawing/2014/main" id="{E2F63864-DE9D-ED7F-D1E2-B0A78318AECD}"/>
              </a:ext>
            </a:extLst>
          </p:cNvPr>
          <p:cNvCxnSpPr>
            <a:cxnSpLocks/>
          </p:cNvCxnSpPr>
          <p:nvPr/>
        </p:nvCxnSpPr>
        <p:spPr>
          <a:xfrm flipH="1">
            <a:off x="302179" y="4674573"/>
            <a:ext cx="61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D523D8E-B59E-6FEC-73C7-9626C480E4E8}"/>
              </a:ext>
            </a:extLst>
          </p:cNvPr>
          <p:cNvSpPr txBox="1"/>
          <p:nvPr/>
        </p:nvSpPr>
        <p:spPr>
          <a:xfrm>
            <a:off x="5865978" y="3822559"/>
            <a:ext cx="630368" cy="967646"/>
          </a:xfrm>
          <a:prstGeom prst="rect">
            <a:avLst/>
          </a:prstGeom>
        </p:spPr>
        <p:txBody>
          <a:bodyPr anchor="b">
            <a:normAutofit/>
          </a:bodyPr>
          <a:lstStyle>
            <a:defPPr>
              <a:defRPr lang="en-US"/>
            </a:defPPr>
            <a:lvl1pPr>
              <a:lnSpc>
                <a:spcPct val="90000"/>
              </a:lnSpc>
              <a:spcBef>
                <a:spcPct val="0"/>
              </a:spcBef>
              <a:buNone/>
              <a:defRPr lang="en-US" sz="4200" i="0" cap="none" spc="0" baseline="0">
                <a:solidFill>
                  <a:schemeClr val="tx1">
                    <a:lumMod val="85000"/>
                    <a:lumOff val="15000"/>
                  </a:schemeClr>
                </a:solidFill>
                <a:effectLst/>
                <a:latin typeface="Plaak 3 Trial Regular" panose="02000000000000000000" pitchFamily="50" charset="0"/>
              </a:defRPr>
            </a:lvl1pPr>
          </a:lstStyle>
          <a:p>
            <a:pPr>
              <a:lnSpc>
                <a:spcPct val="70000"/>
              </a:lnSpc>
            </a:pPr>
            <a:r>
              <a:rPr lang="en-US" sz="4000" dirty="0">
                <a:solidFill>
                  <a:schemeClr val="tx1"/>
                </a:solidFill>
              </a:rPr>
              <a:t>08</a:t>
            </a:r>
          </a:p>
        </p:txBody>
      </p:sp>
      <p:sp>
        <p:nvSpPr>
          <p:cNvPr id="38" name="TextBox 37">
            <a:extLst>
              <a:ext uri="{FF2B5EF4-FFF2-40B4-BE49-F238E27FC236}">
                <a16:creationId xmlns:a16="http://schemas.microsoft.com/office/drawing/2014/main" id="{66A47A97-61A0-43FD-C1D2-87DBB54564A5}"/>
              </a:ext>
            </a:extLst>
          </p:cNvPr>
          <p:cNvSpPr txBox="1"/>
          <p:nvPr/>
        </p:nvSpPr>
        <p:spPr>
          <a:xfrm>
            <a:off x="232603" y="4741405"/>
            <a:ext cx="6047833" cy="784830"/>
          </a:xfrm>
          <a:prstGeom prst="rect">
            <a:avLst/>
          </a:prstGeom>
          <a:noFill/>
        </p:spPr>
        <p:txBody>
          <a:bodyPr wrap="square">
            <a:spAutoFit/>
          </a:bodyPr>
          <a:lstStyle>
            <a:defPPr>
              <a:defRPr lang="en-US"/>
            </a:defPPr>
            <a:lvl1pPr>
              <a:lnSpc>
                <a:spcPct val="115000"/>
              </a:lnSpc>
              <a:spcBef>
                <a:spcPts val="840"/>
              </a:spcBef>
              <a:spcAft>
                <a:spcPts val="840"/>
              </a:spcAft>
              <a:defRPr sz="800">
                <a:latin typeface="Riforma LL" panose="020B0504020101020102" pitchFamily="34" charset="77"/>
              </a:defRPr>
            </a:lvl1pPr>
          </a:lstStyle>
          <a:p>
            <a:pPr>
              <a:lnSpc>
                <a:spcPct val="100000"/>
              </a:lnSpc>
              <a:spcBef>
                <a:spcPts val="0"/>
              </a:spcBef>
              <a:spcAft>
                <a:spcPts val="0"/>
              </a:spcAft>
            </a:pPr>
            <a:r>
              <a:rPr lang="en-US" sz="900" b="1" dirty="0"/>
              <a:t>Key points to review</a:t>
            </a:r>
          </a:p>
          <a:p>
            <a:pPr marL="171450" indent="-171450">
              <a:lnSpc>
                <a:spcPct val="100000"/>
              </a:lnSpc>
              <a:spcBef>
                <a:spcPts val="0"/>
              </a:spcBef>
              <a:spcAft>
                <a:spcPts val="0"/>
              </a:spcAft>
              <a:buFont typeface="Arial" panose="020B0604020202020204" pitchFamily="34" charset="0"/>
              <a:buChar char="•"/>
            </a:pPr>
            <a:r>
              <a:rPr lang="en-US" sz="900" dirty="0"/>
              <a:t>Focus on clarity and alignment in tasks and accountability.</a:t>
            </a:r>
          </a:p>
          <a:p>
            <a:pPr marL="171450" indent="-171450">
              <a:lnSpc>
                <a:spcPct val="100000"/>
              </a:lnSpc>
              <a:spcBef>
                <a:spcPts val="0"/>
              </a:spcBef>
              <a:spcAft>
                <a:spcPts val="0"/>
              </a:spcAft>
              <a:buFont typeface="Arial" panose="020B0604020202020204" pitchFamily="34" charset="0"/>
              <a:buChar char="•"/>
            </a:pPr>
            <a:r>
              <a:rPr lang="en-US" sz="900" dirty="0"/>
              <a:t>Leverage dashboards and metrics to track and improve performance.</a:t>
            </a:r>
          </a:p>
          <a:p>
            <a:pPr marL="171450" indent="-171450">
              <a:lnSpc>
                <a:spcPct val="100000"/>
              </a:lnSpc>
              <a:spcBef>
                <a:spcPts val="0"/>
              </a:spcBef>
              <a:spcAft>
                <a:spcPts val="0"/>
              </a:spcAft>
              <a:buFont typeface="Arial" panose="020B0604020202020204" pitchFamily="34" charset="0"/>
              <a:buChar char="•"/>
            </a:pPr>
            <a:r>
              <a:rPr lang="en-US" sz="900" dirty="0"/>
              <a:t>Encourage open communication and shared commitment to success.</a:t>
            </a:r>
          </a:p>
          <a:p>
            <a:pPr>
              <a:lnSpc>
                <a:spcPct val="100000"/>
              </a:lnSpc>
              <a:spcBef>
                <a:spcPts val="0"/>
              </a:spcBef>
              <a:spcAft>
                <a:spcPts val="0"/>
              </a:spcAft>
            </a:pPr>
            <a:endParaRPr lang="en-US" sz="900" dirty="0"/>
          </a:p>
        </p:txBody>
      </p:sp>
    </p:spTree>
    <p:extLst>
      <p:ext uri="{BB962C8B-B14F-4D97-AF65-F5344CB8AC3E}">
        <p14:creationId xmlns:p14="http://schemas.microsoft.com/office/powerpoint/2010/main" val="2089247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A9AC01-ED0C-F5D3-F3CB-D12D0F3DAC14}"/>
              </a:ext>
            </a:extLst>
          </p:cNvPr>
          <p:cNvSpPr/>
          <p:nvPr/>
        </p:nvSpPr>
        <p:spPr>
          <a:xfrm>
            <a:off x="-116114" y="0"/>
            <a:ext cx="6974114" cy="990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2">
            <a:extLst>
              <a:ext uri="{FF2B5EF4-FFF2-40B4-BE49-F238E27FC236}">
                <a16:creationId xmlns:a16="http://schemas.microsoft.com/office/drawing/2014/main" id="{C3276E35-DBB3-C811-C5D8-C5664E054F28}"/>
              </a:ext>
            </a:extLst>
          </p:cNvPr>
          <p:cNvSpPr txBox="1">
            <a:spLocks/>
          </p:cNvSpPr>
          <p:nvPr/>
        </p:nvSpPr>
        <p:spPr>
          <a:xfrm>
            <a:off x="1233682" y="7445847"/>
            <a:ext cx="4390636" cy="2118181"/>
          </a:xfrm>
          <a:prstGeom prst="rect">
            <a:avLst/>
          </a:prstGeom>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Plaak 3 Trial Regular" panose="02000000000000000000" pitchFamily="50" charset="0"/>
                <a:ea typeface="+mj-ea"/>
                <a:cs typeface="+mj-cs"/>
              </a:defRPr>
            </a:lvl1pPr>
          </a:lstStyle>
          <a:p>
            <a:pPr algn="ctr"/>
            <a:r>
              <a:rPr lang="en-US" sz="1800" i="0" u="none" strike="noStrike" baseline="0" dirty="0">
                <a:solidFill>
                  <a:srgbClr val="FFFFFF"/>
                </a:solidFill>
                <a:latin typeface="Plaak3Trial-43-Bold" panose="02000000000000000000" pitchFamily="50" charset="0"/>
              </a:rPr>
              <a:t>“THE Fast Track system is Simplicity designed to make an Impact. Brilliant.”</a:t>
            </a:r>
          </a:p>
          <a:p>
            <a:pPr algn="ctr"/>
            <a:endParaRPr lang="en-US" sz="1800" b="1" i="0" u="none" strike="noStrike" baseline="0" dirty="0">
              <a:solidFill>
                <a:srgbClr val="FFFFFF"/>
              </a:solidFill>
              <a:latin typeface="Plaak3Trial-43-Bold" panose="02000000000000000000" pitchFamily="50" charset="0"/>
            </a:endParaRPr>
          </a:p>
          <a:p>
            <a:pPr algn="ctr"/>
            <a:r>
              <a:rPr lang="en-US" sz="1100" b="0" i="0" u="none" strike="noStrike" baseline="0" dirty="0">
                <a:solidFill>
                  <a:srgbClr val="FFFFFF"/>
                </a:solidFill>
                <a:latin typeface="MonumentGrotesk-Mono" panose="02010504030000020004" pitchFamily="50" charset="0"/>
              </a:rPr>
              <a:t>[XAVIER CARPINELLI, KPMG, YPO MONACO]</a:t>
            </a:r>
            <a:endParaRPr lang="en-US" sz="6000" dirty="0">
              <a:ea typeface="+mn-ea"/>
              <a:cs typeface="+mn-cs"/>
            </a:endParaRPr>
          </a:p>
        </p:txBody>
      </p:sp>
      <p:pic>
        <p:nvPicPr>
          <p:cNvPr id="2" name="Picture 1" descr="A close up of a logo&#10;&#10;Description automatically generated">
            <a:extLst>
              <a:ext uri="{FF2B5EF4-FFF2-40B4-BE49-F238E27FC236}">
                <a16:creationId xmlns:a16="http://schemas.microsoft.com/office/drawing/2014/main" id="{F90AB019-8E29-8D3F-709F-83FE925795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5519" y="4249718"/>
            <a:ext cx="1886962" cy="765331"/>
          </a:xfrm>
          <a:prstGeom prst="rect">
            <a:avLst/>
          </a:prstGeom>
        </p:spPr>
      </p:pic>
    </p:spTree>
    <p:extLst>
      <p:ext uri="{BB962C8B-B14F-4D97-AF65-F5344CB8AC3E}">
        <p14:creationId xmlns:p14="http://schemas.microsoft.com/office/powerpoint/2010/main" val="14739519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ZUcrUlfqiSxTYF_wzigU1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T fonts">
      <a:majorFont>
        <a:latin typeface="Exo 2.0"/>
        <a:ea typeface=""/>
        <a:cs typeface=""/>
      </a:majorFont>
      <a:minorFont>
        <a:latin typeface="Exo 2.0"/>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T fonts">
      <a:majorFont>
        <a:latin typeface="Exo 2.0"/>
        <a:ea typeface=""/>
        <a:cs typeface=""/>
      </a:majorFont>
      <a:minorFont>
        <a:latin typeface="Exo 2.0"/>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25430</TotalTime>
  <Words>879</Words>
  <Application>Microsoft Macintosh PowerPoint</Application>
  <PresentationFormat>A4 Paper (210x297 mm)</PresentationFormat>
  <Paragraphs>106</Paragraphs>
  <Slides>4</Slides>
  <Notes>0</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4</vt:i4>
      </vt:variant>
    </vt:vector>
  </HeadingPairs>
  <TitlesOfParts>
    <vt:vector size="15" baseType="lpstr">
      <vt:lpstr>Plaak3Trial-43-Bold</vt:lpstr>
      <vt:lpstr>Plaak 3 Trial Regular</vt:lpstr>
      <vt:lpstr>Riforma LL</vt:lpstr>
      <vt:lpstr>MonumentGrotesk-Mono</vt:lpstr>
      <vt:lpstr>Arial</vt:lpstr>
      <vt:lpstr>Monument Grotesk Mono</vt:lpstr>
      <vt:lpstr>Calibri</vt:lpstr>
      <vt:lpstr>Office Theme</vt:lpstr>
      <vt:lpstr>1_Office Theme</vt:lpstr>
      <vt:lpstr>2_Office Theme</vt:lpstr>
      <vt:lpstr>think-cell Slide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Track Template new</dc:title>
  <dc:creator>Miroslav</dc:creator>
  <cp:lastModifiedBy>Nikol Nankova</cp:lastModifiedBy>
  <cp:revision>1854</cp:revision>
  <cp:lastPrinted>2023-02-27T16:00:42Z</cp:lastPrinted>
  <dcterms:created xsi:type="dcterms:W3CDTF">2018-01-04T12:41:55Z</dcterms:created>
  <dcterms:modified xsi:type="dcterms:W3CDTF">2024-11-29T09:01:58Z</dcterms:modified>
</cp:coreProperties>
</file>