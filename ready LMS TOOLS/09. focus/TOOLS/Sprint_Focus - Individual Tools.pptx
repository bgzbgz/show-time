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2"/>
  </p:notesMasterIdLst>
  <p:handoutMasterIdLst>
    <p:handoutMasterId r:id="rId13"/>
  </p:handoutMasterIdLst>
  <p:sldIdLst>
    <p:sldId id="2435" r:id="rId4"/>
    <p:sldId id="2475" r:id="rId5"/>
    <p:sldId id="2439" r:id="rId6"/>
    <p:sldId id="2469" r:id="rId7"/>
    <p:sldId id="2470" r:id="rId8"/>
    <p:sldId id="2375" r:id="rId9"/>
    <p:sldId id="2417" r:id="rId10"/>
    <p:sldId id="2481" r:id="rId11"/>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40" autoAdjust="0"/>
    <p:restoredTop sz="94913" autoAdjust="0"/>
  </p:normalViewPr>
  <p:slideViewPr>
    <p:cSldViewPr snapToGrid="0">
      <p:cViewPr>
        <p:scale>
          <a:sx n="175" d="100"/>
          <a:sy n="175" d="100"/>
        </p:scale>
        <p:origin x="152" y="1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11/15/24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11/15/24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G" dirty="0"/>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a:t>
            </a:fld>
            <a:endParaRPr lang="en-US" dirty="0"/>
          </a:p>
        </p:txBody>
      </p:sp>
    </p:spTree>
    <p:extLst>
      <p:ext uri="{BB962C8B-B14F-4D97-AF65-F5344CB8AC3E}">
        <p14:creationId xmlns:p14="http://schemas.microsoft.com/office/powerpoint/2010/main" val="3116001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G"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53867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01221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defTabSz="925464">
              <a:defRPr/>
            </a:pPr>
            <a:fld id="{D1F6A1A1-8B93-49C9-AFC7-D0DF50B75203}" type="slidenum">
              <a:rPr lang="en-US">
                <a:solidFill>
                  <a:prstClr val="black"/>
                </a:solidFill>
              </a:rPr>
              <a:pPr defTabSz="925464">
                <a:defRPr/>
              </a:pPr>
              <a:t>6</a:t>
            </a:fld>
            <a:endParaRPr lang="en-US">
              <a:solidFill>
                <a:prstClr val="black"/>
              </a:solidFill>
            </a:endParaRPr>
          </a:p>
        </p:txBody>
      </p:sp>
    </p:spTree>
    <p:extLst>
      <p:ext uri="{BB962C8B-B14F-4D97-AF65-F5344CB8AC3E}">
        <p14:creationId xmlns:p14="http://schemas.microsoft.com/office/powerpoint/2010/main" val="2664785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defTabSz="925464">
              <a:defRPr/>
            </a:pPr>
            <a:fld id="{D1F6A1A1-8B93-49C9-AFC7-D0DF50B75203}" type="slidenum">
              <a:rPr lang="en-US">
                <a:solidFill>
                  <a:prstClr val="black"/>
                </a:solidFill>
              </a:rPr>
              <a:pPr defTabSz="925464">
                <a:defRPr/>
              </a:pPr>
              <a:t>7</a:t>
            </a:fld>
            <a:endParaRPr lang="en-US">
              <a:solidFill>
                <a:prstClr val="black"/>
              </a:solidFill>
            </a:endParaRPr>
          </a:p>
        </p:txBody>
      </p:sp>
    </p:spTree>
    <p:extLst>
      <p:ext uri="{BB962C8B-B14F-4D97-AF65-F5344CB8AC3E}">
        <p14:creationId xmlns:p14="http://schemas.microsoft.com/office/powerpoint/2010/main" val="2975254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19985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570B4E-4E26-3004-D5B7-B24CC33F9CC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193" b="25913"/>
          <a:stretch/>
        </p:blipFill>
        <p:spPr>
          <a:xfrm>
            <a:off x="67268" y="50800"/>
            <a:ext cx="6164281" cy="446286"/>
          </a:xfrm>
          <a:prstGeom prst="rect">
            <a:avLst/>
          </a:prstGeom>
        </p:spPr>
      </p:pic>
      <p:sp>
        <p:nvSpPr>
          <p:cNvPr id="6" name="Rectangle 5">
            <a:extLst>
              <a:ext uri="{FF2B5EF4-FFF2-40B4-BE49-F238E27FC236}">
                <a16:creationId xmlns:a16="http://schemas.microsoft.com/office/drawing/2014/main" id="{5871DD4D-FAF2-D54E-A599-1D9E19903E47}"/>
              </a:ext>
            </a:extLst>
          </p:cNvPr>
          <p:cNvSpPr/>
          <p:nvPr/>
        </p:nvSpPr>
        <p:spPr>
          <a:xfrm>
            <a:off x="7403098" y="3356745"/>
            <a:ext cx="2426233" cy="1093658"/>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3. </a:t>
            </a:r>
          </a:p>
        </p:txBody>
      </p:sp>
      <p:sp>
        <p:nvSpPr>
          <p:cNvPr id="9" name="Rectangle 8">
            <a:extLst>
              <a:ext uri="{FF2B5EF4-FFF2-40B4-BE49-F238E27FC236}">
                <a16:creationId xmlns:a16="http://schemas.microsoft.com/office/drawing/2014/main" id="{6F69FC6D-5058-344E-BED6-E0D6CFB060B7}"/>
              </a:ext>
            </a:extLst>
          </p:cNvPr>
          <p:cNvSpPr/>
          <p:nvPr/>
        </p:nvSpPr>
        <p:spPr>
          <a:xfrm>
            <a:off x="7415640" y="958160"/>
            <a:ext cx="2434876" cy="1093658"/>
          </a:xfrm>
          <a:prstGeom prst="rect">
            <a:avLst/>
          </a:prstGeom>
          <a:solidFill>
            <a:srgbClr val="FFF469"/>
          </a:solidFill>
          <a:ln w="285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1. Top priority </a:t>
            </a:r>
          </a:p>
        </p:txBody>
      </p:sp>
      <p:sp>
        <p:nvSpPr>
          <p:cNvPr id="10" name="Rectangle 9">
            <a:extLst>
              <a:ext uri="{FF2B5EF4-FFF2-40B4-BE49-F238E27FC236}">
                <a16:creationId xmlns:a16="http://schemas.microsoft.com/office/drawing/2014/main" id="{397B328B-1E05-6E4A-8BBC-74FD66D23DA8}"/>
              </a:ext>
            </a:extLst>
          </p:cNvPr>
          <p:cNvSpPr/>
          <p:nvPr/>
        </p:nvSpPr>
        <p:spPr>
          <a:xfrm>
            <a:off x="7403098" y="2164513"/>
            <a:ext cx="2426236" cy="1093654"/>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2. </a:t>
            </a:r>
          </a:p>
        </p:txBody>
      </p:sp>
      <p:cxnSp>
        <p:nvCxnSpPr>
          <p:cNvPr id="11" name="Straight Arrow Connector 10">
            <a:extLst>
              <a:ext uri="{FF2B5EF4-FFF2-40B4-BE49-F238E27FC236}">
                <a16:creationId xmlns:a16="http://schemas.microsoft.com/office/drawing/2014/main" id="{ECF4504D-B68C-A549-9148-11EBB8E8136F}"/>
              </a:ext>
            </a:extLst>
          </p:cNvPr>
          <p:cNvCxnSpPr>
            <a:cxnSpLocks/>
          </p:cNvCxnSpPr>
          <p:nvPr/>
        </p:nvCxnSpPr>
        <p:spPr>
          <a:xfrm flipV="1">
            <a:off x="3415751" y="4552005"/>
            <a:ext cx="3783835" cy="1"/>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1584B1B-903B-BB4A-A47A-B0EC7AB15495}"/>
              </a:ext>
            </a:extLst>
          </p:cNvPr>
          <p:cNvCxnSpPr>
            <a:cxnSpLocks/>
          </p:cNvCxnSpPr>
          <p:nvPr/>
        </p:nvCxnSpPr>
        <p:spPr>
          <a:xfrm flipV="1">
            <a:off x="3415773" y="847900"/>
            <a:ext cx="0" cy="3704105"/>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E6DBF2-8158-AC46-B350-75BDCB6367BC}"/>
              </a:ext>
            </a:extLst>
          </p:cNvPr>
          <p:cNvCxnSpPr>
            <a:cxnSpLocks/>
          </p:cNvCxnSpPr>
          <p:nvPr/>
        </p:nvCxnSpPr>
        <p:spPr>
          <a:xfrm>
            <a:off x="5276993" y="1066887"/>
            <a:ext cx="4722" cy="33077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25B562A-DB73-2B4C-BD4E-4C254CD7AC09}"/>
              </a:ext>
            </a:extLst>
          </p:cNvPr>
          <p:cNvCxnSpPr>
            <a:cxnSpLocks/>
          </p:cNvCxnSpPr>
          <p:nvPr/>
        </p:nvCxnSpPr>
        <p:spPr>
          <a:xfrm flipH="1">
            <a:off x="3782157" y="2681352"/>
            <a:ext cx="2927098" cy="0"/>
          </a:xfrm>
          <a:prstGeom prst="line">
            <a:avLst/>
          </a:prstGeom>
          <a:ln>
            <a:solidFill>
              <a:srgbClr val="3D233B"/>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DDD1047-A24C-7042-BB5E-7AA9295F5801}"/>
              </a:ext>
            </a:extLst>
          </p:cNvPr>
          <p:cNvSpPr txBox="1"/>
          <p:nvPr/>
        </p:nvSpPr>
        <p:spPr>
          <a:xfrm>
            <a:off x="4662114" y="4605195"/>
            <a:ext cx="1167184" cy="338554"/>
          </a:xfrm>
          <a:prstGeom prst="rect">
            <a:avLst/>
          </a:prstGeom>
          <a:noFill/>
        </p:spPr>
        <p:txBody>
          <a:bodyPr wrap="square" rtlCol="0">
            <a:spAutoFit/>
          </a:bodyPr>
          <a:lstStyle/>
          <a:p>
            <a:pPr algn="ctr"/>
            <a:r>
              <a:rPr lang="en-US" sz="16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Impact </a:t>
            </a:r>
          </a:p>
        </p:txBody>
      </p:sp>
      <p:sp>
        <p:nvSpPr>
          <p:cNvPr id="16" name="TextBox 15">
            <a:extLst>
              <a:ext uri="{FF2B5EF4-FFF2-40B4-BE49-F238E27FC236}">
                <a16:creationId xmlns:a16="http://schemas.microsoft.com/office/drawing/2014/main" id="{DE7864DC-7561-FF46-9A3F-5F2D8C4D1E3B}"/>
              </a:ext>
            </a:extLst>
          </p:cNvPr>
          <p:cNvSpPr txBox="1"/>
          <p:nvPr/>
        </p:nvSpPr>
        <p:spPr>
          <a:xfrm rot="16200000">
            <a:off x="2649326" y="2530674"/>
            <a:ext cx="1167579" cy="338554"/>
          </a:xfrm>
          <a:prstGeom prst="rect">
            <a:avLst/>
          </a:prstGeom>
          <a:noFill/>
        </p:spPr>
        <p:txBody>
          <a:bodyPr wrap="square" rtlCol="0">
            <a:spAutoFit/>
          </a:bodyPr>
          <a:lstStyle/>
          <a:p>
            <a:pPr algn="ctr"/>
            <a:r>
              <a:rPr lang="en-US" sz="16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Easy</a:t>
            </a:r>
          </a:p>
        </p:txBody>
      </p:sp>
      <p:graphicFrame>
        <p:nvGraphicFramePr>
          <p:cNvPr id="17" name="Table 16">
            <a:extLst>
              <a:ext uri="{FF2B5EF4-FFF2-40B4-BE49-F238E27FC236}">
                <a16:creationId xmlns:a16="http://schemas.microsoft.com/office/drawing/2014/main" id="{147148F6-8B47-5149-BAE7-21FD3F250CA9}"/>
              </a:ext>
            </a:extLst>
          </p:cNvPr>
          <p:cNvGraphicFramePr>
            <a:graphicFrameLocks noGrp="1"/>
          </p:cNvGraphicFramePr>
          <p:nvPr>
            <p:extLst>
              <p:ext uri="{D42A27DB-BD31-4B8C-83A1-F6EECF244321}">
                <p14:modId xmlns:p14="http://schemas.microsoft.com/office/powerpoint/2010/main" val="911885292"/>
              </p:ext>
            </p:extLst>
          </p:nvPr>
        </p:nvGraphicFramePr>
        <p:xfrm>
          <a:off x="297381" y="796778"/>
          <a:ext cx="2766458" cy="5074406"/>
        </p:xfrm>
        <a:graphic>
          <a:graphicData uri="http://schemas.openxmlformats.org/drawingml/2006/table">
            <a:tbl>
              <a:tblPr>
                <a:tableStyleId>{F5AB1C69-6EDB-4FF4-983F-18BD219EF322}</a:tableStyleId>
              </a:tblPr>
              <a:tblGrid>
                <a:gridCol w="2766458">
                  <a:extLst>
                    <a:ext uri="{9D8B030D-6E8A-4147-A177-3AD203B41FA5}">
                      <a16:colId xmlns:a16="http://schemas.microsoft.com/office/drawing/2014/main" val="2283365220"/>
                    </a:ext>
                  </a:extLst>
                </a:gridCol>
              </a:tblGrid>
              <a:tr h="249371">
                <a:tc>
                  <a:txBody>
                    <a:bodyPr/>
                    <a:lstStyle/>
                    <a:p>
                      <a:r>
                        <a:rPr lang="en-US" sz="1200" b="0" i="0" dirty="0">
                          <a:solidFill>
                            <a:schemeClr val="bg1"/>
                          </a:solidFill>
                          <a:effectLst/>
                          <a:latin typeface="Arial" panose="020B0604020202020204" pitchFamily="34" charset="0"/>
                        </a:rPr>
                        <a:t>YOU ACTIVITY /PROJECTS LIST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3816231"/>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75148"/>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729189"/>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8798083"/>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817227"/>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101800"/>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6133117"/>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6797651"/>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127331"/>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4051154"/>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7356369"/>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7955757"/>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20709"/>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5964555"/>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036407"/>
                  </a:ext>
                </a:extLst>
              </a:tr>
              <a:tr h="249371">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813073"/>
                  </a:ext>
                </a:extLst>
              </a:tr>
            </a:tbl>
          </a:graphicData>
        </a:graphic>
      </p:graphicFrame>
      <p:sp>
        <p:nvSpPr>
          <p:cNvPr id="33" name="Rectangle 32">
            <a:extLst>
              <a:ext uri="{FF2B5EF4-FFF2-40B4-BE49-F238E27FC236}">
                <a16:creationId xmlns:a16="http://schemas.microsoft.com/office/drawing/2014/main" id="{31797F7F-B0A5-914F-A762-535932DE93EC}"/>
              </a:ext>
            </a:extLst>
          </p:cNvPr>
          <p:cNvSpPr/>
          <p:nvPr/>
        </p:nvSpPr>
        <p:spPr>
          <a:xfrm>
            <a:off x="5344318" y="950440"/>
            <a:ext cx="1670801" cy="1627814"/>
          </a:xfrm>
          <a:prstGeom prst="rect">
            <a:avLst/>
          </a:prstGeom>
          <a:solidFill>
            <a:srgbClr val="FFF469"/>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dirty="0">
              <a:latin typeface="Arial" panose="020B0604020202020204" pitchFamily="34" charset="0"/>
            </a:endParaRPr>
          </a:p>
        </p:txBody>
      </p:sp>
      <p:sp>
        <p:nvSpPr>
          <p:cNvPr id="34" name="Rectangle 33">
            <a:extLst>
              <a:ext uri="{FF2B5EF4-FFF2-40B4-BE49-F238E27FC236}">
                <a16:creationId xmlns:a16="http://schemas.microsoft.com/office/drawing/2014/main" id="{18C62EA1-7807-4C4E-95B8-C079DF5A2A65}"/>
              </a:ext>
            </a:extLst>
          </p:cNvPr>
          <p:cNvSpPr/>
          <p:nvPr/>
        </p:nvSpPr>
        <p:spPr>
          <a:xfrm>
            <a:off x="5344318" y="2772232"/>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dirty="0">
              <a:latin typeface="Arial" panose="020B0604020202020204" pitchFamily="34" charset="0"/>
            </a:endParaRPr>
          </a:p>
        </p:txBody>
      </p:sp>
      <p:sp>
        <p:nvSpPr>
          <p:cNvPr id="35" name="Rectangle 34">
            <a:extLst>
              <a:ext uri="{FF2B5EF4-FFF2-40B4-BE49-F238E27FC236}">
                <a16:creationId xmlns:a16="http://schemas.microsoft.com/office/drawing/2014/main" id="{245E5F84-EEEF-1241-85B4-310D4A7B566B}"/>
              </a:ext>
            </a:extLst>
          </p:cNvPr>
          <p:cNvSpPr/>
          <p:nvPr/>
        </p:nvSpPr>
        <p:spPr>
          <a:xfrm>
            <a:off x="3548312" y="958750"/>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dirty="0">
              <a:latin typeface="Arial" panose="020B0604020202020204" pitchFamily="34" charset="0"/>
            </a:endParaRPr>
          </a:p>
        </p:txBody>
      </p:sp>
      <p:sp>
        <p:nvSpPr>
          <p:cNvPr id="36" name="Rectangle 35">
            <a:extLst>
              <a:ext uri="{FF2B5EF4-FFF2-40B4-BE49-F238E27FC236}">
                <a16:creationId xmlns:a16="http://schemas.microsoft.com/office/drawing/2014/main" id="{74773181-4887-1341-B793-B6A2A79DFFAF}"/>
              </a:ext>
            </a:extLst>
          </p:cNvPr>
          <p:cNvSpPr/>
          <p:nvPr/>
        </p:nvSpPr>
        <p:spPr>
          <a:xfrm>
            <a:off x="3594030" y="2772232"/>
            <a:ext cx="1625084"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dirty="0">
              <a:latin typeface="Arial" panose="020B0604020202020204" pitchFamily="34" charset="0"/>
            </a:endParaRPr>
          </a:p>
        </p:txBody>
      </p:sp>
      <p:sp>
        <p:nvSpPr>
          <p:cNvPr id="2" name="Rectangle 1">
            <a:extLst>
              <a:ext uri="{FF2B5EF4-FFF2-40B4-BE49-F238E27FC236}">
                <a16:creationId xmlns:a16="http://schemas.microsoft.com/office/drawing/2014/main" id="{6D2B671F-477F-A24C-6889-63F6724AAA54}"/>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4" name="Rectangle 3">
            <a:extLst>
              <a:ext uri="{FF2B5EF4-FFF2-40B4-BE49-F238E27FC236}">
                <a16:creationId xmlns:a16="http://schemas.microsoft.com/office/drawing/2014/main" id="{8D84A4B2-28BF-4247-E806-781D2296C84A}"/>
              </a:ext>
            </a:extLst>
          </p:cNvPr>
          <p:cNvSpPr/>
          <p:nvPr/>
        </p:nvSpPr>
        <p:spPr>
          <a:xfrm>
            <a:off x="243567" y="6618740"/>
            <a:ext cx="9776012" cy="461665"/>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List all the tasks you have on your mind- from big projects to small ones (such as buying pet food). Then, plot each of them on the impact/easy chart. The items in the upper right corner are your most important priorities. </a:t>
            </a:r>
          </a:p>
        </p:txBody>
      </p:sp>
      <p:sp>
        <p:nvSpPr>
          <p:cNvPr id="5" name="Title 3">
            <a:extLst>
              <a:ext uri="{FF2B5EF4-FFF2-40B4-BE49-F238E27FC236}">
                <a16:creationId xmlns:a16="http://schemas.microsoft.com/office/drawing/2014/main" id="{D0A08A70-A336-C85D-D2DF-D04A62857037}"/>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spTree>
    <p:extLst>
      <p:ext uri="{BB962C8B-B14F-4D97-AF65-F5344CB8AC3E}">
        <p14:creationId xmlns:p14="http://schemas.microsoft.com/office/powerpoint/2010/main" val="1079745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Description automatically generated">
            <a:extLst>
              <a:ext uri="{FF2B5EF4-FFF2-40B4-BE49-F238E27FC236}">
                <a16:creationId xmlns:a16="http://schemas.microsoft.com/office/drawing/2014/main" id="{C9FDBC0B-2503-A92B-C141-F7A61D0E28A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6776" b="27511"/>
          <a:stretch/>
        </p:blipFill>
        <p:spPr>
          <a:xfrm>
            <a:off x="52754" y="71614"/>
            <a:ext cx="3774984" cy="417892"/>
          </a:xfrm>
          <a:prstGeom prst="rect">
            <a:avLst/>
          </a:prstGeom>
        </p:spPr>
      </p:pic>
      <p:sp>
        <p:nvSpPr>
          <p:cNvPr id="18" name="Rectangle 17">
            <a:extLst>
              <a:ext uri="{FF2B5EF4-FFF2-40B4-BE49-F238E27FC236}">
                <a16:creationId xmlns:a16="http://schemas.microsoft.com/office/drawing/2014/main" id="{FFB30D58-611A-6F53-43D5-5857BE8B7748}"/>
              </a:ext>
            </a:extLst>
          </p:cNvPr>
          <p:cNvSpPr/>
          <p:nvPr/>
        </p:nvSpPr>
        <p:spPr>
          <a:xfrm>
            <a:off x="330124" y="1243556"/>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1.</a:t>
            </a:r>
          </a:p>
        </p:txBody>
      </p:sp>
      <p:sp>
        <p:nvSpPr>
          <p:cNvPr id="19" name="Rectangle 18">
            <a:extLst>
              <a:ext uri="{FF2B5EF4-FFF2-40B4-BE49-F238E27FC236}">
                <a16:creationId xmlns:a16="http://schemas.microsoft.com/office/drawing/2014/main" id="{0883B062-0E70-B607-4AB2-FF7C6105FBC5}"/>
              </a:ext>
            </a:extLst>
          </p:cNvPr>
          <p:cNvSpPr/>
          <p:nvPr/>
        </p:nvSpPr>
        <p:spPr>
          <a:xfrm>
            <a:off x="330124" y="1614298"/>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2.</a:t>
            </a:r>
          </a:p>
        </p:txBody>
      </p:sp>
      <p:sp>
        <p:nvSpPr>
          <p:cNvPr id="20" name="Rectangle 19">
            <a:extLst>
              <a:ext uri="{FF2B5EF4-FFF2-40B4-BE49-F238E27FC236}">
                <a16:creationId xmlns:a16="http://schemas.microsoft.com/office/drawing/2014/main" id="{6B844362-27ED-BD13-3564-0FAC324395EB}"/>
              </a:ext>
            </a:extLst>
          </p:cNvPr>
          <p:cNvSpPr/>
          <p:nvPr/>
        </p:nvSpPr>
        <p:spPr>
          <a:xfrm>
            <a:off x="330124" y="1985041"/>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3.</a:t>
            </a:r>
          </a:p>
        </p:txBody>
      </p:sp>
      <p:sp>
        <p:nvSpPr>
          <p:cNvPr id="21" name="Rectangle 20">
            <a:extLst>
              <a:ext uri="{FF2B5EF4-FFF2-40B4-BE49-F238E27FC236}">
                <a16:creationId xmlns:a16="http://schemas.microsoft.com/office/drawing/2014/main" id="{F7AABE37-7B55-DE02-75CC-6956CCA8FD06}"/>
              </a:ext>
            </a:extLst>
          </p:cNvPr>
          <p:cNvSpPr/>
          <p:nvPr/>
        </p:nvSpPr>
        <p:spPr>
          <a:xfrm>
            <a:off x="330124" y="822900"/>
            <a:ext cx="4330776" cy="335690"/>
          </a:xfrm>
          <a:prstGeom prst="rect">
            <a:avLst/>
          </a:prstGeom>
          <a:solidFill>
            <a:srgbClr val="FFF469"/>
          </a:solidFill>
          <a:ln w="12700">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1. THE ONE:  </a:t>
            </a:r>
          </a:p>
        </p:txBody>
      </p:sp>
      <p:sp>
        <p:nvSpPr>
          <p:cNvPr id="22" name="Rectangle 21">
            <a:extLst>
              <a:ext uri="{FF2B5EF4-FFF2-40B4-BE49-F238E27FC236}">
                <a16:creationId xmlns:a16="http://schemas.microsoft.com/office/drawing/2014/main" id="{B28EFAF0-D852-72BC-DDA1-EE3F5B54D6FA}"/>
              </a:ext>
            </a:extLst>
          </p:cNvPr>
          <p:cNvSpPr/>
          <p:nvPr/>
        </p:nvSpPr>
        <p:spPr>
          <a:xfrm>
            <a:off x="330124" y="3034031"/>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1.</a:t>
            </a:r>
          </a:p>
        </p:txBody>
      </p:sp>
      <p:sp>
        <p:nvSpPr>
          <p:cNvPr id="23" name="Rectangle 22">
            <a:extLst>
              <a:ext uri="{FF2B5EF4-FFF2-40B4-BE49-F238E27FC236}">
                <a16:creationId xmlns:a16="http://schemas.microsoft.com/office/drawing/2014/main" id="{3F3DD3BC-0CAE-F052-A464-E17F67926691}"/>
              </a:ext>
            </a:extLst>
          </p:cNvPr>
          <p:cNvSpPr/>
          <p:nvPr/>
        </p:nvSpPr>
        <p:spPr>
          <a:xfrm>
            <a:off x="330124" y="3404773"/>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2.</a:t>
            </a:r>
          </a:p>
        </p:txBody>
      </p:sp>
      <p:sp>
        <p:nvSpPr>
          <p:cNvPr id="24" name="Rectangle 23">
            <a:extLst>
              <a:ext uri="{FF2B5EF4-FFF2-40B4-BE49-F238E27FC236}">
                <a16:creationId xmlns:a16="http://schemas.microsoft.com/office/drawing/2014/main" id="{64DE4692-35E5-9336-DB6F-6A0A155853EA}"/>
              </a:ext>
            </a:extLst>
          </p:cNvPr>
          <p:cNvSpPr/>
          <p:nvPr/>
        </p:nvSpPr>
        <p:spPr>
          <a:xfrm>
            <a:off x="330124" y="3775516"/>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3.</a:t>
            </a:r>
          </a:p>
        </p:txBody>
      </p:sp>
      <p:sp>
        <p:nvSpPr>
          <p:cNvPr id="25" name="Rectangle 24">
            <a:extLst>
              <a:ext uri="{FF2B5EF4-FFF2-40B4-BE49-F238E27FC236}">
                <a16:creationId xmlns:a16="http://schemas.microsoft.com/office/drawing/2014/main" id="{D45C101E-CD0E-188D-C1AF-719037F1F576}"/>
              </a:ext>
            </a:extLst>
          </p:cNvPr>
          <p:cNvSpPr/>
          <p:nvPr/>
        </p:nvSpPr>
        <p:spPr>
          <a:xfrm>
            <a:off x="330124" y="2613375"/>
            <a:ext cx="4330776" cy="335690"/>
          </a:xfrm>
          <a:prstGeom prst="rect">
            <a:avLst/>
          </a:prstGeom>
          <a:noFill/>
          <a:ln w="12700">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2. SECOND MOST IMPORTANT:</a:t>
            </a:r>
          </a:p>
        </p:txBody>
      </p:sp>
      <p:sp>
        <p:nvSpPr>
          <p:cNvPr id="26" name="Rectangle 25">
            <a:extLst>
              <a:ext uri="{FF2B5EF4-FFF2-40B4-BE49-F238E27FC236}">
                <a16:creationId xmlns:a16="http://schemas.microsoft.com/office/drawing/2014/main" id="{047C89B4-7DEA-3BF0-0863-21816DEB1166}"/>
              </a:ext>
            </a:extLst>
          </p:cNvPr>
          <p:cNvSpPr/>
          <p:nvPr/>
        </p:nvSpPr>
        <p:spPr>
          <a:xfrm>
            <a:off x="330124" y="4862492"/>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1.</a:t>
            </a:r>
          </a:p>
        </p:txBody>
      </p:sp>
      <p:sp>
        <p:nvSpPr>
          <p:cNvPr id="27" name="Rectangle 26">
            <a:extLst>
              <a:ext uri="{FF2B5EF4-FFF2-40B4-BE49-F238E27FC236}">
                <a16:creationId xmlns:a16="http://schemas.microsoft.com/office/drawing/2014/main" id="{2F528BDD-D89A-E1A7-E79D-492C44385768}"/>
              </a:ext>
            </a:extLst>
          </p:cNvPr>
          <p:cNvSpPr/>
          <p:nvPr/>
        </p:nvSpPr>
        <p:spPr>
          <a:xfrm>
            <a:off x="330124" y="5233234"/>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2.</a:t>
            </a:r>
          </a:p>
        </p:txBody>
      </p:sp>
      <p:sp>
        <p:nvSpPr>
          <p:cNvPr id="28" name="Rectangle 27">
            <a:extLst>
              <a:ext uri="{FF2B5EF4-FFF2-40B4-BE49-F238E27FC236}">
                <a16:creationId xmlns:a16="http://schemas.microsoft.com/office/drawing/2014/main" id="{364098A7-41B3-C331-9A27-B57A458B17B7}"/>
              </a:ext>
            </a:extLst>
          </p:cNvPr>
          <p:cNvSpPr/>
          <p:nvPr/>
        </p:nvSpPr>
        <p:spPr>
          <a:xfrm>
            <a:off x="330124" y="5603977"/>
            <a:ext cx="4330778" cy="335690"/>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Arial" panose="020B0604020202020204" pitchFamily="34" charset="0"/>
                <a:ea typeface="Riforma LL" panose="020B0504020101020102" pitchFamily="34" charset="77"/>
                <a:cs typeface="Arial" panose="020B0604020202020204" pitchFamily="34" charset="0"/>
              </a:rPr>
              <a:t>3.</a:t>
            </a:r>
          </a:p>
        </p:txBody>
      </p:sp>
      <p:sp>
        <p:nvSpPr>
          <p:cNvPr id="29" name="Rectangle 28">
            <a:extLst>
              <a:ext uri="{FF2B5EF4-FFF2-40B4-BE49-F238E27FC236}">
                <a16:creationId xmlns:a16="http://schemas.microsoft.com/office/drawing/2014/main" id="{61A316A8-0888-640A-AD26-8EC89704AF4E}"/>
              </a:ext>
            </a:extLst>
          </p:cNvPr>
          <p:cNvSpPr/>
          <p:nvPr/>
        </p:nvSpPr>
        <p:spPr>
          <a:xfrm>
            <a:off x="330124" y="4441836"/>
            <a:ext cx="4330776" cy="335690"/>
          </a:xfrm>
          <a:prstGeom prst="rect">
            <a:avLst/>
          </a:prstGeom>
          <a:noFill/>
          <a:ln w="12700">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3. THIRD MOST IMPORTANT:</a:t>
            </a:r>
          </a:p>
        </p:txBody>
      </p:sp>
      <p:graphicFrame>
        <p:nvGraphicFramePr>
          <p:cNvPr id="31" name="Table 30">
            <a:extLst>
              <a:ext uri="{FF2B5EF4-FFF2-40B4-BE49-F238E27FC236}">
                <a16:creationId xmlns:a16="http://schemas.microsoft.com/office/drawing/2014/main" id="{0058289E-634E-DA0F-029D-180DB0EB042B}"/>
              </a:ext>
            </a:extLst>
          </p:cNvPr>
          <p:cNvGraphicFramePr>
            <a:graphicFrameLocks noGrp="1"/>
          </p:cNvGraphicFramePr>
          <p:nvPr>
            <p:extLst>
              <p:ext uri="{D42A27DB-BD31-4B8C-83A1-F6EECF244321}">
                <p14:modId xmlns:p14="http://schemas.microsoft.com/office/powerpoint/2010/main" val="3010242412"/>
              </p:ext>
            </p:extLst>
          </p:nvPr>
        </p:nvGraphicFramePr>
        <p:xfrm>
          <a:off x="4942118" y="811567"/>
          <a:ext cx="5077459" cy="3397609"/>
        </p:xfrm>
        <a:graphic>
          <a:graphicData uri="http://schemas.openxmlformats.org/drawingml/2006/table">
            <a:tbl>
              <a:tblPr>
                <a:tableStyleId>{F5AB1C69-6EDB-4FF4-983F-18BD219EF322}</a:tableStyleId>
              </a:tblPr>
              <a:tblGrid>
                <a:gridCol w="1319538">
                  <a:extLst>
                    <a:ext uri="{9D8B030D-6E8A-4147-A177-3AD203B41FA5}">
                      <a16:colId xmlns:a16="http://schemas.microsoft.com/office/drawing/2014/main" val="2283365220"/>
                    </a:ext>
                  </a:extLst>
                </a:gridCol>
                <a:gridCol w="3757921">
                  <a:extLst>
                    <a:ext uri="{9D8B030D-6E8A-4147-A177-3AD203B41FA5}">
                      <a16:colId xmlns:a16="http://schemas.microsoft.com/office/drawing/2014/main" val="3714886290"/>
                    </a:ext>
                  </a:extLst>
                </a:gridCol>
              </a:tblGrid>
              <a:tr h="290734">
                <a:tc gridSpan="2">
                  <a:txBody>
                    <a:bodyPr/>
                    <a:lstStyle/>
                    <a:p>
                      <a:r>
                        <a:rPr lang="en-US" sz="1200" b="1" dirty="0">
                          <a:solidFill>
                            <a:schemeClr val="tx1"/>
                          </a:solidFill>
                          <a:latin typeface="Arial" panose="020B0604020202020204" pitchFamily="34" charset="0"/>
                          <a:ea typeface="Riforma LL" panose="020B0504020101020102" pitchFamily="34" charset="77"/>
                          <a:cs typeface="Arial" panose="020B0604020202020204" pitchFamily="34" charset="0"/>
                          <a:sym typeface="PF Square Sans Pro"/>
                        </a:rPr>
                        <a:t>GOLD HOUR SCHEDULING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hMerge="1">
                  <a:txBody>
                    <a:bodyPr/>
                    <a:lstStyle/>
                    <a:p>
                      <a:endParaRPr lang="en-BG"/>
                    </a:p>
                  </a:txBody>
                  <a:tcPr/>
                </a:tc>
                <a:extLst>
                  <a:ext uri="{0D108BD9-81ED-4DB2-BD59-A6C34878D82A}">
                    <a16:rowId xmlns:a16="http://schemas.microsoft.com/office/drawing/2014/main" val="422084447"/>
                  </a:ext>
                </a:extLst>
              </a:tr>
              <a:tr h="621375">
                <a:tc>
                  <a:txBody>
                    <a:bodyPr/>
                    <a:lstStyle/>
                    <a:p>
                      <a:r>
                        <a:rPr lang="en-US" sz="1400" b="0" i="0" dirty="0">
                          <a:solidFill>
                            <a:schemeClr val="bg1"/>
                          </a:solidFill>
                          <a:effectLst/>
                          <a:latin typeface="Arial" panose="020B0604020202020204" pitchFamily="34" charset="0"/>
                        </a:rPr>
                        <a:t>Monday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r h="621375">
                <a:tc>
                  <a:txBody>
                    <a:bodyPr/>
                    <a:lstStyle/>
                    <a:p>
                      <a:r>
                        <a:rPr lang="en-US" sz="1400" b="0" i="0" dirty="0">
                          <a:solidFill>
                            <a:schemeClr val="bg1"/>
                          </a:solidFill>
                          <a:effectLst/>
                          <a:latin typeface="Arial" panose="020B0604020202020204" pitchFamily="34" charset="0"/>
                        </a:rPr>
                        <a:t>Tuesday</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9399555"/>
                  </a:ext>
                </a:extLst>
              </a:tr>
              <a:tr h="621375">
                <a:tc>
                  <a:txBody>
                    <a:bodyPr/>
                    <a:lstStyle/>
                    <a:p>
                      <a:r>
                        <a:rPr lang="en-US" sz="1400" b="0" i="0" dirty="0">
                          <a:solidFill>
                            <a:schemeClr val="bg1"/>
                          </a:solidFill>
                          <a:effectLst/>
                          <a:latin typeface="Arial" panose="020B0604020202020204" pitchFamily="34" charset="0"/>
                        </a:rPr>
                        <a:t>Wednesday</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3816231"/>
                  </a:ext>
                </a:extLst>
              </a:tr>
              <a:tr h="621375">
                <a:tc>
                  <a:txBody>
                    <a:bodyPr/>
                    <a:lstStyle/>
                    <a:p>
                      <a:r>
                        <a:rPr lang="en-US" sz="1400" b="0" i="0" dirty="0">
                          <a:solidFill>
                            <a:schemeClr val="bg1"/>
                          </a:solidFill>
                          <a:effectLst/>
                          <a:latin typeface="Arial" panose="020B0604020202020204" pitchFamily="34" charset="0"/>
                        </a:rPr>
                        <a:t>Thursday</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5975148"/>
                  </a:ext>
                </a:extLst>
              </a:tr>
              <a:tr h="621375">
                <a:tc>
                  <a:txBody>
                    <a:bodyPr/>
                    <a:lstStyle/>
                    <a:p>
                      <a:r>
                        <a:rPr lang="en-US" sz="1400" b="0" i="0" dirty="0">
                          <a:solidFill>
                            <a:schemeClr val="bg1"/>
                          </a:solidFill>
                          <a:effectLst/>
                          <a:latin typeface="Arial" panose="020B0604020202020204" pitchFamily="34" charset="0"/>
                        </a:rPr>
                        <a:t>Friday</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9729189"/>
                  </a:ext>
                </a:extLst>
              </a:tr>
            </a:tbl>
          </a:graphicData>
        </a:graphic>
      </p:graphicFrame>
      <p:sp>
        <p:nvSpPr>
          <p:cNvPr id="32" name="Rectangle 31">
            <a:extLst>
              <a:ext uri="{FF2B5EF4-FFF2-40B4-BE49-F238E27FC236}">
                <a16:creationId xmlns:a16="http://schemas.microsoft.com/office/drawing/2014/main" id="{9452F30F-3E03-C428-4DCE-F3DFCD697FE8}"/>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37" name="Rectangle 36">
            <a:extLst>
              <a:ext uri="{FF2B5EF4-FFF2-40B4-BE49-F238E27FC236}">
                <a16:creationId xmlns:a16="http://schemas.microsoft.com/office/drawing/2014/main" id="{86687078-955A-F7E5-87E3-384060230D51}"/>
              </a:ext>
            </a:extLst>
          </p:cNvPr>
          <p:cNvSpPr/>
          <p:nvPr/>
        </p:nvSpPr>
        <p:spPr>
          <a:xfrm>
            <a:off x="243567" y="6618740"/>
            <a:ext cx="9776012" cy="1015663"/>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Break down your top 3 priorities for the week. For each priority, list 3 smaller, actionable steps that you can accomplish throughout the week. Use the "Gold Hour Scheduling" section to allocate time blocks each day to focus on these key tasks. Aim to schedule your most important tasks during your peak productivity times. Fill out this plan at the start of each week. Then, review your progress at the end of the week, adjusting your approach as needed for the following week. Dedicate 5 minutes in the morning and evening to reflections.</a:t>
            </a: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p:txBody>
      </p:sp>
      <p:sp>
        <p:nvSpPr>
          <p:cNvPr id="38" name="Title 3">
            <a:extLst>
              <a:ext uri="{FF2B5EF4-FFF2-40B4-BE49-F238E27FC236}">
                <a16:creationId xmlns:a16="http://schemas.microsoft.com/office/drawing/2014/main" id="{D5706A60-848C-38DD-2C4B-ECE7D4E8EDF5}"/>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graphicFrame>
        <p:nvGraphicFramePr>
          <p:cNvPr id="2" name="Table 1">
            <a:extLst>
              <a:ext uri="{FF2B5EF4-FFF2-40B4-BE49-F238E27FC236}">
                <a16:creationId xmlns:a16="http://schemas.microsoft.com/office/drawing/2014/main" id="{12C47FE2-4261-8BB0-CF43-5A57D7C2C1A5}"/>
              </a:ext>
            </a:extLst>
          </p:cNvPr>
          <p:cNvGraphicFramePr>
            <a:graphicFrameLocks noGrp="1"/>
          </p:cNvGraphicFramePr>
          <p:nvPr>
            <p:extLst>
              <p:ext uri="{D42A27DB-BD31-4B8C-83A1-F6EECF244321}">
                <p14:modId xmlns:p14="http://schemas.microsoft.com/office/powerpoint/2010/main" val="5188651"/>
              </p:ext>
            </p:extLst>
          </p:nvPr>
        </p:nvGraphicFramePr>
        <p:xfrm>
          <a:off x="4942119" y="4438887"/>
          <a:ext cx="5077460" cy="1526476"/>
        </p:xfrm>
        <a:graphic>
          <a:graphicData uri="http://schemas.openxmlformats.org/drawingml/2006/table">
            <a:tbl>
              <a:tblPr>
                <a:tableStyleId>{F5AB1C69-6EDB-4FF4-983F-18BD219EF322}</a:tableStyleId>
              </a:tblPr>
              <a:tblGrid>
                <a:gridCol w="5077460">
                  <a:extLst>
                    <a:ext uri="{9D8B030D-6E8A-4147-A177-3AD203B41FA5}">
                      <a16:colId xmlns:a16="http://schemas.microsoft.com/office/drawing/2014/main" val="2283365220"/>
                    </a:ext>
                  </a:extLst>
                </a:gridCol>
              </a:tblGrid>
              <a:tr h="3290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Arial" panose="020B0604020202020204" pitchFamily="34" charset="0"/>
                          <a:ea typeface="Riforma LL" panose="020B0504020101020102" pitchFamily="34" charset="77"/>
                          <a:cs typeface="Arial" panose="020B0604020202020204" pitchFamily="34" charset="0"/>
                        </a:rPr>
                        <a:t>EVENING REFLECTION </a:t>
                      </a:r>
                      <a:endParaRPr lang="en-BG" sz="1200" b="1" kern="1200" noProof="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68363067"/>
                  </a:ext>
                </a:extLst>
              </a:tr>
              <a:tr h="531491">
                <a:tc>
                  <a:txBody>
                    <a:bodyPr/>
                    <a:lstStyle/>
                    <a:p>
                      <a:r>
                        <a:rPr lang="en-GB" sz="1200" dirty="0">
                          <a:latin typeface="Arial Rounded MT Bold" panose="020F0704030504030204" pitchFamily="34" charset="77"/>
                        </a:rPr>
                        <a:t>What went well today? What broke your focus, and how can you prevent it tomorrow? Did you experience flow? If not, why?</a:t>
                      </a:r>
                      <a:endParaRPr lang="en-US" sz="1200" dirty="0">
                        <a:effectLst/>
                        <a:latin typeface="Arial Rounded MT Bold" panose="020F0704030504030204" pitchFamily="34" charset="77"/>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65930">
                <a:tc>
                  <a:txBody>
                    <a:bodyPr/>
                    <a:lstStyle/>
                    <a:p>
                      <a:endParaRPr lang="en-US" sz="1200" b="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bl>
          </a:graphicData>
        </a:graphic>
      </p:graphicFrame>
    </p:spTree>
    <p:extLst>
      <p:ext uri="{BB962C8B-B14F-4D97-AF65-F5344CB8AC3E}">
        <p14:creationId xmlns:p14="http://schemas.microsoft.com/office/powerpoint/2010/main" val="3526061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ack and white sign with black text&#10;&#10;Description automatically generated">
            <a:extLst>
              <a:ext uri="{FF2B5EF4-FFF2-40B4-BE49-F238E27FC236}">
                <a16:creationId xmlns:a16="http://schemas.microsoft.com/office/drawing/2014/main" id="{A18DE577-8A86-4B6D-C647-770772556796}"/>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t="17170"/>
          <a:stretch/>
        </p:blipFill>
        <p:spPr>
          <a:xfrm>
            <a:off x="116112" y="50800"/>
            <a:ext cx="5864692" cy="653133"/>
          </a:xfrm>
          <a:prstGeom prst="rect">
            <a:avLst/>
          </a:prstGeom>
        </p:spPr>
      </p:pic>
      <p:cxnSp>
        <p:nvCxnSpPr>
          <p:cNvPr id="6" name="Straight Arrow Connector 5">
            <a:extLst>
              <a:ext uri="{FF2B5EF4-FFF2-40B4-BE49-F238E27FC236}">
                <a16:creationId xmlns:a16="http://schemas.microsoft.com/office/drawing/2014/main" id="{87050140-88CA-844B-84F3-418CAD21CCD8}"/>
              </a:ext>
            </a:extLst>
          </p:cNvPr>
          <p:cNvCxnSpPr>
            <a:cxnSpLocks/>
          </p:cNvCxnSpPr>
          <p:nvPr/>
        </p:nvCxnSpPr>
        <p:spPr>
          <a:xfrm>
            <a:off x="1566689" y="5797153"/>
            <a:ext cx="7555260" cy="0"/>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2D2AD39-BBC0-234E-8766-564AC312E0E9}"/>
              </a:ext>
            </a:extLst>
          </p:cNvPr>
          <p:cNvCxnSpPr>
            <a:cxnSpLocks/>
          </p:cNvCxnSpPr>
          <p:nvPr/>
        </p:nvCxnSpPr>
        <p:spPr>
          <a:xfrm flipV="1">
            <a:off x="1566689" y="758123"/>
            <a:ext cx="0" cy="5039030"/>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255D434-ECA6-2143-99AC-438ED413394E}"/>
              </a:ext>
            </a:extLst>
          </p:cNvPr>
          <p:cNvCxnSpPr>
            <a:cxnSpLocks/>
            <a:endCxn id="10" idx="0"/>
          </p:cNvCxnSpPr>
          <p:nvPr/>
        </p:nvCxnSpPr>
        <p:spPr>
          <a:xfrm>
            <a:off x="5166057" y="973337"/>
            <a:ext cx="28133" cy="482509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B5833B0-5102-0B45-9D29-5675893C0196}"/>
              </a:ext>
            </a:extLst>
          </p:cNvPr>
          <p:cNvCxnSpPr>
            <a:cxnSpLocks/>
          </p:cNvCxnSpPr>
          <p:nvPr/>
        </p:nvCxnSpPr>
        <p:spPr>
          <a:xfrm flipH="1">
            <a:off x="1744968" y="3366940"/>
            <a:ext cx="6729786" cy="0"/>
          </a:xfrm>
          <a:prstGeom prst="line">
            <a:avLst/>
          </a:prstGeom>
          <a:ln>
            <a:solidFill>
              <a:srgbClr val="3D233B"/>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CFCEF19-5F7D-764F-9F73-16104D9A80FF}"/>
              </a:ext>
            </a:extLst>
          </p:cNvPr>
          <p:cNvSpPr txBox="1"/>
          <p:nvPr/>
        </p:nvSpPr>
        <p:spPr>
          <a:xfrm>
            <a:off x="2730598" y="5798431"/>
            <a:ext cx="4927183" cy="338554"/>
          </a:xfrm>
          <a:prstGeom prst="rect">
            <a:avLst/>
          </a:prstGeom>
          <a:noFill/>
        </p:spPr>
        <p:txBody>
          <a:bodyPr wrap="square" rtlCol="0">
            <a:spAutoFit/>
          </a:bodyPr>
          <a:lstStyle/>
          <a:p>
            <a:pPr algn="ctr"/>
            <a:r>
              <a:rPr lang="en-US" sz="16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Proficiency  </a:t>
            </a:r>
          </a:p>
        </p:txBody>
      </p:sp>
      <p:sp>
        <p:nvSpPr>
          <p:cNvPr id="11" name="TextBox 10">
            <a:extLst>
              <a:ext uri="{FF2B5EF4-FFF2-40B4-BE49-F238E27FC236}">
                <a16:creationId xmlns:a16="http://schemas.microsoft.com/office/drawing/2014/main" id="{8D424980-0179-A749-932D-C1DB94D7F3DF}"/>
              </a:ext>
            </a:extLst>
          </p:cNvPr>
          <p:cNvSpPr txBox="1"/>
          <p:nvPr/>
        </p:nvSpPr>
        <p:spPr>
          <a:xfrm rot="16200000">
            <a:off x="724484" y="3107574"/>
            <a:ext cx="1167579" cy="338554"/>
          </a:xfrm>
          <a:prstGeom prst="rect">
            <a:avLst/>
          </a:prstGeom>
          <a:noFill/>
        </p:spPr>
        <p:txBody>
          <a:bodyPr wrap="square" rtlCol="0">
            <a:spAutoFit/>
          </a:bodyPr>
          <a:lstStyle/>
          <a:p>
            <a:pPr algn="ctr"/>
            <a:r>
              <a:rPr lang="en-US" sz="16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Passion</a:t>
            </a:r>
          </a:p>
        </p:txBody>
      </p:sp>
      <p:sp>
        <p:nvSpPr>
          <p:cNvPr id="14" name="Rectangle 13">
            <a:extLst>
              <a:ext uri="{FF2B5EF4-FFF2-40B4-BE49-F238E27FC236}">
                <a16:creationId xmlns:a16="http://schemas.microsoft.com/office/drawing/2014/main" id="{58669060-1A72-7B43-841C-76E627AB8CFC}"/>
              </a:ext>
            </a:extLst>
          </p:cNvPr>
          <p:cNvSpPr/>
          <p:nvPr/>
        </p:nvSpPr>
        <p:spPr>
          <a:xfrm>
            <a:off x="1801578" y="1055000"/>
            <a:ext cx="3163343" cy="222185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400" dirty="0">
              <a:latin typeface="Arial" panose="020B0604020202020204" pitchFamily="34" charset="0"/>
            </a:endParaRPr>
          </a:p>
        </p:txBody>
      </p:sp>
      <p:sp>
        <p:nvSpPr>
          <p:cNvPr id="22" name="Rectangle 21">
            <a:extLst>
              <a:ext uri="{FF2B5EF4-FFF2-40B4-BE49-F238E27FC236}">
                <a16:creationId xmlns:a16="http://schemas.microsoft.com/office/drawing/2014/main" id="{CF0EE997-7336-9E49-B1EC-1FC812F3A84F}"/>
              </a:ext>
            </a:extLst>
          </p:cNvPr>
          <p:cNvSpPr/>
          <p:nvPr/>
        </p:nvSpPr>
        <p:spPr>
          <a:xfrm>
            <a:off x="5344318" y="1039879"/>
            <a:ext cx="3231964" cy="2221852"/>
          </a:xfrm>
          <a:prstGeom prst="rect">
            <a:avLst/>
          </a:prstGeom>
          <a:solidFill>
            <a:srgbClr val="FFF469"/>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400" dirty="0">
              <a:latin typeface="Arial" panose="020B0604020202020204" pitchFamily="34" charset="0"/>
            </a:endParaRPr>
          </a:p>
        </p:txBody>
      </p:sp>
      <p:sp>
        <p:nvSpPr>
          <p:cNvPr id="23" name="Rectangle 22">
            <a:extLst>
              <a:ext uri="{FF2B5EF4-FFF2-40B4-BE49-F238E27FC236}">
                <a16:creationId xmlns:a16="http://schemas.microsoft.com/office/drawing/2014/main" id="{8223433E-F1F7-5E4E-9463-B1D37A4B1309}"/>
              </a:ext>
            </a:extLst>
          </p:cNvPr>
          <p:cNvSpPr/>
          <p:nvPr/>
        </p:nvSpPr>
        <p:spPr>
          <a:xfrm>
            <a:off x="1824454" y="3484546"/>
            <a:ext cx="3163343" cy="222185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400" dirty="0">
              <a:latin typeface="Arial" panose="020B0604020202020204" pitchFamily="34" charset="0"/>
            </a:endParaRPr>
          </a:p>
        </p:txBody>
      </p:sp>
      <p:sp>
        <p:nvSpPr>
          <p:cNvPr id="24" name="Rectangle 23">
            <a:extLst>
              <a:ext uri="{FF2B5EF4-FFF2-40B4-BE49-F238E27FC236}">
                <a16:creationId xmlns:a16="http://schemas.microsoft.com/office/drawing/2014/main" id="{06329F0D-5706-0046-BA2E-BDE0E16A8F72}"/>
              </a:ext>
            </a:extLst>
          </p:cNvPr>
          <p:cNvSpPr/>
          <p:nvPr/>
        </p:nvSpPr>
        <p:spPr>
          <a:xfrm>
            <a:off x="5344319" y="3484546"/>
            <a:ext cx="3231964" cy="222185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400" dirty="0">
              <a:latin typeface="Arial" panose="020B0604020202020204" pitchFamily="34" charset="0"/>
            </a:endParaRPr>
          </a:p>
        </p:txBody>
      </p:sp>
      <p:sp>
        <p:nvSpPr>
          <p:cNvPr id="2" name="Rectangle 1">
            <a:extLst>
              <a:ext uri="{FF2B5EF4-FFF2-40B4-BE49-F238E27FC236}">
                <a16:creationId xmlns:a16="http://schemas.microsoft.com/office/drawing/2014/main" id="{E7FD167A-09E8-4269-F101-DDF4BECD6FE4}"/>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4" name="Rectangle 3">
            <a:extLst>
              <a:ext uri="{FF2B5EF4-FFF2-40B4-BE49-F238E27FC236}">
                <a16:creationId xmlns:a16="http://schemas.microsoft.com/office/drawing/2014/main" id="{70462404-A693-132D-5FD6-BAD331FD5FD5}"/>
              </a:ext>
            </a:extLst>
          </p:cNvPr>
          <p:cNvSpPr/>
          <p:nvPr/>
        </p:nvSpPr>
        <p:spPr>
          <a:xfrm>
            <a:off x="243567" y="6618740"/>
            <a:ext cx="9776012" cy="830997"/>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Rank the activities you need to perform daily based on how proficient and passionate you are about them. See opportunities to eliminate, cut, delegate, or reduce attention and time on unproductive activities.</a:t>
            </a:r>
          </a:p>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 </a:t>
            </a: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p:txBody>
      </p:sp>
      <p:sp>
        <p:nvSpPr>
          <p:cNvPr id="5" name="Title 3">
            <a:extLst>
              <a:ext uri="{FF2B5EF4-FFF2-40B4-BE49-F238E27FC236}">
                <a16:creationId xmlns:a16="http://schemas.microsoft.com/office/drawing/2014/main" id="{899CB42A-C7E8-E264-A642-A1C231552407}"/>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spTree>
    <p:extLst>
      <p:ext uri="{BB962C8B-B14F-4D97-AF65-F5344CB8AC3E}">
        <p14:creationId xmlns:p14="http://schemas.microsoft.com/office/powerpoint/2010/main" val="3661897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24925A-672D-7712-4BBA-68414957815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t="11992"/>
          <a:stretch/>
        </p:blipFill>
        <p:spPr>
          <a:xfrm>
            <a:off x="30983" y="65314"/>
            <a:ext cx="6330611" cy="540754"/>
          </a:xfrm>
          <a:prstGeom prst="rect">
            <a:avLst/>
          </a:prstGeom>
        </p:spPr>
      </p:pic>
      <p:graphicFrame>
        <p:nvGraphicFramePr>
          <p:cNvPr id="15" name="Table 14">
            <a:extLst>
              <a:ext uri="{FF2B5EF4-FFF2-40B4-BE49-F238E27FC236}">
                <a16:creationId xmlns:a16="http://schemas.microsoft.com/office/drawing/2014/main" id="{63714A3B-2B72-068D-DE40-0F4A80095E2D}"/>
              </a:ext>
            </a:extLst>
          </p:cNvPr>
          <p:cNvGraphicFramePr>
            <a:graphicFrameLocks noGrp="1"/>
          </p:cNvGraphicFramePr>
          <p:nvPr>
            <p:extLst>
              <p:ext uri="{D42A27DB-BD31-4B8C-83A1-F6EECF244321}">
                <p14:modId xmlns:p14="http://schemas.microsoft.com/office/powerpoint/2010/main" val="2475038492"/>
              </p:ext>
            </p:extLst>
          </p:nvPr>
        </p:nvGraphicFramePr>
        <p:xfrm>
          <a:off x="270877" y="781882"/>
          <a:ext cx="9681499" cy="1673080"/>
        </p:xfrm>
        <a:graphic>
          <a:graphicData uri="http://schemas.openxmlformats.org/drawingml/2006/table">
            <a:tbl>
              <a:tblPr>
                <a:tableStyleId>{F5AB1C69-6EDB-4FF4-983F-18BD219EF322}</a:tableStyleId>
              </a:tblPr>
              <a:tblGrid>
                <a:gridCol w="2915059">
                  <a:extLst>
                    <a:ext uri="{9D8B030D-6E8A-4147-A177-3AD203B41FA5}">
                      <a16:colId xmlns:a16="http://schemas.microsoft.com/office/drawing/2014/main" val="2283365220"/>
                    </a:ext>
                  </a:extLst>
                </a:gridCol>
                <a:gridCol w="1688260">
                  <a:extLst>
                    <a:ext uri="{9D8B030D-6E8A-4147-A177-3AD203B41FA5}">
                      <a16:colId xmlns:a16="http://schemas.microsoft.com/office/drawing/2014/main" val="4243349984"/>
                    </a:ext>
                  </a:extLst>
                </a:gridCol>
                <a:gridCol w="1648063">
                  <a:extLst>
                    <a:ext uri="{9D8B030D-6E8A-4147-A177-3AD203B41FA5}">
                      <a16:colId xmlns:a16="http://schemas.microsoft.com/office/drawing/2014/main" val="2661866856"/>
                    </a:ext>
                  </a:extLst>
                </a:gridCol>
                <a:gridCol w="1755254">
                  <a:extLst>
                    <a:ext uri="{9D8B030D-6E8A-4147-A177-3AD203B41FA5}">
                      <a16:colId xmlns:a16="http://schemas.microsoft.com/office/drawing/2014/main" val="2964438122"/>
                    </a:ext>
                  </a:extLst>
                </a:gridCol>
                <a:gridCol w="1674863">
                  <a:extLst>
                    <a:ext uri="{9D8B030D-6E8A-4147-A177-3AD203B41FA5}">
                      <a16:colId xmlns:a16="http://schemas.microsoft.com/office/drawing/2014/main" val="386513823"/>
                    </a:ext>
                  </a:extLst>
                </a:gridCol>
              </a:tblGrid>
              <a:tr h="29154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dirty="0">
                          <a:solidFill>
                            <a:schemeClr val="bg1"/>
                          </a:solidFill>
                          <a:latin typeface="Arial" panose="020B0604020202020204" pitchFamily="34" charset="0"/>
                          <a:ea typeface="Riforma LL" panose="020B0504020101020102" pitchFamily="34" charset="77"/>
                          <a:cs typeface="Arial" panose="020B0604020202020204" pitchFamily="34" charset="0"/>
                        </a:rPr>
                        <a:t>Low</a:t>
                      </a:r>
                      <a:r>
                        <a:rPr kumimoji="0" lang="en-BG"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77"/>
                          <a:cs typeface="Arial" panose="020B0604020202020204" pitchFamily="34" charset="0"/>
                        </a:rPr>
                        <a:t> proficiency, low passion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Say NO</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Delegate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Automate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Limit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68363067"/>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9756768"/>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bl>
          </a:graphicData>
        </a:graphic>
      </p:graphicFrame>
      <p:graphicFrame>
        <p:nvGraphicFramePr>
          <p:cNvPr id="16" name="Table 15">
            <a:extLst>
              <a:ext uri="{FF2B5EF4-FFF2-40B4-BE49-F238E27FC236}">
                <a16:creationId xmlns:a16="http://schemas.microsoft.com/office/drawing/2014/main" id="{30D82E9A-9024-E907-D746-0E5A3043A380}"/>
              </a:ext>
            </a:extLst>
          </p:cNvPr>
          <p:cNvGraphicFramePr>
            <a:graphicFrameLocks noGrp="1"/>
          </p:cNvGraphicFramePr>
          <p:nvPr>
            <p:extLst>
              <p:ext uri="{D42A27DB-BD31-4B8C-83A1-F6EECF244321}">
                <p14:modId xmlns:p14="http://schemas.microsoft.com/office/powerpoint/2010/main" val="1884811853"/>
              </p:ext>
            </p:extLst>
          </p:nvPr>
        </p:nvGraphicFramePr>
        <p:xfrm>
          <a:off x="270877" y="2623519"/>
          <a:ext cx="9681499" cy="1653841"/>
        </p:xfrm>
        <a:graphic>
          <a:graphicData uri="http://schemas.openxmlformats.org/drawingml/2006/table">
            <a:tbl>
              <a:tblPr>
                <a:tableStyleId>{F5AB1C69-6EDB-4FF4-983F-18BD219EF322}</a:tableStyleId>
              </a:tblPr>
              <a:tblGrid>
                <a:gridCol w="2915059">
                  <a:extLst>
                    <a:ext uri="{9D8B030D-6E8A-4147-A177-3AD203B41FA5}">
                      <a16:colId xmlns:a16="http://schemas.microsoft.com/office/drawing/2014/main" val="2283365220"/>
                    </a:ext>
                  </a:extLst>
                </a:gridCol>
                <a:gridCol w="1688260">
                  <a:extLst>
                    <a:ext uri="{9D8B030D-6E8A-4147-A177-3AD203B41FA5}">
                      <a16:colId xmlns:a16="http://schemas.microsoft.com/office/drawing/2014/main" val="4243349984"/>
                    </a:ext>
                  </a:extLst>
                </a:gridCol>
                <a:gridCol w="1648063">
                  <a:extLst>
                    <a:ext uri="{9D8B030D-6E8A-4147-A177-3AD203B41FA5}">
                      <a16:colId xmlns:a16="http://schemas.microsoft.com/office/drawing/2014/main" val="2661866856"/>
                    </a:ext>
                  </a:extLst>
                </a:gridCol>
                <a:gridCol w="1755254">
                  <a:extLst>
                    <a:ext uri="{9D8B030D-6E8A-4147-A177-3AD203B41FA5}">
                      <a16:colId xmlns:a16="http://schemas.microsoft.com/office/drawing/2014/main" val="2964438122"/>
                    </a:ext>
                  </a:extLst>
                </a:gridCol>
                <a:gridCol w="1674863">
                  <a:extLst>
                    <a:ext uri="{9D8B030D-6E8A-4147-A177-3AD203B41FA5}">
                      <a16:colId xmlns:a16="http://schemas.microsoft.com/office/drawing/2014/main" val="386513823"/>
                    </a:ext>
                  </a:extLst>
                </a:gridCol>
              </a:tblGrid>
              <a:tr h="27230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77"/>
                          <a:cs typeface="Arial" panose="020B0604020202020204" pitchFamily="34" charset="0"/>
                        </a:rPr>
                        <a:t>High</a:t>
                      </a:r>
                      <a:r>
                        <a:rPr kumimoji="0" lang="en-BG"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77"/>
                          <a:cs typeface="Arial" panose="020B0604020202020204" pitchFamily="34" charset="0"/>
                        </a:rPr>
                        <a:t> proficiency, low passion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Say NO</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Delegate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Automate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Limit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68363067"/>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9059250"/>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bl>
          </a:graphicData>
        </a:graphic>
      </p:graphicFrame>
      <p:graphicFrame>
        <p:nvGraphicFramePr>
          <p:cNvPr id="17" name="Table 16">
            <a:extLst>
              <a:ext uri="{FF2B5EF4-FFF2-40B4-BE49-F238E27FC236}">
                <a16:creationId xmlns:a16="http://schemas.microsoft.com/office/drawing/2014/main" id="{0D2D39DF-6881-49B3-9993-504734996C66}"/>
              </a:ext>
            </a:extLst>
          </p:cNvPr>
          <p:cNvGraphicFramePr>
            <a:graphicFrameLocks noGrp="1"/>
          </p:cNvGraphicFramePr>
          <p:nvPr>
            <p:extLst>
              <p:ext uri="{D42A27DB-BD31-4B8C-83A1-F6EECF244321}">
                <p14:modId xmlns:p14="http://schemas.microsoft.com/office/powerpoint/2010/main" val="544860240"/>
              </p:ext>
            </p:extLst>
          </p:nvPr>
        </p:nvGraphicFramePr>
        <p:xfrm>
          <a:off x="270877" y="4444642"/>
          <a:ext cx="9681499" cy="1659971"/>
        </p:xfrm>
        <a:graphic>
          <a:graphicData uri="http://schemas.openxmlformats.org/drawingml/2006/table">
            <a:tbl>
              <a:tblPr>
                <a:tableStyleId>{F5AB1C69-6EDB-4FF4-983F-18BD219EF322}</a:tableStyleId>
              </a:tblPr>
              <a:tblGrid>
                <a:gridCol w="2915059">
                  <a:extLst>
                    <a:ext uri="{9D8B030D-6E8A-4147-A177-3AD203B41FA5}">
                      <a16:colId xmlns:a16="http://schemas.microsoft.com/office/drawing/2014/main" val="2283365220"/>
                    </a:ext>
                  </a:extLst>
                </a:gridCol>
                <a:gridCol w="1688260">
                  <a:extLst>
                    <a:ext uri="{9D8B030D-6E8A-4147-A177-3AD203B41FA5}">
                      <a16:colId xmlns:a16="http://schemas.microsoft.com/office/drawing/2014/main" val="4243349984"/>
                    </a:ext>
                  </a:extLst>
                </a:gridCol>
                <a:gridCol w="1648063">
                  <a:extLst>
                    <a:ext uri="{9D8B030D-6E8A-4147-A177-3AD203B41FA5}">
                      <a16:colId xmlns:a16="http://schemas.microsoft.com/office/drawing/2014/main" val="2661866856"/>
                    </a:ext>
                  </a:extLst>
                </a:gridCol>
                <a:gridCol w="1755254">
                  <a:extLst>
                    <a:ext uri="{9D8B030D-6E8A-4147-A177-3AD203B41FA5}">
                      <a16:colId xmlns:a16="http://schemas.microsoft.com/office/drawing/2014/main" val="2964438122"/>
                    </a:ext>
                  </a:extLst>
                </a:gridCol>
                <a:gridCol w="1674863">
                  <a:extLst>
                    <a:ext uri="{9D8B030D-6E8A-4147-A177-3AD203B41FA5}">
                      <a16:colId xmlns:a16="http://schemas.microsoft.com/office/drawing/2014/main" val="386513823"/>
                    </a:ext>
                  </a:extLst>
                </a:gridCol>
              </a:tblGrid>
              <a:tr h="2784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dirty="0">
                          <a:solidFill>
                            <a:schemeClr val="bg1"/>
                          </a:solidFill>
                          <a:latin typeface="Arial" panose="020B0604020202020204" pitchFamily="34" charset="0"/>
                          <a:ea typeface="Riforma LL" panose="020B0504020101020102" pitchFamily="34" charset="77"/>
                          <a:cs typeface="Arial" panose="020B0604020202020204" pitchFamily="34" charset="0"/>
                        </a:rPr>
                        <a:t>Low </a:t>
                      </a:r>
                      <a:r>
                        <a:rPr kumimoji="0" lang="en-BG"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77"/>
                          <a:cs typeface="Arial" panose="020B0604020202020204" pitchFamily="34" charset="0"/>
                        </a:rPr>
                        <a:t> proficiency, high passion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Say NO</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Delegate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Automate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sz="1200" dirty="0">
                          <a:solidFill>
                            <a:schemeClr val="bg1"/>
                          </a:solidFill>
                          <a:effectLst/>
                          <a:latin typeface="Arial" panose="020B0604020202020204" pitchFamily="34" charset="0"/>
                          <a:cs typeface="Arial" panose="020B0604020202020204" pitchFamily="34" charset="0"/>
                        </a:rPr>
                        <a:t>Limit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68363067"/>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669382"/>
                  </a:ext>
                </a:extLst>
              </a:tr>
              <a:tr h="460512">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bl>
          </a:graphicData>
        </a:graphic>
      </p:graphicFrame>
      <p:sp>
        <p:nvSpPr>
          <p:cNvPr id="19" name="Rectangle 18">
            <a:extLst>
              <a:ext uri="{FF2B5EF4-FFF2-40B4-BE49-F238E27FC236}">
                <a16:creationId xmlns:a16="http://schemas.microsoft.com/office/drawing/2014/main" id="{148D48B1-2C47-06D1-F846-ED41EC41427F}"/>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20" name="Rectangle 19">
            <a:extLst>
              <a:ext uri="{FF2B5EF4-FFF2-40B4-BE49-F238E27FC236}">
                <a16:creationId xmlns:a16="http://schemas.microsoft.com/office/drawing/2014/main" id="{043268DC-F1B7-0436-0877-BFF15C02E48B}"/>
              </a:ext>
            </a:extLst>
          </p:cNvPr>
          <p:cNvSpPr/>
          <p:nvPr/>
        </p:nvSpPr>
        <p:spPr>
          <a:xfrm>
            <a:off x="243567" y="6618740"/>
            <a:ext cx="9776012" cy="461665"/>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Identify which activities are not in the gold quadrant (see P.1 of this tool)you could completely abandon, delegate, or automate (templates, </a:t>
            </a:r>
            <a:r>
              <a:rPr lang="en-US" sz="1200" dirty="0" err="1">
                <a:solidFill>
                  <a:prstClr val="black"/>
                </a:solidFill>
                <a:latin typeface="Arial" panose="020B0604020202020204" pitchFamily="34" charset="0"/>
                <a:ea typeface="Riforma LL" panose="020B0504020101020102" pitchFamily="34" charset="77"/>
                <a:cs typeface="Arial" panose="020B0604020202020204" pitchFamily="34" charset="0"/>
              </a:rPr>
              <a:t>etc</a:t>
            </a:r>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 You could also limit your attention or time on certain nonessential tasks.</a:t>
            </a:r>
          </a:p>
        </p:txBody>
      </p:sp>
      <p:sp>
        <p:nvSpPr>
          <p:cNvPr id="21" name="Title 3">
            <a:extLst>
              <a:ext uri="{FF2B5EF4-FFF2-40B4-BE49-F238E27FC236}">
                <a16:creationId xmlns:a16="http://schemas.microsoft.com/office/drawing/2014/main" id="{7033BD9A-CE4E-234A-1DEF-A917A4A3B498}"/>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spTree>
    <p:extLst>
      <p:ext uri="{BB962C8B-B14F-4D97-AF65-F5344CB8AC3E}">
        <p14:creationId xmlns:p14="http://schemas.microsoft.com/office/powerpoint/2010/main" val="1034155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close up of a sign&#10;&#10;Description automatically generated">
            <a:extLst>
              <a:ext uri="{FF2B5EF4-FFF2-40B4-BE49-F238E27FC236}">
                <a16:creationId xmlns:a16="http://schemas.microsoft.com/office/drawing/2014/main" id="{E2CAFA9B-8148-B669-4EED-5C3E8C80FE1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1931" b="16337"/>
          <a:stretch/>
        </p:blipFill>
        <p:spPr>
          <a:xfrm>
            <a:off x="121479" y="67962"/>
            <a:ext cx="4423532" cy="426308"/>
          </a:xfrm>
          <a:prstGeom prst="rect">
            <a:avLst/>
          </a:prstGeom>
        </p:spPr>
      </p:pic>
      <p:sp>
        <p:nvSpPr>
          <p:cNvPr id="8" name="TextBox 7">
            <a:extLst>
              <a:ext uri="{FF2B5EF4-FFF2-40B4-BE49-F238E27FC236}">
                <a16:creationId xmlns:a16="http://schemas.microsoft.com/office/drawing/2014/main" id="{360C1C7F-26CA-AA82-16D3-74A6BEDAB74E}"/>
              </a:ext>
            </a:extLst>
          </p:cNvPr>
          <p:cNvSpPr txBox="1"/>
          <p:nvPr/>
        </p:nvSpPr>
        <p:spPr>
          <a:xfrm rot="16200000">
            <a:off x="-629707" y="2153161"/>
            <a:ext cx="1828802" cy="276999"/>
          </a:xfrm>
          <a:prstGeom prst="rect">
            <a:avLst/>
          </a:prstGeom>
          <a:noFill/>
        </p:spPr>
        <p:txBody>
          <a:bodyPr wrap="square" rtlCol="0">
            <a:spAutoFit/>
          </a:bodyPr>
          <a:lstStyle/>
          <a:p>
            <a:pPr algn="ctr"/>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No control</a:t>
            </a:r>
          </a:p>
        </p:txBody>
      </p:sp>
      <p:sp>
        <p:nvSpPr>
          <p:cNvPr id="10" name="TextBox 9">
            <a:extLst>
              <a:ext uri="{FF2B5EF4-FFF2-40B4-BE49-F238E27FC236}">
                <a16:creationId xmlns:a16="http://schemas.microsoft.com/office/drawing/2014/main" id="{94EECD65-B830-91CA-FFF7-223185A677F8}"/>
              </a:ext>
            </a:extLst>
          </p:cNvPr>
          <p:cNvSpPr txBox="1"/>
          <p:nvPr/>
        </p:nvSpPr>
        <p:spPr>
          <a:xfrm rot="16200000">
            <a:off x="-629710" y="4381354"/>
            <a:ext cx="1828802" cy="276999"/>
          </a:xfrm>
          <a:prstGeom prst="rect">
            <a:avLst/>
          </a:prstGeom>
          <a:noFill/>
        </p:spPr>
        <p:txBody>
          <a:bodyPr wrap="square" rtlCol="0">
            <a:spAutoFit/>
          </a:bodyPr>
          <a:lstStyle/>
          <a:p>
            <a:pPr algn="ctr"/>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Control</a:t>
            </a:r>
          </a:p>
        </p:txBody>
      </p:sp>
      <p:sp>
        <p:nvSpPr>
          <p:cNvPr id="12" name="TextBox 11">
            <a:extLst>
              <a:ext uri="{FF2B5EF4-FFF2-40B4-BE49-F238E27FC236}">
                <a16:creationId xmlns:a16="http://schemas.microsoft.com/office/drawing/2014/main" id="{8ADC67EE-B122-48B7-2D3E-924B8AAAD46D}"/>
              </a:ext>
            </a:extLst>
          </p:cNvPr>
          <p:cNvSpPr txBox="1"/>
          <p:nvPr/>
        </p:nvSpPr>
        <p:spPr>
          <a:xfrm>
            <a:off x="699810" y="852656"/>
            <a:ext cx="1828802" cy="276999"/>
          </a:xfrm>
          <a:prstGeom prst="rect">
            <a:avLst/>
          </a:prstGeom>
          <a:noFill/>
        </p:spPr>
        <p:txBody>
          <a:bodyPr wrap="square" rtlCol="0">
            <a:spAutoFit/>
          </a:bodyPr>
          <a:lstStyle/>
          <a:p>
            <a:pPr algn="ctr"/>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Annoying</a:t>
            </a:r>
          </a:p>
        </p:txBody>
      </p:sp>
      <p:sp>
        <p:nvSpPr>
          <p:cNvPr id="13" name="TextBox 12">
            <a:extLst>
              <a:ext uri="{FF2B5EF4-FFF2-40B4-BE49-F238E27FC236}">
                <a16:creationId xmlns:a16="http://schemas.microsoft.com/office/drawing/2014/main" id="{C5DE7231-88A0-1A44-00AA-F9590FAAEDE6}"/>
              </a:ext>
            </a:extLst>
          </p:cNvPr>
          <p:cNvSpPr txBox="1"/>
          <p:nvPr/>
        </p:nvSpPr>
        <p:spPr>
          <a:xfrm>
            <a:off x="2545963" y="850300"/>
            <a:ext cx="1828802" cy="276999"/>
          </a:xfrm>
          <a:prstGeom prst="rect">
            <a:avLst/>
          </a:prstGeom>
          <a:noFill/>
        </p:spPr>
        <p:txBody>
          <a:bodyPr wrap="square" rtlCol="0">
            <a:spAutoFit/>
          </a:bodyPr>
          <a:lstStyle/>
          <a:p>
            <a:pPr algn="ctr"/>
            <a:r>
              <a:rPr lang="en-US" sz="1200" dirty="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Fun</a:t>
            </a:r>
          </a:p>
        </p:txBody>
      </p:sp>
      <p:sp>
        <p:nvSpPr>
          <p:cNvPr id="14" name="Rectangle 13">
            <a:extLst>
              <a:ext uri="{FF2B5EF4-FFF2-40B4-BE49-F238E27FC236}">
                <a16:creationId xmlns:a16="http://schemas.microsoft.com/office/drawing/2014/main" id="{DF8738F7-5D0A-61A4-5C7C-AD9273757E75}"/>
              </a:ext>
            </a:extLst>
          </p:cNvPr>
          <p:cNvSpPr/>
          <p:nvPr/>
        </p:nvSpPr>
        <p:spPr>
          <a:xfrm>
            <a:off x="473973" y="1195856"/>
            <a:ext cx="1943023" cy="211615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BG" sz="1200" dirty="0">
              <a:solidFill>
                <a:schemeClr val="tx1"/>
              </a:solidFill>
              <a:latin typeface="Arial" panose="020B0604020202020204" pitchFamily="34" charset="0"/>
            </a:endParaRPr>
          </a:p>
        </p:txBody>
      </p:sp>
      <p:sp>
        <p:nvSpPr>
          <p:cNvPr id="15" name="Rectangle 14">
            <a:extLst>
              <a:ext uri="{FF2B5EF4-FFF2-40B4-BE49-F238E27FC236}">
                <a16:creationId xmlns:a16="http://schemas.microsoft.com/office/drawing/2014/main" id="{A852C1F5-9EBB-3783-D15A-65A715B269C7}"/>
              </a:ext>
            </a:extLst>
          </p:cNvPr>
          <p:cNvSpPr/>
          <p:nvPr/>
        </p:nvSpPr>
        <p:spPr>
          <a:xfrm>
            <a:off x="2528612" y="1195856"/>
            <a:ext cx="1985172" cy="211615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BG" sz="1200" dirty="0">
              <a:solidFill>
                <a:schemeClr val="tx1"/>
              </a:solidFill>
              <a:latin typeface="Arial" panose="020B0604020202020204" pitchFamily="34" charset="0"/>
            </a:endParaRPr>
          </a:p>
        </p:txBody>
      </p:sp>
      <p:sp>
        <p:nvSpPr>
          <p:cNvPr id="16" name="Rectangle 15">
            <a:extLst>
              <a:ext uri="{FF2B5EF4-FFF2-40B4-BE49-F238E27FC236}">
                <a16:creationId xmlns:a16="http://schemas.microsoft.com/office/drawing/2014/main" id="{85DE5CF0-F154-DB85-327F-8DF6681A2FFC}"/>
              </a:ext>
            </a:extLst>
          </p:cNvPr>
          <p:cNvSpPr/>
          <p:nvPr/>
        </p:nvSpPr>
        <p:spPr>
          <a:xfrm>
            <a:off x="473974" y="3535887"/>
            <a:ext cx="1965898" cy="211615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BG" sz="1200" dirty="0">
              <a:solidFill>
                <a:schemeClr val="tx1"/>
              </a:solidFill>
              <a:latin typeface="Arial" panose="020B0604020202020204" pitchFamily="34" charset="0"/>
            </a:endParaRPr>
          </a:p>
        </p:txBody>
      </p:sp>
      <p:sp>
        <p:nvSpPr>
          <p:cNvPr id="17" name="Rectangle 16">
            <a:extLst>
              <a:ext uri="{FF2B5EF4-FFF2-40B4-BE49-F238E27FC236}">
                <a16:creationId xmlns:a16="http://schemas.microsoft.com/office/drawing/2014/main" id="{A6CFAAB3-10F2-54D2-F820-EEF73C37B52B}"/>
              </a:ext>
            </a:extLst>
          </p:cNvPr>
          <p:cNvSpPr/>
          <p:nvPr/>
        </p:nvSpPr>
        <p:spPr>
          <a:xfrm>
            <a:off x="2528612" y="3536720"/>
            <a:ext cx="1985172" cy="211615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BG" sz="1200" dirty="0">
              <a:solidFill>
                <a:schemeClr val="tx1"/>
              </a:solidFill>
              <a:latin typeface="Arial" panose="020B0604020202020204" pitchFamily="34" charset="0"/>
            </a:endParaRPr>
          </a:p>
        </p:txBody>
      </p:sp>
      <p:sp>
        <p:nvSpPr>
          <p:cNvPr id="18" name="Rectangle 17">
            <a:extLst>
              <a:ext uri="{FF2B5EF4-FFF2-40B4-BE49-F238E27FC236}">
                <a16:creationId xmlns:a16="http://schemas.microsoft.com/office/drawing/2014/main" id="{B3B182BD-97D4-9E31-39AC-278A60B67987}"/>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19" name="Rectangle 18">
            <a:extLst>
              <a:ext uri="{FF2B5EF4-FFF2-40B4-BE49-F238E27FC236}">
                <a16:creationId xmlns:a16="http://schemas.microsoft.com/office/drawing/2014/main" id="{929061EB-48C9-D3D6-95DB-83860562EAEC}"/>
              </a:ext>
            </a:extLst>
          </p:cNvPr>
          <p:cNvSpPr/>
          <p:nvPr/>
        </p:nvSpPr>
        <p:spPr>
          <a:xfrm>
            <a:off x="243567" y="6618740"/>
            <a:ext cx="9776012" cy="1200329"/>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List distractions you face daily that you cannot control, which are annoying and fun. Do the same for distractions that you can control. Create a plan – what would you do when a certain distraction appears? </a:t>
            </a:r>
          </a:p>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For distractions that are not within your control –simply train your mind to become aware and bring your attention back as fast as you can</a:t>
            </a: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p:txBody>
      </p:sp>
      <p:sp>
        <p:nvSpPr>
          <p:cNvPr id="20" name="Title 3">
            <a:extLst>
              <a:ext uri="{FF2B5EF4-FFF2-40B4-BE49-F238E27FC236}">
                <a16:creationId xmlns:a16="http://schemas.microsoft.com/office/drawing/2014/main" id="{68509B67-40C2-6930-AEFA-0CDF1BCF08A1}"/>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graphicFrame>
        <p:nvGraphicFramePr>
          <p:cNvPr id="21" name="Table 20">
            <a:extLst>
              <a:ext uri="{FF2B5EF4-FFF2-40B4-BE49-F238E27FC236}">
                <a16:creationId xmlns:a16="http://schemas.microsoft.com/office/drawing/2014/main" id="{E99C6E89-4D3E-6247-0AAC-0CE15575390F}"/>
              </a:ext>
            </a:extLst>
          </p:cNvPr>
          <p:cNvGraphicFramePr>
            <a:graphicFrameLocks noGrp="1"/>
          </p:cNvGraphicFramePr>
          <p:nvPr>
            <p:extLst>
              <p:ext uri="{D42A27DB-BD31-4B8C-83A1-F6EECF244321}">
                <p14:modId xmlns:p14="http://schemas.microsoft.com/office/powerpoint/2010/main" val="648978677"/>
              </p:ext>
            </p:extLst>
          </p:nvPr>
        </p:nvGraphicFramePr>
        <p:xfrm>
          <a:off x="4714209" y="796796"/>
          <a:ext cx="5274619" cy="4858239"/>
        </p:xfrm>
        <a:graphic>
          <a:graphicData uri="http://schemas.openxmlformats.org/drawingml/2006/table">
            <a:tbl>
              <a:tblPr firstRow="1" bandRow="1">
                <a:tableStyleId>{2D5ABB26-0587-4C30-8999-92F81FD0307C}</a:tableStyleId>
              </a:tblPr>
              <a:tblGrid>
                <a:gridCol w="2629566">
                  <a:extLst>
                    <a:ext uri="{9D8B030D-6E8A-4147-A177-3AD203B41FA5}">
                      <a16:colId xmlns:a16="http://schemas.microsoft.com/office/drawing/2014/main" val="1322494899"/>
                    </a:ext>
                  </a:extLst>
                </a:gridCol>
                <a:gridCol w="2645053">
                  <a:extLst>
                    <a:ext uri="{9D8B030D-6E8A-4147-A177-3AD203B41FA5}">
                      <a16:colId xmlns:a16="http://schemas.microsoft.com/office/drawing/2014/main" val="1469423512"/>
                    </a:ext>
                  </a:extLst>
                </a:gridCol>
              </a:tblGrid>
              <a:tr h="295648">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Responding to the distractions I can control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dirty="0">
                        <a:latin typeface="Riforma LL" panose="020B0504020101020102" pitchFamily="34" charset="0"/>
                        <a:ea typeface="Riforma LL" panose="020B0504020101020102" pitchFamily="34" charset="0"/>
                        <a:cs typeface="Riforma LL" panose="020B0504020101020102"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355713"/>
                  </a:ext>
                </a:extLst>
              </a:tr>
              <a:tr h="295648">
                <a:tc>
                  <a:txBody>
                    <a:bodyPr/>
                    <a:lstStyle/>
                    <a:p>
                      <a:pPr marL="0" indent="0">
                        <a:buFontTx/>
                        <a:buNone/>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If (an action) occurs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17272"/>
                    </a:solidFill>
                  </a:tcPr>
                </a:tc>
                <a:tc>
                  <a:txBody>
                    <a:bodyPr/>
                    <a:lstStyle/>
                    <a:p>
                      <a:pPr marL="0" indent="0">
                        <a:buFontTx/>
                        <a:buNone/>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Then, I will…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17272"/>
                    </a:solidFill>
                  </a:tcPr>
                </a:tc>
                <a:extLst>
                  <a:ext uri="{0D108BD9-81ED-4DB2-BD59-A6C34878D82A}">
                    <a16:rowId xmlns:a16="http://schemas.microsoft.com/office/drawing/2014/main" val="1318749878"/>
                  </a:ext>
                </a:extLst>
              </a:tr>
              <a:tr h="4542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When I receive an email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Remind myself that there is a dedicated time slot for it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863688"/>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844164"/>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377547"/>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1930324"/>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8828326"/>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7773283"/>
                  </a:ext>
                </a:extLst>
              </a:tr>
              <a:tr h="3904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492854"/>
                  </a:ext>
                </a:extLst>
              </a:tr>
              <a:tr h="295648">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Additional activities to combat distractions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dirty="0">
                        <a:latin typeface="Riforma LL" panose="020B0504020101020102" pitchFamily="34" charset="0"/>
                        <a:ea typeface="Riforma LL" panose="020B0504020101020102" pitchFamily="34" charset="0"/>
                        <a:cs typeface="Riforma LL" panose="020B0504020101020102"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0051024"/>
                  </a:ext>
                </a:extLst>
              </a:tr>
              <a:tr h="39045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0"/>
                          <a:cs typeface="Arial" panose="020B0604020202020204" pitchFamily="34" charset="0"/>
                        </a:rPr>
                        <a:t>Switch off my phone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dirty="0">
                        <a:latin typeface="Riforma LL" panose="020B0504020101020102" pitchFamily="34" charset="0"/>
                        <a:ea typeface="Riforma LL" panose="020B0504020101020102" pitchFamily="34" charset="0"/>
                        <a:cs typeface="Riforma LL" panose="020B0504020101020102"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9826093"/>
                  </a:ext>
                </a:extLst>
              </a:tr>
              <a:tr h="39045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BG"/>
                    </a:p>
                  </a:txBody>
                  <a:tcPr/>
                </a:tc>
                <a:extLst>
                  <a:ext uri="{0D108BD9-81ED-4DB2-BD59-A6C34878D82A}">
                    <a16:rowId xmlns:a16="http://schemas.microsoft.com/office/drawing/2014/main" val="557748519"/>
                  </a:ext>
                </a:extLst>
              </a:tr>
              <a:tr h="39045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dirty="0">
                        <a:latin typeface="Riforma LL" panose="020B0504020101020102" pitchFamily="34" charset="0"/>
                        <a:ea typeface="Riforma LL" panose="020B0504020101020102" pitchFamily="34" charset="0"/>
                        <a:cs typeface="Riforma LL" panose="020B0504020101020102"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9412359"/>
                  </a:ext>
                </a:extLst>
              </a:tr>
            </a:tbl>
          </a:graphicData>
        </a:graphic>
      </p:graphicFrame>
    </p:spTree>
    <p:extLst>
      <p:ext uri="{BB962C8B-B14F-4D97-AF65-F5344CB8AC3E}">
        <p14:creationId xmlns:p14="http://schemas.microsoft.com/office/powerpoint/2010/main" val="2475153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ack text on a white background&#10;&#10;Description automatically generated">
            <a:extLst>
              <a:ext uri="{FF2B5EF4-FFF2-40B4-BE49-F238E27FC236}">
                <a16:creationId xmlns:a16="http://schemas.microsoft.com/office/drawing/2014/main" id="{16C493A3-35BD-0B9F-7B28-3E1ED8C4D18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260" t="25865" r="260" b="18327"/>
          <a:stretch/>
        </p:blipFill>
        <p:spPr>
          <a:xfrm>
            <a:off x="34064" y="110646"/>
            <a:ext cx="4746451" cy="390112"/>
          </a:xfrm>
          <a:prstGeom prst="rect">
            <a:avLst/>
          </a:prstGeom>
        </p:spPr>
      </p:pic>
      <p:graphicFrame>
        <p:nvGraphicFramePr>
          <p:cNvPr id="84" name="Table 83"/>
          <p:cNvGraphicFramePr>
            <a:graphicFrameLocks noGrp="1"/>
          </p:cNvGraphicFramePr>
          <p:nvPr>
            <p:extLst>
              <p:ext uri="{D42A27DB-BD31-4B8C-83A1-F6EECF244321}">
                <p14:modId xmlns:p14="http://schemas.microsoft.com/office/powerpoint/2010/main" val="3598683894"/>
              </p:ext>
            </p:extLst>
          </p:nvPr>
        </p:nvGraphicFramePr>
        <p:xfrm>
          <a:off x="243567" y="5070524"/>
          <a:ext cx="9592434" cy="946318"/>
        </p:xfrm>
        <a:graphic>
          <a:graphicData uri="http://schemas.openxmlformats.org/drawingml/2006/table">
            <a:tbl>
              <a:tblPr firstRow="1" bandRow="1">
                <a:tableStyleId>{2D5ABB26-0587-4C30-8999-92F81FD0307C}</a:tableStyleId>
              </a:tblPr>
              <a:tblGrid>
                <a:gridCol w="3197478">
                  <a:extLst>
                    <a:ext uri="{9D8B030D-6E8A-4147-A177-3AD203B41FA5}">
                      <a16:colId xmlns:a16="http://schemas.microsoft.com/office/drawing/2014/main" val="3313590318"/>
                    </a:ext>
                  </a:extLst>
                </a:gridCol>
                <a:gridCol w="3197478">
                  <a:extLst>
                    <a:ext uri="{9D8B030D-6E8A-4147-A177-3AD203B41FA5}">
                      <a16:colId xmlns:a16="http://schemas.microsoft.com/office/drawing/2014/main" val="2037221690"/>
                    </a:ext>
                  </a:extLst>
                </a:gridCol>
                <a:gridCol w="3197478">
                  <a:extLst>
                    <a:ext uri="{9D8B030D-6E8A-4147-A177-3AD203B41FA5}">
                      <a16:colId xmlns:a16="http://schemas.microsoft.com/office/drawing/2014/main" val="1141431981"/>
                    </a:ext>
                  </a:extLst>
                </a:gridCol>
              </a:tblGrid>
              <a:tr h="229548">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Total time during the day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Time for key routines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Free time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553444230"/>
                  </a:ext>
                </a:extLst>
              </a:tr>
              <a:tr h="671998">
                <a:tc>
                  <a:txBody>
                    <a:bodyPr/>
                    <a:lstStyle/>
                    <a:p>
                      <a:r>
                        <a:rPr lang="bg-BG" sz="1200" b="0" i="0" dirty="0">
                          <a:latin typeface="Arial" panose="020B0604020202020204" pitchFamily="34" charset="0"/>
                          <a:ea typeface="Riforma LL" panose="020B0504020101020102" pitchFamily="34" charset="0"/>
                          <a:cs typeface="Arial" panose="020B0604020202020204" pitchFamily="34" charset="0"/>
                        </a:rPr>
                        <a:t>24 </a:t>
                      </a:r>
                      <a:r>
                        <a:rPr lang="en-US" sz="1200" b="0" i="0" dirty="0">
                          <a:latin typeface="Arial" panose="020B0604020202020204" pitchFamily="34" charset="0"/>
                          <a:ea typeface="Riforma LL" panose="020B0504020101020102" pitchFamily="34" charset="0"/>
                          <a:cs typeface="Arial" panose="020B0604020202020204" pitchFamily="34" charset="0"/>
                        </a:rPr>
                        <a:t>hours</a:t>
                      </a:r>
                    </a:p>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355713"/>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3000445167"/>
              </p:ext>
            </p:extLst>
          </p:nvPr>
        </p:nvGraphicFramePr>
        <p:xfrm>
          <a:off x="223080" y="726086"/>
          <a:ext cx="9592435" cy="4178794"/>
        </p:xfrm>
        <a:graphic>
          <a:graphicData uri="http://schemas.openxmlformats.org/drawingml/2006/table">
            <a:tbl>
              <a:tblPr firstRow="1" bandRow="1">
                <a:tableStyleId>{2D5ABB26-0587-4C30-8999-92F81FD0307C}</a:tableStyleId>
              </a:tblPr>
              <a:tblGrid>
                <a:gridCol w="7961198">
                  <a:extLst>
                    <a:ext uri="{9D8B030D-6E8A-4147-A177-3AD203B41FA5}">
                      <a16:colId xmlns:a16="http://schemas.microsoft.com/office/drawing/2014/main" val="3313590318"/>
                    </a:ext>
                  </a:extLst>
                </a:gridCol>
                <a:gridCol w="1631237">
                  <a:extLst>
                    <a:ext uri="{9D8B030D-6E8A-4147-A177-3AD203B41FA5}">
                      <a16:colId xmlns:a16="http://schemas.microsoft.com/office/drawing/2014/main" val="412091751"/>
                    </a:ext>
                  </a:extLst>
                </a:gridCol>
              </a:tblGrid>
              <a:tr h="25576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My top 7 daily routines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Minutes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50355713"/>
                  </a:ext>
                </a:extLst>
              </a:tr>
              <a:tr h="557782">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1. Ex: Sleep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2. </a:t>
                      </a:r>
                      <a:r>
                        <a:rPr lang="en-US" sz="1200" b="0" i="0" dirty="0">
                          <a:latin typeface="Arial" panose="020B0604020202020204" pitchFamily="34" charset="0"/>
                          <a:ea typeface="Riforma LL" panose="020B0504020101020102" pitchFamily="34" charset="0"/>
                          <a:cs typeface="Arial" panose="020B0604020202020204" pitchFamily="34" charset="0"/>
                        </a:rPr>
                        <a:t>Ex: Think &amp; Reflect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863688"/>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3. </a:t>
                      </a:r>
                      <a:r>
                        <a:rPr lang="en-US" sz="1200" b="0" i="0" dirty="0">
                          <a:latin typeface="Arial" panose="020B0604020202020204" pitchFamily="34" charset="0"/>
                          <a:ea typeface="Riforma LL" panose="020B0504020101020102" pitchFamily="34" charset="0"/>
                          <a:cs typeface="Arial" panose="020B0604020202020204" pitchFamily="34" charset="0"/>
                        </a:rPr>
                        <a:t>Ex: Exercise </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844164"/>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0"/>
                          <a:cs typeface="Arial" panose="020B0604020202020204" pitchFamily="34" charset="0"/>
                        </a:rPr>
                        <a:t>4. Ex: Meditation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377547"/>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0"/>
                          <a:cs typeface="Arial" panose="020B0604020202020204" pitchFamily="34" charset="0"/>
                        </a:rPr>
                        <a:t>5. Ex: Read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1930324"/>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0"/>
                          <a:cs typeface="Arial" panose="020B0604020202020204" pitchFamily="34" charset="0"/>
                        </a:rPr>
                        <a:t>6. Ex: 3 sprints of deep work per day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492854"/>
                  </a:ext>
                </a:extLst>
              </a:tr>
              <a:tr h="5577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0"/>
                          <a:cs typeface="Arial" panose="020B0604020202020204" pitchFamily="34" charset="0"/>
                        </a:rPr>
                        <a:t>7.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0051024"/>
                  </a:ext>
                </a:extLst>
              </a:tr>
            </a:tbl>
          </a:graphicData>
        </a:graphic>
      </p:graphicFrame>
      <p:sp>
        <p:nvSpPr>
          <p:cNvPr id="3" name="Rectangle 2">
            <a:extLst>
              <a:ext uri="{FF2B5EF4-FFF2-40B4-BE49-F238E27FC236}">
                <a16:creationId xmlns:a16="http://schemas.microsoft.com/office/drawing/2014/main" id="{721A1B26-249D-0B25-E3F3-1919D1EF3BB3}"/>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4" name="Rectangle 3">
            <a:extLst>
              <a:ext uri="{FF2B5EF4-FFF2-40B4-BE49-F238E27FC236}">
                <a16:creationId xmlns:a16="http://schemas.microsoft.com/office/drawing/2014/main" id="{9724D1A3-84E8-A047-ECE2-E8F318280DAD}"/>
              </a:ext>
            </a:extLst>
          </p:cNvPr>
          <p:cNvSpPr/>
          <p:nvPr/>
        </p:nvSpPr>
        <p:spPr>
          <a:xfrm>
            <a:off x="243567" y="6618740"/>
            <a:ext cx="9776012" cy="646331"/>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Brainstorm productivity habits you would like to start practicing (you can use the impact/easy tool). After completing the list, calculate the total time spent on these routines and fill it in the "Time for key routines" box. Then, subtract this total from 24 hours to determine your available "Free time" during the day, and enter that in the corresponding box.</a:t>
            </a:r>
          </a:p>
        </p:txBody>
      </p:sp>
      <p:sp>
        <p:nvSpPr>
          <p:cNvPr id="5" name="Title 3">
            <a:extLst>
              <a:ext uri="{FF2B5EF4-FFF2-40B4-BE49-F238E27FC236}">
                <a16:creationId xmlns:a16="http://schemas.microsoft.com/office/drawing/2014/main" id="{6719537D-5EF9-2865-5E5E-07B210CB2026}"/>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spTree>
    <p:extLst>
      <p:ext uri="{BB962C8B-B14F-4D97-AF65-F5344CB8AC3E}">
        <p14:creationId xmlns:p14="http://schemas.microsoft.com/office/powerpoint/2010/main" val="422865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FAE2B0-2269-D72F-328C-A52133CB4E8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0319" b="16418"/>
          <a:stretch/>
        </p:blipFill>
        <p:spPr>
          <a:xfrm>
            <a:off x="105035" y="67962"/>
            <a:ext cx="5450472" cy="438666"/>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740659814"/>
              </p:ext>
            </p:extLst>
          </p:nvPr>
        </p:nvGraphicFramePr>
        <p:xfrm>
          <a:off x="243567" y="850300"/>
          <a:ext cx="9770339" cy="4885133"/>
        </p:xfrm>
        <a:graphic>
          <a:graphicData uri="http://schemas.openxmlformats.org/drawingml/2006/table">
            <a:tbl>
              <a:tblPr firstRow="1" bandRow="1">
                <a:tableStyleId>{2D5ABB26-0587-4C30-8999-92F81FD0307C}</a:tableStyleId>
              </a:tblPr>
              <a:tblGrid>
                <a:gridCol w="2736659">
                  <a:extLst>
                    <a:ext uri="{9D8B030D-6E8A-4147-A177-3AD203B41FA5}">
                      <a16:colId xmlns:a16="http://schemas.microsoft.com/office/drawing/2014/main" val="239924796"/>
                    </a:ext>
                  </a:extLst>
                </a:gridCol>
                <a:gridCol w="957450">
                  <a:extLst>
                    <a:ext uri="{9D8B030D-6E8A-4147-A177-3AD203B41FA5}">
                      <a16:colId xmlns:a16="http://schemas.microsoft.com/office/drawing/2014/main" val="3025012506"/>
                    </a:ext>
                  </a:extLst>
                </a:gridCol>
                <a:gridCol w="2357438">
                  <a:extLst>
                    <a:ext uri="{9D8B030D-6E8A-4147-A177-3AD203B41FA5}">
                      <a16:colId xmlns:a16="http://schemas.microsoft.com/office/drawing/2014/main" val="696201040"/>
                    </a:ext>
                  </a:extLst>
                </a:gridCol>
                <a:gridCol w="2286000">
                  <a:extLst>
                    <a:ext uri="{9D8B030D-6E8A-4147-A177-3AD203B41FA5}">
                      <a16:colId xmlns:a16="http://schemas.microsoft.com/office/drawing/2014/main" val="2368081209"/>
                    </a:ext>
                  </a:extLst>
                </a:gridCol>
                <a:gridCol w="1432792">
                  <a:extLst>
                    <a:ext uri="{9D8B030D-6E8A-4147-A177-3AD203B41FA5}">
                      <a16:colId xmlns:a16="http://schemas.microsoft.com/office/drawing/2014/main" val="2620992021"/>
                    </a:ext>
                  </a:extLst>
                </a:gridCol>
              </a:tblGrid>
              <a:tr h="512270">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sym typeface="PF Square Sans Pro Light"/>
                        </a:rPr>
                        <a:t>Top 3 routines</a:t>
                      </a:r>
                      <a:endParaRPr lang="en-US" sz="1200" dirty="0">
                        <a:solidFill>
                          <a:schemeClr val="bg1"/>
                        </a:solidFill>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algn="ctr" fontAlgn="auto">
                        <a:spcBef>
                          <a:spcPts val="0"/>
                        </a:spcBef>
                        <a:spcAft>
                          <a:spcPts val="0"/>
                        </a:spcAft>
                      </a:pPr>
                      <a:r>
                        <a:rPr lang="en-US" sz="1200" dirty="0">
                          <a:solidFill>
                            <a:schemeClr val="bg1"/>
                          </a:solidFill>
                          <a:latin typeface="Arial" panose="020B0604020202020204" pitchFamily="34" charset="0"/>
                          <a:cs typeface="Arial" panose="020B0604020202020204" pitchFamily="34" charset="0"/>
                          <a:sym typeface="PF Square Sans Pro Light"/>
                        </a:rPr>
                        <a:t>Time of</a:t>
                      </a:r>
                    </a:p>
                    <a:p>
                      <a:pPr algn="ctr" fontAlgn="auto">
                        <a:spcBef>
                          <a:spcPts val="0"/>
                        </a:spcBef>
                        <a:spcAft>
                          <a:spcPts val="0"/>
                        </a:spcAft>
                      </a:pPr>
                      <a:r>
                        <a:rPr lang="en-US" sz="1200" dirty="0">
                          <a:solidFill>
                            <a:schemeClr val="bg1"/>
                          </a:solidFill>
                          <a:latin typeface="Arial" panose="020B0604020202020204" pitchFamily="34" charset="0"/>
                          <a:cs typeface="Arial" panose="020B0604020202020204" pitchFamily="34" charset="0"/>
                          <a:sym typeface="PF Square Sans Pro Light"/>
                        </a:rPr>
                        <a:t>the day</a:t>
                      </a:r>
                      <a:endParaRPr lang="en-US" sz="1200" dirty="0">
                        <a:solidFill>
                          <a:schemeClr val="bg1"/>
                        </a:solidFill>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algn="ctr" fontAlgn="auto">
                        <a:spcBef>
                          <a:spcPts val="0"/>
                        </a:spcBef>
                        <a:spcAft>
                          <a:spcPts val="0"/>
                        </a:spcAft>
                      </a:pPr>
                      <a:r>
                        <a:rPr lang="en-US" sz="1200" dirty="0">
                          <a:solidFill>
                            <a:schemeClr val="bg1"/>
                          </a:solidFill>
                          <a:latin typeface="Arial" panose="020B0604020202020204" pitchFamily="34" charset="0"/>
                          <a:cs typeface="Arial" panose="020B0604020202020204" pitchFamily="34" charset="0"/>
                        </a:rPr>
                        <a:t>Context setup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algn="ctr" fontAlgn="auto">
                        <a:spcBef>
                          <a:spcPts val="0"/>
                        </a:spcBef>
                        <a:spcAft>
                          <a:spcPts val="0"/>
                        </a:spcAft>
                      </a:pPr>
                      <a:r>
                        <a:rPr lang="en-US" sz="1200" dirty="0">
                          <a:solidFill>
                            <a:schemeClr val="bg1"/>
                          </a:solidFill>
                          <a:latin typeface="Arial" panose="020B0604020202020204" pitchFamily="34" charset="0"/>
                          <a:cs typeface="Arial" panose="020B0604020202020204" pitchFamily="34" charset="0"/>
                        </a:rPr>
                        <a:t>How do I reward myself</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algn="ctr" fontAlgn="auto">
                        <a:spcBef>
                          <a:spcPts val="0"/>
                        </a:spcBef>
                        <a:spcAft>
                          <a:spcPts val="0"/>
                        </a:spcAft>
                      </a:pPr>
                      <a:r>
                        <a:rPr lang="en-US" sz="1200" dirty="0">
                          <a:solidFill>
                            <a:schemeClr val="bg1"/>
                          </a:solidFill>
                          <a:latin typeface="Arial" panose="020B0604020202020204" pitchFamily="34" charset="0"/>
                          <a:cs typeface="Arial" panose="020B0604020202020204" pitchFamily="34" charset="0"/>
                        </a:rPr>
                        <a:t>Who do I report to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806504352"/>
                  </a:ext>
                </a:extLst>
              </a:tr>
              <a:tr h="1457621">
                <a:tc>
                  <a:txBody>
                    <a:bodyPr/>
                    <a:lstStyle/>
                    <a:p>
                      <a:r>
                        <a:rPr lang="en-US" sz="1200" b="0" i="0" dirty="0">
                          <a:latin typeface="Arial" panose="020B0604020202020204" pitchFamily="34" charset="0"/>
                        </a:rPr>
                        <a:t>1.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469"/>
                    </a:solid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5762342"/>
                  </a:ext>
                </a:extLst>
              </a:tr>
              <a:tr h="1457621">
                <a:tc>
                  <a:txBody>
                    <a:bodyPr/>
                    <a:lstStyle/>
                    <a:p>
                      <a:r>
                        <a:rPr lang="en-US" sz="1200" b="0" i="0" dirty="0">
                          <a:latin typeface="Arial" panose="020B0604020202020204" pitchFamily="34" charset="0"/>
                        </a:rPr>
                        <a:t>2.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469"/>
                    </a:solid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599928"/>
                  </a:ext>
                </a:extLst>
              </a:tr>
              <a:tr h="145762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3. </a:t>
                      </a:r>
                    </a:p>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469"/>
                    </a:solid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677619"/>
                  </a:ext>
                </a:extLst>
              </a:tr>
            </a:tbl>
          </a:graphicData>
        </a:graphic>
      </p:graphicFrame>
      <p:sp>
        <p:nvSpPr>
          <p:cNvPr id="2" name="Rectangle 1">
            <a:extLst>
              <a:ext uri="{FF2B5EF4-FFF2-40B4-BE49-F238E27FC236}">
                <a16:creationId xmlns:a16="http://schemas.microsoft.com/office/drawing/2014/main" id="{0DDFDD77-0A1B-7E53-F804-FFED58324C72}"/>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dirty="0">
              <a:latin typeface="Arial" panose="020B0604020202020204" pitchFamily="34" charset="0"/>
            </a:endParaRPr>
          </a:p>
        </p:txBody>
      </p:sp>
      <p:sp>
        <p:nvSpPr>
          <p:cNvPr id="3" name="Rectangle 2">
            <a:extLst>
              <a:ext uri="{FF2B5EF4-FFF2-40B4-BE49-F238E27FC236}">
                <a16:creationId xmlns:a16="http://schemas.microsoft.com/office/drawing/2014/main" id="{8E98B2A2-ACB6-3501-8427-58D936A3A7DD}"/>
              </a:ext>
            </a:extLst>
          </p:cNvPr>
          <p:cNvSpPr/>
          <p:nvPr/>
        </p:nvSpPr>
        <p:spPr>
          <a:xfrm>
            <a:off x="243567" y="6618740"/>
            <a:ext cx="9776012" cy="646331"/>
          </a:xfrm>
          <a:prstGeom prst="rect">
            <a:avLst/>
          </a:prstGeom>
        </p:spPr>
        <p:txBody>
          <a:bodyPr wrap="square">
            <a:spAutoFit/>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List your three most important daily routines in the yellow boxes, specifying the time of day you plan to perform each routine using the timeline on the left. For each routine, identify what you must prepare in advance to make the routine easy and automatic. Decide on a reward for completing each routine to reinforce the habit and determine who you’ll report your progress to for accountability.</a:t>
            </a:r>
          </a:p>
        </p:txBody>
      </p:sp>
      <p:sp>
        <p:nvSpPr>
          <p:cNvPr id="4" name="Title 3">
            <a:extLst>
              <a:ext uri="{FF2B5EF4-FFF2-40B4-BE49-F238E27FC236}">
                <a16:creationId xmlns:a16="http://schemas.microsoft.com/office/drawing/2014/main" id="{E41F3942-447E-BD89-DEEF-BD5B5D14D0A5}"/>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defTabSz="914126" fontAlgn="auto">
              <a:spcAft>
                <a:spcPts val="0"/>
              </a:spcAft>
            </a:pPr>
            <a:r>
              <a:rPr lang="en-US" sz="1200" dirty="0">
                <a:solidFill>
                  <a:prstClr val="black"/>
                </a:solidFill>
                <a:latin typeface="Arial" panose="020B0604020202020204" pitchFamily="34" charset="0"/>
              </a:rPr>
              <a:t>[INSTRUCTIONS]</a:t>
            </a:r>
          </a:p>
        </p:txBody>
      </p:sp>
    </p:spTree>
    <p:extLst>
      <p:ext uri="{BB962C8B-B14F-4D97-AF65-F5344CB8AC3E}">
        <p14:creationId xmlns:p14="http://schemas.microsoft.com/office/powerpoint/2010/main" val="197984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ack and white sign with letters&#10;&#10;Description automatically generated">
            <a:extLst>
              <a:ext uri="{FF2B5EF4-FFF2-40B4-BE49-F238E27FC236}">
                <a16:creationId xmlns:a16="http://schemas.microsoft.com/office/drawing/2014/main" id="{C9744F56-F724-100A-EA86-1ACAC30BFE0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6463" b="30439"/>
          <a:stretch/>
        </p:blipFill>
        <p:spPr>
          <a:xfrm>
            <a:off x="7951" y="30890"/>
            <a:ext cx="4029551" cy="461176"/>
          </a:xfrm>
          <a:prstGeom prst="rect">
            <a:avLst/>
          </a:prstGeom>
        </p:spPr>
      </p:pic>
      <p:graphicFrame>
        <p:nvGraphicFramePr>
          <p:cNvPr id="18" name="Table 17">
            <a:extLst>
              <a:ext uri="{FF2B5EF4-FFF2-40B4-BE49-F238E27FC236}">
                <a16:creationId xmlns:a16="http://schemas.microsoft.com/office/drawing/2014/main" id="{C2F0895F-2724-3EC5-6B15-7360A21C6256}"/>
              </a:ext>
            </a:extLst>
          </p:cNvPr>
          <p:cNvGraphicFramePr>
            <a:graphicFrameLocks noGrp="1"/>
          </p:cNvGraphicFramePr>
          <p:nvPr>
            <p:extLst>
              <p:ext uri="{D42A27DB-BD31-4B8C-83A1-F6EECF244321}">
                <p14:modId xmlns:p14="http://schemas.microsoft.com/office/powerpoint/2010/main" val="3922353698"/>
              </p:ext>
            </p:extLst>
          </p:nvPr>
        </p:nvGraphicFramePr>
        <p:xfrm>
          <a:off x="208882" y="786244"/>
          <a:ext cx="9743494" cy="3351616"/>
        </p:xfrm>
        <a:graphic>
          <a:graphicData uri="http://schemas.openxmlformats.org/drawingml/2006/table">
            <a:tbl>
              <a:tblPr firstRow="1" bandRow="1">
                <a:tableStyleId>{2D5ABB26-0587-4C30-8999-92F81FD0307C}</a:tableStyleId>
              </a:tblPr>
              <a:tblGrid>
                <a:gridCol w="2920081">
                  <a:extLst>
                    <a:ext uri="{9D8B030D-6E8A-4147-A177-3AD203B41FA5}">
                      <a16:colId xmlns:a16="http://schemas.microsoft.com/office/drawing/2014/main" val="3313590318"/>
                    </a:ext>
                  </a:extLst>
                </a:gridCol>
                <a:gridCol w="3057525">
                  <a:extLst>
                    <a:ext uri="{9D8B030D-6E8A-4147-A177-3AD203B41FA5}">
                      <a16:colId xmlns:a16="http://schemas.microsoft.com/office/drawing/2014/main" val="1322494899"/>
                    </a:ext>
                  </a:extLst>
                </a:gridCol>
                <a:gridCol w="3765888">
                  <a:extLst>
                    <a:ext uri="{9D8B030D-6E8A-4147-A177-3AD203B41FA5}">
                      <a16:colId xmlns:a16="http://schemas.microsoft.com/office/drawing/2014/main" val="3760303438"/>
                    </a:ext>
                  </a:extLst>
                </a:gridCol>
              </a:tblGrid>
              <a:tr h="41985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Activities that put me in a hyper focused mode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Physical surrounding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How can I mimic the environment to enter into hyper focused state?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50355713"/>
                  </a:ext>
                </a:extLst>
              </a:tr>
              <a:tr h="6268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1</a:t>
                      </a:r>
                      <a:r>
                        <a:rPr lang="en-US" sz="1200" b="0" i="0" dirty="0">
                          <a:solidFill>
                            <a:schemeClr val="tx1">
                              <a:lumMod val="50000"/>
                              <a:lumOff val="50000"/>
                            </a:schemeClr>
                          </a:solidFill>
                          <a:latin typeface="Arial" panose="020B0604020202020204" pitchFamily="34" charset="0"/>
                          <a:ea typeface="Riforma LL" panose="020B0504020101020102" pitchFamily="34" charset="0"/>
                          <a:cs typeface="Arial" panose="020B0604020202020204" pitchFamily="34" charset="0"/>
                        </a:rPr>
                        <a:t>.  e.g.: Reading a favorite book; Playing with my child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Tx/>
                        <a:buNone/>
                      </a:pPr>
                      <a:r>
                        <a:rPr lang="en-US" sz="1200" b="0" i="0" dirty="0">
                          <a:solidFill>
                            <a:schemeClr val="tx1">
                              <a:lumMod val="50000"/>
                              <a:lumOff val="50000"/>
                            </a:schemeClr>
                          </a:solidFill>
                          <a:latin typeface="Arial" panose="020B0604020202020204" pitchFamily="34" charset="0"/>
                          <a:ea typeface="Riforma LL" panose="020B0504020101020102" pitchFamily="34" charset="0"/>
                          <a:cs typeface="Arial" panose="020B0604020202020204" pitchFamily="34" charset="0"/>
                        </a:rPr>
                        <a:t>e.g. Relaxed breathing, favorite music, light exercise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75583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5863688"/>
                  </a:ext>
                </a:extLst>
              </a:tr>
              <a:tr h="75583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3.</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5844164"/>
                  </a:ext>
                </a:extLst>
              </a:tr>
              <a:tr h="75583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rPr>
                        <a:t>4.</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085169"/>
                  </a:ext>
                </a:extLst>
              </a:tr>
            </a:tbl>
          </a:graphicData>
        </a:graphic>
      </p:graphicFrame>
      <p:sp>
        <p:nvSpPr>
          <p:cNvPr id="19" name="Rectangle 18">
            <a:extLst>
              <a:ext uri="{FF2B5EF4-FFF2-40B4-BE49-F238E27FC236}">
                <a16:creationId xmlns:a16="http://schemas.microsoft.com/office/drawing/2014/main" id="{4FCE46DA-3E23-23EB-3E04-1727E38B63BB}"/>
              </a:ext>
            </a:extLst>
          </p:cNvPr>
          <p:cNvSpPr/>
          <p:nvPr/>
        </p:nvSpPr>
        <p:spPr>
          <a:xfrm>
            <a:off x="0" y="6273061"/>
            <a:ext cx="10140043" cy="12897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BG"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0" name="Rectangle 19">
            <a:extLst>
              <a:ext uri="{FF2B5EF4-FFF2-40B4-BE49-F238E27FC236}">
                <a16:creationId xmlns:a16="http://schemas.microsoft.com/office/drawing/2014/main" id="{3B382D5F-C1EA-8DB1-D998-32B19FC6A518}"/>
              </a:ext>
            </a:extLst>
          </p:cNvPr>
          <p:cNvSpPr/>
          <p:nvPr/>
        </p:nvSpPr>
        <p:spPr>
          <a:xfrm>
            <a:off x="243567" y="6618740"/>
            <a:ext cx="9776012" cy="1200329"/>
          </a:xfrm>
          <a:prstGeom prst="rect">
            <a:avLst/>
          </a:prstGeom>
        </p:spPr>
        <p:txBody>
          <a:bodyPr wrap="square">
            <a:spAutoFit/>
          </a:bodyPr>
          <a:lstStyle/>
          <a:p>
            <a:pPr marL="0" marR="0" lvl="0" indent="0" algn="just" defTabSz="914126"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rPr>
              <a:t>Identify activities, surroundings, and routines that trigger hyperfocus. Establish a repeatable sequence to quickly enter a hyper-focused state. Practice this sequence for weeks so the routine is well-established. Then, work on shortening each step so that reaching your peak state takes less and less time. </a:t>
            </a:r>
          </a:p>
          <a:p>
            <a:pPr marL="0" marR="0" lvl="0" indent="0" algn="just" defTabSz="91412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endParaRPr>
          </a:p>
          <a:p>
            <a:pPr marL="0" marR="0" lvl="0" indent="0" algn="just" defTabSz="91412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endParaRPr>
          </a:p>
          <a:p>
            <a:pPr marL="0" marR="0" lvl="0" indent="0" algn="just" defTabSz="914126"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endParaRPr>
          </a:p>
        </p:txBody>
      </p:sp>
      <p:sp>
        <p:nvSpPr>
          <p:cNvPr id="21" name="Title 3">
            <a:extLst>
              <a:ext uri="{FF2B5EF4-FFF2-40B4-BE49-F238E27FC236}">
                <a16:creationId xmlns:a16="http://schemas.microsoft.com/office/drawing/2014/main" id="{D8153766-2173-039A-5D9D-FA6213E28DAE}"/>
              </a:ext>
            </a:extLst>
          </p:cNvPr>
          <p:cNvSpPr txBox="1">
            <a:spLocks/>
          </p:cNvSpPr>
          <p:nvPr/>
        </p:nvSpPr>
        <p:spPr>
          <a:xfrm>
            <a:off x="243567" y="6381765"/>
            <a:ext cx="1411978" cy="236975"/>
          </a:xfrm>
          <a:prstGeom prst="rect">
            <a:avLst/>
          </a:prstGeom>
        </p:spPr>
        <p:txBody>
          <a:bodyPr anchor="b"/>
          <a:lstStyle>
            <a:lvl1pPr algn="l" defTabSz="914400" rtl="0" eaLnBrk="1" latinLnBrk="0" hangingPunct="1">
              <a:lnSpc>
                <a:spcPct val="90000"/>
              </a:lnSpc>
              <a:spcBef>
                <a:spcPct val="0"/>
              </a:spcBef>
              <a:buNone/>
              <a:defRPr sz="1600" kern="1200">
                <a:solidFill>
                  <a:schemeClr val="bg1"/>
                </a:solidFill>
                <a:latin typeface="Monument Grotesk Mono" panose="02010504030000020004" pitchFamily="2" charset="0"/>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j-ea"/>
                <a:cs typeface="+mj-cs"/>
              </a:rPr>
              <a:t>[INSTRUCTIONS]</a:t>
            </a:r>
          </a:p>
        </p:txBody>
      </p:sp>
      <p:graphicFrame>
        <p:nvGraphicFramePr>
          <p:cNvPr id="2" name="Table 1">
            <a:extLst>
              <a:ext uri="{FF2B5EF4-FFF2-40B4-BE49-F238E27FC236}">
                <a16:creationId xmlns:a16="http://schemas.microsoft.com/office/drawing/2014/main" id="{80A07957-A6FF-1763-CC21-0DB435EF95E8}"/>
              </a:ext>
            </a:extLst>
          </p:cNvPr>
          <p:cNvGraphicFramePr>
            <a:graphicFrameLocks noGrp="1"/>
          </p:cNvGraphicFramePr>
          <p:nvPr>
            <p:extLst>
              <p:ext uri="{D42A27DB-BD31-4B8C-83A1-F6EECF244321}">
                <p14:modId xmlns:p14="http://schemas.microsoft.com/office/powerpoint/2010/main" val="929634878"/>
              </p:ext>
            </p:extLst>
          </p:nvPr>
        </p:nvGraphicFramePr>
        <p:xfrm>
          <a:off x="198274" y="4238168"/>
          <a:ext cx="9743494" cy="1890443"/>
        </p:xfrm>
        <a:graphic>
          <a:graphicData uri="http://schemas.openxmlformats.org/drawingml/2006/table">
            <a:tbl>
              <a:tblPr firstRow="1" bandRow="1">
                <a:tableStyleId>{2D5ABB26-0587-4C30-8999-92F81FD0307C}</a:tableStyleId>
              </a:tblPr>
              <a:tblGrid>
                <a:gridCol w="9743494">
                  <a:extLst>
                    <a:ext uri="{9D8B030D-6E8A-4147-A177-3AD203B41FA5}">
                      <a16:colId xmlns:a16="http://schemas.microsoft.com/office/drawing/2014/main" val="3313590318"/>
                    </a:ext>
                  </a:extLst>
                </a:gridCol>
              </a:tblGrid>
              <a:tr h="40454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My FLOW routine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50355713"/>
                  </a:ext>
                </a:extLst>
              </a:tr>
              <a:tr h="1233454">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0" marR="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0" marR="0" indent="0" algn="l" defTabSz="913760" rtl="0" eaLnBrk="1" fontAlgn="auto" latinLnBrk="0" hangingPunct="1">
                        <a:lnSpc>
                          <a:spcPct val="100000"/>
                        </a:lnSpc>
                        <a:spcBef>
                          <a:spcPts val="0"/>
                        </a:spcBef>
                        <a:spcAft>
                          <a:spcPts val="0"/>
                        </a:spcAft>
                        <a:buClrTx/>
                        <a:buSzTx/>
                        <a:buFontTx/>
                        <a:buNone/>
                        <a:tabLst/>
                        <a:defRPr/>
                      </a:pPr>
                      <a:r>
                        <a:rPr lang="en-US" sz="1050" b="0" i="0" dirty="0">
                          <a:solidFill>
                            <a:schemeClr val="tx1">
                              <a:lumMod val="50000"/>
                              <a:lumOff val="50000"/>
                            </a:schemeClr>
                          </a:solidFill>
                          <a:latin typeface="Arial" panose="020B0604020202020204" pitchFamily="34" charset="0"/>
                          <a:ea typeface="Riforma LL" panose="020B0504020101020102" pitchFamily="34" charset="0"/>
                          <a:cs typeface="Arial" panose="020B0604020202020204" pitchFamily="34" charset="0"/>
                        </a:rPr>
                        <a:t>Ex: Take 2 minutes to breathe deeply and relax. Then, visualize your task completed successfully for 3 minutes. Write down your specific goal for the session. Turn off your phone and close any unnecessary tabs. Play your focus music, then start with a simple task like organizing your workspace or jotting down ideas to get into the flow.</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318749878"/>
                  </a:ext>
                </a:extLst>
              </a:tr>
            </a:tbl>
          </a:graphicData>
        </a:graphic>
      </p:graphicFrame>
    </p:spTree>
    <p:extLst>
      <p:ext uri="{BB962C8B-B14F-4D97-AF65-F5344CB8AC3E}">
        <p14:creationId xmlns:p14="http://schemas.microsoft.com/office/powerpoint/2010/main" val="1630147757"/>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11921</TotalTime>
  <Words>908</Words>
  <Application>Microsoft Macintosh PowerPoint</Application>
  <PresentationFormat>Custom</PresentationFormat>
  <Paragraphs>117</Paragraphs>
  <Slides>8</Slides>
  <Notes>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8</vt:i4>
      </vt:variant>
    </vt:vector>
  </HeadingPairs>
  <TitlesOfParts>
    <vt:vector size="16" baseType="lpstr">
      <vt:lpstr>Arial</vt:lpstr>
      <vt:lpstr>Arial Black</vt:lpstr>
      <vt:lpstr>Arial Rounded MT Bold</vt:lpstr>
      <vt:lpstr>Calibri</vt:lpstr>
      <vt:lpstr>PF Square Sans Pro Light</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737</cp:revision>
  <cp:lastPrinted>2020-02-28T13:07:06Z</cp:lastPrinted>
  <dcterms:created xsi:type="dcterms:W3CDTF">2019-08-22T09:52:59Z</dcterms:created>
  <dcterms:modified xsi:type="dcterms:W3CDTF">2024-11-15T10:28:36Z</dcterms:modified>
</cp:coreProperties>
</file>