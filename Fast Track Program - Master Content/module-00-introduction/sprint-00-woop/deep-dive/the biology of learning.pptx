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185" r:id="rId1"/>
    <p:sldMasterId id="2147484195" r:id="rId2"/>
  </p:sldMasterIdLst>
  <p:notesMasterIdLst>
    <p:notesMasterId r:id="rId74"/>
  </p:notesMasterIdLst>
  <p:handoutMasterIdLst>
    <p:handoutMasterId r:id="rId75"/>
  </p:handoutMasterIdLst>
  <p:sldIdLst>
    <p:sldId id="3791" r:id="rId3"/>
    <p:sldId id="3801" r:id="rId4"/>
    <p:sldId id="3799" r:id="rId5"/>
    <p:sldId id="3848" r:id="rId6"/>
    <p:sldId id="3792" r:id="rId7"/>
    <p:sldId id="3798" r:id="rId8"/>
    <p:sldId id="3805" r:id="rId9"/>
    <p:sldId id="3802" r:id="rId10"/>
    <p:sldId id="3912" r:id="rId11"/>
    <p:sldId id="3913" r:id="rId12"/>
    <p:sldId id="3803" r:id="rId13"/>
    <p:sldId id="3914" r:id="rId14"/>
    <p:sldId id="3915" r:id="rId15"/>
    <p:sldId id="3847" r:id="rId16"/>
    <p:sldId id="3909" r:id="rId17"/>
    <p:sldId id="3917" r:id="rId18"/>
    <p:sldId id="3918" r:id="rId19"/>
    <p:sldId id="3910" r:id="rId20"/>
    <p:sldId id="3919" r:id="rId21"/>
    <p:sldId id="3920" r:id="rId22"/>
    <p:sldId id="3911" r:id="rId23"/>
    <p:sldId id="3921" r:id="rId24"/>
    <p:sldId id="3922" r:id="rId25"/>
    <p:sldId id="3846" r:id="rId26"/>
    <p:sldId id="3902" r:id="rId27"/>
    <p:sldId id="3854" r:id="rId28"/>
    <p:sldId id="3857" r:id="rId29"/>
    <p:sldId id="3883" r:id="rId30"/>
    <p:sldId id="3885" r:id="rId31"/>
    <p:sldId id="3936" r:id="rId32"/>
    <p:sldId id="3932" r:id="rId33"/>
    <p:sldId id="3937" r:id="rId34"/>
    <p:sldId id="3859" r:id="rId35"/>
    <p:sldId id="3935" r:id="rId36"/>
    <p:sldId id="3867" r:id="rId37"/>
    <p:sldId id="3862" r:id="rId38"/>
    <p:sldId id="3863" r:id="rId39"/>
    <p:sldId id="3874" r:id="rId40"/>
    <p:sldId id="3864" r:id="rId41"/>
    <p:sldId id="3860" r:id="rId42"/>
    <p:sldId id="3865" r:id="rId43"/>
    <p:sldId id="3880" r:id="rId44"/>
    <p:sldId id="3940" r:id="rId45"/>
    <p:sldId id="3933" r:id="rId46"/>
    <p:sldId id="3938" r:id="rId47"/>
    <p:sldId id="3882" r:id="rId48"/>
    <p:sldId id="3924" r:id="rId49"/>
    <p:sldId id="3861" r:id="rId50"/>
    <p:sldId id="3881" r:id="rId51"/>
    <p:sldId id="3889" r:id="rId52"/>
    <p:sldId id="3871" r:id="rId53"/>
    <p:sldId id="3931" r:id="rId54"/>
    <p:sldId id="3941" r:id="rId55"/>
    <p:sldId id="3934" r:id="rId56"/>
    <p:sldId id="3939" r:id="rId57"/>
    <p:sldId id="3866" r:id="rId58"/>
    <p:sldId id="3884" r:id="rId59"/>
    <p:sldId id="3929" r:id="rId60"/>
    <p:sldId id="3930" r:id="rId61"/>
    <p:sldId id="3879" r:id="rId62"/>
    <p:sldId id="3928" r:id="rId63"/>
    <p:sldId id="3927" r:id="rId64"/>
    <p:sldId id="3886" r:id="rId65"/>
    <p:sldId id="3925" r:id="rId66"/>
    <p:sldId id="3926" r:id="rId67"/>
    <p:sldId id="3887" r:id="rId68"/>
    <p:sldId id="3845" r:id="rId69"/>
    <p:sldId id="3796" r:id="rId70"/>
    <p:sldId id="3843" r:id="rId71"/>
    <p:sldId id="3844" r:id="rId72"/>
    <p:sldId id="3916" r:id="rId73"/>
  </p:sldIdLst>
  <p:sldSz cx="12192000" cy="6858000"/>
  <p:notesSz cx="7315200" cy="9601200"/>
  <p:embeddedFontLst>
    <p:embeddedFont>
      <p:font typeface="Avenir Next LT Pro" panose="020B0504020202020204" pitchFamily="34" charset="0"/>
      <p:regular r:id="rId76"/>
      <p:bold r:id="rId77"/>
      <p:italic r:id="rId78"/>
      <p:boldItalic r:id="rId79"/>
    </p:embeddedFont>
    <p:embeddedFont>
      <p:font typeface="Calibri" panose="020F0502020204030204" pitchFamily="34" charset="0"/>
      <p:regular r:id="rId80"/>
      <p:bold r:id="rId81"/>
      <p:italic r:id="rId82"/>
      <p:boldItalic r:id="rId83"/>
    </p:embeddedFont>
    <p:embeddedFont>
      <p:font typeface="Garamond" panose="02020404030301010803" pitchFamily="18" charset="0"/>
      <p:regular r:id="rId84"/>
      <p:bold r:id="rId85"/>
      <p:italic r:id="rId86"/>
    </p:embeddedFont>
    <p:embeddedFont>
      <p:font typeface="Monument Grotesk Mono" panose="02010504030000020004" pitchFamily="50" charset="0"/>
      <p:regular r:id="rId87"/>
    </p:embeddedFont>
    <p:embeddedFont>
      <p:font typeface="Plaak 3 Trial Regular" panose="02000000000000000000" pitchFamily="50" charset="0"/>
      <p:bold r:id="rId88"/>
    </p:embeddedFont>
    <p:embeddedFont>
      <p:font typeface="Riforma LL" panose="020B0504020101020102" pitchFamily="34" charset="0"/>
      <p:regular r:id="rId8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FEFEFE"/>
    <a:srgbClr val="B2B2B2"/>
    <a:srgbClr val="FEF37F"/>
    <a:srgbClr val="000000"/>
    <a:srgbClr val="D0D0D0"/>
    <a:srgbClr val="FFF368"/>
    <a:srgbClr val="232323"/>
    <a:srgbClr val="F3B201"/>
    <a:srgbClr val="040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66" y="23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6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font" Target="fonts/font1.fntdata"/><Relationship Id="rId84" Type="http://schemas.openxmlformats.org/officeDocument/2006/relationships/font" Target="fonts/font9.fntdata"/><Relationship Id="rId89" Type="http://schemas.openxmlformats.org/officeDocument/2006/relationships/font" Target="fonts/font14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4.fntdata"/><Relationship Id="rId87" Type="http://schemas.openxmlformats.org/officeDocument/2006/relationships/font" Target="fonts/font12.fnt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font" Target="fonts/font7.fntdata"/><Relationship Id="rId90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font" Target="fonts/font2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font" Target="fonts/font5.fntdata"/><Relationship Id="rId85" Type="http://schemas.openxmlformats.org/officeDocument/2006/relationships/font" Target="fonts/font10.fntdata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handoutMaster" Target="handoutMasters/handoutMaster1.xml"/><Relationship Id="rId83" Type="http://schemas.openxmlformats.org/officeDocument/2006/relationships/font" Target="fonts/font8.fntdata"/><Relationship Id="rId88" Type="http://schemas.openxmlformats.org/officeDocument/2006/relationships/font" Target="fonts/font13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font" Target="fonts/font3.fntdata"/><Relationship Id="rId81" Type="http://schemas.openxmlformats.org/officeDocument/2006/relationships/font" Target="fonts/font6.fntdata"/><Relationship Id="rId86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88C1345-A2A6-4D11-BDE0-E058081ED8CA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72A2CD-9876-40E1-BBE3-8EE1DE0C5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89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7870C1C-DBCF-424F-AA99-58B43FA2B41C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298323-809A-4F9F-92DE-CBB614E45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TEX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61C8A-7D1B-B940-B792-7D8D55648C3D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5610CE-112F-144F-9CF1-F8CC5ED039F0}"/>
              </a:ext>
            </a:extLst>
          </p:cNvPr>
          <p:cNvCxnSpPr/>
          <p:nvPr userDrawn="1"/>
        </p:nvCxnSpPr>
        <p:spPr>
          <a:xfrm>
            <a:off x="-1" y="2694877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44FD69-BAD7-5F4C-9641-D0100E6B7187}"/>
              </a:ext>
            </a:extLst>
          </p:cNvPr>
          <p:cNvCxnSpPr/>
          <p:nvPr userDrawn="1"/>
        </p:nvCxnSpPr>
        <p:spPr>
          <a:xfrm>
            <a:off x="-2" y="4698380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2CB94BB3-799B-A44C-A6DA-321A3F14D09E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4050" y="2591540"/>
            <a:ext cx="10774933" cy="2595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spcBef>
                <a:spcPts val="0"/>
              </a:spcBef>
              <a:buNone/>
              <a:defRPr sz="15000">
                <a:solidFill>
                  <a:schemeClr val="tx1"/>
                </a:solidFill>
                <a:latin typeface="Plaak 3 Trial Regular" panose="02000000000000000000" pitchFamily="50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</a:t>
            </a:r>
            <a:br>
              <a:rPr lang="en-US" dirty="0"/>
            </a:br>
            <a:r>
              <a:rPr lang="en-US" dirty="0" err="1"/>
              <a:t>TexT</a:t>
            </a:r>
            <a:endParaRPr lang="en-US" dirty="0"/>
          </a:p>
          <a:p>
            <a:pPr lvl="0"/>
            <a:r>
              <a:rPr lang="en-US" dirty="0"/>
              <a:t> 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647F9A2-390F-154C-A0A1-534819B8929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6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TEXT] – KEEP SQUARE BRACKETS</a:t>
            </a:r>
          </a:p>
          <a:p>
            <a:pPr lvl="0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D05321D-C89C-244B-8CB2-086C62003565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4050" y="5547794"/>
            <a:ext cx="10774933" cy="17665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spcBef>
                <a:spcPts val="0"/>
              </a:spcBef>
              <a:buNone/>
              <a:defRPr sz="15000">
                <a:solidFill>
                  <a:srgbClr val="FFF469"/>
                </a:solidFill>
                <a:latin typeface="Plaak 3 Trial Regular" panose="02000000000000000000" pitchFamily="50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TEXT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9D96FE-2806-7A48-A067-06304FB274CB}"/>
              </a:ext>
            </a:extLst>
          </p:cNvPr>
          <p:cNvCxnSpPr/>
          <p:nvPr userDrawn="1"/>
        </p:nvCxnSpPr>
        <p:spPr>
          <a:xfrm>
            <a:off x="11515491" y="0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2B6E54-4566-A54D-B6A5-A305BACE978C}"/>
              </a:ext>
            </a:extLst>
          </p:cNvPr>
          <p:cNvCxnSpPr/>
          <p:nvPr userDrawn="1"/>
        </p:nvCxnSpPr>
        <p:spPr>
          <a:xfrm flipH="1">
            <a:off x="-2" y="683941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AC9B209-84B6-0D43-A92A-7D20EE7EA9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1977" y="152519"/>
            <a:ext cx="342587" cy="380980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EBE555E5-A99B-1645-832F-F800BA2CF7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43" y="128888"/>
            <a:ext cx="11449917" cy="811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92452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61C8A-7D1B-B940-B792-7D8D55648C3D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D41E9-48EF-CA45-AD0D-685C6757E47B}"/>
              </a:ext>
            </a:extLst>
          </p:cNvPr>
          <p:cNvCxnSpPr/>
          <p:nvPr userDrawn="1"/>
        </p:nvCxnSpPr>
        <p:spPr>
          <a:xfrm>
            <a:off x="11515491" y="0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848C3C-3289-7C4B-938B-464A3D285D1E}"/>
              </a:ext>
            </a:extLst>
          </p:cNvPr>
          <p:cNvCxnSpPr/>
          <p:nvPr userDrawn="1"/>
        </p:nvCxnSpPr>
        <p:spPr>
          <a:xfrm flipH="1">
            <a:off x="-2" y="683941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0AF0FF0D-F617-1A4F-8994-39332BBF4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1977" y="152519"/>
            <a:ext cx="342587" cy="38098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7344E0D9-9A54-D94A-8F61-6E30122CE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23" y="128888"/>
            <a:ext cx="11457551" cy="8116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647F9A2-390F-154C-A0A1-534819B8929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6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TEXT] – KEEP SQUARE BRACKETS</a:t>
            </a:r>
          </a:p>
          <a:p>
            <a:pPr lvl="0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10C154C-B673-5B49-9201-0BF68E6662B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4050" y="6543791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NAME] – KEEP SQUARE BRACKETS</a:t>
            </a:r>
          </a:p>
          <a:p>
            <a:pPr lvl="0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626225-384E-D64A-8DDE-D4EBC5E852AA}"/>
              </a:ext>
            </a:extLst>
          </p:cNvPr>
          <p:cNvCxnSpPr/>
          <p:nvPr userDrawn="1"/>
        </p:nvCxnSpPr>
        <p:spPr>
          <a:xfrm>
            <a:off x="7685088" y="688975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9BE783-E1A2-084E-A31E-90B00255E3E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10500" y="812800"/>
            <a:ext cx="2349995" cy="45537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Garamond" pitchFamily="18" charset="0"/>
              <a:buNone/>
              <a:tabLst/>
              <a:defRPr sz="1800">
                <a:solidFill>
                  <a:schemeClr val="tx1"/>
                </a:solidFill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Garamond" pitchFamily="18" charset="0"/>
              <a:buNone/>
              <a:tabLst/>
              <a:defRPr/>
            </a:pPr>
            <a:r>
              <a:rPr lang="en-GB" dirty="0">
                <a:effectLst/>
                <a:latin typeface="Riforma LL" panose="020B0504020101020102" pitchFamily="34" charset="77"/>
              </a:rPr>
              <a:t>I</a:t>
            </a:r>
            <a:r>
              <a:rPr lang="en-US" dirty="0" err="1"/>
              <a:t>nput</a:t>
            </a:r>
            <a:r>
              <a:rPr lang="en-US" dirty="0"/>
              <a:t>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D6C579C-C37C-3741-969B-2452DF281DC0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35065" y="389331"/>
            <a:ext cx="4986516" cy="14322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400">
                <a:solidFill>
                  <a:schemeClr val="tx1"/>
                </a:solidFill>
                <a:latin typeface="Plaak 3 Trial Regular" panose="02000000000000000000" pitchFamily="50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INPUT TEXT</a:t>
            </a:r>
          </a:p>
        </p:txBody>
      </p:sp>
    </p:spTree>
    <p:extLst>
      <p:ext uri="{BB962C8B-B14F-4D97-AF65-F5344CB8AC3E}">
        <p14:creationId xmlns:p14="http://schemas.microsoft.com/office/powerpoint/2010/main" val="81634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TEXT_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61C8A-7D1B-B940-B792-7D8D55648C3D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5610CE-112F-144F-9CF1-F8CC5ED039F0}"/>
              </a:ext>
            </a:extLst>
          </p:cNvPr>
          <p:cNvCxnSpPr/>
          <p:nvPr userDrawn="1"/>
        </p:nvCxnSpPr>
        <p:spPr>
          <a:xfrm>
            <a:off x="-1" y="2694877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44FD69-BAD7-5F4C-9641-D0100E6B7187}"/>
              </a:ext>
            </a:extLst>
          </p:cNvPr>
          <p:cNvCxnSpPr/>
          <p:nvPr userDrawn="1"/>
        </p:nvCxnSpPr>
        <p:spPr>
          <a:xfrm>
            <a:off x="-2" y="4698380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D41E9-48EF-CA45-AD0D-685C6757E47B}"/>
              </a:ext>
            </a:extLst>
          </p:cNvPr>
          <p:cNvCxnSpPr/>
          <p:nvPr userDrawn="1"/>
        </p:nvCxnSpPr>
        <p:spPr>
          <a:xfrm>
            <a:off x="11515491" y="0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848C3C-3289-7C4B-938B-464A3D285D1E}"/>
              </a:ext>
            </a:extLst>
          </p:cNvPr>
          <p:cNvCxnSpPr/>
          <p:nvPr userDrawn="1"/>
        </p:nvCxnSpPr>
        <p:spPr>
          <a:xfrm flipH="1">
            <a:off x="-2" y="683941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0AF0FF0D-F617-1A4F-8994-39332BBF4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1977" y="152519"/>
            <a:ext cx="342587" cy="38098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80B1F5-81F2-1941-8816-79EEB22EC540}"/>
              </a:ext>
            </a:extLst>
          </p:cNvPr>
          <p:cNvCxnSpPr/>
          <p:nvPr userDrawn="1"/>
        </p:nvCxnSpPr>
        <p:spPr>
          <a:xfrm flipH="1">
            <a:off x="0" y="2694877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F6BE4B-B2EC-294E-8E6A-2CF061EBD23D}"/>
              </a:ext>
            </a:extLst>
          </p:cNvPr>
          <p:cNvCxnSpPr/>
          <p:nvPr userDrawn="1"/>
        </p:nvCxnSpPr>
        <p:spPr>
          <a:xfrm flipH="1">
            <a:off x="-3" y="4698380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7344E0D9-9A54-D94A-8F61-6E30122CE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43" y="128889"/>
            <a:ext cx="11177199" cy="8406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CECC972-9D93-2A42-BA24-0800B0772E7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5064" y="969567"/>
            <a:ext cx="10774933" cy="14322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400">
                <a:solidFill>
                  <a:schemeClr val="tx1"/>
                </a:solidFill>
                <a:latin typeface="Plaak 3 Trial Regular" panose="02000000000000000000" pitchFamily="50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INPUT 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709C1C-00E1-B94F-8558-0C9E214B14B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5064" y="2957701"/>
            <a:ext cx="10774933" cy="14322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400">
                <a:solidFill>
                  <a:schemeClr val="tx1"/>
                </a:solidFill>
                <a:latin typeface="Plaak 3 Trial Regular" panose="02000000000000000000" pitchFamily="50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INPUT TEXT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2CB94BB3-799B-A44C-A6DA-321A3F14D09E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35064" y="4976571"/>
            <a:ext cx="10774933" cy="14322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400">
                <a:solidFill>
                  <a:schemeClr val="tx1"/>
                </a:solidFill>
                <a:latin typeface="Plaak 3 Trial Regular" panose="02000000000000000000" pitchFamily="50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INPUT TEXT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647F9A2-390F-154C-A0A1-534819B8929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6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TEXT] – KEEP SQUARE BRACKETS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76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61C8A-7D1B-B940-B792-7D8D55648C3D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D41E9-48EF-CA45-AD0D-685C6757E47B}"/>
              </a:ext>
            </a:extLst>
          </p:cNvPr>
          <p:cNvCxnSpPr/>
          <p:nvPr userDrawn="1"/>
        </p:nvCxnSpPr>
        <p:spPr>
          <a:xfrm>
            <a:off x="11515491" y="0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848C3C-3289-7C4B-938B-464A3D285D1E}"/>
              </a:ext>
            </a:extLst>
          </p:cNvPr>
          <p:cNvCxnSpPr/>
          <p:nvPr userDrawn="1"/>
        </p:nvCxnSpPr>
        <p:spPr>
          <a:xfrm flipH="1">
            <a:off x="-2" y="683941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0AF0FF0D-F617-1A4F-8994-39332BBF4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1977" y="152519"/>
            <a:ext cx="342587" cy="38098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7344E0D9-9A54-D94A-8F61-6E30122CE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23" y="128888"/>
            <a:ext cx="11055991" cy="12470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647F9A2-390F-154C-A0A1-534819B8929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6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TEXT] – KEEP SQUARE BRACKETS</a:t>
            </a:r>
          </a:p>
          <a:p>
            <a:pPr lvl="0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10C154C-B673-5B49-9201-0BF68E6662B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4050" y="6543791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NAME] – KEEP SQUARE BRACKETS</a:t>
            </a:r>
          </a:p>
          <a:p>
            <a:pPr lvl="0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F1FCA65-BCE6-4D3A-9635-C28DF1C8642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4050" y="2795787"/>
            <a:ext cx="6739422" cy="37899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8500">
                <a:solidFill>
                  <a:schemeClr val="tx1"/>
                </a:solidFill>
                <a:latin typeface="Plaak 3 Trial Regular" panose="02000000000000000000" pitchFamily="50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“Insert quote</a:t>
            </a:r>
          </a:p>
          <a:p>
            <a:pPr lvl="0"/>
            <a:r>
              <a:rPr lang="en-US" dirty="0"/>
              <a:t>Insert quote</a:t>
            </a:r>
          </a:p>
          <a:p>
            <a:pPr lvl="0"/>
            <a:r>
              <a:rPr lang="en-US" dirty="0"/>
              <a:t>Insert quote</a:t>
            </a:r>
          </a:p>
          <a:p>
            <a:pPr lvl="0"/>
            <a:r>
              <a:rPr lang="en-US" dirty="0"/>
              <a:t>Insert quote”</a:t>
            </a:r>
          </a:p>
        </p:txBody>
      </p:sp>
    </p:spTree>
    <p:extLst>
      <p:ext uri="{BB962C8B-B14F-4D97-AF65-F5344CB8AC3E}">
        <p14:creationId xmlns:p14="http://schemas.microsoft.com/office/powerpoint/2010/main" val="2502405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61C8A-7D1B-B940-B792-7D8D55648C3D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D41E9-48EF-CA45-AD0D-685C6757E47B}"/>
              </a:ext>
            </a:extLst>
          </p:cNvPr>
          <p:cNvCxnSpPr/>
          <p:nvPr userDrawn="1"/>
        </p:nvCxnSpPr>
        <p:spPr>
          <a:xfrm>
            <a:off x="11515491" y="0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848C3C-3289-7C4B-938B-464A3D285D1E}"/>
              </a:ext>
            </a:extLst>
          </p:cNvPr>
          <p:cNvCxnSpPr/>
          <p:nvPr userDrawn="1"/>
        </p:nvCxnSpPr>
        <p:spPr>
          <a:xfrm flipH="1">
            <a:off x="-2" y="683941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0AF0FF0D-F617-1A4F-8994-39332BBF4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1977" y="152519"/>
            <a:ext cx="342587" cy="38098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7344E0D9-9A54-D94A-8F61-6E30122CE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24" y="128889"/>
            <a:ext cx="10058400" cy="5057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647F9A2-390F-154C-A0A1-534819B8929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6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TEXT] – KEEP SQUARE BRACKETS</a:t>
            </a:r>
          </a:p>
          <a:p>
            <a:pPr lvl="0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10C154C-B673-5B49-9201-0BF68E6662B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4050" y="6543791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NAME] – KEEP SQUARE BRACKETS</a:t>
            </a:r>
          </a:p>
          <a:p>
            <a:pPr lvl="0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626225-384E-D64A-8DDE-D4EBC5E852AA}"/>
              </a:ext>
            </a:extLst>
          </p:cNvPr>
          <p:cNvCxnSpPr/>
          <p:nvPr userDrawn="1"/>
        </p:nvCxnSpPr>
        <p:spPr>
          <a:xfrm>
            <a:off x="7685088" y="688975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9BE783-E1A2-084E-A31E-90B00255E3E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10500" y="812800"/>
            <a:ext cx="2349995" cy="45537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Garamond" pitchFamily="18" charset="0"/>
              <a:buNone/>
              <a:tabLst/>
              <a:defRPr sz="1800">
                <a:solidFill>
                  <a:schemeClr val="tx1"/>
                </a:solidFill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Garamond" pitchFamily="18" charset="0"/>
              <a:buNone/>
              <a:tabLst/>
              <a:defRPr/>
            </a:pPr>
            <a:r>
              <a:rPr lang="en-GB" dirty="0">
                <a:effectLst/>
                <a:latin typeface="Riforma LL" panose="020B0504020101020102" pitchFamily="34" charset="77"/>
              </a:rPr>
              <a:t>→ I</a:t>
            </a:r>
            <a:r>
              <a:rPr lang="en-US" dirty="0" err="1"/>
              <a:t>nput</a:t>
            </a:r>
            <a:r>
              <a:rPr lang="en-US" dirty="0"/>
              <a:t>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B6F9EDC-60FE-DD49-B0A1-C8779D27A4C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810500" y="3366096"/>
            <a:ext cx="2349995" cy="45537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Garamond" pitchFamily="18" charset="0"/>
              <a:buNone/>
              <a:tabLst/>
              <a:defRPr sz="1800">
                <a:solidFill>
                  <a:schemeClr val="tx1"/>
                </a:solidFill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Garamond" pitchFamily="18" charset="0"/>
              <a:buNone/>
              <a:tabLst/>
              <a:defRPr/>
            </a:pPr>
            <a:r>
              <a:rPr lang="en-GB" dirty="0">
                <a:effectLst/>
                <a:latin typeface="Riforma LL" panose="020B0504020101020102" pitchFamily="34" charset="77"/>
              </a:rPr>
              <a:t>→ I</a:t>
            </a:r>
            <a:r>
              <a:rPr lang="en-US" dirty="0" err="1"/>
              <a:t>nput</a:t>
            </a:r>
            <a:r>
              <a:rPr lang="en-US" dirty="0"/>
              <a:t>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C95D805-FA13-F24A-AEAE-D8DDEFFABB1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810500" y="5919392"/>
            <a:ext cx="2349995" cy="45537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Garamond" pitchFamily="18" charset="0"/>
              <a:buNone/>
              <a:tabLst/>
              <a:defRPr sz="1800">
                <a:solidFill>
                  <a:schemeClr val="tx1"/>
                </a:solidFill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Garamond" pitchFamily="18" charset="0"/>
              <a:buNone/>
              <a:tabLst/>
              <a:defRPr/>
            </a:pPr>
            <a:r>
              <a:rPr lang="en-GB" dirty="0">
                <a:effectLst/>
                <a:latin typeface="Riforma LL" panose="020B0504020101020102" pitchFamily="34" charset="77"/>
              </a:rPr>
              <a:t>→ I</a:t>
            </a:r>
            <a:r>
              <a:rPr lang="en-US" dirty="0" err="1"/>
              <a:t>nput</a:t>
            </a:r>
            <a:r>
              <a:rPr lang="en-US" dirty="0"/>
              <a:t>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D6C579C-C37C-3741-969B-2452DF281DC0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35064" y="389331"/>
            <a:ext cx="10774933" cy="14322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400">
                <a:solidFill>
                  <a:schemeClr val="tx1"/>
                </a:solidFill>
                <a:latin typeface="Plaak 3 Trial Regular" panose="02000000000000000000" pitchFamily="50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INPUT TEXT</a:t>
            </a:r>
          </a:p>
        </p:txBody>
      </p:sp>
    </p:spTree>
    <p:extLst>
      <p:ext uri="{BB962C8B-B14F-4D97-AF65-F5344CB8AC3E}">
        <p14:creationId xmlns:p14="http://schemas.microsoft.com/office/powerpoint/2010/main" val="2232754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61C8A-7D1B-B940-B792-7D8D55648C3D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647F9A2-390F-154C-A0A1-534819B8929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6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TEXT] – KEEP SQUARE BRACKETS</a:t>
            </a:r>
          </a:p>
          <a:p>
            <a:pPr lvl="0"/>
            <a:r>
              <a:rPr lang="en-US" dirty="0"/>
              <a:t>0</a:t>
            </a:r>
          </a:p>
          <a:p>
            <a:pPr lvl="0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9D96FE-2806-7A48-A067-06304FB274CB}"/>
              </a:ext>
            </a:extLst>
          </p:cNvPr>
          <p:cNvCxnSpPr/>
          <p:nvPr userDrawn="1"/>
        </p:nvCxnSpPr>
        <p:spPr>
          <a:xfrm>
            <a:off x="11515491" y="0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2B6E54-4566-A54D-B6A5-A305BACE978C}"/>
              </a:ext>
            </a:extLst>
          </p:cNvPr>
          <p:cNvCxnSpPr/>
          <p:nvPr userDrawn="1"/>
        </p:nvCxnSpPr>
        <p:spPr>
          <a:xfrm flipH="1">
            <a:off x="-2" y="683941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AC9B209-84B6-0D43-A92A-7D20EE7EA9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1977" y="152519"/>
            <a:ext cx="342587" cy="380980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EBE555E5-A99B-1645-832F-F800BA2CF7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44" y="128888"/>
            <a:ext cx="10959501" cy="72674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CCD14-532A-4970-9F4D-0BA25F2C2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8" y="855663"/>
            <a:ext cx="11274425" cy="587375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8018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61C8A-7D1B-B940-B792-7D8D55648C3D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647F9A2-390F-154C-A0A1-534819B8929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6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TEXT] – KEEP SQUARE BRACKETS</a:t>
            </a:r>
          </a:p>
          <a:p>
            <a:pPr lvl="0"/>
            <a:r>
              <a:rPr lang="en-US" dirty="0"/>
              <a:t>0</a:t>
            </a:r>
          </a:p>
          <a:p>
            <a:pPr lvl="0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9D96FE-2806-7A48-A067-06304FB274CB}"/>
              </a:ext>
            </a:extLst>
          </p:cNvPr>
          <p:cNvCxnSpPr/>
          <p:nvPr userDrawn="1"/>
        </p:nvCxnSpPr>
        <p:spPr>
          <a:xfrm>
            <a:off x="11515491" y="0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2B6E54-4566-A54D-B6A5-A305BACE978C}"/>
              </a:ext>
            </a:extLst>
          </p:cNvPr>
          <p:cNvCxnSpPr/>
          <p:nvPr userDrawn="1"/>
        </p:nvCxnSpPr>
        <p:spPr>
          <a:xfrm flipH="1">
            <a:off x="-2" y="683941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AC9B209-84B6-0D43-A92A-7D20EE7EA9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1977" y="152519"/>
            <a:ext cx="342587" cy="380980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EBE555E5-A99B-1645-832F-F800BA2CF7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44" y="128888"/>
            <a:ext cx="10959501" cy="72674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>
                <a:latin typeface="Plaak 3 Trial Regular" panose="02000000000000000000" pitchFamily="5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CCD14-532A-4970-9F4D-0BA25F2C2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5522210" cy="587375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F3EB218-023E-4DF9-B0C2-7E6E05FA4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04401" y="855663"/>
            <a:ext cx="5522210" cy="587375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6842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61C8A-7D1B-B940-B792-7D8D55648C3D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647F9A2-390F-154C-A0A1-534819B8929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600" b="0" i="0">
                <a:solidFill>
                  <a:schemeClr val="tx1"/>
                </a:solidFill>
                <a:latin typeface="Monument Grotesk Mono" panose="0201050403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[INPUT TEXT] – KEEP SQUARE BRACKETS</a:t>
            </a:r>
          </a:p>
          <a:p>
            <a:pPr lvl="0"/>
            <a:r>
              <a:rPr lang="en-US" dirty="0"/>
              <a:t>0</a:t>
            </a:r>
          </a:p>
          <a:p>
            <a:pPr lvl="0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9D96FE-2806-7A48-A067-06304FB274CB}"/>
              </a:ext>
            </a:extLst>
          </p:cNvPr>
          <p:cNvCxnSpPr/>
          <p:nvPr userDrawn="1"/>
        </p:nvCxnSpPr>
        <p:spPr>
          <a:xfrm>
            <a:off x="11515491" y="0"/>
            <a:ext cx="0" cy="6858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2B6E54-4566-A54D-B6A5-A305BACE978C}"/>
              </a:ext>
            </a:extLst>
          </p:cNvPr>
          <p:cNvCxnSpPr/>
          <p:nvPr userDrawn="1"/>
        </p:nvCxnSpPr>
        <p:spPr>
          <a:xfrm flipH="1">
            <a:off x="-2" y="683941"/>
            <a:ext cx="11515493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AC9B209-84B6-0D43-A92A-7D20EE7EA9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1977" y="152519"/>
            <a:ext cx="342587" cy="38098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CCD14-532A-4970-9F4D-0BA25F2C2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1633307"/>
            <a:ext cx="5522210" cy="509610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F3EB218-023E-4DF9-B0C2-7E6E05FA4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04401" y="1633307"/>
            <a:ext cx="5522210" cy="509610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>
              <a:buNone/>
              <a:defRPr sz="1400"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B4FC7C-ECEB-4F75-B990-CA6F01532D50}"/>
              </a:ext>
            </a:extLst>
          </p:cNvPr>
          <p:cNvSpPr txBox="1">
            <a:spLocks/>
          </p:cNvSpPr>
          <p:nvPr userDrawn="1"/>
        </p:nvSpPr>
        <p:spPr>
          <a:xfrm>
            <a:off x="5904402" y="875625"/>
            <a:ext cx="5434604" cy="663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200" i="0" kern="120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  <a:ea typeface="+mn-ea"/>
                <a:cs typeface="+mn-cs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5ED230-9E93-4020-894D-A0FDC51EF259}"/>
              </a:ext>
            </a:extLst>
          </p:cNvPr>
          <p:cNvSpPr txBox="1">
            <a:spLocks/>
          </p:cNvSpPr>
          <p:nvPr userDrawn="1"/>
        </p:nvSpPr>
        <p:spPr>
          <a:xfrm>
            <a:off x="68232" y="826651"/>
            <a:ext cx="5434604" cy="663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200" i="0" kern="120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  <a:ea typeface="+mn-ea"/>
                <a:cs typeface="+mn-cs"/>
              </a:defRPr>
            </a:lvl1pPr>
          </a:lstStyle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31566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CEC2BA-1174-E84D-91B5-344020892201}"/>
              </a:ext>
            </a:extLst>
          </p:cNvPr>
          <p:cNvCxnSpPr/>
          <p:nvPr userDrawn="1"/>
        </p:nvCxnSpPr>
        <p:spPr>
          <a:xfrm>
            <a:off x="0" y="683941"/>
            <a:ext cx="11515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E1A28A-74C9-4B4D-8ABE-B6950D14123B}"/>
              </a:ext>
            </a:extLst>
          </p:cNvPr>
          <p:cNvCxnSpPr>
            <a:cxnSpLocks/>
          </p:cNvCxnSpPr>
          <p:nvPr userDrawn="1"/>
        </p:nvCxnSpPr>
        <p:spPr>
          <a:xfrm>
            <a:off x="11515491" y="683941"/>
            <a:ext cx="0" cy="6174059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40244E-3C98-644A-818A-0F5C94AF7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83941"/>
            <a:ext cx="12340559" cy="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280CBE7-D124-D449-9441-758B0D63387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0520099" y="5162200"/>
            <a:ext cx="3039830" cy="245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600" b="0" i="0" kern="1200">
                <a:solidFill>
                  <a:schemeClr val="tx1"/>
                </a:solidFill>
                <a:latin typeface="Monument Grotesk Mono" panose="02010504030000020004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[INPUT TEXT] – KEEP SQUARE BRACKETS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7A10E5-645E-1346-96E2-D2539BC29B4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095830" y="152520"/>
            <a:ext cx="938734" cy="38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2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8" r:id="rId2"/>
    <p:sldLayoutId id="2147484189" r:id="rId3"/>
    <p:sldLayoutId id="2147484190" r:id="rId4"/>
    <p:sldLayoutId id="2147484191" r:id="rId5"/>
    <p:sldLayoutId id="2147484194" r:id="rId6"/>
    <p:sldLayoutId id="2147484196" r:id="rId7"/>
    <p:sldLayoutId id="2147484197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">
          <p15:clr>
            <a:srgbClr val="F26B43"/>
          </p15:clr>
        </p15:guide>
        <p15:guide id="2" pos="98">
          <p15:clr>
            <a:srgbClr val="F26B43"/>
          </p15:clr>
        </p15:guide>
        <p15:guide id="3" pos="619">
          <p15:clr>
            <a:srgbClr val="F26B43"/>
          </p15:clr>
        </p15:guide>
        <p15:guide id="4" pos="698">
          <p15:clr>
            <a:srgbClr val="F26B43"/>
          </p15:clr>
        </p15:guide>
        <p15:guide id="5" pos="1220">
          <p15:clr>
            <a:srgbClr val="F26B43"/>
          </p15:clr>
        </p15:guide>
        <p15:guide id="6" pos="1301">
          <p15:clr>
            <a:srgbClr val="F26B43"/>
          </p15:clr>
        </p15:guide>
        <p15:guide id="7" pos="1823">
          <p15:clr>
            <a:srgbClr val="F26B43"/>
          </p15:clr>
        </p15:guide>
        <p15:guide id="8" pos="1906">
          <p15:clr>
            <a:srgbClr val="F26B43"/>
          </p15:clr>
        </p15:guide>
        <p15:guide id="9" pos="2426">
          <p15:clr>
            <a:srgbClr val="F26B43"/>
          </p15:clr>
        </p15:guide>
        <p15:guide id="10" pos="2508">
          <p15:clr>
            <a:srgbClr val="F26B43"/>
          </p15:clr>
        </p15:guide>
        <p15:guide id="11" pos="3031">
          <p15:clr>
            <a:srgbClr val="F26B43"/>
          </p15:clr>
        </p15:guide>
        <p15:guide id="12" pos="3109">
          <p15:clr>
            <a:srgbClr val="F26B43"/>
          </p15:clr>
        </p15:guide>
        <p15:guide id="13" pos="3634">
          <p15:clr>
            <a:srgbClr val="F26B43"/>
          </p15:clr>
        </p15:guide>
        <p15:guide id="14" pos="3714">
          <p15:clr>
            <a:srgbClr val="F26B43"/>
          </p15:clr>
        </p15:guide>
        <p15:guide id="15" pos="4236">
          <p15:clr>
            <a:srgbClr val="F26B43"/>
          </p15:clr>
        </p15:guide>
        <p15:guide id="16" pos="4317">
          <p15:clr>
            <a:srgbClr val="F26B43"/>
          </p15:clr>
        </p15:guide>
        <p15:guide id="17" pos="4841">
          <p15:clr>
            <a:srgbClr val="F26B43"/>
          </p15:clr>
        </p15:guide>
        <p15:guide id="18" pos="4920">
          <p15:clr>
            <a:srgbClr val="F26B43"/>
          </p15:clr>
        </p15:guide>
        <p15:guide id="19" pos="5442">
          <p15:clr>
            <a:srgbClr val="F26B43"/>
          </p15:clr>
        </p15:guide>
        <p15:guide id="20" pos="5521">
          <p15:clr>
            <a:srgbClr val="F26B43"/>
          </p15:clr>
        </p15:guide>
        <p15:guide id="21" pos="6043">
          <p15:clr>
            <a:srgbClr val="F26B43"/>
          </p15:clr>
        </p15:guide>
        <p15:guide id="22" pos="6123">
          <p15:clr>
            <a:srgbClr val="F26B43"/>
          </p15:clr>
        </p15:guide>
        <p15:guide id="23" pos="6646">
          <p15:clr>
            <a:srgbClr val="F26B43"/>
          </p15:clr>
        </p15:guide>
        <p15:guide id="24" pos="6726">
          <p15:clr>
            <a:srgbClr val="F26B43"/>
          </p15:clr>
        </p15:guide>
        <p15:guide id="25" pos="7251">
          <p15:clr>
            <a:srgbClr val="F26B43"/>
          </p15:clr>
        </p15:guide>
        <p15:guide id="26" orient="horz" pos="434">
          <p15:clr>
            <a:srgbClr val="F26B43"/>
          </p15:clr>
        </p15:guide>
        <p15:guide id="27" orient="horz" pos="512">
          <p15:clr>
            <a:srgbClr val="F26B43"/>
          </p15:clr>
        </p15:guide>
        <p15:guide id="28" orient="horz" pos="2327">
          <p15:clr>
            <a:srgbClr val="F26B43"/>
          </p15:clr>
        </p15:guide>
        <p15:guide id="29" orient="horz" pos="2405">
          <p15:clr>
            <a:srgbClr val="F26B43"/>
          </p15:clr>
        </p15:guide>
        <p15:guide id="30" orient="horz" pos="422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44025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1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1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451661C-12AC-4E86-AAD2-F840C8BCF1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93" y="2343602"/>
            <a:ext cx="5352213" cy="217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0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E4984-CD33-4C51-B78F-230968424AF3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sz="13000" dirty="0"/>
              <a:t>How to create </a:t>
            </a:r>
          </a:p>
          <a:p>
            <a:r>
              <a:rPr lang="en-US" sz="13000" dirty="0"/>
              <a:t>Next-level</a:t>
            </a:r>
          </a:p>
          <a:p>
            <a:r>
              <a:rPr lang="en-US" sz="13000" dirty="0">
                <a:solidFill>
                  <a:srgbClr val="FFF469"/>
                </a:solidFill>
              </a:rPr>
              <a:t>Learning materials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6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D6241-0CB2-4EC1-B4BC-6F13042ACB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6706" y="866747"/>
            <a:ext cx="3493874" cy="5873750"/>
          </a:xfrm>
        </p:spPr>
        <p:txBody>
          <a:bodyPr/>
          <a:lstStyle/>
          <a:p>
            <a:r>
              <a:rPr lang="en-GB" sz="1800" dirty="0">
                <a:solidFill>
                  <a:srgbClr val="FFF469"/>
                </a:solidFill>
              </a:rPr>
              <a:t>Research</a:t>
            </a:r>
            <a:r>
              <a:rPr lang="en-GB" sz="18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Learning Basics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sz="1000" dirty="0"/>
              <a:t>The Biology of Learning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sz="1000" dirty="0"/>
              <a:t>How the Brain Works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sz="1000" dirty="0"/>
              <a:t>Techniques for Faster Learning</a:t>
            </a:r>
          </a:p>
          <a:p>
            <a:pPr marL="457200" indent="-457200">
              <a:buFont typeface="+mj-lt"/>
              <a:buAutoNum type="arabicPeriod"/>
            </a:pPr>
            <a:endParaRPr lang="en-GB" sz="1600" dirty="0"/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Learning &amp; Instructional Design Principles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sz="1000" dirty="0"/>
              <a:t>Grabbing Attention Tactics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sz="1000" dirty="0"/>
              <a:t>Organisation and Sequence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sz="1000" dirty="0"/>
              <a:t>Selected Design Techniques</a:t>
            </a:r>
          </a:p>
          <a:p>
            <a:pPr lvl="1"/>
            <a:endParaRPr lang="en-GB" sz="1000" dirty="0"/>
          </a:p>
          <a:p>
            <a:pPr marL="731520" lvl="1" indent="-457200">
              <a:buFont typeface="+mj-lt"/>
              <a:buAutoNum type="arabicPeriod"/>
            </a:pPr>
            <a:endParaRPr lang="en-GB" sz="1000" dirty="0"/>
          </a:p>
          <a:p>
            <a:pPr lvl="1"/>
            <a:endParaRPr lang="en-GB" sz="1000" dirty="0"/>
          </a:p>
          <a:p>
            <a:pPr lvl="1"/>
            <a:endParaRPr lang="en-GB" sz="1000" dirty="0"/>
          </a:p>
          <a:p>
            <a:pPr lvl="1"/>
            <a:endParaRPr lang="en-GB" sz="1000" dirty="0"/>
          </a:p>
          <a:p>
            <a:pPr lvl="1"/>
            <a:r>
              <a:rPr lang="en-GB" sz="1000" dirty="0"/>
              <a:t>NEXT STEPS</a:t>
            </a:r>
          </a:p>
          <a:p>
            <a:r>
              <a:rPr lang="en-GB" sz="1600" dirty="0"/>
              <a:t>3.      </a:t>
            </a:r>
            <a:r>
              <a:rPr lang="en-GB" sz="1400" dirty="0"/>
              <a:t>Trends &amp; Technology</a:t>
            </a:r>
          </a:p>
          <a:p>
            <a:r>
              <a:rPr lang="en-GB" sz="1400" dirty="0"/>
              <a:t>4.      LM Evaluation Models 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75145-9DB4-403A-8000-5BAD07F9D2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19443" y="866747"/>
            <a:ext cx="3493874" cy="5873750"/>
          </a:xfrm>
        </p:spPr>
        <p:txBody>
          <a:bodyPr/>
          <a:lstStyle/>
          <a:p>
            <a:r>
              <a:rPr lang="en-GB" sz="1800" dirty="0"/>
              <a:t>Best Practices Samples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dirty="0"/>
              <a:t>xxx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AD021BF-EDE9-42BE-806E-5EEFE240121B}"/>
              </a:ext>
            </a:extLst>
          </p:cNvPr>
          <p:cNvSpPr txBox="1">
            <a:spLocks/>
          </p:cNvSpPr>
          <p:nvPr/>
        </p:nvSpPr>
        <p:spPr>
          <a:xfrm>
            <a:off x="7792180" y="866746"/>
            <a:ext cx="3434068" cy="592167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Visual Suggestions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Welcome Page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Program Intro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Progress Map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Module intro page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Learn [Gold Content]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Extra Mile Content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Sprint Intro [decisions, processes, relationships]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Key Learnings Summary [infographics]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Do - Tools Page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Checklist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Award page/Congrats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Module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Complementary pages [FAQ, dictionary, toolbox flashcards]</a:t>
            </a:r>
          </a:p>
          <a:p>
            <a:r>
              <a:rPr lang="en-GB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48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C3B0CA-3E67-417C-B2D3-331A7DC9839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rPr lang="en-US" sz="9000" dirty="0"/>
              <a:t>learning basics</a:t>
            </a:r>
          </a:p>
        </p:txBody>
      </p:sp>
    </p:spTree>
    <p:extLst>
      <p:ext uri="{BB962C8B-B14F-4D97-AF65-F5344CB8AC3E}">
        <p14:creationId xmlns:p14="http://schemas.microsoft.com/office/powerpoint/2010/main" val="304299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A1620-F8C0-459E-8EDE-0F822262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basics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D7D02-B192-4C47-9C3D-D2EEFC6AC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9000" dirty="0">
                <a:solidFill>
                  <a:srgbClr val="FFF469"/>
                </a:solidFill>
              </a:rPr>
              <a:t>The biology of learning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93558A-802D-4E58-9197-4FC90F83B173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en-US" sz="9000" dirty="0"/>
              <a:t>How the brain works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5D0CF2-EF63-428F-B093-9F44809B19B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sz="9000" dirty="0"/>
              <a:t>Faster learning techniques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FC0C71-A4D7-432C-B0D9-A98FDB98F4B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6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6C8B9B-0C61-49AE-AC5C-70937F404C8A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1E746F-D211-4600-B5E9-0D9C238A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Neuroplasticity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A1178-BEB1-4B03-971B-CAA2A0850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D693A-D4D8-4DC4-874E-410F96DBF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sz="1800" dirty="0">
                <a:solidFill>
                  <a:srgbClr val="FFF469"/>
                </a:solidFill>
              </a:rPr>
              <a:t>Neuroplasticity</a:t>
            </a:r>
            <a:r>
              <a:rPr lang="en-US" sz="1800" dirty="0"/>
              <a:t> is the nervous system ability to change in response to experience. It can be passive or active. For people over 25 Y must be active</a:t>
            </a:r>
          </a:p>
          <a:p>
            <a:pPr marL="342900" indent="-342900">
              <a:buFontTx/>
              <a:buChar char="-"/>
            </a:pPr>
            <a:endParaRPr lang="en-US" sz="1800" dirty="0"/>
          </a:p>
          <a:p>
            <a:pPr marL="342900" indent="-342900">
              <a:buFontTx/>
              <a:buChar char="-"/>
            </a:pPr>
            <a:r>
              <a:rPr lang="en-GB" sz="1800" dirty="0">
                <a:solidFill>
                  <a:srgbClr val="FFF469"/>
                </a:solidFill>
              </a:rPr>
              <a:t>Learning is triggered </a:t>
            </a:r>
            <a:r>
              <a:rPr lang="en-GB" sz="1800" dirty="0"/>
              <a:t>– if you do something actively, the brain will respond even after 25</a:t>
            </a:r>
          </a:p>
          <a:p>
            <a:pPr marL="342900" indent="-342900">
              <a:buFontTx/>
              <a:buChar char="-"/>
            </a:pPr>
            <a:endParaRPr lang="en-GB" sz="1800" dirty="0"/>
          </a:p>
          <a:p>
            <a:pPr marL="342900" indent="-342900">
              <a:buFontTx/>
              <a:buChar char="-"/>
            </a:pPr>
            <a:r>
              <a:rPr lang="en-US" sz="1800" dirty="0"/>
              <a:t>Neuroplasticity occurs during sleep but also during </a:t>
            </a:r>
            <a:r>
              <a:rPr lang="en-US" sz="1800" dirty="0">
                <a:solidFill>
                  <a:srgbClr val="FFF469"/>
                </a:solidFill>
              </a:rPr>
              <a:t>non-sleep-deep rest </a:t>
            </a:r>
            <a:r>
              <a:rPr lang="en-US" sz="1800" dirty="0"/>
              <a:t>NSDR. </a:t>
            </a:r>
            <a:r>
              <a:rPr lang="en-US" sz="1800" dirty="0">
                <a:solidFill>
                  <a:srgbClr val="FFF469"/>
                </a:solidFill>
              </a:rPr>
              <a:t>The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F469"/>
                </a:solidFill>
              </a:rPr>
              <a:t>Gap learning effects </a:t>
            </a:r>
            <a:r>
              <a:rPr lang="en-US" sz="1800" dirty="0"/>
              <a:t>open the door to neuroplasticity when you stop doing something for a moment</a:t>
            </a:r>
          </a:p>
          <a:p>
            <a:pPr marL="342900" indent="-342900">
              <a:buFontTx/>
              <a:buChar char="-"/>
            </a:pPr>
            <a:endParaRPr lang="en-US" sz="1800" dirty="0"/>
          </a:p>
          <a:p>
            <a:pPr marL="342900" indent="-342900">
              <a:buFontTx/>
              <a:buChar char="-"/>
            </a:pPr>
            <a:r>
              <a:rPr lang="en-US" sz="1800" dirty="0"/>
              <a:t>There is a </a:t>
            </a:r>
            <a:r>
              <a:rPr lang="en-US" sz="1800" dirty="0">
                <a:solidFill>
                  <a:srgbClr val="FFF469"/>
                </a:solidFill>
              </a:rPr>
              <a:t>protocol</a:t>
            </a:r>
            <a:r>
              <a:rPr lang="en-US" sz="1800" dirty="0"/>
              <a:t> in applying the science of neuroplasticity to enhance depth and  sped of learning</a:t>
            </a:r>
            <a:endParaRPr lang="en-GB" sz="1800" dirty="0"/>
          </a:p>
        </p:txBody>
      </p:sp>
      <p:pic>
        <p:nvPicPr>
          <p:cNvPr id="9" name="Graphic 8" descr="Lights On with solid fill">
            <a:extLst>
              <a:ext uri="{FF2B5EF4-FFF2-40B4-BE49-F238E27FC236}">
                <a16:creationId xmlns:a16="http://schemas.microsoft.com/office/drawing/2014/main" id="{E6603CA3-2F10-4DC5-9430-5214FAD0B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4757" y="3429000"/>
            <a:ext cx="1982873" cy="19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6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consider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ELEMENTS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FOCUS – hearing and seeing</a:t>
            </a:r>
          </a:p>
          <a:p>
            <a:pPr marL="457200" indent="-457200">
              <a:buAutoNum type="arabicPeriod"/>
            </a:pPr>
            <a:r>
              <a:rPr lang="en-US" dirty="0"/>
              <a:t>REPETITIONS – as many as possible</a:t>
            </a:r>
          </a:p>
          <a:p>
            <a:pPr marL="457200" indent="-457200">
              <a:buAutoNum type="arabicPeriod"/>
            </a:pPr>
            <a:r>
              <a:rPr lang="en-US" dirty="0"/>
              <a:t>ERRORS – Super Mario effect</a:t>
            </a:r>
          </a:p>
          <a:p>
            <a:pPr marL="457200" indent="-457200">
              <a:buAutoNum type="arabicPeriod"/>
            </a:pPr>
            <a:r>
              <a:rPr lang="en-US" dirty="0"/>
              <a:t>RANDOM MICRO-RESTS – 10 sec pauses</a:t>
            </a:r>
          </a:p>
          <a:p>
            <a:pPr marL="457200" indent="-457200">
              <a:buAutoNum type="arabicPeriod"/>
            </a:pPr>
            <a:r>
              <a:rPr lang="en-US" dirty="0"/>
              <a:t>RANDOM REWARDS + no-reward sessions</a:t>
            </a:r>
          </a:p>
          <a:p>
            <a:pPr marL="457200" indent="-457200">
              <a:buAutoNum type="arabicPeriod"/>
            </a:pPr>
            <a:r>
              <a:rPr lang="en-US" dirty="0"/>
              <a:t>LEARNING LIMIT – 90 min sessions</a:t>
            </a:r>
          </a:p>
          <a:p>
            <a:pPr marL="457200" indent="-457200">
              <a:buAutoNum type="arabicPeriod"/>
            </a:pPr>
            <a:r>
              <a:rPr lang="en-US" dirty="0"/>
              <a:t>NON-SLEEP-DEE-REST - 10-30 min post learning practice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1C66AF1E-5F26-4898-9977-377A93756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1514" y="3275795"/>
            <a:ext cx="2009360" cy="20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01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A1620-F8C0-459E-8EDE-0F822262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basics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D7D02-B192-4C47-9C3D-D2EEFC6AC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9000" dirty="0">
                <a:solidFill>
                  <a:srgbClr val="FEFEFE"/>
                </a:solidFill>
              </a:rPr>
              <a:t>The biology of learning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93558A-802D-4E58-9197-4FC90F83B173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en-US" sz="9000" dirty="0">
                <a:solidFill>
                  <a:srgbClr val="FFF469"/>
                </a:solidFill>
              </a:rPr>
              <a:t>How the brain works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5D0CF2-EF63-428F-B093-9F44809B19B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sz="9000" dirty="0"/>
              <a:t>Faster learning techniques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FC0C71-A4D7-432C-B0D9-A98FDB98F4B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6C8B9B-0C61-49AE-AC5C-70937F404C8A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1E746F-D211-4600-B5E9-0D9C238A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the brain works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A1178-BEB1-4B03-971B-CAA2A0850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D693A-D4D8-4DC4-874E-410F96DBF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sz="1600" dirty="0"/>
              <a:t>The brain needs clear </a:t>
            </a:r>
            <a:r>
              <a:rPr lang="en-US" sz="1600" dirty="0">
                <a:solidFill>
                  <a:srgbClr val="FFF469"/>
                </a:solidFill>
              </a:rPr>
              <a:t>prioritisation and a dedicated time </a:t>
            </a:r>
            <a:r>
              <a:rPr lang="en-US" sz="1600" dirty="0"/>
              <a:t>for a task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The </a:t>
            </a:r>
            <a:r>
              <a:rPr lang="en-US" sz="1600" dirty="0">
                <a:solidFill>
                  <a:srgbClr val="FFF469"/>
                </a:solidFill>
              </a:rPr>
              <a:t>7 learning styles </a:t>
            </a:r>
            <a:r>
              <a:rPr lang="en-US" sz="1600" dirty="0"/>
              <a:t>is a myth [Kinesthetic, Visual, Aural, Verbal, Mathematical, Interpersonal, Intrapersonal approach cannot guarantee any learning outcome]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Make waves between intense effort and equally intense recovery [</a:t>
            </a:r>
            <a:r>
              <a:rPr lang="en-US" sz="1600" dirty="0">
                <a:solidFill>
                  <a:srgbClr val="FFF469"/>
                </a:solidFill>
              </a:rPr>
              <a:t>focused and defused mode</a:t>
            </a:r>
            <a:r>
              <a:rPr lang="en-US" sz="1600" dirty="0"/>
              <a:t>]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Chunk-bite the material and use </a:t>
            </a:r>
            <a:r>
              <a:rPr lang="en-US" sz="1600" dirty="0">
                <a:solidFill>
                  <a:srgbClr val="FFF469"/>
                </a:solidFill>
              </a:rPr>
              <a:t>distributed learning.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/>
              <a:t>There are certain </a:t>
            </a:r>
            <a:r>
              <a:rPr lang="en-US" sz="1600" dirty="0">
                <a:solidFill>
                  <a:srgbClr val="FFF469"/>
                </a:solidFill>
              </a:rPr>
              <a:t>techniques</a:t>
            </a:r>
            <a:r>
              <a:rPr lang="en-US" sz="1600" dirty="0"/>
              <a:t> for faster and deeper learning</a:t>
            </a:r>
          </a:p>
        </p:txBody>
      </p:sp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A94E7D71-9301-4630-9599-C7C295655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4757" y="3429000"/>
            <a:ext cx="1982873" cy="19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30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consider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ELEMENTS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VARY effortful and easy moments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MIX UP THE PRACTICES to strengthen the knowledge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Use ELABORATION PRINCIPLE [Explain it in your own words and connect it to other wisdom. Connect it to something you already know.]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Optimize the three aspects of successful intelligence: analytical + creative + practical via DYNAMIC TESTING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1C66AF1E-5F26-4898-9977-377A93756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1514" y="3275795"/>
            <a:ext cx="2009360" cy="20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28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A1620-F8C0-459E-8EDE-0F822262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basics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D7D02-B192-4C47-9C3D-D2EEFC6AC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9000" dirty="0">
                <a:solidFill>
                  <a:srgbClr val="FEFEFE"/>
                </a:solidFill>
              </a:rPr>
              <a:t>The biology of learning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93558A-802D-4E58-9197-4FC90F83B173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en-US" sz="9000" dirty="0"/>
              <a:t>How the brain works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5D0CF2-EF63-428F-B093-9F44809B19B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sz="9000" dirty="0">
                <a:solidFill>
                  <a:srgbClr val="FFF469"/>
                </a:solidFill>
              </a:rPr>
              <a:t>Faster learning techniques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FC0C71-A4D7-432C-B0D9-A98FDB98F4B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6C8B9B-0C61-49AE-AC5C-70937F404C8A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1E746F-D211-4600-B5E9-0D9C238A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Faster learning techniques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A1178-BEB1-4B03-971B-CAA2A0850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D693A-D4D8-4DC4-874E-410F96DBF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Interleaving</a:t>
            </a:r>
            <a:r>
              <a:rPr lang="en-US" sz="1600" dirty="0"/>
              <a:t> is a learning technique that involves mixing different topics or forms of practice, in order to facilitate learning.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Change</a:t>
            </a:r>
            <a:r>
              <a:rPr lang="en-US" sz="1600" dirty="0"/>
              <a:t> the blocked manner of studying: AAAABBBBCCCC , ABCABCABCABC, AABBCCAABBCC with </a:t>
            </a:r>
            <a:r>
              <a:rPr lang="en-US" sz="1600" dirty="0">
                <a:solidFill>
                  <a:srgbClr val="FFF469"/>
                </a:solidFill>
              </a:rPr>
              <a:t>interleaving approach</a:t>
            </a:r>
            <a:r>
              <a:rPr lang="en-US" sz="1600" dirty="0"/>
              <a:t>: AAABBBCCCABC – mix topics at the end ACBABBBAACCC – random manner of topics ACBABBCAACCB – interleave in a partially random manner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When you </a:t>
            </a:r>
            <a:r>
              <a:rPr lang="en-US" sz="1600" dirty="0">
                <a:solidFill>
                  <a:srgbClr val="FFF469"/>
                </a:solidFill>
              </a:rPr>
              <a:t>reinforce your memories by testing them</a:t>
            </a:r>
            <a:r>
              <a:rPr lang="en-US" sz="1600" dirty="0"/>
              <a:t>, they get much stronger than if you simply re-read a passage.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Activate </a:t>
            </a:r>
            <a:r>
              <a:rPr lang="en-US" sz="1600" dirty="0">
                <a:solidFill>
                  <a:srgbClr val="FFF469"/>
                </a:solidFill>
              </a:rPr>
              <a:t>different parts of the brain </a:t>
            </a:r>
            <a:r>
              <a:rPr lang="en-US" sz="1600" dirty="0"/>
              <a:t>to maximize the effect of learning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Top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F469"/>
                </a:solidFill>
              </a:rPr>
              <a:t>techniques</a:t>
            </a:r>
            <a:r>
              <a:rPr lang="en-US" sz="1600" dirty="0"/>
              <a:t> include: microlearning, spaced repetition and retrieval method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endParaRPr lang="en-US" sz="1600" dirty="0"/>
          </a:p>
        </p:txBody>
      </p:sp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6886E592-AF8D-4991-B8DE-853C0FEB9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4757" y="3429000"/>
            <a:ext cx="1982873" cy="19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13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consider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ELEMENTS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MIX in old material with new material.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Use INTERLEAVING TOGETHER WITH OTHER LEARNING STRATEGIES - repeated retrieval practice, practice testing and even studying in different locations.</a:t>
            </a:r>
          </a:p>
          <a:p>
            <a:pPr marL="457200" indent="-457200">
              <a:buAutoNum type="arabicPeriod"/>
            </a:pPr>
            <a:r>
              <a:rPr lang="en-US" dirty="0"/>
              <a:t> TEST THE USER ON ALL LEVELS: for a specific chapter, a whole unit, and your entire course</a:t>
            </a:r>
          </a:p>
          <a:p>
            <a:pPr marL="457200" indent="-457200">
              <a:buAutoNum type="arabicPeriod"/>
            </a:pPr>
            <a:r>
              <a:rPr lang="en-US" dirty="0"/>
              <a:t>Recommended SPACING INTERVALS: repetitions on days 1, 10, 30, 60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EFEFE"/>
                </a:solidFill>
              </a:rPr>
              <a:t>RETRIEVAL</a:t>
            </a:r>
            <a:r>
              <a:rPr lang="en-US" dirty="0"/>
              <a:t> ties the knot for memory: </a:t>
            </a:r>
            <a:r>
              <a:rPr lang="en-US" b="0" i="0" u="none" strike="noStrike" dirty="0">
                <a:effectLst/>
              </a:rPr>
              <a:t>The Brain Dump method [10 min to write down ideas and concepts learned]</a:t>
            </a: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>
              <a:solidFill>
                <a:srgbClr val="FFF469"/>
              </a:solidFill>
            </a:endParaRP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1C66AF1E-5F26-4898-9977-377A93756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1514" y="3275795"/>
            <a:ext cx="2009360" cy="20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27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C3B0CA-3E67-417C-B2D3-331A7DC9839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9030" y="4904304"/>
            <a:ext cx="10774933" cy="1766588"/>
          </a:xfrm>
        </p:spPr>
        <p:txBody>
          <a:bodyPr/>
          <a:lstStyle/>
          <a:p>
            <a:r>
              <a:rPr lang="en-US" sz="9000" dirty="0"/>
              <a:t>Learning and instructional</a:t>
            </a:r>
          </a:p>
          <a:p>
            <a:r>
              <a:rPr lang="en-US" sz="9000" dirty="0"/>
              <a:t>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746225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A1620-F8C0-459E-8EDE-0F822262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and instructional design principles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D7D02-B192-4C47-9C3D-D2EEFC6AC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9000" dirty="0">
                <a:solidFill>
                  <a:srgbClr val="FFF469"/>
                </a:solidFill>
              </a:rPr>
              <a:t>Grabbing-attention tactics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93558A-802D-4E58-9197-4FC90F83B173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en-US" sz="9000" dirty="0"/>
              <a:t>Organisation and sequence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5D0CF2-EF63-428F-B093-9F44809B19B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sz="9000" dirty="0"/>
              <a:t>Selected Design techniques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FC0C71-A4D7-432C-B0D9-A98FDB98F4B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9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6C8B9B-0C61-49AE-AC5C-70937F404C8A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1E746F-D211-4600-B5E9-0D9C238A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Grabbing attention tactics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A1178-BEB1-4B03-971B-CAA2A0850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D693A-D4D8-4DC4-874E-410F96DBF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Comparing/combining </a:t>
            </a:r>
            <a:r>
              <a:rPr lang="en-US" sz="1600" dirty="0"/>
              <a:t>old and familiar concepts to new and exciting ones helps with focus and retention.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Only 10% information we hear or read is retainable. However, when </a:t>
            </a:r>
            <a:r>
              <a:rPr lang="en-US" sz="1600" dirty="0">
                <a:solidFill>
                  <a:srgbClr val="FFF469"/>
                </a:solidFill>
              </a:rPr>
              <a:t>new information is paired with an image</a:t>
            </a:r>
            <a:r>
              <a:rPr lang="en-US" sz="1600" dirty="0"/>
              <a:t>, retention skyrockets to impressive 60%.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The contrast between </a:t>
            </a:r>
            <a:r>
              <a:rPr lang="en-US" sz="1600" dirty="0">
                <a:solidFill>
                  <a:srgbClr val="FFF469"/>
                </a:solidFill>
              </a:rPr>
              <a:t>listening and reading comprehension</a:t>
            </a:r>
            <a:r>
              <a:rPr lang="en-US" sz="1600" dirty="0"/>
              <a:t> showed more activation for listening comprehension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The increasing digitalization of our world has made it far too easy to swipe, click and look away from things because there is always something else to look at. </a:t>
            </a:r>
            <a:r>
              <a:rPr lang="en-US" sz="1600" dirty="0">
                <a:solidFill>
                  <a:srgbClr val="FFF469"/>
                </a:solidFill>
              </a:rPr>
              <a:t>Design with short attention spans in mind</a:t>
            </a:r>
            <a:r>
              <a:rPr lang="en-US" sz="1600" dirty="0"/>
              <a:t>.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endParaRPr lang="en-US" sz="1600" dirty="0"/>
          </a:p>
        </p:txBody>
      </p:sp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35892012-DC9B-4856-B9B9-C8EC4ABBD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4757" y="3429000"/>
            <a:ext cx="1982873" cy="19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94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consider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ELEMENTS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Use VISUALS next to the reading content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Make the content SKIMMABLE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Start with QUESTIONS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Add UNPREDICTABLE SOUNDS AND SIGHTS that signal something new to engage the dopamine system and seek more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>
              <a:solidFill>
                <a:srgbClr val="FFF469"/>
              </a:solidFill>
            </a:endParaRP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1C66AF1E-5F26-4898-9977-377A93756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1514" y="3275795"/>
            <a:ext cx="2009360" cy="20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86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A1620-F8C0-459E-8EDE-0F822262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and instructional design principles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D7D02-B192-4C47-9C3D-D2EEFC6AC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9000" dirty="0"/>
              <a:t>Grabbing-attention tactics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93558A-802D-4E58-9197-4FC90F83B173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en-US" sz="9000" dirty="0">
                <a:solidFill>
                  <a:srgbClr val="FFF469"/>
                </a:solidFill>
              </a:rPr>
              <a:t>Organisation and sequence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5D0CF2-EF63-428F-B093-9F44809B19B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sz="9000" dirty="0"/>
              <a:t>Selected Design techniques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FC0C71-A4D7-432C-B0D9-A98FDB98F4B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49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6C8B9B-0C61-49AE-AC5C-70937F404C8A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1E746F-D211-4600-B5E9-0D9C238A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Organisation and sequence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A1178-BEB1-4B03-971B-CAA2A0850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D693A-D4D8-4DC4-874E-410F96DBF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Mastery-based learning </a:t>
            </a:r>
            <a:r>
              <a:rPr lang="en-US" sz="1600" dirty="0"/>
              <a:t>is an approach where the learners need to demonstrate a high level of understanding of one topic or subject before moving on to the next.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Tasks analysis </a:t>
            </a:r>
            <a:r>
              <a:rPr lang="en-US" sz="1600" dirty="0"/>
              <a:t>is a technique that allows content sequencing in terms of expected outcomes in the learning process. 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Elaborative Sequence </a:t>
            </a:r>
            <a:r>
              <a:rPr lang="en-US" sz="1600" dirty="0"/>
              <a:t>- from simple and general elements to more complex and detailed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The summary </a:t>
            </a:r>
            <a:r>
              <a:rPr lang="en-US" sz="1600" dirty="0"/>
              <a:t>includes a revision of the content; </a:t>
            </a:r>
            <a:r>
              <a:rPr lang="en-US" sz="1600" dirty="0">
                <a:solidFill>
                  <a:srgbClr val="FFF469"/>
                </a:solidFill>
              </a:rPr>
              <a:t>the synthesis</a:t>
            </a:r>
            <a:r>
              <a:rPr lang="en-US" sz="1600" dirty="0"/>
              <a:t> shows the relationships between the elements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rgbClr val="FFF469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F469"/>
                </a:solidFill>
              </a:rPr>
              <a:t>Merrill’s First Principles of Instruction </a:t>
            </a:r>
            <a:r>
              <a:rPr lang="en-US" sz="1600" dirty="0"/>
              <a:t>– include real-world problem solving 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endParaRPr lang="en-US" sz="1600" dirty="0"/>
          </a:p>
        </p:txBody>
      </p:sp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7D64AD58-0B4C-4CC6-8F8B-D01163A54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4757" y="3429000"/>
            <a:ext cx="1982873" cy="19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91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consider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ELEMENTS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Incorporate the MASTERY-BASED LEARNING’s factors:</a:t>
            </a:r>
          </a:p>
          <a:p>
            <a:pPr marL="731520" lvl="1" indent="-457200">
              <a:buAutoNum type="arabicPeriod"/>
            </a:pPr>
            <a:r>
              <a:rPr lang="en-US" dirty="0"/>
              <a:t>Clear and specific learning objectives</a:t>
            </a:r>
          </a:p>
          <a:p>
            <a:pPr marL="731520" lvl="1" indent="-457200">
              <a:buAutoNum type="arabicPeriod"/>
            </a:pPr>
            <a:r>
              <a:rPr lang="en-US" dirty="0"/>
              <a:t>Precise mastery thresholds meaning what exactly should learners know</a:t>
            </a:r>
          </a:p>
          <a:p>
            <a:pPr marL="731520" lvl="1" indent="-457200">
              <a:buAutoNum type="arabicPeriod"/>
            </a:pPr>
            <a:r>
              <a:rPr lang="en-US" dirty="0"/>
              <a:t>Make learners display mastery, e.g., through quizzes, tests</a:t>
            </a:r>
          </a:p>
          <a:p>
            <a:pPr marL="731520" lvl="1" indent="-457200">
              <a:buAutoNum type="arabicPeriod"/>
            </a:pPr>
            <a:r>
              <a:rPr lang="en-US" dirty="0"/>
              <a:t>Make teachers assess learners’ knowledge/immediate feedback mechanism</a:t>
            </a:r>
          </a:p>
          <a:p>
            <a:pPr marL="731520" lvl="1" indent="-457200">
              <a:buAutoNum type="arabicPeriod"/>
            </a:pPr>
            <a:r>
              <a:rPr lang="en-US" dirty="0"/>
              <a:t>Display the data</a:t>
            </a:r>
          </a:p>
          <a:p>
            <a:pPr marL="457200" indent="-457200">
              <a:buAutoNum type="arabicPeriod" startAt="2"/>
            </a:pPr>
            <a:r>
              <a:rPr lang="en-US" sz="2000" dirty="0"/>
              <a:t>TASKS ANALYSIS process: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Determine the task (skill to learn)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Sub-tasks: determine the possible components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Sequence subtasks or sub skills, from the simplest to the most complex.</a:t>
            </a:r>
          </a:p>
          <a:p>
            <a:pPr marL="457200" indent="-457200">
              <a:buAutoNum type="arabicPeriod" startAt="3"/>
            </a:pPr>
            <a:r>
              <a:rPr lang="en-US" dirty="0"/>
              <a:t>Start with </a:t>
            </a:r>
            <a:r>
              <a:rPr lang="en-US" sz="2000" dirty="0">
                <a:solidFill>
                  <a:srgbClr val="FEFEFE"/>
                </a:solidFill>
              </a:rPr>
              <a:t>GENERAL VIEWPOINT, then introduce the COMPLEXITY, finally add SUMMARY AND A SYNTHESIS </a:t>
            </a:r>
            <a:endParaRPr lang="en-US" dirty="0">
              <a:solidFill>
                <a:srgbClr val="FEFEFE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endParaRPr lang="en-US" dirty="0"/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1C66AF1E-5F26-4898-9977-377A93756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1514" y="3275795"/>
            <a:ext cx="2009360" cy="20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36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A1620-F8C0-459E-8EDE-0F822262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and instructional design principles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D7D02-B192-4C47-9C3D-D2EEFC6AC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9000" dirty="0"/>
              <a:t>Grabbing-attention tactics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93558A-802D-4E58-9197-4FC90F83B173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en-US" sz="9000" dirty="0"/>
              <a:t>Organisation and sequence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5D0CF2-EF63-428F-B093-9F44809B19B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sz="9000" dirty="0">
                <a:solidFill>
                  <a:srgbClr val="FFF469"/>
                </a:solidFill>
              </a:rPr>
              <a:t>Selected Design techniques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FC0C71-A4D7-432C-B0D9-A98FDB98F4B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4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6C8B9B-0C61-49AE-AC5C-70937F404C8A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1E746F-D211-4600-B5E9-0D9C238A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Selected design techniques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A1178-BEB1-4B03-971B-CAA2A0850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D693A-D4D8-4DC4-874E-410F96DBF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rgbClr val="FFF469"/>
                </a:solidFill>
              </a:rPr>
              <a:t>The Multimedia Principle</a:t>
            </a:r>
            <a:r>
              <a:rPr lang="en-US" sz="1600" dirty="0"/>
              <a:t>: people learn better from words and pictures than from words alone. 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F469"/>
                </a:solidFill>
              </a:rPr>
              <a:t>The Spatial Contiguity Principle</a:t>
            </a:r>
            <a:r>
              <a:rPr lang="en-US" sz="1600" dirty="0"/>
              <a:t>: people learn better when corresponding words and pictures are presented near one another. This can refer to pages, screens, and so on. 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F469"/>
                </a:solidFill>
              </a:rPr>
              <a:t>The Temporal Contiguity Principle</a:t>
            </a:r>
            <a:r>
              <a:rPr lang="en-US" sz="1600" dirty="0"/>
              <a:t>: people learn better when corresponding words and pictures are presented simultaneously, not successively.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Instructional design should </a:t>
            </a:r>
            <a:r>
              <a:rPr lang="en-US" sz="1600" dirty="0">
                <a:solidFill>
                  <a:srgbClr val="FFF469"/>
                </a:solidFill>
              </a:rPr>
              <a:t>contextualise</a:t>
            </a:r>
            <a:r>
              <a:rPr lang="en-US" sz="1600" dirty="0"/>
              <a:t> information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600" dirty="0"/>
              <a:t>Instructional design should proceed at an </a:t>
            </a:r>
            <a:r>
              <a:rPr lang="en-US" sz="1600" dirty="0">
                <a:solidFill>
                  <a:srgbClr val="FFF469"/>
                </a:solidFill>
              </a:rPr>
              <a:t>efficient pace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endParaRPr lang="en-US" sz="1600" dirty="0"/>
          </a:p>
        </p:txBody>
      </p:sp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B8783350-E951-4598-B92C-50C42485B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4757" y="3429000"/>
            <a:ext cx="1982873" cy="19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62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consider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ELEMENTS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Utilize MULTIMEDIA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POSITION </a:t>
            </a:r>
            <a:r>
              <a:rPr lang="en-US" sz="2000" dirty="0"/>
              <a:t>text (labels, captions, descriptions, etc.) close to the image it describes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Use VARIED FORMATS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Use multiple VISUAL  EXAMPLES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Use CLEAR, ORGANIZED FORMAT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When to use GRAPHICS:</a:t>
            </a:r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Portray emotions – use scenario approach, ex. add characters experience emotions</a:t>
            </a:r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Visualise data – diagrams, graphs, charts</a:t>
            </a:r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Identify parts and components – labeled illustrations, cutaways</a:t>
            </a:r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Trace motion or object’s path – movement through lines and arrows</a:t>
            </a:r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Geography and statistical data – quantitative information, distribution of variables</a:t>
            </a:r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731520" lvl="1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>
              <a:solidFill>
                <a:srgbClr val="FFF469"/>
              </a:solidFill>
            </a:endParaRP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1C66AF1E-5F26-4898-9977-377A93756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1514" y="3275795"/>
            <a:ext cx="2009360" cy="20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41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C3B0CA-3E67-417C-B2D3-331A7DC9839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9030" y="4921261"/>
            <a:ext cx="10774933" cy="1766588"/>
          </a:xfrm>
        </p:spPr>
        <p:txBody>
          <a:bodyPr/>
          <a:lstStyle/>
          <a:p>
            <a:r>
              <a:rPr lang="en-US" sz="9000" dirty="0">
                <a:solidFill>
                  <a:schemeClr val="tx1"/>
                </a:solidFill>
              </a:rPr>
              <a:t>Add-on </a:t>
            </a:r>
          </a:p>
          <a:p>
            <a:r>
              <a:rPr lang="en-US" sz="9000" dirty="0"/>
              <a:t>Trends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1690074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Trends and technology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WHAT</a:t>
            </a:r>
          </a:p>
          <a:p>
            <a:endParaRPr lang="en-US" dirty="0"/>
          </a:p>
          <a:p>
            <a:r>
              <a:rPr lang="en-US" dirty="0"/>
              <a:t>Create Opportunities for Interaction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HOW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Consider </a:t>
            </a:r>
            <a:r>
              <a:rPr lang="en-US" dirty="0">
                <a:solidFill>
                  <a:srgbClr val="FFF469"/>
                </a:solidFill>
              </a:rPr>
              <a:t>interactive lessons </a:t>
            </a:r>
            <a:r>
              <a:rPr lang="en-US" dirty="0"/>
              <a:t>that they can click through. Better yet, supplement lessons with self-check questions, click-to-reveal notes with supplemental materials, and other strategies for letting students check their progress, interact with the content, and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40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Trends and technology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WHAT</a:t>
            </a:r>
          </a:p>
          <a:p>
            <a:endParaRPr lang="en-US" dirty="0"/>
          </a:p>
          <a:p>
            <a:r>
              <a:rPr lang="en-US" sz="2000" dirty="0"/>
              <a:t>New technology: AI, VR and yet to come…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HOW</a:t>
            </a:r>
          </a:p>
          <a:p>
            <a:endParaRPr lang="en-US" dirty="0"/>
          </a:p>
          <a:p>
            <a:r>
              <a:rPr lang="en-US" dirty="0">
                <a:solidFill>
                  <a:srgbClr val="FFF469"/>
                </a:solidFill>
              </a:rPr>
              <a:t>Newest technology </a:t>
            </a:r>
            <a:r>
              <a:rPr lang="en-US" dirty="0"/>
              <a:t>enters the learning field: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Flexible OLED-based displays that can be rolled like paper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Level-upped biometrics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Eye-tracking technology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Simulation learning allowing users to practice critical work skills in a controlled environment</a:t>
            </a:r>
          </a:p>
        </p:txBody>
      </p:sp>
    </p:spTree>
    <p:extLst>
      <p:ext uri="{BB962C8B-B14F-4D97-AF65-F5344CB8AC3E}">
        <p14:creationId xmlns:p14="http://schemas.microsoft.com/office/powerpoint/2010/main" val="43056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Trends and technology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WHAT</a:t>
            </a:r>
          </a:p>
          <a:p>
            <a:endParaRPr lang="en-US" dirty="0"/>
          </a:p>
          <a:p>
            <a:r>
              <a:rPr lang="en-US" sz="2000" dirty="0"/>
              <a:t>Social learning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HOW</a:t>
            </a:r>
          </a:p>
          <a:p>
            <a:endParaRPr lang="en-US" dirty="0"/>
          </a:p>
          <a:p>
            <a:r>
              <a:rPr lang="en-US" dirty="0"/>
              <a:t>Create Forums, Chatrooms, and File-sharing options among learners and trainers. </a:t>
            </a:r>
          </a:p>
        </p:txBody>
      </p:sp>
    </p:spTree>
    <p:extLst>
      <p:ext uri="{BB962C8B-B14F-4D97-AF65-F5344CB8AC3E}">
        <p14:creationId xmlns:p14="http://schemas.microsoft.com/office/powerpoint/2010/main" val="537554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2D6F0B-2713-40AD-BB70-572CE3BAD80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21E6FB-4D67-4562-9B5D-4C5C4BB5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Trends and technology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6ECB3-A1EE-4D6F-B79B-8A89ABDA64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HOW</a:t>
            </a:r>
          </a:p>
          <a:p>
            <a:r>
              <a:rPr lang="en-US" dirty="0"/>
              <a:t>Learning in the flow of work involves </a:t>
            </a:r>
            <a:r>
              <a:rPr lang="en-US" dirty="0">
                <a:solidFill>
                  <a:srgbClr val="FFF469"/>
                </a:solidFill>
              </a:rPr>
              <a:t>accessing, quickly and easily, an answer or a short piece of learning content </a:t>
            </a:r>
            <a:r>
              <a:rPr lang="en-US" dirty="0"/>
              <a:t>while you're working.</a:t>
            </a:r>
          </a:p>
          <a:p>
            <a:endParaRPr lang="en-US" dirty="0"/>
          </a:p>
          <a:p>
            <a:r>
              <a:rPr lang="en-US" dirty="0"/>
              <a:t>Platforms are already doing it:</a:t>
            </a:r>
          </a:p>
          <a:p>
            <a:pPr marL="342900" indent="-342900">
              <a:buFontTx/>
              <a:buChar char="-"/>
            </a:pPr>
            <a:r>
              <a:rPr lang="en-US" dirty="0"/>
              <a:t>Microsoft introduced Viva</a:t>
            </a:r>
          </a:p>
          <a:p>
            <a:pPr marL="342900" indent="-342900">
              <a:buFontTx/>
              <a:buChar char="-"/>
            </a:pPr>
            <a:r>
              <a:rPr lang="en-US" dirty="0"/>
              <a:t>Skillsoft [SurveyMonkey and </a:t>
            </a:r>
            <a:r>
              <a:rPr lang="en-US" dirty="0" err="1"/>
              <a:t>InVision</a:t>
            </a:r>
            <a:r>
              <a:rPr lang="en-US" dirty="0"/>
              <a:t>] partners with Monday.com and </a:t>
            </a:r>
            <a:r>
              <a:rPr lang="en-US" dirty="0" err="1"/>
              <a:t>Todoist</a:t>
            </a:r>
            <a:r>
              <a:rPr lang="en-US" dirty="0"/>
              <a:t> to share product prototypes, create quizzes and flashcards, manage lists and add live polling to meetings</a:t>
            </a:r>
          </a:p>
          <a:p>
            <a:pPr marL="342900" indent="-342900">
              <a:buFontTx/>
              <a:buChar char="-"/>
            </a:pPr>
            <a:endParaRPr lang="bg-BG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97FE1F-CADA-4AB1-88D6-DDD273FB7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5522210" cy="5873750"/>
          </a:xfrm>
        </p:spPr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WHAT</a:t>
            </a:r>
          </a:p>
          <a:p>
            <a:endParaRPr lang="en-US" dirty="0"/>
          </a:p>
          <a:p>
            <a:r>
              <a:rPr lang="en-US" dirty="0"/>
              <a:t>Integrating LIFOW (Learning In the Flow Of Work) resources</a:t>
            </a:r>
          </a:p>
        </p:txBody>
      </p:sp>
    </p:spTree>
    <p:extLst>
      <p:ext uri="{BB962C8B-B14F-4D97-AF65-F5344CB8AC3E}">
        <p14:creationId xmlns:p14="http://schemas.microsoft.com/office/powerpoint/2010/main" val="3001922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869040-37EF-49B6-B0C6-06AC4FF55E0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C7917-2C17-49BA-B39E-E5D8EF5E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Trends and technology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5B7A-A39F-4760-A151-3C5FF2840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WHAT</a:t>
            </a:r>
          </a:p>
          <a:p>
            <a:endParaRPr lang="en-US" dirty="0"/>
          </a:p>
          <a:p>
            <a:r>
              <a:rPr lang="en-US" sz="2000" dirty="0"/>
              <a:t>Learning for All - Accessibility Considerations in eLearning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B8C5C-4784-4E54-9D02-F948A0BC7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FFF469"/>
                </a:solidFill>
              </a:rPr>
              <a:t>HOW</a:t>
            </a:r>
          </a:p>
          <a:p>
            <a:endParaRPr lang="en-US" dirty="0"/>
          </a:p>
          <a:p>
            <a:r>
              <a:rPr lang="en-US" dirty="0"/>
              <a:t>In digital learning, </a:t>
            </a:r>
            <a:r>
              <a:rPr lang="en-US" dirty="0">
                <a:solidFill>
                  <a:srgbClr val="FFF469"/>
                </a:solidFill>
              </a:rPr>
              <a:t>accessible content </a:t>
            </a:r>
            <a:r>
              <a:rPr lang="en-US" dirty="0"/>
              <a:t>is designed and developed in a way that allows people with special needs to find, understand, and navigate learning elements with ease</a:t>
            </a:r>
          </a:p>
          <a:p>
            <a:r>
              <a:rPr lang="en-US" dirty="0">
                <a:solidFill>
                  <a:srgbClr val="FFF469"/>
                </a:solidFill>
              </a:rPr>
              <a:t>Disabilities</a:t>
            </a:r>
            <a:r>
              <a:rPr lang="en-US" dirty="0"/>
              <a:t> can be visual, auditory, physical, speech-related, cognitive, learning, or neurological.</a:t>
            </a:r>
          </a:p>
        </p:txBody>
      </p:sp>
    </p:spTree>
    <p:extLst>
      <p:ext uri="{BB962C8B-B14F-4D97-AF65-F5344CB8AC3E}">
        <p14:creationId xmlns:p14="http://schemas.microsoft.com/office/powerpoint/2010/main" val="459733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C3B0CA-3E67-417C-B2D3-331A7DC9839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9030" y="4921261"/>
            <a:ext cx="10774933" cy="1766588"/>
          </a:xfrm>
        </p:spPr>
        <p:txBody>
          <a:bodyPr/>
          <a:lstStyle/>
          <a:p>
            <a:r>
              <a:rPr lang="en-US" sz="9000" dirty="0">
                <a:solidFill>
                  <a:schemeClr val="tx1"/>
                </a:solidFill>
              </a:rPr>
              <a:t>What to adopt</a:t>
            </a:r>
          </a:p>
          <a:p>
            <a:r>
              <a:rPr lang="en-US" sz="9000" dirty="0"/>
              <a:t>resume</a:t>
            </a:r>
          </a:p>
        </p:txBody>
      </p:sp>
    </p:spTree>
    <p:extLst>
      <p:ext uri="{BB962C8B-B14F-4D97-AF65-F5344CB8AC3E}">
        <p14:creationId xmlns:p14="http://schemas.microsoft.com/office/powerpoint/2010/main" val="477774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F60CEB2F-3545-4489-87CB-CF670FB0D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6533" y="3087907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93DED-BB73-468F-B955-233CC6A24890}"/>
              </a:ext>
            </a:extLst>
          </p:cNvPr>
          <p:cNvSpPr txBox="1"/>
          <p:nvPr/>
        </p:nvSpPr>
        <p:spPr>
          <a:xfrm>
            <a:off x="5113866" y="3426573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D0605D-A7BC-4B78-AF1C-3911D7246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A03F9-E173-4B91-B5D1-31FFAA9CC724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72C36DD1-2E6F-478C-86EB-DEEBBFEB9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E26D7-4F24-4C3F-9C0D-7927BFD1298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  <p:pic>
        <p:nvPicPr>
          <p:cNvPr id="14" name="Graphic 13" descr="Magnifying glass outline">
            <a:extLst>
              <a:ext uri="{FF2B5EF4-FFF2-40B4-BE49-F238E27FC236}">
                <a16:creationId xmlns:a16="http://schemas.microsoft.com/office/drawing/2014/main" id="{6D7904B3-B91D-48BA-BF37-BF4FDD4929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9933" y="1961840"/>
            <a:ext cx="36068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65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F60CEB2F-3545-4489-87CB-CF670FB0D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93DED-BB73-468F-B955-233CC6A24890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D0605D-A7BC-4B78-AF1C-3911D7246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A03F9-E173-4B91-B5D1-31FFAA9CC724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72C36DD1-2E6F-478C-86EB-DEEBBFEB9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E26D7-4F24-4C3F-9C0D-7927BFD1298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60E0FE-19C5-45F1-9D6A-6A84AB6A1A2A}"/>
              </a:ext>
            </a:extLst>
          </p:cNvPr>
          <p:cNvSpPr txBox="1">
            <a:spLocks/>
          </p:cNvSpPr>
          <p:nvPr/>
        </p:nvSpPr>
        <p:spPr>
          <a:xfrm>
            <a:off x="516466" y="1644166"/>
            <a:ext cx="6884019" cy="5873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sz="1000" dirty="0"/>
              <a:t>Insert video/gif/or simple timer to focus the users intentionally when they are out of our control.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Work hard and then reward.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Add TIME TO READ time for the LEARN section.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Add suggested best time to do this.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ADD expectancy – show WHY do or learn </a:t>
            </a:r>
            <a:r>
              <a:rPr lang="en-US" sz="1000" dirty="0" err="1"/>
              <a:t>sth</a:t>
            </a:r>
            <a:r>
              <a:rPr lang="en-US" sz="1000" dirty="0"/>
              <a:t> to boost motivation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Manage focus by using white noise.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Include recommended playlist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Insert random 10 sec. pauses during the Sprint.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Give random rewards. Boost the gamification mode.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Introduce different visualization practices to stimulate learning confidence.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Keep each sprint 90 min long and communicate the length at the beginning.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„Translate“ each Learn part in different formats – text, MP3, notes, animated drawings/explanatory video.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After 60 min – NSDR activity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Use examples from different industries.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Create exercises thinking from a different perspective.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Arial" panose="020B0604020202020204" pitchFamily="34" charset="0"/>
              <a:buAutoNum type="arabicPeriod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52408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 video/gif/or simple timer to focus the users intentionally when they are out of our control.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F60CEB2F-3545-4489-87CB-CF670FB0D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93DED-BB73-468F-B955-233CC6A24890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D0605D-A7BC-4B78-AF1C-3911D72468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A03F9-E173-4B91-B5D1-31FFAA9CC724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72C36DD1-2E6F-478C-86EB-DEEBBFEB92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E26D7-4F24-4C3F-9C0D-7927BFD1298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782662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Work hard and then reward.</a:t>
            </a:r>
          </a:p>
          <a:p>
            <a:r>
              <a:rPr lang="en-US" dirty="0"/>
              <a:t>Add TIME TO READ time for the LEARN section.</a:t>
            </a:r>
          </a:p>
          <a:p>
            <a:r>
              <a:rPr lang="en-US" dirty="0"/>
              <a:t>Add suggested best time to do this.</a:t>
            </a:r>
          </a:p>
          <a:p>
            <a:r>
              <a:rPr lang="en-US" dirty="0"/>
              <a:t>ADD expectancy – show WHY do or learn </a:t>
            </a:r>
            <a:r>
              <a:rPr lang="en-US" dirty="0" err="1"/>
              <a:t>sth</a:t>
            </a:r>
            <a:r>
              <a:rPr lang="en-US" dirty="0"/>
              <a:t> to boost motivation</a:t>
            </a:r>
          </a:p>
          <a:p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F60CEB2F-3545-4489-87CB-CF670FB0D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93DED-BB73-468F-B955-233CC6A24890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D0605D-A7BC-4B78-AF1C-3911D72468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A03F9-E173-4B91-B5D1-31FFAA9CC724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72C36DD1-2E6F-478C-86EB-DEEBBFEB92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E26D7-4F24-4C3F-9C0D-7927BFD1298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192658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Manage focus by using white noise. </a:t>
            </a:r>
          </a:p>
          <a:p>
            <a:r>
              <a:rPr lang="en-US" dirty="0"/>
              <a:t>Include recommended playlist </a:t>
            </a:r>
          </a:p>
          <a:p>
            <a:r>
              <a:rPr lang="en-US" dirty="0"/>
              <a:t>[Partnership with a platform?]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738F9D09-354F-4AF5-AB64-C8D93E36A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6DF9E2-0F85-434D-B75F-06EC2DD835A4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CF05D960-AC8D-4ABD-9D79-C5A6D19A64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336C5F-9BF7-4DE3-B86B-0483C3D39BB6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4C0307FE-8217-4029-B8F6-AAA277A3A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31AFD5-93D8-4039-82B2-A9C7C800CB01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08616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 random 10 sec. pauses during the Sprint.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C68CC8D9-4BAC-4B10-B7FD-2D734030F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31C311-CC80-4C9B-BF9B-F3CB8E1EEA62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BE32928D-60D1-44CA-8DE1-39160FCD75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190C56-2224-462E-A880-80EE6D2444D0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B47EF25A-9923-4B4B-A0E0-3E84DA8A4C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38A3B8-A4C9-4D9A-8D70-4B122732B63B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11181117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 random rewards. Boost the gamification mode.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4808D3D5-167D-40DB-9419-229720765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E16609-4109-4EA0-9028-D0A66EABF956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BE2213C6-AD7C-434B-B803-BC5ED9CEC8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D741F5-C5FE-4FC4-92AA-572766491DBC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03AD7B90-E002-4CC9-AF57-C89266D3AC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0D228F-55F8-402A-A38C-0224DC40CD51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1855499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Introduce different visualization practices to stimulate learning confidence. 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51420BCD-F1AF-4679-90A0-BBDA2D2FA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BCF0E1-E1B3-4E4B-B738-89B6A9CC765F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577BADE7-05C9-4EE3-B617-28ABB492FF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F3A008-6891-460E-A05B-C7FF7B12D40C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7B8D429E-CF49-4D21-898D-3B9823B0DB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ABCEEC-EB14-4A88-9C17-6746EF95BD9B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469126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Keep each sprint 90 min long and communicate the length at the beginning. 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430BDC9C-B3B4-4D8C-B112-132867E21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40114C-1E24-4904-A82A-63E3227C81BA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FC5E8E20-3B61-44F6-9D5C-C6F0F88792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8B8DC7-08E3-480D-8419-19EC40C7AD9C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C58D6F81-C8EC-4B13-B1B4-20ADC7A2A4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C0CD6D-41C4-4279-8A97-3CF490F80A93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40840384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bg-BG" dirty="0"/>
              <a:t>„</a:t>
            </a:r>
            <a:r>
              <a:rPr lang="en-US" dirty="0"/>
              <a:t>Translate</a:t>
            </a:r>
            <a:r>
              <a:rPr lang="bg-BG" dirty="0"/>
              <a:t>“ </a:t>
            </a:r>
            <a:r>
              <a:rPr lang="en-US" dirty="0"/>
              <a:t>each Learn part in different formats – text, MP3, notes, animated drawings/explanatory video.</a:t>
            </a:r>
          </a:p>
          <a:p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980E71D9-715D-4C79-947D-4715AA86F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175346-3E37-4997-8079-94446579AEDB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F4BB64F3-789E-479D-AA27-1CFEC631DC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C567FC-7C65-488B-8473-5A44B1F888F6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A2FCBEDB-FC36-474D-A62D-0D7C8EB098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02F954-75DF-4282-90D6-4479002DAA50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817471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60 min – NSDR activity – incorporate with an external tool??? 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D041A68F-134D-420C-B050-9D0705EB9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D977D1-7151-442D-90CB-53FBB86AEB55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CE147BDD-026E-4AF8-852F-32EB01B5E3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F2462C-1C6B-4D3B-935D-B6605CA01075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A4A8619E-DCF7-4399-B4F1-DC549CC61A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ED45EA-8DAA-4CC6-8051-14566D13A96F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031691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examples from different industries.</a:t>
            </a:r>
          </a:p>
          <a:p>
            <a:r>
              <a:rPr lang="en-US" dirty="0"/>
              <a:t>Create exercises thinking from a different perspective.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E4152A44-84D2-4F01-A4B8-9A21ABDC8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CE7F78-BA40-4AC1-972A-5825EADFF94A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6BAE09C1-B967-441D-81EA-1219E97B34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37EBE8-25FD-4000-86EF-F3337E20B42B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FD31C3DC-2C84-423C-A883-852AF2CB80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BD2F45-9E17-40CD-9FA3-F325EB6242C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533933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C3B0CA-3E67-417C-B2D3-331A7DC9839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9030" y="4921261"/>
            <a:ext cx="10774933" cy="1766588"/>
          </a:xfrm>
        </p:spPr>
        <p:txBody>
          <a:bodyPr/>
          <a:lstStyle/>
          <a:p>
            <a:r>
              <a:rPr lang="en-US" sz="9000" dirty="0">
                <a:solidFill>
                  <a:schemeClr val="tx1"/>
                </a:solidFill>
              </a:rPr>
              <a:t>What to adopt</a:t>
            </a:r>
          </a:p>
          <a:p>
            <a:r>
              <a:rPr lang="en-US" sz="9000" dirty="0"/>
              <a:t>resume</a:t>
            </a:r>
          </a:p>
        </p:txBody>
      </p:sp>
    </p:spTree>
    <p:extLst>
      <p:ext uri="{BB962C8B-B14F-4D97-AF65-F5344CB8AC3E}">
        <p14:creationId xmlns:p14="http://schemas.microsoft.com/office/powerpoint/2010/main" val="3267121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9A2110E2-ABB9-4A4C-BA98-10BA56BB0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7A5266-285F-442C-A4BD-2BD17CFF3017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84436397-A4DB-4B9A-8076-6D5081635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2749264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0831CD-5BB6-47F4-80B3-1170D054DA75}"/>
              </a:ext>
            </a:extLst>
          </p:cNvPr>
          <p:cNvSpPr txBox="1"/>
          <p:nvPr/>
        </p:nvSpPr>
        <p:spPr>
          <a:xfrm>
            <a:off x="5113866" y="3087930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5057D70D-F8D0-4431-BF06-AAA3DCC51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1ACFA9-92B4-49B3-9BA4-7A86EADF119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  <p:pic>
        <p:nvPicPr>
          <p:cNvPr id="13" name="Graphic 12" descr="Magnifying glass outline">
            <a:extLst>
              <a:ext uri="{FF2B5EF4-FFF2-40B4-BE49-F238E27FC236}">
                <a16:creationId xmlns:a16="http://schemas.microsoft.com/office/drawing/2014/main" id="{05F2CF0D-A3FC-403C-A9BB-04338BF534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9633" y="1961840"/>
            <a:ext cx="36068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263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F60CEB2F-3545-4489-87CB-CF670FB0D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93DED-BB73-468F-B955-233CC6A24890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D0605D-A7BC-4B78-AF1C-3911D7246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A03F9-E173-4B91-B5D1-31FFAA9CC724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72C36DD1-2E6F-478C-86EB-DEEBBFEB92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E26D7-4F24-4C3F-9C0D-7927BFD1298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6A79235-1F59-4488-B386-7A274B2E4E3C}"/>
              </a:ext>
            </a:extLst>
          </p:cNvPr>
          <p:cNvSpPr txBox="1">
            <a:spLocks/>
          </p:cNvSpPr>
          <p:nvPr/>
        </p:nvSpPr>
        <p:spPr>
          <a:xfrm>
            <a:off x="516466" y="1644166"/>
            <a:ext cx="7081999" cy="5873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sz="1000" dirty="0"/>
              <a:t>Start with a problem. Introduce a case study and put a question that the user must answer after the unit. Next, reveal the current solution. Then, stimulate the user to use notes to suggest 3 more possible ways to solve this problem.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Action-oriented specific outcome.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Introduce case study at the beginning of each sprint. Start with a question.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Include working on real projects, analyzing case studies, testing hypotheses, solving actual problems.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The key questions we have in the Workbook to be presented after the GOLD content and before the checklist: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Quiz like – one question at a time. RANDOMISE.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Clear WRONG signal to activate the TRY AGAIN mode.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That would be the PASS, the GATE to the next part… that unlocks the Extra Mile content.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Incorporate quick tests win an immediate feedback mechanism.  Wrong signal. Try again. Wrong signal. Try again. Wrong signal. Celebrate.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Include Test yourself option.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Create a 30-days program to structure the EXTRA MILE recommended sources.  Feature to unlock in a selected time frame.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Implement Notes section after each Gold material to enhance practical thinking via the retrieving method.</a:t>
            </a:r>
          </a:p>
        </p:txBody>
      </p:sp>
    </p:spTree>
    <p:extLst>
      <p:ext uri="{BB962C8B-B14F-4D97-AF65-F5344CB8AC3E}">
        <p14:creationId xmlns:p14="http://schemas.microsoft.com/office/powerpoint/2010/main" val="31474128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Start with a problem. Introduce a case study and put a question that the user must answer after the unit. </a:t>
            </a:r>
          </a:p>
          <a:p>
            <a:r>
              <a:rPr lang="en-US" dirty="0"/>
              <a:t>Next, reveal the current solution.</a:t>
            </a:r>
          </a:p>
          <a:p>
            <a:r>
              <a:rPr lang="en-US" dirty="0"/>
              <a:t>Then, stimulate the user to use notes to suggest 3 more possible ways to solve this problem.</a:t>
            </a:r>
          </a:p>
          <a:p>
            <a:endParaRPr lang="en-US" dirty="0"/>
          </a:p>
          <a:p>
            <a:r>
              <a:rPr lang="en-US" dirty="0"/>
              <a:t>Action-oriented specific outcome.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9A2110E2-ABB9-4A4C-BA98-10BA56BB0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7A5266-285F-442C-A4BD-2BD17CFF3017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84436397-A4DB-4B9A-8076-6D50816357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0831CD-5BB6-47F4-80B3-1170D054DA75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5057D70D-F8D0-4431-BF06-AAA3DCC51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1ACFA9-92B4-49B3-9BA4-7A86EADF119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9961213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Introduce case study at the beginning of each sprint. Start with a question. </a:t>
            </a:r>
          </a:p>
          <a:p>
            <a:r>
              <a:rPr lang="en-US" dirty="0"/>
              <a:t>Include working on real projects, analyzing case studies, testing hypotheses, solving actual problems. </a:t>
            </a:r>
          </a:p>
          <a:p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F60CEB2F-3545-4489-87CB-CF670FB0D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93DED-BB73-468F-B955-233CC6A24890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D0605D-A7BC-4B78-AF1C-3911D72468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A03F9-E173-4B91-B5D1-31FFAA9CC724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72C36DD1-2E6F-478C-86EB-DEEBBFEB9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E26D7-4F24-4C3F-9C0D-7927BFD1298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797925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key questions we have in the Workbook to be presented after the GOLD content and before the checklist:</a:t>
            </a:r>
          </a:p>
          <a:p>
            <a:r>
              <a:rPr lang="en-US" dirty="0"/>
              <a:t>Quiz like – one question at a time. RANDOMISE. </a:t>
            </a:r>
          </a:p>
          <a:p>
            <a:r>
              <a:rPr lang="en-US" dirty="0"/>
              <a:t>Clear WRONG signal to activate the TRY AGAIN mode.</a:t>
            </a:r>
          </a:p>
          <a:p>
            <a:r>
              <a:rPr lang="en-US" dirty="0"/>
              <a:t>That would be the PASS, the GATE to the next part… that unlocks the Extra Mile content.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E6B0963A-98CF-422D-B3E6-80DB347C4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61C9FB-F00C-4871-9D9D-448A5A146D47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3FA13A4C-2A39-4DE7-AD3C-EDAFAA5629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77DCF6-C6DA-4948-8712-1076773E3FAD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1F97D933-1471-4845-A764-5DBC81F05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AA5E32-01D4-4C16-A82F-08A85311E214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7914952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Incorporate quick tests win an immediate feedback mechanism. </a:t>
            </a:r>
          </a:p>
          <a:p>
            <a:r>
              <a:rPr lang="en-US" dirty="0"/>
              <a:t>Wrong signal. Try again. Wrong signal. Try again. Wrong signal. Celebrate.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79B360C9-4475-4DF9-8974-77B1A69B2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6063C9-5742-43CF-A7AB-EE61474525FB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2EC38796-30D4-41CA-BA7B-7D26E4E42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2812DB-3F17-4A6D-A1C7-E5F7C8960829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2556E07A-858E-42F5-A325-27F660D13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A30364-9C87-4B02-8541-CD84EFDA9430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745645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Include Test yourself option.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19590926-11CF-4141-B776-7CF61E191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49E90F-02ED-4929-B5B1-A769476C925A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E4333B90-3D30-4876-AC2E-A239161E0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CB4814-8BA8-4640-B4FF-CE0139AE8D7D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F6469480-9CE8-42A2-890E-57BFE33B2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3B9474-1E25-4D19-8420-CB1FD1499EC0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9753086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a 30-days program to structure the EXTRA MILE recommended sources. </a:t>
            </a:r>
          </a:p>
          <a:p>
            <a:r>
              <a:rPr lang="en-US" dirty="0"/>
              <a:t>Feature to unlock in a selected time frame. 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193C5EDE-C9D1-41DC-97D1-A801EDB52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6834C5-991B-4068-8764-E7AF1159E8A1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77E9081B-3512-420C-9D98-CB595C1C1D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67CB2-BD2A-444F-8250-8FF65D9F22F9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A731B9F7-61B9-490C-AC9A-23B3E08BB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62FF5A-5746-4F8D-8641-DF4752EBAF93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0794392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Implement Notes section after each Gold material to enhance practical thinking via the retrieving method.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193C5EDE-C9D1-41DC-97D1-A801EDB52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6834C5-991B-4068-8764-E7AF1159E8A1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77E9081B-3512-420C-9D98-CB595C1C1D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67CB2-BD2A-444F-8250-8FF65D9F22F9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A731B9F7-61B9-490C-AC9A-23B3E08BB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62FF5A-5746-4F8D-8641-DF4752EBAF93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4726320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C3B0CA-3E67-417C-B2D3-331A7DC9839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9030" y="4921261"/>
            <a:ext cx="10774933" cy="1766588"/>
          </a:xfrm>
        </p:spPr>
        <p:txBody>
          <a:bodyPr/>
          <a:lstStyle/>
          <a:p>
            <a:r>
              <a:rPr lang="en-US" sz="9000" dirty="0">
                <a:solidFill>
                  <a:schemeClr val="tx1"/>
                </a:solidFill>
              </a:rPr>
              <a:t>What to adopt</a:t>
            </a:r>
          </a:p>
          <a:p>
            <a:r>
              <a:rPr lang="en-US" sz="9000" dirty="0"/>
              <a:t>resume</a:t>
            </a:r>
          </a:p>
        </p:txBody>
      </p:sp>
    </p:spTree>
    <p:extLst>
      <p:ext uri="{BB962C8B-B14F-4D97-AF65-F5344CB8AC3E}">
        <p14:creationId xmlns:p14="http://schemas.microsoft.com/office/powerpoint/2010/main" val="5258472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66CCAE04-4680-4943-9EE8-86C29CE22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E14CDF-24DD-4D1B-83BC-1A1D4C03A6FB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40C788AB-2BE6-4A94-976B-AA43F6B30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D13583-C2C7-4F19-91C7-3984A3B7E216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6CA4380F-3994-45CD-9561-833B3F5BF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9733" y="3087907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5F52F5-1355-4BE8-A37B-3168590A0918}"/>
              </a:ext>
            </a:extLst>
          </p:cNvPr>
          <p:cNvSpPr txBox="1"/>
          <p:nvPr/>
        </p:nvSpPr>
        <p:spPr>
          <a:xfrm>
            <a:off x="5317066" y="3426573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  <p:pic>
        <p:nvPicPr>
          <p:cNvPr id="13" name="Graphic 12" descr="Magnifying glass outline">
            <a:extLst>
              <a:ext uri="{FF2B5EF4-FFF2-40B4-BE49-F238E27FC236}">
                <a16:creationId xmlns:a16="http://schemas.microsoft.com/office/drawing/2014/main" id="{A062B7CE-04F5-487C-98EB-FE9812EE05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9633" y="1961840"/>
            <a:ext cx="36068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418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F60CEB2F-3545-4489-87CB-CF670FB0D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93DED-BB73-468F-B955-233CC6A24890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D0605D-A7BC-4B78-AF1C-3911D7246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9A03F9-E173-4B91-B5D1-31FFAA9CC724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72C36DD1-2E6F-478C-86EB-DEEBBFEB92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E26D7-4F24-4C3F-9C0D-7927BFD1298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60E0FE-19C5-45F1-9D6A-6A84AB6A1A2A}"/>
              </a:ext>
            </a:extLst>
          </p:cNvPr>
          <p:cNvSpPr txBox="1">
            <a:spLocks/>
          </p:cNvSpPr>
          <p:nvPr/>
        </p:nvSpPr>
        <p:spPr>
          <a:xfrm>
            <a:off x="516466" y="1414774"/>
            <a:ext cx="4989812" cy="5873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Communicate the pattern the user will execute at the beginning – with icons READ-DO, </a:t>
            </a:r>
            <a:r>
              <a:rPr lang="en-US" sz="1000" dirty="0" err="1"/>
              <a:t>etc</a:t>
            </a:r>
            <a:endParaRPr lang="en-US" sz="1000" dirty="0"/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Create a toolbox section [Appendix] with tag that each user can easily access and use. Link it throughout the PDF to make faster connections.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Create and use flashcards for the tools or for the explanation of an idea, principle.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Repeat content in different formats</a:t>
            </a:r>
          </a:p>
          <a:p>
            <a:r>
              <a:rPr lang="en-US" sz="1000" dirty="0"/>
              <a:t>	Text</a:t>
            </a:r>
          </a:p>
          <a:p>
            <a:r>
              <a:rPr lang="en-US" sz="1000" dirty="0"/>
              <a:t>	Graphics resume + key points</a:t>
            </a:r>
          </a:p>
          <a:p>
            <a:r>
              <a:rPr lang="en-US" sz="1000" dirty="0"/>
              <a:t>	Video 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n-US" sz="1000" dirty="0"/>
              <a:t>Reduce the Number of Things in the Visual. This may mean removing unrelated items. </a:t>
            </a:r>
          </a:p>
          <a:p>
            <a:pPr marL="228600" indent="-228600">
              <a:buFont typeface="Arial" panose="020B0604020202020204" pitchFamily="34" charset="0"/>
              <a:buAutoNum type="arabicPeriod" startAt="4"/>
            </a:pPr>
            <a:r>
              <a:rPr lang="en-US" sz="1000" dirty="0"/>
              <a:t>One accent at a time. Translate explanatory content into icons and minimize it on the page.</a:t>
            </a:r>
          </a:p>
          <a:p>
            <a:pPr marL="228600" indent="-228600">
              <a:buFont typeface="Arial" panose="020B0604020202020204" pitchFamily="34" charset="0"/>
              <a:buAutoNum type="arabicPeriod" startAt="4"/>
            </a:pPr>
            <a:r>
              <a:rPr lang="en-US" sz="1000" dirty="0"/>
              <a:t>Using simplified visuals that are easier to process mentally. Reduce visual noise, use silhouetted figures, make use of icons.</a:t>
            </a:r>
          </a:p>
          <a:p>
            <a:pPr marL="228600" indent="-228600">
              <a:buFont typeface="Arial" panose="020B0604020202020204" pitchFamily="34" charset="0"/>
              <a:buAutoNum type="arabicPeriod" startAt="4"/>
            </a:pPr>
            <a:r>
              <a:rPr lang="en-US" sz="1000" dirty="0"/>
              <a:t>Add Info boxes on a pop-up base with short scientifically based explanation why we are using a target or white noise or other technique.</a:t>
            </a:r>
          </a:p>
          <a:p>
            <a:pPr marL="228600" indent="-228600">
              <a:buFont typeface="Arial" panose="020B0604020202020204" pitchFamily="34" charset="0"/>
              <a:buAutoNum type="arabicPeriod" startAt="4"/>
            </a:pPr>
            <a:r>
              <a:rPr lang="en-US" sz="1000" dirty="0"/>
              <a:t>Intro page with the steps + Time for each of them + [ex. mini timer] </a:t>
            </a:r>
          </a:p>
          <a:p>
            <a:pPr marL="228600" indent="-228600">
              <a:buFont typeface="Arial" panose="020B0604020202020204" pitchFamily="34" charset="0"/>
              <a:buAutoNum type="arabicPeriod" startAt="4"/>
            </a:pPr>
            <a:r>
              <a:rPr lang="en-US" sz="1000" dirty="0"/>
              <a:t>Summary – visual navigation on which part you are currently.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A59D5D0-1F8E-42EF-A226-22C0429A4A15}"/>
              </a:ext>
            </a:extLst>
          </p:cNvPr>
          <p:cNvSpPr txBox="1">
            <a:spLocks/>
          </p:cNvSpPr>
          <p:nvPr/>
        </p:nvSpPr>
        <p:spPr>
          <a:xfrm>
            <a:off x="5892800" y="828365"/>
            <a:ext cx="5119757" cy="5873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2pPr>
            <a:lvl3pPr marL="54864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3pPr>
            <a:lvl4pPr marL="82296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4pPr>
            <a:lvl5pPr marL="109728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400" kern="1200">
                <a:solidFill>
                  <a:schemeClr val="tx1"/>
                </a:solidFill>
                <a:latin typeface="Riforma LL" panose="020B0504020101020102" pitchFamily="34" charset="0"/>
                <a:ea typeface="Riforma LL" panose="020B0504020101020102" pitchFamily="34" charset="0"/>
                <a:cs typeface="Riforma LL" panose="020B0504020101020102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PRESENT CONTENT IN MULTIPLE WAYS TO TARGET DISABILIITES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All non-text content should be paired with a text alternative.  [‘Alt tags’ for images written to clearly describe what the image depicts; Videos with captions describing the audio track; Audio with a text transcript; Form inputs labeled]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Videos and other visual multimedia content such as infographics, GIFs, and animations should be paired with a description. 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A text description of the content, for screen readers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An audio description</a:t>
            </a:r>
          </a:p>
          <a:p>
            <a:endParaRPr lang="en-US" sz="1000" dirty="0"/>
          </a:p>
          <a:p>
            <a:r>
              <a:rPr lang="en-US" sz="1000" dirty="0"/>
              <a:t>VISUAL STYLING DOES MATTER IN MAKING CONTENT CLEAR AND DISCERNIBLE FOR USERS WITH LIMITED VISION OR WITH LEARNING DISABILITIES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Avoid using color on its own to distinguish or organize content, as color-blind users might have difficulty discerning differences.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Ensure sufficient contrast—dark and light—between visual elements.</a:t>
            </a:r>
          </a:p>
          <a:p>
            <a:endParaRPr lang="en-US" sz="1000" dirty="0"/>
          </a:p>
          <a:p>
            <a:r>
              <a:rPr lang="en-US" sz="1000" dirty="0"/>
              <a:t>ORGANIZE, STRUCTURE, AND MAKE CONTENT CLEAR TO TARGET DISABILITIES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Don’t just bold titles and headers—use the correct ‘styles’ to organize and identify different levels of headings: H1, H2, H3, H4.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Don’t use hyphens or other characters to manually mark up lists—use the bulleted or numbered list styles.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Don’t use tables to style content—but do use them if you are presenting an actual table of data.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sz="1000" dirty="0"/>
              <a:t>Don’t use colored or highlighted text to make passages stand out—use bold for importance, italic for emphasis, and blockquote for call-outs or quotes.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233267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Communicate the pattern the user will execute at the beginning – with icons READ-DO,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Intro page with the steps + </a:t>
            </a:r>
          </a:p>
          <a:p>
            <a:r>
              <a:rPr lang="en-US" dirty="0"/>
              <a:t>Time for each of them + [ex. mini timer] </a:t>
            </a:r>
          </a:p>
          <a:p>
            <a:r>
              <a:rPr lang="en-US" dirty="0"/>
              <a:t>Summary – visual navigation on which part you are currently.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66CCAE04-4680-4943-9EE8-86C29CE22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E14CDF-24DD-4D1B-83BC-1A1D4C03A6FB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40C788AB-2BE6-4A94-976B-AA43F6B30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D13583-C2C7-4F19-91C7-3984A3B7E216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6CA4380F-3994-45CD-9561-833B3F5BFB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5F52F5-1355-4BE8-A37B-3168590A091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8422265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a toolbox section [Appendix] with tag that each user can easily access and use. Link it throughout the PDF to make faster connections.</a:t>
            </a:r>
          </a:p>
          <a:p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6842BE17-69FF-4911-9E25-E75AFF2F22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CBA7F7-3D9D-4AB3-90EF-1D38D84D538E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9" name="Graphic 8" descr="Scroll with solid fill">
            <a:extLst>
              <a:ext uri="{FF2B5EF4-FFF2-40B4-BE49-F238E27FC236}">
                <a16:creationId xmlns:a16="http://schemas.microsoft.com/office/drawing/2014/main" id="{5DF9DD36-EFF4-4E67-AC60-396939B9A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F84FF4-C95C-4554-938C-873FA9E61061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1" name="Graphic 10" descr="Scroll with solid fill">
            <a:extLst>
              <a:ext uri="{FF2B5EF4-FFF2-40B4-BE49-F238E27FC236}">
                <a16:creationId xmlns:a16="http://schemas.microsoft.com/office/drawing/2014/main" id="{226E54F1-DB8F-4556-840E-B6076B8647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226793-A886-4A43-96F2-7FA9C17A32E1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5606197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and use flashcards for the tools or for the explanation of an idea, principle.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6842BE17-69FF-4911-9E25-E75AFF2F22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CBA7F7-3D9D-4AB3-90EF-1D38D84D538E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9" name="Graphic 8" descr="Scroll with solid fill">
            <a:extLst>
              <a:ext uri="{FF2B5EF4-FFF2-40B4-BE49-F238E27FC236}">
                <a16:creationId xmlns:a16="http://schemas.microsoft.com/office/drawing/2014/main" id="{5DF9DD36-EFF4-4E67-AC60-396939B9A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F84FF4-C95C-4554-938C-873FA9E61061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1" name="Graphic 10" descr="Scroll with solid fill">
            <a:extLst>
              <a:ext uri="{FF2B5EF4-FFF2-40B4-BE49-F238E27FC236}">
                <a16:creationId xmlns:a16="http://schemas.microsoft.com/office/drawing/2014/main" id="{226E54F1-DB8F-4556-840E-B6076B8647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226793-A886-4A43-96F2-7FA9C17A32E1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2805668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Repeat content in different formats</a:t>
            </a:r>
          </a:p>
          <a:p>
            <a:pPr marL="457200" indent="-457200">
              <a:buAutoNum type="arabicPeriod"/>
            </a:pPr>
            <a:r>
              <a:rPr lang="en-US" dirty="0"/>
              <a:t>Text</a:t>
            </a:r>
          </a:p>
          <a:p>
            <a:pPr marL="457200" indent="-457200">
              <a:buAutoNum type="arabicPeriod"/>
            </a:pPr>
            <a:r>
              <a:rPr lang="en-US" dirty="0"/>
              <a:t>Graphics resume + key points – select topics to put the EXTRA MILE content there - ranked</a:t>
            </a:r>
          </a:p>
          <a:p>
            <a:pPr marL="457200" indent="-457200">
              <a:buAutoNum type="arabicPeriod"/>
            </a:pPr>
            <a:r>
              <a:rPr lang="en-US" dirty="0"/>
              <a:t>Infographics to summarise each sprint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980E71D9-715D-4C79-947D-4715AA86F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175346-3E37-4997-8079-94446579AEDB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F4BB64F3-789E-479D-AA27-1CFEC631DC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C567FC-7C65-488B-8473-5A44B1F888F6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A2FCBEDB-FC36-474D-A62D-0D7C8EB098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02F954-75DF-4282-90D6-4479002DAA50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1857709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Reduce the Number of Things in the Visual. This may mean removing unrelated items. </a:t>
            </a:r>
          </a:p>
          <a:p>
            <a:r>
              <a:rPr lang="en-US" dirty="0"/>
              <a:t>One accent at a time. Translate explanatory content into icons and minimize it on the page.</a:t>
            </a:r>
          </a:p>
          <a:p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2A69E015-A552-446A-A030-EB2DCCEF9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D1F7E4-45A5-49A1-9F19-3B7DD391220E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DA1140C7-B58C-45EF-873B-04D7CDE0C9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6DD735-2499-4D45-BD53-3DEA9C2B980C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81E8C397-C7CB-48E4-AEFA-0177A8582A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3203B8-7D3D-4FEB-9EA8-210392BEA48B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262665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simplified visuals that are easier to process mentally. Reduce visual noise, use silhouetted figures, make use of icons.</a:t>
            </a:r>
          </a:p>
          <a:p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2A69E015-A552-446A-A030-EB2DCCEF9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D1F7E4-45A5-49A1-9F19-3B7DD391220E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DA1140C7-B58C-45EF-873B-04D7CDE0C9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6DD735-2499-4D45-BD53-3DEA9C2B980C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81E8C397-C7CB-48E4-AEFA-0177A8582A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3203B8-7D3D-4FEB-9EA8-210392BEA48B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4425489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Info boxes on a pop-up base with short scientifically based explanation why we are using a target or white noise or other technique.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738F9D09-354F-4AF5-AB64-C8D93E36A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6DF9E2-0F85-434D-B75F-06EC2DD835A4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CF05D960-AC8D-4ABD-9D79-C5A6D19A6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336C5F-9BF7-4DE3-B86B-0483C3D39BB6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4C0307FE-8217-4029-B8F6-AAA277A3A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31AFD5-93D8-4039-82B2-A9C7C800CB01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3529750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PRESENT CONTENT IN MULTIPLE WAYS TO TARGET DISABILIITES</a:t>
            </a:r>
          </a:p>
          <a:p>
            <a:endParaRPr lang="en-US" sz="1200" dirty="0"/>
          </a:p>
          <a:p>
            <a:r>
              <a:rPr lang="en-US" sz="1200" dirty="0"/>
              <a:t>All non-text content should be paired with a text alternative.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‘Alt tags’ for images written to clearly describe what the image depicts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Videos with captions describing the audio track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Audio with a text transcript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Form inputs labeled</a:t>
            </a:r>
          </a:p>
          <a:p>
            <a:endParaRPr lang="en-US" sz="1200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C40D1380-3EA1-486A-A3C0-753E701A6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079F45-35C8-4429-A441-D1DE6568E217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71AB26-C486-4E8A-AD07-11235798C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C99B22-125D-46D8-87F0-C228933010A1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62D67475-D0CC-4F3B-AB4C-CD36EEABA5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33A97A-D48D-4373-9D28-3F96B6D5807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8725236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PRESENT CONTENT IN MULTIPLE WAYS TO TARGET DISABILIITES</a:t>
            </a:r>
          </a:p>
          <a:p>
            <a:endParaRPr lang="en-US" sz="1200" dirty="0"/>
          </a:p>
          <a:p>
            <a:r>
              <a:rPr lang="en-US" sz="1200" dirty="0"/>
              <a:t>Videos and other visual multimedia content such as infographics, GIFs, and animations should be paired with a description.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 text description of the content, for screen readers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 audio description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C40D1380-3EA1-486A-A3C0-753E701A6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079F45-35C8-4429-A441-D1DE6568E217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71AB26-C486-4E8A-AD07-11235798C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C99B22-125D-46D8-87F0-C228933010A1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62D67475-D0CC-4F3B-AB4C-CD36EEABA5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33A97A-D48D-4373-9D28-3F96B6D5807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9618284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PRESENT CONTENT IN MULTIPLE WAYS TO TARGET DISABILIITES</a:t>
            </a:r>
          </a:p>
          <a:p>
            <a:endParaRPr lang="en-US" sz="1200" dirty="0"/>
          </a:p>
          <a:p>
            <a:r>
              <a:rPr lang="en-US" sz="1200" dirty="0"/>
              <a:t>Visual styling does matter in making content clear and discernible for users with limited vision or with learning disabilities: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Avoid using color on its own to distinguish or organize content, as color-blind users might have difficulty discerning differences.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Ensure sufficient contrast—dark and light—between visual elements.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C40D1380-3EA1-486A-A3C0-753E701A6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079F45-35C8-4429-A441-D1DE6568E217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0B71AB26-C486-4E8A-AD07-11235798C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C99B22-125D-46D8-87F0-C228933010A1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62D67475-D0CC-4F3B-AB4C-CD36EEABA5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33A97A-D48D-4373-9D28-3F96B6D5807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7622200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8E1FA-8E7E-442A-97B1-F776B55A15D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D15F7-44D0-4FC2-8E7C-8D1A44411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089" y="855663"/>
            <a:ext cx="6030912" cy="5873750"/>
          </a:xfrm>
        </p:spPr>
        <p:txBody>
          <a:bodyPr/>
          <a:lstStyle/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ORGANIZE, STRUCTURE, AND MAKE CONTENT CLEAR TO TARGET DISABILITIES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Don’t just bold titles and headers—use the correct ‘styles’ to organize and identify different levels of headings: H1, H2, H3, H4.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Don’t use hyphens or other characters to manually mark up lists—use the bulleted or numbered list styles.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Don’t use tables to style content—but do use them if you are presenting an actual table of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Don’t use colored or highlighted text to make passages stand out—use bold for importance, italic for emphasis, and blockquote for call-outs or quotes.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80D6B39-E3A6-4E46-BF06-18BA4DE9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627" y="1644098"/>
            <a:ext cx="3569804" cy="3569804"/>
          </a:xfrm>
          <a:prstGeom prst="rect">
            <a:avLst/>
          </a:prstGeom>
        </p:spPr>
      </p:pic>
      <p:pic>
        <p:nvPicPr>
          <p:cNvPr id="5" name="Graphic 4" descr="Scroll with solid fill">
            <a:extLst>
              <a:ext uri="{FF2B5EF4-FFF2-40B4-BE49-F238E27FC236}">
                <a16:creationId xmlns:a16="http://schemas.microsoft.com/office/drawing/2014/main" id="{961AD6BE-5C24-42B1-A992-6807D2203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466" y="-1"/>
            <a:ext cx="677333" cy="67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A85129-00CA-4C63-A91C-F9873F31CAFD}"/>
              </a:ext>
            </a:extLst>
          </p:cNvPr>
          <p:cNvSpPr txBox="1"/>
          <p:nvPr/>
        </p:nvSpPr>
        <p:spPr>
          <a:xfrm>
            <a:off x="1193799" y="338665"/>
            <a:ext cx="86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RULES</a:t>
            </a: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CEA16BEE-6FD5-4621-B996-5D8085974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9133" y="-1"/>
            <a:ext cx="677333" cy="67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6B9C4D-972A-466E-B0B1-2F75A1F510C9}"/>
              </a:ext>
            </a:extLst>
          </p:cNvPr>
          <p:cNvSpPr txBox="1"/>
          <p:nvPr/>
        </p:nvSpPr>
        <p:spPr>
          <a:xfrm>
            <a:off x="3056466" y="338665"/>
            <a:ext cx="1058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469"/>
                </a:solidFill>
              </a:rPr>
              <a:t>STRUCTURE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C7ED74DD-EB7D-4E7A-9363-BA65FEC34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6533" y="-1"/>
            <a:ext cx="677333" cy="677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118A80-5EA9-40FA-B6B6-41BD27C7C778}"/>
              </a:ext>
            </a:extLst>
          </p:cNvPr>
          <p:cNvSpPr txBox="1"/>
          <p:nvPr/>
        </p:nvSpPr>
        <p:spPr>
          <a:xfrm>
            <a:off x="5113866" y="338665"/>
            <a:ext cx="77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8667013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C3B0CA-3E67-417C-B2D3-331A7DC9839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rPr lang="en-US" sz="9000" dirty="0"/>
              <a:t>LM evaluation models</a:t>
            </a:r>
          </a:p>
        </p:txBody>
      </p:sp>
    </p:spTree>
    <p:extLst>
      <p:ext uri="{BB962C8B-B14F-4D97-AF65-F5344CB8AC3E}">
        <p14:creationId xmlns:p14="http://schemas.microsoft.com/office/powerpoint/2010/main" val="18891227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CCFE3-7FDD-4987-8340-E17D1167AF41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3F29B-3887-4DDC-A894-B4139973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Kirkpatrick’s Four Levels of Training Evaluation</a:t>
            </a:r>
          </a:p>
        </p:txBody>
      </p:sp>
      <p:pic>
        <p:nvPicPr>
          <p:cNvPr id="5" name="Picture 4" descr="Measure The ROI of Online Training Using Kirkpatrick&amp;#39;s Model of Evaluation  Infographic - e-Learning Infographics">
            <a:extLst>
              <a:ext uri="{FF2B5EF4-FFF2-40B4-BE49-F238E27FC236}">
                <a16:creationId xmlns:a16="http://schemas.microsoft.com/office/drawing/2014/main" id="{24BBE1A7-EFBB-4667-BB80-6FE218C79C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06" y="789997"/>
            <a:ext cx="8962376" cy="59504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49367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CCFE3-7FDD-4987-8340-E17D1167AF41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3F29B-3887-4DDC-A894-B4139973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Brinkerhoff’s Success Case Method</a:t>
            </a:r>
          </a:p>
        </p:txBody>
      </p:sp>
      <p:pic>
        <p:nvPicPr>
          <p:cNvPr id="6" name="Picture 5" descr="FINDING OUT QUICKLY WHAT&amp;#39;S WORKING AND WHAT&amp;#39;S NOT: THE SUCCESS CASE METHOD  BY ROBERT BRINKERHOFF">
            <a:extLst>
              <a:ext uri="{FF2B5EF4-FFF2-40B4-BE49-F238E27FC236}">
                <a16:creationId xmlns:a16="http://schemas.microsoft.com/office/drawing/2014/main" id="{6D262E9F-2901-4B46-B455-FE2428A7D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59" y="1010245"/>
            <a:ext cx="9783459" cy="5509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88130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CCFE3-7FDD-4987-8340-E17D1167AF41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3F29B-3887-4DDC-A894-B4139973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Philips ROI Methodology</a:t>
            </a:r>
          </a:p>
        </p:txBody>
      </p:sp>
      <p:pic>
        <p:nvPicPr>
          <p:cNvPr id="6" name="Picture 5" descr="66 ROI Methodology Demonstrating the">
            <a:extLst>
              <a:ext uri="{FF2B5EF4-FFF2-40B4-BE49-F238E27FC236}">
                <a16:creationId xmlns:a16="http://schemas.microsoft.com/office/drawing/2014/main" id="{069309F8-D529-4838-B0C6-8AF1265A9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482" y="1057252"/>
            <a:ext cx="9623036" cy="5415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05300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99B19B-5EF2-4D28-ADA6-276845EBD6DE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 descr="Buddha Silhouette with solid fill">
            <a:extLst>
              <a:ext uri="{FF2B5EF4-FFF2-40B4-BE49-F238E27FC236}">
                <a16:creationId xmlns:a16="http://schemas.microsoft.com/office/drawing/2014/main" id="{A8D78C16-2299-4313-94F0-7BF9289E3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4872" y="2657872"/>
            <a:ext cx="1542256" cy="154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13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LeftStep">
      <a:dk1>
        <a:srgbClr val="000000"/>
      </a:dk1>
      <a:lt1>
        <a:srgbClr val="FFFFFF"/>
      </a:lt1>
      <a:dk2>
        <a:srgbClr val="243841"/>
      </a:dk2>
      <a:lt2>
        <a:srgbClr val="E7E8E2"/>
      </a:lt2>
      <a:accent1>
        <a:srgbClr val="877CE1"/>
      </a:accent1>
      <a:accent2>
        <a:srgbClr val="5F85DA"/>
      </a:accent2>
      <a:accent3>
        <a:srgbClr val="4CB0D6"/>
      </a:accent3>
      <a:accent4>
        <a:srgbClr val="4EB4A6"/>
      </a:accent4>
      <a:accent5>
        <a:srgbClr val="55B680"/>
      </a:accent5>
      <a:accent6>
        <a:srgbClr val="4FB952"/>
      </a:accent6>
      <a:hlink>
        <a:srgbClr val="818751"/>
      </a:hlink>
      <a:folHlink>
        <a:srgbClr val="7F7F7F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Sol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2498</TotalTime>
  <Words>3206</Words>
  <Application>Microsoft Office PowerPoint</Application>
  <PresentationFormat>Widescreen</PresentationFormat>
  <Paragraphs>673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80" baseType="lpstr">
      <vt:lpstr>Arial</vt:lpstr>
      <vt:lpstr>Garamond</vt:lpstr>
      <vt:lpstr>Riforma LL</vt:lpstr>
      <vt:lpstr>Avenir Next LT Pro</vt:lpstr>
      <vt:lpstr>Plaak 3 Trial Regular</vt:lpstr>
      <vt:lpstr>Monument Grotesk Mono</vt:lpstr>
      <vt:lpstr>Calibri</vt:lpstr>
      <vt:lpstr>SavonVTI</vt:lpstr>
      <vt:lpstr>Solid</vt:lpstr>
      <vt:lpstr>PowerPoint Presentation</vt:lpstr>
      <vt:lpstr>PowerPoint Presentation</vt:lpstr>
      <vt:lpstr>PowerPoint Presentation</vt:lpstr>
      <vt:lpstr>PowerPoint Presentation</vt:lpstr>
      <vt:lpstr>Learning basics</vt:lpstr>
      <vt:lpstr>Neuroplasticity </vt:lpstr>
      <vt:lpstr>What to consider</vt:lpstr>
      <vt:lpstr>Learning basics</vt:lpstr>
      <vt:lpstr>How the brain works </vt:lpstr>
      <vt:lpstr>What to consider</vt:lpstr>
      <vt:lpstr>Learning basics</vt:lpstr>
      <vt:lpstr>Faster learning techniques</vt:lpstr>
      <vt:lpstr>What to consider</vt:lpstr>
      <vt:lpstr>PowerPoint Presentation</vt:lpstr>
      <vt:lpstr>Learning and instructional design principles</vt:lpstr>
      <vt:lpstr>Grabbing attention tactics</vt:lpstr>
      <vt:lpstr>What to consider</vt:lpstr>
      <vt:lpstr>Learning and instructional design principles</vt:lpstr>
      <vt:lpstr>Organisation and sequence</vt:lpstr>
      <vt:lpstr>What to consider</vt:lpstr>
      <vt:lpstr>Learning and instructional design principles</vt:lpstr>
      <vt:lpstr>Selected design techniques</vt:lpstr>
      <vt:lpstr>What to consider</vt:lpstr>
      <vt:lpstr>PowerPoint Presentation</vt:lpstr>
      <vt:lpstr>Learning Trends and technology</vt:lpstr>
      <vt:lpstr>Learning Trends and technology</vt:lpstr>
      <vt:lpstr>Learning Trends and technology</vt:lpstr>
      <vt:lpstr>Learning Trends and technology</vt:lpstr>
      <vt:lpstr>Learning Trends and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Kirkpatrick’s Four Levels of Training Evaluation</vt:lpstr>
      <vt:lpstr>Brinkerhoff’s Success Case Method</vt:lpstr>
      <vt:lpstr>Philips ROI 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Atanas Yanakiev</dc:creator>
  <cp:lastModifiedBy>Tanya Ilieva</cp:lastModifiedBy>
  <cp:revision>162</cp:revision>
  <dcterms:created xsi:type="dcterms:W3CDTF">2020-02-14T09:34:52Z</dcterms:created>
  <dcterms:modified xsi:type="dcterms:W3CDTF">2022-02-08T14:44:30Z</dcterms:modified>
</cp:coreProperties>
</file>