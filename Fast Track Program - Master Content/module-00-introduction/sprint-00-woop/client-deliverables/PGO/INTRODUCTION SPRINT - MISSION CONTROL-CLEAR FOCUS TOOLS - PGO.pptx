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6" r:id="rId1"/>
    <p:sldMasterId id="2147484438" r:id="rId2"/>
    <p:sldMasterId id="2147484444" r:id="rId3"/>
    <p:sldMasterId id="2147484446" r:id="rId4"/>
    <p:sldMasterId id="2147484454" r:id="rId5"/>
    <p:sldMasterId id="2147484461" r:id="rId6"/>
    <p:sldMasterId id="2147484471" r:id="rId7"/>
  </p:sldMasterIdLst>
  <p:notesMasterIdLst>
    <p:notesMasterId r:id="rId10"/>
  </p:notesMasterIdLst>
  <p:handoutMasterIdLst>
    <p:handoutMasterId r:id="rId11"/>
  </p:handoutMasterIdLst>
  <p:sldIdLst>
    <p:sldId id="2420" r:id="rId8"/>
    <p:sldId id="2572" r:id="rId9"/>
  </p:sldIdLst>
  <p:sldSz cx="10688638" cy="756285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3" userDrawn="1">
          <p15:clr>
            <a:srgbClr val="A4A3A4"/>
          </p15:clr>
        </p15:guide>
        <p15:guide id="2" pos="2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7F"/>
    <a:srgbClr val="E7E6E6"/>
    <a:srgbClr val="FFF469"/>
    <a:srgbClr val="FCC100"/>
    <a:srgbClr val="B2B2B2"/>
    <a:srgbClr val="D9D9D9"/>
    <a:srgbClr val="0D3272"/>
    <a:srgbClr val="717272"/>
    <a:srgbClr val="0F85CE"/>
    <a:srgbClr val="EE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71136-F9AA-5A7C-AA01-6AA573A6C927}" v="1453" dt="2024-09-30T17:57:12.025"/>
    <p1510:client id="{6511048C-E9D1-137E-0CC3-586CF024E4C4}" v="2928" dt="2024-10-02T06:48:51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78503" autoAdjust="0"/>
  </p:normalViewPr>
  <p:slideViewPr>
    <p:cSldViewPr snapToGrid="0">
      <p:cViewPr varScale="1">
        <p:scale>
          <a:sx n="90" d="100"/>
          <a:sy n="90" d="100"/>
        </p:scale>
        <p:origin x="2208" y="192"/>
      </p:cViewPr>
      <p:guideLst>
        <p:guide orient="horz" pos="4393"/>
        <p:guide pos="231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ść" userId="S::urn:spo:anon#67fc87bb5abc51a24eda5e662925474f0a4a50f54681cfcd821a88a32765b3f1::" providerId="AD" clId="Web-{0B871136-F9AA-5A7C-AA01-6AA573A6C927}"/>
    <pc:docChg chg="modSld">
      <pc:chgData name="Gość" userId="S::urn:spo:anon#67fc87bb5abc51a24eda5e662925474f0a4a50f54681cfcd821a88a32765b3f1::" providerId="AD" clId="Web-{0B871136-F9AA-5A7C-AA01-6AA573A6C927}" dt="2024-09-30T17:57:07.728" v="1435"/>
      <pc:docMkLst>
        <pc:docMk/>
      </pc:docMkLst>
      <pc:sldChg chg="modSp">
        <pc:chgData name="Gość" userId="S::urn:spo:anon#67fc87bb5abc51a24eda5e662925474f0a4a50f54681cfcd821a88a32765b3f1::" providerId="AD" clId="Web-{0B871136-F9AA-5A7C-AA01-6AA573A6C927}" dt="2024-09-30T17:51:06.284" v="713"/>
        <pc:sldMkLst>
          <pc:docMk/>
          <pc:sldMk cId="1877047662" sldId="2420"/>
        </pc:sldMkLst>
        <pc:graphicFrameChg chg="mod modGraphic">
          <ac:chgData name="Gość" userId="S::urn:spo:anon#67fc87bb5abc51a24eda5e662925474f0a4a50f54681cfcd821a88a32765b3f1::" providerId="AD" clId="Web-{0B871136-F9AA-5A7C-AA01-6AA573A6C927}" dt="2024-09-30T17:51:06.284" v="713"/>
          <ac:graphicFrameMkLst>
            <pc:docMk/>
            <pc:sldMk cId="1877047662" sldId="2420"/>
            <ac:graphicFrameMk id="18" creationId="{1F74CD5A-9F80-0549-8844-6BFF5ADE70C7}"/>
          </ac:graphicFrameMkLst>
        </pc:graphicFrameChg>
      </pc:sldChg>
      <pc:sldChg chg="modSp">
        <pc:chgData name="Gość" userId="S::urn:spo:anon#67fc87bb5abc51a24eda5e662925474f0a4a50f54681cfcd821a88a32765b3f1::" providerId="AD" clId="Web-{0B871136-F9AA-5A7C-AA01-6AA573A6C927}" dt="2024-09-30T17:57:07.728" v="1435"/>
        <pc:sldMkLst>
          <pc:docMk/>
          <pc:sldMk cId="2716595773" sldId="2572"/>
        </pc:sldMkLst>
        <pc:graphicFrameChg chg="mod modGraphic">
          <ac:chgData name="Gość" userId="S::urn:spo:anon#67fc87bb5abc51a24eda5e662925474f0a4a50f54681cfcd821a88a32765b3f1::" providerId="AD" clId="Web-{0B871136-F9AA-5A7C-AA01-6AA573A6C927}" dt="2024-09-30T17:57:07.728" v="1435"/>
          <ac:graphicFrameMkLst>
            <pc:docMk/>
            <pc:sldMk cId="2716595773" sldId="2572"/>
            <ac:graphicFrameMk id="18" creationId="{1F74CD5A-9F80-0549-8844-6BFF5ADE70C7}"/>
          </ac:graphicFrameMkLst>
        </pc:graphicFrameChg>
      </pc:sldChg>
    </pc:docChg>
  </pc:docChgLst>
  <pc:docChgLst>
    <pc:chgData name="Gość" userId="S::urn:spo:anon#67fc87bb5abc51a24eda5e662925474f0a4a50f54681cfcd821a88a32765b3f1::" providerId="AD" clId="Web-{6511048C-E9D1-137E-0CC3-586CF024E4C4}"/>
    <pc:docChg chg="modSld">
      <pc:chgData name="Gość" userId="S::urn:spo:anon#67fc87bb5abc51a24eda5e662925474f0a4a50f54681cfcd821a88a32765b3f1::" providerId="AD" clId="Web-{6511048C-E9D1-137E-0CC3-586CF024E4C4}" dt="2024-10-02T06:48:51.755" v="2873"/>
      <pc:docMkLst>
        <pc:docMk/>
      </pc:docMkLst>
      <pc:sldChg chg="modSp">
        <pc:chgData name="Gość" userId="S::urn:spo:anon#67fc87bb5abc51a24eda5e662925474f0a4a50f54681cfcd821a88a32765b3f1::" providerId="AD" clId="Web-{6511048C-E9D1-137E-0CC3-586CF024E4C4}" dt="2024-10-02T06:46:09.830" v="2732"/>
        <pc:sldMkLst>
          <pc:docMk/>
          <pc:sldMk cId="1877047662" sldId="2420"/>
        </pc:sldMkLst>
        <pc:graphicFrameChg chg="mod modGraphic">
          <ac:chgData name="Gość" userId="S::urn:spo:anon#67fc87bb5abc51a24eda5e662925474f0a4a50f54681cfcd821a88a32765b3f1::" providerId="AD" clId="Web-{6511048C-E9D1-137E-0CC3-586CF024E4C4}" dt="2024-10-02T06:46:09.830" v="2732"/>
          <ac:graphicFrameMkLst>
            <pc:docMk/>
            <pc:sldMk cId="1877047662" sldId="2420"/>
            <ac:graphicFrameMk id="18" creationId="{1F74CD5A-9F80-0549-8844-6BFF5ADE70C7}"/>
          </ac:graphicFrameMkLst>
        </pc:graphicFrameChg>
        <pc:picChg chg="mod">
          <ac:chgData name="Gość" userId="S::urn:spo:anon#67fc87bb5abc51a24eda5e662925474f0a4a50f54681cfcd821a88a32765b3f1::" providerId="AD" clId="Web-{6511048C-E9D1-137E-0CC3-586CF024E4C4}" dt="2024-10-01T09:27:55.739" v="381" actId="14100"/>
          <ac:picMkLst>
            <pc:docMk/>
            <pc:sldMk cId="1877047662" sldId="2420"/>
            <ac:picMk id="2" creationId="{2D85F1FD-745C-EC5A-7EB9-5B10B6D1054F}"/>
          </ac:picMkLst>
        </pc:picChg>
      </pc:sldChg>
      <pc:sldChg chg="modSp">
        <pc:chgData name="Gość" userId="S::urn:spo:anon#67fc87bb5abc51a24eda5e662925474f0a4a50f54681cfcd821a88a32765b3f1::" providerId="AD" clId="Web-{6511048C-E9D1-137E-0CC3-586CF024E4C4}" dt="2024-10-02T06:48:51.755" v="2873"/>
        <pc:sldMkLst>
          <pc:docMk/>
          <pc:sldMk cId="2716595773" sldId="2572"/>
        </pc:sldMkLst>
        <pc:graphicFrameChg chg="mod modGraphic">
          <ac:chgData name="Gość" userId="S::urn:spo:anon#67fc87bb5abc51a24eda5e662925474f0a4a50f54681cfcd821a88a32765b3f1::" providerId="AD" clId="Web-{6511048C-E9D1-137E-0CC3-586CF024E4C4}" dt="2024-10-02T06:48:51.755" v="2873"/>
          <ac:graphicFrameMkLst>
            <pc:docMk/>
            <pc:sldMk cId="2716595773" sldId="2572"/>
            <ac:graphicFrameMk id="18" creationId="{1F74CD5A-9F80-0549-8844-6BFF5ADE70C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10/1/2024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Calibri" panose="020F0502020204030204" pitchFamily="34" charset="0"/>
              </a:rPr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36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149D8D-8119-404F-8144-40680EF12F96}"/>
              </a:ext>
            </a:extLst>
          </p:cNvPr>
          <p:cNvSpPr/>
          <p:nvPr userDrawn="1"/>
        </p:nvSpPr>
        <p:spPr>
          <a:xfrm>
            <a:off x="180753" y="545806"/>
            <a:ext cx="3511296" cy="6839712"/>
          </a:xfrm>
          <a:prstGeom prst="rect">
            <a:avLst/>
          </a:prstGeom>
          <a:solidFill>
            <a:srgbClr val="EEE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590" y="121150"/>
            <a:ext cx="3446463" cy="401639"/>
          </a:xfrm>
          <a:prstGeom prst="rect">
            <a:avLst/>
          </a:prstGeom>
        </p:spPr>
        <p:txBody>
          <a:bodyPr anchor="b"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69D3-6F0A-44D2-A6AC-D6B310071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886" y="939884"/>
            <a:ext cx="6474162" cy="6445632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Calibri" panose="020F0502020204030204" pitchFamily="34" charset="0"/>
              </a:defRPr>
            </a:lvl1pPr>
            <a:lvl2pPr>
              <a:defRPr sz="2800" b="0" i="0">
                <a:latin typeface="Calibri" panose="020F0502020204030204" pitchFamily="34" charset="0"/>
              </a:defRPr>
            </a:lvl2pPr>
            <a:lvl3pPr>
              <a:defRPr sz="2400" b="0" i="0">
                <a:latin typeface="Calibri" panose="020F0502020204030204" pitchFamily="34" charset="0"/>
              </a:defRPr>
            </a:lvl3pPr>
            <a:lvl4pPr>
              <a:defRPr sz="2000" b="0" i="0">
                <a:latin typeface="Calibri" panose="020F0502020204030204" pitchFamily="34" charset="0"/>
              </a:defRPr>
            </a:lvl4pPr>
            <a:lvl5pPr>
              <a:defRPr sz="2000" b="0" i="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590" y="939885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62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908-C6EA-40BC-84E5-8601B3A6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8250"/>
            <a:ext cx="8015288" cy="2632075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482F5-F859-4EB4-86D7-6862BD2B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1925"/>
            <a:ext cx="8015288" cy="1825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534BF-1C45-4368-8169-ECE10FF1D610}"/>
              </a:ext>
            </a:extLst>
          </p:cNvPr>
          <p:cNvSpPr/>
          <p:nvPr userDrawn="1"/>
        </p:nvSpPr>
        <p:spPr>
          <a:xfrm>
            <a:off x="10401771" y="545480"/>
            <a:ext cx="109728" cy="109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B641-31FC-4D60-A586-84293CC2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28EA-6F10-4127-AC7D-40567E27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013" y="2012950"/>
            <a:ext cx="92186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FC94-B493-43FD-BF9F-5D1B791B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10/1/2024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2856-ED67-4B7E-8279-8E6789B0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4362-6709-4AE9-B1D3-7928B7F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3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86E5-B4B8-4784-8B0D-2AF7F38B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885950"/>
            <a:ext cx="9220200" cy="3144838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CEA1-F41B-42B4-8034-9669B187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3" y="5060950"/>
            <a:ext cx="9220200" cy="1654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3CFF6-4041-4594-9E37-571FDD8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10/1/2024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B0066-8AAF-4EE5-8E31-6B8D98B3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78B1-AA48-45E7-9399-FED42559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5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EE2D-9B15-47C1-9EB0-5E77BB45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FD81-9B3A-47E5-80B8-A6801D014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23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160-B179-4E87-8430-5B7283F7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9725" y="2012950"/>
            <a:ext cx="4533900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1295-A1C3-4C52-9270-6A501BEC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10/1/2024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30D10-DEED-4CD4-8B49-39C47A4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3B19E-5879-4D95-A082-E18A8BDB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0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44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3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2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906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502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25973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3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20417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39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156665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1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334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3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56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95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191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BG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6F15528-21DE-4FAA-801E-634DDDAF4B2B}" type="slidenum">
              <a:rPr lang="en-BG" smtClean="0"/>
              <a:pPr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04920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954D2-DE86-485A-82C4-0A97CB7F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658E159-4F12-4E61-B298-A2E12DD7BA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70235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C66F39-4FDC-4901-ACC3-5728E52A8E8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689696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C1B3C4-C681-4106-ACA7-A636C51E7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C96BC2-E0CF-437D-8550-C869D3AF0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C281297-A77A-4B6D-9A5B-9672D00DE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5CE5C54-5AB2-4A74-8B67-5492731C7B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046706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20F4F0-901B-40CD-B4D6-D2302FE6E5CE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55D76-41F0-4513-A3F8-AE83A0D00BEA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E6A13B6-71DD-4743-8DC5-4A8D996B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35ADFE-970A-413E-A34F-0930136ADC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2C00F2-19A4-4704-9FA7-D5F0897A43E8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729DC3-464B-493F-8F16-F6A8EFD33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63369D3-6899-4683-B5E5-4F4C1D4204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D645791-DA6C-435E-A126-F330C842C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005556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EBC85E5-A623-4936-A4D2-601B65ED0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3F24E8-0B25-4B45-8DBB-00E105360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572854-73CF-4220-B5F8-1A9835535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F1CF014-F305-43CE-8FAE-D03DFA92E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3255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1CE07-0789-4BF7-8874-E3CF0B19AB18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DFFE40-6F6E-4AC4-A7DE-1653172C5A1D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959649E-49B5-45E1-B47D-D98CABFF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F135383-3194-424E-B03E-9AA70F150D9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D04BB9-0A68-4EC5-B711-4BF1A7743811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516865-DA93-493B-9B85-304E94925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62323D2-B2F0-4A2F-AB7B-A21417227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6D1ABAB-FACA-4162-9761-5AEA98E4F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92270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227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69838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00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51190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45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8450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105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6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29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59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  <p:sldLayoutId id="214748444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5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4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0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0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01">
          <p15:clr>
            <a:srgbClr val="F26B43"/>
          </p15:clr>
        </p15:guide>
        <p15:guide id="2" pos="574">
          <p15:clr>
            <a:srgbClr val="F26B43"/>
          </p15:clr>
        </p15:guide>
        <p15:guide id="3" pos="6621">
          <p15:clr>
            <a:srgbClr val="F26B43"/>
          </p15:clr>
        </p15:guide>
        <p15:guide id="4" pos="112">
          <p15:clr>
            <a:srgbClr val="F26B43"/>
          </p15:clr>
        </p15:guide>
        <p15:guide id="5" pos="641">
          <p15:clr>
            <a:srgbClr val="F26B43"/>
          </p15:clr>
        </p15:guide>
        <p15:guide id="6" pos="1103">
          <p15:clr>
            <a:srgbClr val="F26B43"/>
          </p15:clr>
        </p15:guide>
        <p15:guide id="7" pos="1172">
          <p15:clr>
            <a:srgbClr val="F26B43"/>
          </p15:clr>
        </p15:guide>
        <p15:guide id="8" pos="1634">
          <p15:clr>
            <a:srgbClr val="F26B43"/>
          </p15:clr>
        </p15:guide>
        <p15:guide id="9" pos="1701">
          <p15:clr>
            <a:srgbClr val="F26B43"/>
          </p15:clr>
        </p15:guide>
        <p15:guide id="10" pos="2163">
          <p15:clr>
            <a:srgbClr val="F26B43"/>
          </p15:clr>
        </p15:guide>
        <p15:guide id="11" pos="2231">
          <p15:clr>
            <a:srgbClr val="F26B43"/>
          </p15:clr>
        </p15:guide>
        <p15:guide id="12" pos="2762">
          <p15:clr>
            <a:srgbClr val="F26B43"/>
          </p15:clr>
        </p15:guide>
        <p15:guide id="13" pos="2694">
          <p15:clr>
            <a:srgbClr val="F26B43"/>
          </p15:clr>
        </p15:guide>
        <p15:guide id="14" pos="3225">
          <p15:clr>
            <a:srgbClr val="F26B43"/>
          </p15:clr>
        </p15:guide>
        <p15:guide id="15" pos="3291">
          <p15:clr>
            <a:srgbClr val="F26B43"/>
          </p15:clr>
        </p15:guide>
        <p15:guide id="16" pos="3752">
          <p15:clr>
            <a:srgbClr val="F26B43"/>
          </p15:clr>
        </p15:guide>
        <p15:guide id="17" pos="3820">
          <p15:clr>
            <a:srgbClr val="F26B43"/>
          </p15:clr>
        </p15:guide>
        <p15:guide id="18" pos="4283">
          <p15:clr>
            <a:srgbClr val="F26B43"/>
          </p15:clr>
        </p15:guide>
        <p15:guide id="19" pos="4350">
          <p15:clr>
            <a:srgbClr val="F26B43"/>
          </p15:clr>
        </p15:guide>
        <p15:guide id="20" pos="4812">
          <p15:clr>
            <a:srgbClr val="F26B43"/>
          </p15:clr>
        </p15:guide>
        <p15:guide id="21" pos="4886">
          <p15:clr>
            <a:srgbClr val="F26B43"/>
          </p15:clr>
        </p15:guide>
        <p15:guide id="22" pos="5349">
          <p15:clr>
            <a:srgbClr val="F26B43"/>
          </p15:clr>
        </p15:guide>
        <p15:guide id="23" pos="5417">
          <p15:clr>
            <a:srgbClr val="F26B43"/>
          </p15:clr>
        </p15:guide>
        <p15:guide id="24" pos="5880">
          <p15:clr>
            <a:srgbClr val="F26B43"/>
          </p15:clr>
        </p15:guide>
        <p15:guide id="25" pos="5946">
          <p15:clr>
            <a:srgbClr val="F26B43"/>
          </p15:clr>
        </p15:guide>
        <p15:guide id="26" pos="2198">
          <p15:clr>
            <a:srgbClr val="F26B43"/>
          </p15:clr>
        </p15:guide>
        <p15:guide id="27" pos="4316">
          <p15:clr>
            <a:srgbClr val="F26B43"/>
          </p15:clr>
        </p15:guide>
        <p15:guide id="28" orient="horz" pos="2480">
          <p15:clr>
            <a:srgbClr val="F26B43"/>
          </p15:clr>
        </p15:guide>
        <p15:guide id="30" orient="horz" pos="114">
          <p15:clr>
            <a:srgbClr val="F26B43"/>
          </p15:clr>
        </p15:guide>
        <p15:guide id="31" orient="horz" pos="465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2" r:id="rId1"/>
    <p:sldLayoutId id="2147484473" r:id="rId2"/>
    <p:sldLayoutId id="2147484474" r:id="rId3"/>
    <p:sldLayoutId id="2147484475" r:id="rId4"/>
    <p:sldLayoutId id="2147484476" r:id="rId5"/>
    <p:sldLayoutId id="2147484477" r:id="rId6"/>
    <p:sldLayoutId id="2147484478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668660"/>
              </p:ext>
            </p:extLst>
          </p:nvPr>
        </p:nvGraphicFramePr>
        <p:xfrm>
          <a:off x="243567" y="810404"/>
          <a:ext cx="9776027" cy="69929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5277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4833910">
                  <a:extLst>
                    <a:ext uri="{9D8B030D-6E8A-4147-A177-3AD203B41FA5}">
                      <a16:colId xmlns:a16="http://schemas.microsoft.com/office/drawing/2014/main" val="613580562"/>
                    </a:ext>
                  </a:extLst>
                </a:gridCol>
              </a:tblGrid>
              <a:tr h="419030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Desired outcome of the Fast Track program (Wish)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149215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does the successful implementation of the Fast Track program look like? Define specific, measurable outcomes.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accent1"/>
                          </a:solidFill>
                          <a:latin typeface="Arial"/>
                        </a:rPr>
                        <a:t>We have a clear and measurable PGO 2030 strategy developed in accordance with the Fast Track methodology.</a:t>
                      </a:r>
                      <a:endParaRPr lang="en-US" u="none" strike="noStrike" noProof="0" dirty="0">
                        <a:solidFill>
                          <a:schemeClr val="accent1"/>
                        </a:solidFill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accent1"/>
                          </a:solidFill>
                          <a:latin typeface="Arial"/>
                        </a:rPr>
                        <a:t>We can measure the effectiveness of key processes to know that we will achieve the Strategy.</a:t>
                      </a:r>
                      <a:endParaRPr lang="en-US" u="none" strike="noStrike" noProof="0">
                        <a:solidFill>
                          <a:schemeClr val="accent1"/>
                        </a:solidFill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accent1"/>
                          </a:solidFill>
                          <a:latin typeface="Arial"/>
                        </a:rPr>
                        <a:t>We have developed the managerial competence of the team and use Fast Track tools.</a:t>
                      </a:r>
                      <a:endParaRPr lang="en-US" u="none" strike="noStrike" noProof="0">
                        <a:solidFill>
                          <a:schemeClr val="accent1"/>
                        </a:solidFill>
                        <a:latin typeface="Arial"/>
                      </a:endParaRP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specific changes are we aiming to implement, and who will be directly affected by these changes?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Set the highest priority for the Fast Track program, implement the program according to the agenda and with full commitment.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Changes will mainly affect team members.</a:t>
                      </a:r>
                      <a:endParaRPr lang="en-US" dirty="0"/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latin typeface="Arial"/>
                          <a:ea typeface="Riforma LL" panose="020B0504020101020102" pitchFamily="34" charset="77"/>
                          <a:cs typeface="Arial"/>
                        </a:rPr>
                        <a:t>What tangible benefits do we expect the team to achieve through this program?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The team uses Fast Track tools and methodology in their daily work</a:t>
                      </a:r>
                      <a:endParaRPr lang="en-US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19030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(O)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bstacles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to achieve the desired outcome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(P)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lan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how can you prevent these obstacles from arising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2841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Absence at meetings (Sprints)</a:t>
                      </a:r>
                      <a:endParaRPr lang="pl-PL" sz="1200" b="0" i="0" u="none" strike="noStrike" kern="1200" noProof="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Establish a fixed schedule of meetings with Fast Track for the entire program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2126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Lack of preparation and commitment (regularity) to meetings by team members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“double check” min. 2 persons min. 1 day before the team meeting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Failure to set the highest priority for the Fast Track program</a:t>
                      </a:r>
                      <a:endParaRPr lang="en-US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Determine that the Fast Track program has the highest priority (strategic project for PGO)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Lack of openness and “brutal honesty” in the team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Declaration of the team to use </a:t>
                      </a:r>
                      <a:r>
                        <a:rPr lang="en-US" sz="1200" b="0" i="0" u="none" strike="noStrike" kern="1200" noProof="0" err="1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butal</a:t>
                      </a: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 honesty and openness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Lack of openness to change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Declaration of the team to use </a:t>
                      </a:r>
                      <a:r>
                        <a:rPr lang="en-US" sz="1200" b="0" i="0" u="none" strike="noStrike" kern="1200" noProof="0" err="1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butal</a:t>
                      </a: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 honesty and openness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Time pressure / time management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Establish a fixed schedule of meetings with Fast Track for the entire program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Lack of teamwork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Team meetings + double check + open communication and mutual support</a:t>
                      </a:r>
                      <a:endParaRPr lang="pl-PL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93525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35159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D85F1FD-745C-EC5A-7EB9-5B10B6D1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30" y="-151681"/>
            <a:ext cx="10608476" cy="8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4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89703"/>
              </p:ext>
            </p:extLst>
          </p:nvPr>
        </p:nvGraphicFramePr>
        <p:xfrm>
          <a:off x="243567" y="810403"/>
          <a:ext cx="9776012" cy="65179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121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3643312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2018579">
                  <a:extLst>
                    <a:ext uri="{9D8B030D-6E8A-4147-A177-3AD203B41FA5}">
                      <a16:colId xmlns:a16="http://schemas.microsoft.com/office/drawing/2014/main" val="1789464476"/>
                    </a:ext>
                  </a:extLst>
                </a:gridCol>
              </a:tblGrid>
              <a:tr h="428893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Describe a scenario in which the Fast Track program fails to meet its objectives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017408">
                <a:tc gridSpan="3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chemeClr val="accent1"/>
                          </a:solidFill>
                          <a:latin typeface="Arial"/>
                        </a:rPr>
                        <a:t>We will not develop a new PGO 2030 Strategy according to the Fast Track methodology</a:t>
                      </a:r>
                      <a:endParaRPr lang="pl-PL" dirty="0">
                        <a:solidFill>
                          <a:schemeClr val="accent1"/>
                        </a:solidFill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="0" i="0" dirty="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4363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reasons for failure-Root cause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Preventive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G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Who is responsible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4084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We are not implementing the Fast Track program as scheduled</a:t>
                      </a:r>
                      <a:endParaRPr lang="en-US" sz="1200" b="0" i="0" u="none" strike="noStrike" kern="1200" noProof="0" dirty="0" err="1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We set a fixed schedule for work and meetings</a:t>
                      </a:r>
                      <a:endParaRPr lang="pl-PL" sz="1200" b="0" i="0" u="none" strike="noStrike" kern="120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Board of directors</a:t>
                      </a:r>
                      <a:endParaRPr lang="en-US" sz="1200" b="0" i="0" u="none" strike="noStrike" kern="1200" noProof="0" dirty="0" err="1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3353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Fast Track program did not have the highest priority specified</a:t>
                      </a:r>
                      <a:endParaRPr lang="en-US" sz="1200" b="0" i="0" u="none" strike="noStrike" kern="1200" noProof="0" dirty="0" err="1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376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We give the program top priority</a:t>
                      </a:r>
                      <a:endParaRPr lang="pl-PL" sz="1200" b="0" i="0" u="none" strike="noStrike" kern="120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Board of directors</a:t>
                      </a:r>
                      <a:endParaRPr lang="en-US" sz="1200" b="0" i="0" u="none" strike="noStrike" kern="1200" noProof="0" dirty="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Lack of involvement of all team members</a:t>
                      </a:r>
                      <a:endParaRPr lang="en-US" sz="1200" b="0" i="0" u="none" strike="noStrike" kern="1200" noProof="0" dirty="0" err="1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CEO (board of directors) monitors the progress of the work and ensures commitment</a:t>
                      </a:r>
                      <a:endParaRPr lang="pl-PL" sz="1200" b="0" i="0" u="none" strike="noStrike" kern="1200">
                        <a:solidFill>
                          <a:schemeClr val="accen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Board of directors / Ł. </a:t>
                      </a:r>
                      <a:r>
                        <a:rPr lang="en-US" sz="1200" b="0" i="0" u="none" strike="noStrike" kern="1200" dirty="0">
                          <a:solidFill>
                            <a:schemeClr val="accent1"/>
                          </a:solidFill>
                          <a:latin typeface="Arial"/>
                          <a:ea typeface="+mn-ea"/>
                          <a:cs typeface="+mn-cs"/>
                        </a:rPr>
                        <a:t>Petrus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marR="0" lvl="0" indent="0" algn="l" defTabSz="91376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/>
                        <a:ea typeface="Riforma LL" panose="020B0504020101020102" pitchFamily="34" charset="77"/>
                        <a:cs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87796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25027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A22941B-6605-BC31-71D2-99ECF8B1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" y="-85725"/>
            <a:ext cx="9774332" cy="83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9577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121</Words>
  <Application>Microsoft Office PowerPoint</Application>
  <PresentationFormat>Niestandardowy</PresentationFormat>
  <Paragraphs>14</Paragraphs>
  <Slides>2</Slides>
  <Notes>2</Notes>
  <HiddenSlides>0</HiddenSlides>
  <MMClips>0</MMClips>
  <ScaleCrop>false</ScaleCrop>
  <HeadingPairs>
    <vt:vector size="4" baseType="variant">
      <vt:variant>
        <vt:lpstr>Motyw</vt:lpstr>
      </vt:variant>
      <vt:variant>
        <vt:i4>7</vt:i4>
      </vt:variant>
      <vt:variant>
        <vt:lpstr>Tytuły slajdów</vt:lpstr>
      </vt:variant>
      <vt:variant>
        <vt:i4>2</vt:i4>
      </vt:variant>
    </vt:vector>
  </HeadingPairs>
  <TitlesOfParts>
    <vt:vector size="9" baseType="lpstr">
      <vt:lpstr>1_Custom Design</vt:lpstr>
      <vt:lpstr>SOLIDS</vt:lpstr>
      <vt:lpstr>5_Custom Design</vt:lpstr>
      <vt:lpstr>4_Custom Design</vt:lpstr>
      <vt:lpstr>1_SOLIDS</vt:lpstr>
      <vt:lpstr>3_Custom Design</vt:lpstr>
      <vt:lpstr>6_Custom Design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ana-maria</dc:creator>
  <cp:lastModifiedBy>Ana-Maria Nankova</cp:lastModifiedBy>
  <cp:revision>414</cp:revision>
  <dcterms:created xsi:type="dcterms:W3CDTF">2020-10-06T20:30:34Z</dcterms:created>
  <dcterms:modified xsi:type="dcterms:W3CDTF">2024-10-02T06:49:08Z</dcterms:modified>
</cp:coreProperties>
</file>