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6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16" r:id="rId1"/>
    <p:sldMasterId id="2147484438" r:id="rId2"/>
    <p:sldMasterId id="2147484444" r:id="rId3"/>
    <p:sldMasterId id="2147484446" r:id="rId4"/>
    <p:sldMasterId id="2147484454" r:id="rId5"/>
    <p:sldMasterId id="2147484461" r:id="rId6"/>
    <p:sldMasterId id="2147484471" r:id="rId7"/>
  </p:sldMasterIdLst>
  <p:notesMasterIdLst>
    <p:notesMasterId r:id="rId10"/>
  </p:notesMasterIdLst>
  <p:handoutMasterIdLst>
    <p:handoutMasterId r:id="rId11"/>
  </p:handoutMasterIdLst>
  <p:sldIdLst>
    <p:sldId id="2420" r:id="rId8"/>
    <p:sldId id="2572" r:id="rId9"/>
  </p:sldIdLst>
  <p:sldSz cx="10688638" cy="756285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93" userDrawn="1">
          <p15:clr>
            <a:srgbClr val="A4A3A4"/>
          </p15:clr>
        </p15:guide>
        <p15:guide id="2" pos="23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37F"/>
    <a:srgbClr val="E7E6E6"/>
    <a:srgbClr val="FFF469"/>
    <a:srgbClr val="FCC100"/>
    <a:srgbClr val="B2B2B2"/>
    <a:srgbClr val="D9D9D9"/>
    <a:srgbClr val="0D3272"/>
    <a:srgbClr val="717272"/>
    <a:srgbClr val="0F85CE"/>
    <a:srgbClr val="EEED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28664C-0AE6-9331-4B14-57B9EB5B43C3}" v="1062" dt="2025-03-28T14:51:11.8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 autoAdjust="0"/>
    <p:restoredTop sz="78503" autoAdjust="0"/>
  </p:normalViewPr>
  <p:slideViewPr>
    <p:cSldViewPr snapToGrid="0">
      <p:cViewPr varScale="1">
        <p:scale>
          <a:sx n="90" d="100"/>
          <a:sy n="90" d="100"/>
        </p:scale>
        <p:origin x="2208" y="192"/>
      </p:cViewPr>
      <p:guideLst>
        <p:guide orient="horz" pos="4393"/>
        <p:guide pos="231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ena Karantagli" userId="S::elena@fasttrack-europe.com::4244063e-a01d-4737-9f82-5eb599706e2e" providerId="AD" clId="Web-{1628664C-0AE6-9331-4B14-57B9EB5B43C3}"/>
    <pc:docChg chg="modSld">
      <pc:chgData name="Elena Karantagli" userId="S::elena@fasttrack-europe.com::4244063e-a01d-4737-9f82-5eb599706e2e" providerId="AD" clId="Web-{1628664C-0AE6-9331-4B14-57B9EB5B43C3}" dt="2025-03-28T14:51:10.799" v="1031"/>
      <pc:docMkLst>
        <pc:docMk/>
      </pc:docMkLst>
      <pc:sldChg chg="modSp">
        <pc:chgData name="Elena Karantagli" userId="S::elena@fasttrack-europe.com::4244063e-a01d-4737-9f82-5eb599706e2e" providerId="AD" clId="Web-{1628664C-0AE6-9331-4B14-57B9EB5B43C3}" dt="2025-03-28T14:50:25.845" v="863"/>
        <pc:sldMkLst>
          <pc:docMk/>
          <pc:sldMk cId="1877047662" sldId="2420"/>
        </pc:sldMkLst>
        <pc:graphicFrameChg chg="mod modGraphic">
          <ac:chgData name="Elena Karantagli" userId="S::elena@fasttrack-europe.com::4244063e-a01d-4737-9f82-5eb599706e2e" providerId="AD" clId="Web-{1628664C-0AE6-9331-4B14-57B9EB5B43C3}" dt="2025-03-28T14:50:25.845" v="863"/>
          <ac:graphicFrameMkLst>
            <pc:docMk/>
            <pc:sldMk cId="1877047662" sldId="2420"/>
            <ac:graphicFrameMk id="18" creationId="{1F74CD5A-9F80-0549-8844-6BFF5ADE70C7}"/>
          </ac:graphicFrameMkLst>
        </pc:graphicFrameChg>
      </pc:sldChg>
      <pc:sldChg chg="modSp">
        <pc:chgData name="Elena Karantagli" userId="S::elena@fasttrack-europe.com::4244063e-a01d-4737-9f82-5eb599706e2e" providerId="AD" clId="Web-{1628664C-0AE6-9331-4B14-57B9EB5B43C3}" dt="2025-03-28T14:51:10.799" v="1031"/>
        <pc:sldMkLst>
          <pc:docMk/>
          <pc:sldMk cId="2716595773" sldId="2572"/>
        </pc:sldMkLst>
        <pc:graphicFrameChg chg="mod modGraphic">
          <ac:chgData name="Elena Karantagli" userId="S::elena@fasttrack-europe.com::4244063e-a01d-4737-9f82-5eb599706e2e" providerId="AD" clId="Web-{1628664C-0AE6-9331-4B14-57B9EB5B43C3}" dt="2025-03-28T14:51:10.799" v="1031"/>
          <ac:graphicFrameMkLst>
            <pc:docMk/>
            <pc:sldMk cId="2716595773" sldId="2572"/>
            <ac:graphicFrameMk id="18" creationId="{1F74CD5A-9F80-0549-8844-6BFF5ADE70C7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Calibri" panose="020F0502020204030204" pitchFamily="34" charset="0"/>
              </a:rPr>
              <a:pPr>
                <a:defRPr/>
              </a:pPr>
              <a:t>3/28/2025</a:t>
            </a:fld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Calibri" panose="020F0502020204030204" pitchFamily="34" charset="0"/>
              </a:rPr>
              <a:pPr>
                <a:defRPr/>
              </a:p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3/28/2025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Plaak 3 Trial Regular" panose="02000000000000000000" pitchFamily="2" charset="0"/>
              </a:rPr>
              <a:t>KNOW THYSELF: PRODUCTIVITY INTENTIONS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80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Plaak 3 Trial Regular" panose="02000000000000000000" pitchFamily="2" charset="0"/>
              </a:rPr>
              <a:t>KNOW THYSELF: PRODUCTIVITY INTENTIONS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1367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149D8D-8119-404F-8144-40680EF12F96}"/>
              </a:ext>
            </a:extLst>
          </p:cNvPr>
          <p:cNvSpPr/>
          <p:nvPr userDrawn="1"/>
        </p:nvSpPr>
        <p:spPr>
          <a:xfrm>
            <a:off x="180753" y="545806"/>
            <a:ext cx="3511296" cy="6839712"/>
          </a:xfrm>
          <a:prstGeom prst="rect">
            <a:avLst/>
          </a:prstGeom>
          <a:solidFill>
            <a:srgbClr val="EEED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A765B-155F-4A59-85FC-D68CEFE9EF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590" y="121150"/>
            <a:ext cx="3446463" cy="401639"/>
          </a:xfrm>
          <a:prstGeom prst="rect">
            <a:avLst/>
          </a:prstGeom>
        </p:spPr>
        <p:txBody>
          <a:bodyPr anchor="b"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869D3-6F0A-44D2-A6AC-D6B310071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2886" y="939884"/>
            <a:ext cx="6474162" cy="6445632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Calibri" panose="020F0502020204030204" pitchFamily="34" charset="0"/>
              </a:defRPr>
            </a:lvl1pPr>
            <a:lvl2pPr>
              <a:defRPr sz="2800" b="0" i="0">
                <a:latin typeface="Calibri" panose="020F0502020204030204" pitchFamily="34" charset="0"/>
              </a:defRPr>
            </a:lvl2pPr>
            <a:lvl3pPr>
              <a:defRPr sz="2400" b="0" i="0">
                <a:latin typeface="Calibri" panose="020F0502020204030204" pitchFamily="34" charset="0"/>
              </a:defRPr>
            </a:lvl3pPr>
            <a:lvl4pPr>
              <a:defRPr sz="2000" b="0" i="0">
                <a:latin typeface="Calibri" panose="020F0502020204030204" pitchFamily="34" charset="0"/>
              </a:defRPr>
            </a:lvl4pPr>
            <a:lvl5pPr>
              <a:defRPr sz="2000" b="0" i="0">
                <a:latin typeface="Calibri" panose="020F05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FE574-5FEF-4482-A3C0-B12D812E8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1590" y="939885"/>
            <a:ext cx="3167787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462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C908-C6EA-40BC-84E5-8601B3A6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675" y="1238250"/>
            <a:ext cx="8015288" cy="2632075"/>
          </a:xfrm>
          <a:prstGeom prst="rect">
            <a:avLst/>
          </a:prstGeom>
        </p:spPr>
        <p:txBody>
          <a:bodyPr anchor="b"/>
          <a:lstStyle>
            <a:lvl1pPr algn="ctr">
              <a:defRPr sz="6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0482F5-F859-4EB4-86D7-6862BD2B3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675" y="3971925"/>
            <a:ext cx="8015288" cy="18256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>
                <a:latin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3534BF-1C45-4368-8169-ECE10FF1D610}"/>
              </a:ext>
            </a:extLst>
          </p:cNvPr>
          <p:cNvSpPr/>
          <p:nvPr userDrawn="1"/>
        </p:nvSpPr>
        <p:spPr>
          <a:xfrm>
            <a:off x="10401771" y="545480"/>
            <a:ext cx="109728" cy="1097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22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5B641-31FC-4D60-A586-84293CC23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3" y="403225"/>
            <a:ext cx="9218612" cy="14605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28EA-6F10-4127-AC7D-40567E278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013" y="2012950"/>
            <a:ext cx="9218612" cy="479901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  <a:lvl2pPr>
              <a:defRPr b="0" i="0">
                <a:latin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1FC94-B493-43FD-BF9F-5D1B791BE5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01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863AC28-63C9-46A7-8F3F-BCCD7D6B6895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A2856-ED67-4B7E-8279-8E6789B05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0125" y="7010400"/>
            <a:ext cx="3608388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14362-6709-4AE9-B1D3-7928B7F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4856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995BC35-55FA-4155-ACB1-4444378FC6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032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86E5-B4B8-4784-8B0D-2AF7F38B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663" y="1885950"/>
            <a:ext cx="9220200" cy="3144838"/>
          </a:xfrm>
          <a:prstGeom prst="rect">
            <a:avLst/>
          </a:prstGeom>
        </p:spPr>
        <p:txBody>
          <a:bodyPr anchor="b"/>
          <a:lstStyle>
            <a:lvl1pPr>
              <a:defRPr sz="6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2CEA1-F41B-42B4-8034-9669B1878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63" y="5060950"/>
            <a:ext cx="9220200" cy="1654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3CFF6-4041-4594-9E37-571FDD8F9B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01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863AC28-63C9-46A7-8F3F-BCCD7D6B6895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B0066-8AAF-4EE5-8E31-6B8D98B34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0125" y="7010400"/>
            <a:ext cx="3608388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578B1-AA48-45E7-9399-FED42559B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4856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995BC35-55FA-4155-ACB1-4444378FC6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57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1EE2D-9B15-47C1-9EB0-5E77BB45E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3" y="403225"/>
            <a:ext cx="9218612" cy="14605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1FD81-9B3A-47E5-80B8-A6801D014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013" y="2012950"/>
            <a:ext cx="4532312" cy="479901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  <a:lvl2pPr>
              <a:defRPr b="0" i="0">
                <a:latin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F2160-B179-4E87-8430-5B7283F7B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9725" y="2012950"/>
            <a:ext cx="4533900" cy="479901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  <a:lvl2pPr>
              <a:defRPr b="0" i="0">
                <a:latin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61295-A1C3-4C52-9270-6A501BEC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01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863AC28-63C9-46A7-8F3F-BCCD7D6B6895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30D10-DEED-4CD4-8B49-39C47A48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0125" y="7010400"/>
            <a:ext cx="3608388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3B19E-5879-4D95-A082-E18A8BDB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4856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995BC35-55FA-4155-ACB1-4444378FC6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905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448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94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61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233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26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9064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7502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25973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531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4204172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239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11566654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8137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03347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8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2309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9568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95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61915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BG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6F15528-21DE-4FAA-801E-634DDDAF4B2B}" type="slidenum">
              <a:rPr lang="en-BG" smtClean="0"/>
              <a:pPr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6049200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A765B-155F-4A59-85FC-D68CEFE9EF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FE574-5FEF-4482-A3C0-B12D812E8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3954D2-DE86-485A-82C4-0A97CB7FC4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658E159-4F12-4E61-B298-A2E12DD7BA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702354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851650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7C66F39-4FDC-4901-ACC3-5728E52A8E8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89325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41713" y="936244"/>
            <a:ext cx="3257550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905625" y="936244"/>
            <a:ext cx="3167787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6896962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3C1B3C4-C681-4106-ACA7-A636C51E7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7C96BC2-E0CF-437D-8550-C869D3AF0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C281297-A77A-4B6D-9A5B-9672D00DE9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5CE5C54-5AB2-4A74-8B67-5492731C7B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1046706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20F4F0-901B-40CD-B4D6-D2302FE6E5CE}"/>
              </a:ext>
            </a:extLst>
          </p:cNvPr>
          <p:cNvCxnSpPr>
            <a:cxnSpLocks/>
          </p:cNvCxnSpPr>
          <p:nvPr userDrawn="1"/>
        </p:nvCxnSpPr>
        <p:spPr>
          <a:xfrm flipV="1">
            <a:off x="6851650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755D76-41F0-4513-A3F8-AE83A0D00BEA}"/>
              </a:ext>
            </a:extLst>
          </p:cNvPr>
          <p:cNvCxnSpPr>
            <a:cxnSpLocks/>
          </p:cNvCxnSpPr>
          <p:nvPr userDrawn="1"/>
        </p:nvCxnSpPr>
        <p:spPr>
          <a:xfrm flipV="1">
            <a:off x="3489325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E6A13B6-71DD-4743-8DC5-4A8D996B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335ADFE-970A-413E-A34F-0930136ADCB1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41713" y="936244"/>
            <a:ext cx="3257550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42C00F2-19A4-4704-9FA7-D5F0897A43E8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905625" y="936244"/>
            <a:ext cx="3167787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8729DC3-464B-493F-8F16-F6A8EFD33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63369D3-6899-4683-B5E5-4F4C1D4204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D645791-DA6C-435E-A126-F330C842CE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40055563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EBC85E5-A623-4936-A4D2-601B65ED0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3F24E8-0B25-4B45-8DBB-00E105360B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2572854-73CF-4220-B5F8-1A98355355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F1CF014-F305-43CE-8FAE-D03DFA92E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132559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41CE07-0789-4BF7-8874-E3CF0B19AB18}"/>
              </a:ext>
            </a:extLst>
          </p:cNvPr>
          <p:cNvCxnSpPr>
            <a:cxnSpLocks/>
          </p:cNvCxnSpPr>
          <p:nvPr userDrawn="1"/>
        </p:nvCxnSpPr>
        <p:spPr>
          <a:xfrm flipV="1">
            <a:off x="6851650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DFFE40-6F6E-4AC4-A7DE-1653172C5A1D}"/>
              </a:ext>
            </a:extLst>
          </p:cNvPr>
          <p:cNvCxnSpPr>
            <a:cxnSpLocks/>
          </p:cNvCxnSpPr>
          <p:nvPr userDrawn="1"/>
        </p:nvCxnSpPr>
        <p:spPr>
          <a:xfrm flipV="1">
            <a:off x="3489325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959649E-49B5-45E1-B47D-D98CABFFA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F135383-3194-424E-B03E-9AA70F150D9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41713" y="936244"/>
            <a:ext cx="3257550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5D04BB9-0A68-4EC5-B711-4BF1A7743811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905625" y="936244"/>
            <a:ext cx="3167787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0516865-DA93-493B-9B85-304E94925A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62323D2-B2F0-4A2F-AB7B-A214172272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6D1ABAB-FACA-4162-9761-5AEA98E4F6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922703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2277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1698386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1005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8511900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6451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884509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0105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68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9" Type="http://schemas.openxmlformats.org/officeDocument/2006/relationships/image" Target="../media/image6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8291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7" r:id="rId1"/>
    <p:sldLayoutId id="2147484418" r:id="rId2"/>
    <p:sldLayoutId id="2147484419" r:id="rId3"/>
    <p:sldLayoutId id="2147484420" r:id="rId4"/>
    <p:sldLayoutId id="2147484421" r:id="rId5"/>
    <p:sldLayoutId id="21474844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59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0" r:id="rId2"/>
    <p:sldLayoutId id="2147484441" r:id="rId3"/>
    <p:sldLayoutId id="2147484442" r:id="rId4"/>
    <p:sldLayoutId id="214748444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359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5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4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7" r:id="rId1"/>
    <p:sldLayoutId id="2147484448" r:id="rId2"/>
    <p:sldLayoutId id="2147484449" r:id="rId3"/>
    <p:sldLayoutId id="2147484450" r:id="rId4"/>
    <p:sldLayoutId id="2147484451" r:id="rId5"/>
    <p:sldLayoutId id="2147484452" r:id="rId6"/>
    <p:sldLayoutId id="2147484453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>
          <p15:clr>
            <a:srgbClr val="F26B43"/>
          </p15:clr>
        </p15:guide>
        <p15:guide id="35" orient="horz" pos="250">
          <p15:clr>
            <a:srgbClr val="F26B43"/>
          </p15:clr>
        </p15:guide>
        <p15:guide id="36" orient="horz" pos="32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601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5" r:id="rId1"/>
    <p:sldLayoutId id="2147484456" r:id="rId2"/>
    <p:sldLayoutId id="2147484457" r:id="rId3"/>
    <p:sldLayoutId id="2147484458" r:id="rId4"/>
    <p:sldLayoutId id="2147484459" r:id="rId5"/>
    <p:sldLayoutId id="214748446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0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53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2" r:id="rId1"/>
    <p:sldLayoutId id="2147484463" r:id="rId2"/>
    <p:sldLayoutId id="2147484464" r:id="rId3"/>
    <p:sldLayoutId id="2147484465" r:id="rId4"/>
    <p:sldLayoutId id="2147484466" r:id="rId5"/>
    <p:sldLayoutId id="2147484467" r:id="rId6"/>
    <p:sldLayoutId id="214748446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01">
          <p15:clr>
            <a:srgbClr val="F26B43"/>
          </p15:clr>
        </p15:guide>
        <p15:guide id="2" pos="574">
          <p15:clr>
            <a:srgbClr val="F26B43"/>
          </p15:clr>
        </p15:guide>
        <p15:guide id="3" pos="6621">
          <p15:clr>
            <a:srgbClr val="F26B43"/>
          </p15:clr>
        </p15:guide>
        <p15:guide id="4" pos="112">
          <p15:clr>
            <a:srgbClr val="F26B43"/>
          </p15:clr>
        </p15:guide>
        <p15:guide id="5" pos="641">
          <p15:clr>
            <a:srgbClr val="F26B43"/>
          </p15:clr>
        </p15:guide>
        <p15:guide id="6" pos="1103">
          <p15:clr>
            <a:srgbClr val="F26B43"/>
          </p15:clr>
        </p15:guide>
        <p15:guide id="7" pos="1172">
          <p15:clr>
            <a:srgbClr val="F26B43"/>
          </p15:clr>
        </p15:guide>
        <p15:guide id="8" pos="1634">
          <p15:clr>
            <a:srgbClr val="F26B43"/>
          </p15:clr>
        </p15:guide>
        <p15:guide id="9" pos="1701">
          <p15:clr>
            <a:srgbClr val="F26B43"/>
          </p15:clr>
        </p15:guide>
        <p15:guide id="10" pos="2163">
          <p15:clr>
            <a:srgbClr val="F26B43"/>
          </p15:clr>
        </p15:guide>
        <p15:guide id="11" pos="2231">
          <p15:clr>
            <a:srgbClr val="F26B43"/>
          </p15:clr>
        </p15:guide>
        <p15:guide id="12" pos="2762">
          <p15:clr>
            <a:srgbClr val="F26B43"/>
          </p15:clr>
        </p15:guide>
        <p15:guide id="13" pos="2694">
          <p15:clr>
            <a:srgbClr val="F26B43"/>
          </p15:clr>
        </p15:guide>
        <p15:guide id="14" pos="3225">
          <p15:clr>
            <a:srgbClr val="F26B43"/>
          </p15:clr>
        </p15:guide>
        <p15:guide id="15" pos="3291">
          <p15:clr>
            <a:srgbClr val="F26B43"/>
          </p15:clr>
        </p15:guide>
        <p15:guide id="16" pos="3752">
          <p15:clr>
            <a:srgbClr val="F26B43"/>
          </p15:clr>
        </p15:guide>
        <p15:guide id="17" pos="3820">
          <p15:clr>
            <a:srgbClr val="F26B43"/>
          </p15:clr>
        </p15:guide>
        <p15:guide id="18" pos="4283">
          <p15:clr>
            <a:srgbClr val="F26B43"/>
          </p15:clr>
        </p15:guide>
        <p15:guide id="19" pos="4350">
          <p15:clr>
            <a:srgbClr val="F26B43"/>
          </p15:clr>
        </p15:guide>
        <p15:guide id="20" pos="4812">
          <p15:clr>
            <a:srgbClr val="F26B43"/>
          </p15:clr>
        </p15:guide>
        <p15:guide id="21" pos="4886">
          <p15:clr>
            <a:srgbClr val="F26B43"/>
          </p15:clr>
        </p15:guide>
        <p15:guide id="22" pos="5349">
          <p15:clr>
            <a:srgbClr val="F26B43"/>
          </p15:clr>
        </p15:guide>
        <p15:guide id="23" pos="5417">
          <p15:clr>
            <a:srgbClr val="F26B43"/>
          </p15:clr>
        </p15:guide>
        <p15:guide id="24" pos="5880">
          <p15:clr>
            <a:srgbClr val="F26B43"/>
          </p15:clr>
        </p15:guide>
        <p15:guide id="25" pos="5946">
          <p15:clr>
            <a:srgbClr val="F26B43"/>
          </p15:clr>
        </p15:guide>
        <p15:guide id="26" pos="2198">
          <p15:clr>
            <a:srgbClr val="F26B43"/>
          </p15:clr>
        </p15:guide>
        <p15:guide id="27" pos="4316">
          <p15:clr>
            <a:srgbClr val="F26B43"/>
          </p15:clr>
        </p15:guide>
        <p15:guide id="28" orient="horz" pos="2480">
          <p15:clr>
            <a:srgbClr val="F26B43"/>
          </p15:clr>
        </p15:guide>
        <p15:guide id="30" orient="horz" pos="114">
          <p15:clr>
            <a:srgbClr val="F26B43"/>
          </p15:clr>
        </p15:guide>
        <p15:guide id="31" orient="horz" pos="465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0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2" r:id="rId1"/>
    <p:sldLayoutId id="2147484473" r:id="rId2"/>
    <p:sldLayoutId id="2147484474" r:id="rId3"/>
    <p:sldLayoutId id="2147484475" r:id="rId4"/>
    <p:sldLayoutId id="2147484476" r:id="rId5"/>
    <p:sldLayoutId id="2147484477" r:id="rId6"/>
    <p:sldLayoutId id="2147484478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>
          <p15:clr>
            <a:srgbClr val="F26B43"/>
          </p15:clr>
        </p15:guide>
        <p15:guide id="35" orient="horz" pos="250">
          <p15:clr>
            <a:srgbClr val="F26B43"/>
          </p15:clr>
        </p15:guide>
        <p15:guide id="36" orient="horz" pos="3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F74CD5A-9F80-0549-8844-6BFF5ADE7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345957"/>
              </p:ext>
            </p:extLst>
          </p:nvPr>
        </p:nvGraphicFramePr>
        <p:xfrm>
          <a:off x="243567" y="810404"/>
          <a:ext cx="9776027" cy="64442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5277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216506820"/>
                    </a:ext>
                  </a:extLst>
                </a:gridCol>
                <a:gridCol w="4833910">
                  <a:extLst>
                    <a:ext uri="{9D8B030D-6E8A-4147-A177-3AD203B41FA5}">
                      <a16:colId xmlns:a16="http://schemas.microsoft.com/office/drawing/2014/main" val="613580562"/>
                    </a:ext>
                  </a:extLst>
                </a:gridCol>
              </a:tblGrid>
              <a:tr h="419030">
                <a:tc gridSpan="3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Desired outcome of the Fast Track program (Wish)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1149215">
                <a:tc gridSpan="3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does the successful implementation of the Fast Track program look like? </a:t>
                      </a:r>
                      <a:r>
                        <a:rPr lang="en-US" sz="1200" b="1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Define specific, measurable outcomes.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specific changes are we </a:t>
                      </a:r>
                      <a:r>
                        <a:rPr lang="en-US" sz="1200" b="1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aiming to implement</a:t>
                      </a:r>
                      <a:r>
                        <a:rPr lang="en-US" sz="12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, and who will be directly affected by these changes?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tangible </a:t>
                      </a:r>
                      <a:r>
                        <a:rPr lang="en-US" sz="1200" b="1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benefits </a:t>
                      </a:r>
                      <a:r>
                        <a:rPr lang="en-US" sz="12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do </a:t>
                      </a:r>
                      <a:r>
                        <a:rPr lang="en-US" sz="1200" b="1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we expect </a:t>
                      </a:r>
                      <a:r>
                        <a:rPr lang="en-US" sz="12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the team to achieve through this program?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FF0000"/>
                          </a:solidFill>
                          <a:latin typeface="Arial"/>
                        </a:rPr>
                        <a:t>Your answer to these questions following the team discussion...: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0" i="0" dirty="0">
                        <a:latin typeface="Arial"/>
                        <a:ea typeface="Riforma LL" panose="020B0504020101020102" pitchFamily="34" charset="77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419030"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Potential (O)</a:t>
                      </a:r>
                      <a:r>
                        <a:rPr lang="en-US" sz="1400" b="0" i="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bstacles</a:t>
                      </a: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 to achieve the desired outcome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(P)</a:t>
                      </a:r>
                      <a:r>
                        <a:rPr lang="en-US" sz="1400" b="0" i="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lan</a:t>
                      </a: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 how can you prevent these obstacles from arising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30041"/>
                  </a:ext>
                </a:extLst>
              </a:tr>
              <a:tr h="528411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1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Riforma LL" panose="020B0504020101020102" pitchFamily="34" charset="0"/>
                          <a:cs typeface="Arial"/>
                        </a:rPr>
                        <a:t>1 </a:t>
                      </a:r>
                      <a:r>
                        <a:rPr lang="en-US" sz="1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Riforma LL" panose="020B0504020101020102" pitchFamily="34" charset="0"/>
                          <a:cs typeface="Arial"/>
                        </a:rPr>
                        <a:t>(keep the list actionable with a clearly assigned responsible person per action item...)  </a:t>
                      </a:r>
                      <a:endParaRPr kumimoji="0" lang="en-US" sz="1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52126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2</a:t>
                      </a: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Riforma LL" panose="020B0504020101020102" pitchFamily="34" charset="0"/>
                          <a:cs typeface="Arial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3</a:t>
                      </a: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0"/>
                          <a:cs typeface="Arial"/>
                        </a:rPr>
                        <a:t>3</a:t>
                      </a: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377547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4</a:t>
                      </a: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0"/>
                          <a:cs typeface="Arial"/>
                        </a:rPr>
                        <a:t>4</a:t>
                      </a: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013671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5</a:t>
                      </a: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0"/>
                          <a:cs typeface="Arial"/>
                        </a:rPr>
                        <a:t>5</a:t>
                      </a: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591291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6</a:t>
                      </a: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0"/>
                          <a:cs typeface="Arial"/>
                        </a:rPr>
                        <a:t>6</a:t>
                      </a: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617409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7</a:t>
                      </a: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0"/>
                          <a:cs typeface="Arial"/>
                        </a:rPr>
                        <a:t>7</a:t>
                      </a: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292363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8</a:t>
                      </a: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0"/>
                          <a:cs typeface="Arial"/>
                        </a:rPr>
                        <a:t>8</a:t>
                      </a: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593525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9</a:t>
                      </a: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/>
                          <a:ea typeface="Riforma LL" panose="020B0504020101020102" pitchFamily="34" charset="0"/>
                          <a:cs typeface="Arial"/>
                        </a:rPr>
                        <a:t>9</a:t>
                      </a: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351592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2D85F1FD-745C-EC5A-7EB9-5B10B6D10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8588"/>
            <a:ext cx="10608476" cy="90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4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F74CD5A-9F80-0549-8844-6BFF5ADE7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902254"/>
              </p:ext>
            </p:extLst>
          </p:nvPr>
        </p:nvGraphicFramePr>
        <p:xfrm>
          <a:off x="243567" y="810403"/>
          <a:ext cx="9776012" cy="64114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121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3643312">
                  <a:extLst>
                    <a:ext uri="{9D8B030D-6E8A-4147-A177-3AD203B41FA5}">
                      <a16:colId xmlns:a16="http://schemas.microsoft.com/office/drawing/2014/main" val="2216506820"/>
                    </a:ext>
                  </a:extLst>
                </a:gridCol>
                <a:gridCol w="2018579">
                  <a:extLst>
                    <a:ext uri="{9D8B030D-6E8A-4147-A177-3AD203B41FA5}">
                      <a16:colId xmlns:a16="http://schemas.microsoft.com/office/drawing/2014/main" val="1789464476"/>
                    </a:ext>
                  </a:extLst>
                </a:gridCol>
              </a:tblGrid>
              <a:tr h="428893">
                <a:tc gridSpan="3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Describe a scenario in which the Fast Track program fails to meet its objectives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1017408">
                <a:tc gridSpan="3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44363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Potential reasons for failure-Root cause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Preventive 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G" sz="1400" b="0" i="0" kern="1200" dirty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Who is responsible  </a:t>
                      </a:r>
                      <a:endParaRPr lang="en-US" sz="1400" b="0" i="0" kern="1200" dirty="0">
                        <a:solidFill>
                          <a:schemeClr val="bg1"/>
                        </a:solidFill>
                        <a:latin typeface="Arial"/>
                        <a:ea typeface="Riforma LL" panose="020B0504020101020102" pitchFamily="34" charset="77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30041"/>
                  </a:ext>
                </a:extLst>
              </a:tr>
              <a:tr h="540847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53353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377547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013671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591291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617409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292363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87796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250279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1A22941B-6605-BC31-71D2-99ECF8B1C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80" y="-85725"/>
            <a:ext cx="9774332" cy="83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95773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4043</TotalTime>
  <Words>121</Words>
  <Application>Microsoft Office PowerPoint</Application>
  <PresentationFormat>Custom</PresentationFormat>
  <Paragraphs>14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1_Custom Design</vt:lpstr>
      <vt:lpstr>SOLIDS</vt:lpstr>
      <vt:lpstr>5_Custom Design</vt:lpstr>
      <vt:lpstr>4_Custom Design</vt:lpstr>
      <vt:lpstr>1_SOLIDS</vt:lpstr>
      <vt:lpstr>3_Custom Design</vt:lpstr>
      <vt:lpstr>6_Custom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ana-maria</dc:creator>
  <cp:lastModifiedBy>Ana-Maria Nankova</cp:lastModifiedBy>
  <cp:revision>188</cp:revision>
  <dcterms:created xsi:type="dcterms:W3CDTF">2020-10-06T20:30:34Z</dcterms:created>
  <dcterms:modified xsi:type="dcterms:W3CDTF">2025-03-28T14:51:20Z</dcterms:modified>
</cp:coreProperties>
</file>