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6" r:id="rId1"/>
    <p:sldMasterId id="2147484438" r:id="rId2"/>
    <p:sldMasterId id="2147484444" r:id="rId3"/>
    <p:sldMasterId id="2147484446" r:id="rId4"/>
    <p:sldMasterId id="2147484454" r:id="rId5"/>
    <p:sldMasterId id="2147484461" r:id="rId6"/>
    <p:sldMasterId id="2147484471" r:id="rId7"/>
  </p:sldMasterIdLst>
  <p:notesMasterIdLst>
    <p:notesMasterId r:id="rId11"/>
  </p:notesMasterIdLst>
  <p:handoutMasterIdLst>
    <p:handoutMasterId r:id="rId12"/>
  </p:handoutMasterIdLst>
  <p:sldIdLst>
    <p:sldId id="2420" r:id="rId8"/>
    <p:sldId id="2573" r:id="rId9"/>
    <p:sldId id="2572" r:id="rId10"/>
  </p:sldIdLst>
  <p:sldSz cx="10688638" cy="756285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3" userDrawn="1">
          <p15:clr>
            <a:srgbClr val="A4A3A4"/>
          </p15:clr>
        </p15:guide>
        <p15:guide id="2" pos="23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37F"/>
    <a:srgbClr val="E7E6E6"/>
    <a:srgbClr val="FFF469"/>
    <a:srgbClr val="FCC100"/>
    <a:srgbClr val="B2B2B2"/>
    <a:srgbClr val="D9D9D9"/>
    <a:srgbClr val="0D3272"/>
    <a:srgbClr val="717272"/>
    <a:srgbClr val="0F85CE"/>
    <a:srgbClr val="EE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7E680-9E40-BC1B-68F7-E433E86788D4}" v="105" dt="2025-03-03T18:46:58.882"/>
    <p1510:client id="{93B42636-DD0B-17C9-EB59-8B8A92A3A351}" v="946" dt="2025-03-03T19:35:56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393"/>
        <p:guide pos="2311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a4dce672e4b2d421865648d44fc731a67ea5fed80de29e0e84dce0980e5b168b::" providerId="AD" clId="Web-{36A7E680-9E40-BC1B-68F7-E433E86788D4}"/>
    <pc:docChg chg="addSld modSld">
      <pc:chgData name="Guest User" userId="S::urn:spo:anon#a4dce672e4b2d421865648d44fc731a67ea5fed80de29e0e84dce0980e5b168b::" providerId="AD" clId="Web-{36A7E680-9E40-BC1B-68F7-E433E86788D4}" dt="2025-03-03T18:46:58.882" v="75" actId="20577"/>
      <pc:docMkLst>
        <pc:docMk/>
      </pc:docMkLst>
      <pc:sldChg chg="modSp">
        <pc:chgData name="Guest User" userId="S::urn:spo:anon#a4dce672e4b2d421865648d44fc731a67ea5fed80de29e0e84dce0980e5b168b::" providerId="AD" clId="Web-{36A7E680-9E40-BC1B-68F7-E433E86788D4}" dt="2025-03-03T13:38:08.819" v="33"/>
        <pc:sldMkLst>
          <pc:docMk/>
          <pc:sldMk cId="1877047662" sldId="2420"/>
        </pc:sldMkLst>
        <pc:graphicFrameChg chg="mod modGraphic">
          <ac:chgData name="Guest User" userId="S::urn:spo:anon#a4dce672e4b2d421865648d44fc731a67ea5fed80de29e0e84dce0980e5b168b::" providerId="AD" clId="Web-{36A7E680-9E40-BC1B-68F7-E433E86788D4}" dt="2025-03-03T13:38:08.819" v="33"/>
          <ac:graphicFrameMkLst>
            <pc:docMk/>
            <pc:sldMk cId="1877047662" sldId="2420"/>
            <ac:graphicFrameMk id="18" creationId="{1F74CD5A-9F80-0549-8844-6BFF5ADE70C7}"/>
          </ac:graphicFrameMkLst>
        </pc:graphicFrameChg>
      </pc:sldChg>
      <pc:sldChg chg="addSp delSp modSp new mod modClrScheme chgLayout">
        <pc:chgData name="Guest User" userId="S::urn:spo:anon#a4dce672e4b2d421865648d44fc731a67ea5fed80de29e0e84dce0980e5b168b::" providerId="AD" clId="Web-{36A7E680-9E40-BC1B-68F7-E433E86788D4}" dt="2025-03-03T18:46:58.882" v="75" actId="20577"/>
        <pc:sldMkLst>
          <pc:docMk/>
          <pc:sldMk cId="504046121" sldId="2573"/>
        </pc:sldMkLst>
        <pc:spChg chg="add del mod">
          <ac:chgData name="Guest User" userId="S::urn:spo:anon#a4dce672e4b2d421865648d44fc731a67ea5fed80de29e0e84dce0980e5b168b::" providerId="AD" clId="Web-{36A7E680-9E40-BC1B-68F7-E433E86788D4}" dt="2025-03-03T18:43:27.660" v="64"/>
          <ac:spMkLst>
            <pc:docMk/>
            <pc:sldMk cId="504046121" sldId="2573"/>
            <ac:spMk id="2" creationId="{1440988F-5CBA-3644-C4CF-FE4769C766ED}"/>
          </ac:spMkLst>
        </pc:spChg>
        <pc:spChg chg="del">
          <ac:chgData name="Guest User" userId="S::urn:spo:anon#a4dce672e4b2d421865648d44fc731a67ea5fed80de29e0e84dce0980e5b168b::" providerId="AD" clId="Web-{36A7E680-9E40-BC1B-68F7-E433E86788D4}" dt="2025-03-03T13:38:21.397" v="35"/>
          <ac:spMkLst>
            <pc:docMk/>
            <pc:sldMk cId="504046121" sldId="2573"/>
            <ac:spMk id="2" creationId="{BFCCC1CE-C3C7-86A3-7AA6-7B8BD41FB121}"/>
          </ac:spMkLst>
        </pc:spChg>
        <pc:spChg chg="add mod">
          <ac:chgData name="Guest User" userId="S::urn:spo:anon#a4dce672e4b2d421865648d44fc731a67ea5fed80de29e0e84dce0980e5b168b::" providerId="AD" clId="Web-{36A7E680-9E40-BC1B-68F7-E433E86788D4}" dt="2025-03-03T18:46:58.882" v="75" actId="20577"/>
          <ac:spMkLst>
            <pc:docMk/>
            <pc:sldMk cId="504046121" sldId="2573"/>
            <ac:spMk id="3" creationId="{4DFC9725-2414-2CB7-9AA8-589ACE5D0277}"/>
          </ac:spMkLst>
        </pc:spChg>
        <pc:spChg chg="del">
          <ac:chgData name="Guest User" userId="S::urn:spo:anon#a4dce672e4b2d421865648d44fc731a67ea5fed80de29e0e84dce0980e5b168b::" providerId="AD" clId="Web-{36A7E680-9E40-BC1B-68F7-E433E86788D4}" dt="2025-03-03T13:38:21.397" v="35"/>
          <ac:spMkLst>
            <pc:docMk/>
            <pc:sldMk cId="504046121" sldId="2573"/>
            <ac:spMk id="3" creationId="{D5562CFC-72EB-C7D1-1F3F-00F58D482719}"/>
          </ac:spMkLst>
        </pc:spChg>
        <pc:spChg chg="del">
          <ac:chgData name="Guest User" userId="S::urn:spo:anon#a4dce672e4b2d421865648d44fc731a67ea5fed80de29e0e84dce0980e5b168b::" providerId="AD" clId="Web-{36A7E680-9E40-BC1B-68F7-E433E86788D4}" dt="2025-03-03T13:38:21.397" v="35"/>
          <ac:spMkLst>
            <pc:docMk/>
            <pc:sldMk cId="504046121" sldId="2573"/>
            <ac:spMk id="4" creationId="{A8A6CADB-F3D3-22F0-DEBA-D8D6626BA72F}"/>
          </ac:spMkLst>
        </pc:spChg>
        <pc:spChg chg="del">
          <ac:chgData name="Guest User" userId="S::urn:spo:anon#a4dce672e4b2d421865648d44fc731a67ea5fed80de29e0e84dce0980e5b168b::" providerId="AD" clId="Web-{36A7E680-9E40-BC1B-68F7-E433E86788D4}" dt="2025-03-03T13:38:21.397" v="35"/>
          <ac:spMkLst>
            <pc:docMk/>
            <pc:sldMk cId="504046121" sldId="2573"/>
            <ac:spMk id="5" creationId="{1E7D97C3-11D0-71D1-9999-50849BC2AC0A}"/>
          </ac:spMkLst>
        </pc:spChg>
        <pc:spChg chg="del">
          <ac:chgData name="Guest User" userId="S::urn:spo:anon#a4dce672e4b2d421865648d44fc731a67ea5fed80de29e0e84dce0980e5b168b::" providerId="AD" clId="Web-{36A7E680-9E40-BC1B-68F7-E433E86788D4}" dt="2025-03-03T13:38:21.397" v="35"/>
          <ac:spMkLst>
            <pc:docMk/>
            <pc:sldMk cId="504046121" sldId="2573"/>
            <ac:spMk id="6" creationId="{699FFAA2-7F33-FB4C-D36D-4E4370804F2A}"/>
          </ac:spMkLst>
        </pc:spChg>
        <pc:spChg chg="del">
          <ac:chgData name="Guest User" userId="S::urn:spo:anon#a4dce672e4b2d421865648d44fc731a67ea5fed80de29e0e84dce0980e5b168b::" providerId="AD" clId="Web-{36A7E680-9E40-BC1B-68F7-E433E86788D4}" dt="2025-03-03T13:38:21.397" v="35"/>
          <ac:spMkLst>
            <pc:docMk/>
            <pc:sldMk cId="504046121" sldId="2573"/>
            <ac:spMk id="7" creationId="{7505970F-2EC6-EF3C-55CE-8C7F4891C0E8}"/>
          </ac:spMkLst>
        </pc:spChg>
        <pc:graphicFrameChg chg="add del mod">
          <ac:chgData name="Guest User" userId="S::urn:spo:anon#a4dce672e4b2d421865648d44fc731a67ea5fed80de29e0e84dce0980e5b168b::" providerId="AD" clId="Web-{36A7E680-9E40-BC1B-68F7-E433E86788D4}" dt="2025-03-03T13:38:28.616" v="37"/>
          <ac:graphicFrameMkLst>
            <pc:docMk/>
            <pc:sldMk cId="504046121" sldId="2573"/>
            <ac:graphicFrameMk id="9" creationId="{1D126C99-63EA-2B3D-F13E-8B0E897EC142}"/>
          </ac:graphicFrameMkLst>
        </pc:graphicFrameChg>
        <pc:graphicFrameChg chg="add mod modGraphic">
          <ac:chgData name="Guest User" userId="S::urn:spo:anon#a4dce672e4b2d421865648d44fc731a67ea5fed80de29e0e84dce0980e5b168b::" providerId="AD" clId="Web-{36A7E680-9E40-BC1B-68F7-E433E86788D4}" dt="2025-03-03T18:43:30.035" v="66"/>
          <ac:graphicFrameMkLst>
            <pc:docMk/>
            <pc:sldMk cId="504046121" sldId="2573"/>
            <ac:graphicFrameMk id="10" creationId="{E0A5FE4A-8A59-4C72-34BA-EFE0C9173DE5}"/>
          </ac:graphicFrameMkLst>
        </pc:graphicFrameChg>
      </pc:sldChg>
    </pc:docChg>
  </pc:docChgLst>
  <pc:docChgLst>
    <pc:chgData name="Guest User" userId="S::urn:spo:anon#a4dce672e4b2d421865648d44fc731a67ea5fed80de29e0e84dce0980e5b168b::" providerId="AD" clId="Web-{93B42636-DD0B-17C9-EB59-8B8A92A3A351}"/>
    <pc:docChg chg="addSld delSld modSld">
      <pc:chgData name="Guest User" userId="S::urn:spo:anon#a4dce672e4b2d421865648d44fc731a67ea5fed80de29e0e84dce0980e5b168b::" providerId="AD" clId="Web-{93B42636-DD0B-17C9-EB59-8B8A92A3A351}" dt="2025-03-03T19:35:49.763" v="656"/>
      <pc:docMkLst>
        <pc:docMk/>
      </pc:docMkLst>
      <pc:sldChg chg="modSp">
        <pc:chgData name="Guest User" userId="S::urn:spo:anon#a4dce672e4b2d421865648d44fc731a67ea5fed80de29e0e84dce0980e5b168b::" providerId="AD" clId="Web-{93B42636-DD0B-17C9-EB59-8B8A92A3A351}" dt="2025-03-03T13:37:04.501" v="5"/>
        <pc:sldMkLst>
          <pc:docMk/>
          <pc:sldMk cId="1877047662" sldId="2420"/>
        </pc:sldMkLst>
        <pc:graphicFrameChg chg="mod modGraphic">
          <ac:chgData name="Guest User" userId="S::urn:spo:anon#a4dce672e4b2d421865648d44fc731a67ea5fed80de29e0e84dce0980e5b168b::" providerId="AD" clId="Web-{93B42636-DD0B-17C9-EB59-8B8A92A3A351}" dt="2025-03-03T13:37:04.501" v="5"/>
          <ac:graphicFrameMkLst>
            <pc:docMk/>
            <pc:sldMk cId="1877047662" sldId="2420"/>
            <ac:graphicFrameMk id="18" creationId="{1F74CD5A-9F80-0549-8844-6BFF5ADE70C7}"/>
          </ac:graphicFrameMkLst>
        </pc:graphicFrameChg>
      </pc:sldChg>
      <pc:sldChg chg="addSp delSp modSp">
        <pc:chgData name="Guest User" userId="S::urn:spo:anon#a4dce672e4b2d421865648d44fc731a67ea5fed80de29e0e84dce0980e5b168b::" providerId="AD" clId="Web-{93B42636-DD0B-17C9-EB59-8B8A92A3A351}" dt="2025-03-03T19:35:49.763" v="656"/>
        <pc:sldMkLst>
          <pc:docMk/>
          <pc:sldMk cId="2716595773" sldId="2572"/>
        </pc:sldMkLst>
        <pc:spChg chg="add del mod">
          <ac:chgData name="Guest User" userId="S::urn:spo:anon#a4dce672e4b2d421865648d44fc731a67ea5fed80de29e0e84dce0980e5b168b::" providerId="AD" clId="Web-{93B42636-DD0B-17C9-EB59-8B8A92A3A351}" dt="2025-03-03T19:04:39.892" v="420"/>
          <ac:spMkLst>
            <pc:docMk/>
            <pc:sldMk cId="2716595773" sldId="2572"/>
            <ac:spMk id="3" creationId="{7F5241B0-58BC-EE73-F9F8-37D29B1C7DBB}"/>
          </ac:spMkLst>
        </pc:spChg>
        <pc:graphicFrameChg chg="mod modGraphic">
          <ac:chgData name="Guest User" userId="S::urn:spo:anon#a4dce672e4b2d421865648d44fc731a67ea5fed80de29e0e84dce0980e5b168b::" providerId="AD" clId="Web-{93B42636-DD0B-17C9-EB59-8B8A92A3A351}" dt="2025-03-03T19:35:49.763" v="656"/>
          <ac:graphicFrameMkLst>
            <pc:docMk/>
            <pc:sldMk cId="2716595773" sldId="2572"/>
            <ac:graphicFrameMk id="18" creationId="{1F74CD5A-9F80-0549-8844-6BFF5ADE70C7}"/>
          </ac:graphicFrameMkLst>
        </pc:graphicFrameChg>
      </pc:sldChg>
      <pc:sldChg chg="addSp delSp modSp">
        <pc:chgData name="Guest User" userId="S::urn:spo:anon#a4dce672e4b2d421865648d44fc731a67ea5fed80de29e0e84dce0980e5b168b::" providerId="AD" clId="Web-{93B42636-DD0B-17C9-EB59-8B8A92A3A351}" dt="2025-03-03T19:06:03.005" v="532"/>
        <pc:sldMkLst>
          <pc:docMk/>
          <pc:sldMk cId="504046121" sldId="2573"/>
        </pc:sldMkLst>
        <pc:spChg chg="del">
          <ac:chgData name="Guest User" userId="S::urn:spo:anon#a4dce672e4b2d421865648d44fc731a67ea5fed80de29e0e84dce0980e5b168b::" providerId="AD" clId="Web-{93B42636-DD0B-17C9-EB59-8B8A92A3A351}" dt="2025-03-03T18:47:16.346" v="102"/>
          <ac:spMkLst>
            <pc:docMk/>
            <pc:sldMk cId="504046121" sldId="2573"/>
            <ac:spMk id="3" creationId="{4DFC9725-2414-2CB7-9AA8-589ACE5D0277}"/>
          </ac:spMkLst>
        </pc:spChg>
        <pc:spChg chg="add del mod">
          <ac:chgData name="Guest User" userId="S::urn:spo:anon#a4dce672e4b2d421865648d44fc731a67ea5fed80de29e0e84dce0980e5b168b::" providerId="AD" clId="Web-{93B42636-DD0B-17C9-EB59-8B8A92A3A351}" dt="2025-03-03T18:49:21.508" v="122"/>
          <ac:spMkLst>
            <pc:docMk/>
            <pc:sldMk cId="504046121" sldId="2573"/>
            <ac:spMk id="4" creationId="{E93CE713-748E-C554-B348-4DA95632447C}"/>
          </ac:spMkLst>
        </pc:spChg>
        <pc:spChg chg="add del mod">
          <ac:chgData name="Guest User" userId="S::urn:spo:anon#a4dce672e4b2d421865648d44fc731a67ea5fed80de29e0e84dce0980e5b168b::" providerId="AD" clId="Web-{93B42636-DD0B-17C9-EB59-8B8A92A3A351}" dt="2025-03-03T13:40:04.210" v="9"/>
          <ac:spMkLst>
            <pc:docMk/>
            <pc:sldMk cId="504046121" sldId="2573"/>
            <ac:spMk id="8" creationId="{A79468D3-9B48-7BB7-90B8-F533719B3C93}"/>
          </ac:spMkLst>
        </pc:spChg>
        <pc:spChg chg="add del mod">
          <ac:chgData name="Guest User" userId="S::urn:spo:anon#a4dce672e4b2d421865648d44fc731a67ea5fed80de29e0e84dce0980e5b168b::" providerId="AD" clId="Web-{93B42636-DD0B-17C9-EB59-8B8A92A3A351}" dt="2025-03-03T13:42:22.730" v="99"/>
          <ac:spMkLst>
            <pc:docMk/>
            <pc:sldMk cId="504046121" sldId="2573"/>
            <ac:spMk id="11" creationId="{59A96825-BBDA-F4F1-9C4D-CBB2E1DFEC26}"/>
          </ac:spMkLst>
        </pc:spChg>
        <pc:graphicFrameChg chg="mod modGraphic">
          <ac:chgData name="Guest User" userId="S::urn:spo:anon#a4dce672e4b2d421865648d44fc731a67ea5fed80de29e0e84dce0980e5b168b::" providerId="AD" clId="Web-{93B42636-DD0B-17C9-EB59-8B8A92A3A351}" dt="2025-03-03T19:06:03.005" v="532"/>
          <ac:graphicFrameMkLst>
            <pc:docMk/>
            <pc:sldMk cId="504046121" sldId="2573"/>
            <ac:graphicFrameMk id="10" creationId="{E0A5FE4A-8A59-4C72-34BA-EFE0C9173DE5}"/>
          </ac:graphicFrameMkLst>
        </pc:graphicFrameChg>
        <pc:picChg chg="add del mod">
          <ac:chgData name="Guest User" userId="S::urn:spo:anon#a4dce672e4b2d421865648d44fc731a67ea5fed80de29e0e84dce0980e5b168b::" providerId="AD" clId="Web-{93B42636-DD0B-17C9-EB59-8B8A92A3A351}" dt="2025-03-03T18:38:42.230" v="101"/>
          <ac:picMkLst>
            <pc:docMk/>
            <pc:sldMk cId="504046121" sldId="2573"/>
            <ac:picMk id="2" creationId="{DF49D23B-D73D-F67D-23E6-E7D59CE6741A}"/>
          </ac:picMkLst>
        </pc:picChg>
      </pc:sldChg>
      <pc:sldChg chg="new del">
        <pc:chgData name="Guest User" userId="S::urn:spo:anon#a4dce672e4b2d421865648d44fc731a67ea5fed80de29e0e84dce0980e5b168b::" providerId="AD" clId="Web-{93B42636-DD0B-17C9-EB59-8B8A92A3A351}" dt="2025-03-03T19:05:09.487" v="431"/>
        <pc:sldMkLst>
          <pc:docMk/>
          <pc:sldMk cId="1041447657" sldId="25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3/3/2025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Calibri" panose="020F0502020204030204" pitchFamily="34" charset="0"/>
              </a:rPr>
              <a:pPr>
                <a:defRPr/>
              </a:p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Plaak 3 Trial Regular" panose="02000000000000000000" pitchFamily="2" charset="0"/>
              </a:rPr>
              <a:t>KNOW THYSELF: PRODUCTIVITY INTENTIONS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Plaak 3 Trial Regular" panose="02000000000000000000" pitchFamily="2" charset="0"/>
              </a:rPr>
              <a:t>KNOW THYSELF: PRODUCTIVITY INTENTIONS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36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149D8D-8119-404F-8144-40680EF12F96}"/>
              </a:ext>
            </a:extLst>
          </p:cNvPr>
          <p:cNvSpPr/>
          <p:nvPr userDrawn="1"/>
        </p:nvSpPr>
        <p:spPr>
          <a:xfrm>
            <a:off x="180753" y="545806"/>
            <a:ext cx="3511296" cy="6839712"/>
          </a:xfrm>
          <a:prstGeom prst="rect">
            <a:avLst/>
          </a:prstGeom>
          <a:solidFill>
            <a:srgbClr val="EEE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A765B-155F-4A59-85FC-D68CEFE9E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590" y="121150"/>
            <a:ext cx="3446463" cy="401639"/>
          </a:xfrm>
          <a:prstGeom prst="rect">
            <a:avLst/>
          </a:prstGeom>
        </p:spPr>
        <p:txBody>
          <a:bodyPr anchor="b"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869D3-6F0A-44D2-A6AC-D6B310071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886" y="939884"/>
            <a:ext cx="6474162" cy="6445632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Calibri" panose="020F0502020204030204" pitchFamily="34" charset="0"/>
              </a:defRPr>
            </a:lvl1pPr>
            <a:lvl2pPr>
              <a:defRPr sz="2800" b="0" i="0">
                <a:latin typeface="Calibri" panose="020F0502020204030204" pitchFamily="34" charset="0"/>
              </a:defRPr>
            </a:lvl2pPr>
            <a:lvl3pPr>
              <a:defRPr sz="2400" b="0" i="0">
                <a:latin typeface="Calibri" panose="020F0502020204030204" pitchFamily="34" charset="0"/>
              </a:defRPr>
            </a:lvl3pPr>
            <a:lvl4pPr>
              <a:defRPr sz="2000" b="0" i="0">
                <a:latin typeface="Calibri" panose="020F0502020204030204" pitchFamily="34" charset="0"/>
              </a:defRPr>
            </a:lvl4pPr>
            <a:lvl5pPr>
              <a:defRPr sz="2000" b="0" i="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E574-5FEF-4482-A3C0-B12D812E8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590" y="939885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462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C908-C6EA-40BC-84E5-8601B3A6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8250"/>
            <a:ext cx="8015288" cy="2632075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482F5-F859-4EB4-86D7-6862BD2B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1925"/>
            <a:ext cx="8015288" cy="1825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3534BF-1C45-4368-8169-ECE10FF1D610}"/>
              </a:ext>
            </a:extLst>
          </p:cNvPr>
          <p:cNvSpPr/>
          <p:nvPr userDrawn="1"/>
        </p:nvSpPr>
        <p:spPr>
          <a:xfrm>
            <a:off x="10401771" y="545480"/>
            <a:ext cx="109728" cy="109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2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B641-31FC-4D60-A586-84293CC2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3" y="403225"/>
            <a:ext cx="9218612" cy="14605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28EA-6F10-4127-AC7D-40567E27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013" y="2012950"/>
            <a:ext cx="9218612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FC94-B493-43FD-BF9F-5D1B791B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A2856-ED67-4B7E-8279-8E6789B0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4362-6709-4AE9-B1D3-7928B7F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86E5-B4B8-4784-8B0D-2AF7F38B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885950"/>
            <a:ext cx="9220200" cy="3144838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2CEA1-F41B-42B4-8034-9669B1878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63" y="5060950"/>
            <a:ext cx="9220200" cy="1654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3CFF6-4041-4594-9E37-571FDD8F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B0066-8AAF-4EE5-8E31-6B8D98B3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578B1-AA48-45E7-9399-FED42559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5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EE2D-9B15-47C1-9EB0-5E77BB45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3" y="403225"/>
            <a:ext cx="9218612" cy="14605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FD81-9B3A-47E5-80B8-A6801D014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13" y="2012950"/>
            <a:ext cx="4532312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F2160-B179-4E87-8430-5B7283F7B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9725" y="2012950"/>
            <a:ext cx="4533900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61295-A1C3-4C52-9270-6A501BEC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30D10-DEED-4CD4-8B49-39C47A48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3B19E-5879-4D95-A082-E18A8BDB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0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44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9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23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2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9064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7502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25973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531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420417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239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1156665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81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334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23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956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95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6191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BG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6F15528-21DE-4FAA-801E-634DDDAF4B2B}" type="slidenum">
              <a:rPr lang="en-BG" smtClean="0"/>
              <a:pPr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04920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765B-155F-4A59-85FC-D68CEFE9E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E574-5FEF-4482-A3C0-B12D812E8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954D2-DE86-485A-82C4-0A97CB7FC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658E159-4F12-4E61-B298-A2E12DD7BA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70235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C66F39-4FDC-4901-ACC3-5728E52A8E8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6896962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3C1B3C4-C681-4106-ACA7-A636C51E7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7C96BC2-E0CF-437D-8550-C869D3AF0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C281297-A77A-4B6D-9A5B-9672D00DE9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5CE5C54-5AB2-4A74-8B67-5492731C7B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1046706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20F4F0-901B-40CD-B4D6-D2302FE6E5CE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755D76-41F0-4513-A3F8-AE83A0D00BEA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E6A13B6-71DD-4743-8DC5-4A8D996B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35ADFE-970A-413E-A34F-0930136ADC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42C00F2-19A4-4704-9FA7-D5F0897A43E8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8729DC3-464B-493F-8F16-F6A8EFD33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63369D3-6899-4683-B5E5-4F4C1D4204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D645791-DA6C-435E-A126-F330C842C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40055563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EBC85E5-A623-4936-A4D2-601B65ED0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3F24E8-0B25-4B45-8DBB-00E105360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572854-73CF-4220-B5F8-1A9835535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F1CF014-F305-43CE-8FAE-D03DFA92E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132559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41CE07-0789-4BF7-8874-E3CF0B19AB18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DFFE40-6F6E-4AC4-A7DE-1653172C5A1D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959649E-49B5-45E1-B47D-D98CABFF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F135383-3194-424E-B03E-9AA70F150D9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D04BB9-0A68-4EC5-B711-4BF1A7743811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516865-DA93-493B-9B85-304E94925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62323D2-B2F0-4A2F-AB7B-A214172272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6D1ABAB-FACA-4162-9761-5AEA98E4F6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922703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2277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1698386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100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8511900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451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88450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0105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6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29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59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0" r:id="rId2"/>
    <p:sldLayoutId id="2147484441" r:id="rId3"/>
    <p:sldLayoutId id="2147484442" r:id="rId4"/>
    <p:sldLayoutId id="214748444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5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5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4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7" r:id="rId1"/>
    <p:sldLayoutId id="2147484448" r:id="rId2"/>
    <p:sldLayoutId id="2147484449" r:id="rId3"/>
    <p:sldLayoutId id="2147484450" r:id="rId4"/>
    <p:sldLayoutId id="2147484451" r:id="rId5"/>
    <p:sldLayoutId id="2147484452" r:id="rId6"/>
    <p:sldLayoutId id="2147484453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>
          <p15:clr>
            <a:srgbClr val="F26B43"/>
          </p15:clr>
        </p15:guide>
        <p15:guide id="35" orient="horz" pos="250">
          <p15:clr>
            <a:srgbClr val="F26B43"/>
          </p15:clr>
        </p15:guide>
        <p15:guide id="36" orient="horz" pos="32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60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56" r:id="rId2"/>
    <p:sldLayoutId id="2147484457" r:id="rId3"/>
    <p:sldLayoutId id="2147484458" r:id="rId4"/>
    <p:sldLayoutId id="2147484459" r:id="rId5"/>
    <p:sldLayoutId id="214748446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0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3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01">
          <p15:clr>
            <a:srgbClr val="F26B43"/>
          </p15:clr>
        </p15:guide>
        <p15:guide id="2" pos="574">
          <p15:clr>
            <a:srgbClr val="F26B43"/>
          </p15:clr>
        </p15:guide>
        <p15:guide id="3" pos="6621">
          <p15:clr>
            <a:srgbClr val="F26B43"/>
          </p15:clr>
        </p15:guide>
        <p15:guide id="4" pos="112">
          <p15:clr>
            <a:srgbClr val="F26B43"/>
          </p15:clr>
        </p15:guide>
        <p15:guide id="5" pos="641">
          <p15:clr>
            <a:srgbClr val="F26B43"/>
          </p15:clr>
        </p15:guide>
        <p15:guide id="6" pos="1103">
          <p15:clr>
            <a:srgbClr val="F26B43"/>
          </p15:clr>
        </p15:guide>
        <p15:guide id="7" pos="1172">
          <p15:clr>
            <a:srgbClr val="F26B43"/>
          </p15:clr>
        </p15:guide>
        <p15:guide id="8" pos="1634">
          <p15:clr>
            <a:srgbClr val="F26B43"/>
          </p15:clr>
        </p15:guide>
        <p15:guide id="9" pos="1701">
          <p15:clr>
            <a:srgbClr val="F26B43"/>
          </p15:clr>
        </p15:guide>
        <p15:guide id="10" pos="2163">
          <p15:clr>
            <a:srgbClr val="F26B43"/>
          </p15:clr>
        </p15:guide>
        <p15:guide id="11" pos="2231">
          <p15:clr>
            <a:srgbClr val="F26B43"/>
          </p15:clr>
        </p15:guide>
        <p15:guide id="12" pos="2762">
          <p15:clr>
            <a:srgbClr val="F26B43"/>
          </p15:clr>
        </p15:guide>
        <p15:guide id="13" pos="2694">
          <p15:clr>
            <a:srgbClr val="F26B43"/>
          </p15:clr>
        </p15:guide>
        <p15:guide id="14" pos="3225">
          <p15:clr>
            <a:srgbClr val="F26B43"/>
          </p15:clr>
        </p15:guide>
        <p15:guide id="15" pos="3291">
          <p15:clr>
            <a:srgbClr val="F26B43"/>
          </p15:clr>
        </p15:guide>
        <p15:guide id="16" pos="3752">
          <p15:clr>
            <a:srgbClr val="F26B43"/>
          </p15:clr>
        </p15:guide>
        <p15:guide id="17" pos="3820">
          <p15:clr>
            <a:srgbClr val="F26B43"/>
          </p15:clr>
        </p15:guide>
        <p15:guide id="18" pos="4283">
          <p15:clr>
            <a:srgbClr val="F26B43"/>
          </p15:clr>
        </p15:guide>
        <p15:guide id="19" pos="4350">
          <p15:clr>
            <a:srgbClr val="F26B43"/>
          </p15:clr>
        </p15:guide>
        <p15:guide id="20" pos="4812">
          <p15:clr>
            <a:srgbClr val="F26B43"/>
          </p15:clr>
        </p15:guide>
        <p15:guide id="21" pos="4886">
          <p15:clr>
            <a:srgbClr val="F26B43"/>
          </p15:clr>
        </p15:guide>
        <p15:guide id="22" pos="5349">
          <p15:clr>
            <a:srgbClr val="F26B43"/>
          </p15:clr>
        </p15:guide>
        <p15:guide id="23" pos="5417">
          <p15:clr>
            <a:srgbClr val="F26B43"/>
          </p15:clr>
        </p15:guide>
        <p15:guide id="24" pos="5880">
          <p15:clr>
            <a:srgbClr val="F26B43"/>
          </p15:clr>
        </p15:guide>
        <p15:guide id="25" pos="5946">
          <p15:clr>
            <a:srgbClr val="F26B43"/>
          </p15:clr>
        </p15:guide>
        <p15:guide id="26" pos="2198">
          <p15:clr>
            <a:srgbClr val="F26B43"/>
          </p15:clr>
        </p15:guide>
        <p15:guide id="27" pos="4316">
          <p15:clr>
            <a:srgbClr val="F26B43"/>
          </p15:clr>
        </p15:guide>
        <p15:guide id="28" orient="horz" pos="2480">
          <p15:clr>
            <a:srgbClr val="F26B43"/>
          </p15:clr>
        </p15:guide>
        <p15:guide id="30" orient="horz" pos="114">
          <p15:clr>
            <a:srgbClr val="F26B43"/>
          </p15:clr>
        </p15:guide>
        <p15:guide id="31" orient="horz" pos="465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0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2" r:id="rId1"/>
    <p:sldLayoutId id="2147484473" r:id="rId2"/>
    <p:sldLayoutId id="2147484474" r:id="rId3"/>
    <p:sldLayoutId id="2147484475" r:id="rId4"/>
    <p:sldLayoutId id="2147484476" r:id="rId5"/>
    <p:sldLayoutId id="2147484477" r:id="rId6"/>
    <p:sldLayoutId id="2147484478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>
          <p15:clr>
            <a:srgbClr val="F26B43"/>
          </p15:clr>
        </p15:guide>
        <p15:guide id="35" orient="horz" pos="250">
          <p15:clr>
            <a:srgbClr val="F26B43"/>
          </p15:clr>
        </p15:guide>
        <p15:guide id="36" orient="horz" pos="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276023"/>
              </p:ext>
            </p:extLst>
          </p:nvPr>
        </p:nvGraphicFramePr>
        <p:xfrm>
          <a:off x="243567" y="810404"/>
          <a:ext cx="9776027" cy="6453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6027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</a:tblGrid>
              <a:tr h="41903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Desired outcome of the Fast Track program (Wish)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149215">
                <a:tc>
                  <a:txBody>
                    <a:bodyPr/>
                    <a:lstStyle/>
                    <a:p>
                      <a:pPr lvl="0" algn="l" defTabSz="91376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b="0"/>
                        <a:t>1. Defining Success: What Does Successful Implementation Look Like?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Market Growth: Increase </a:t>
                      </a:r>
                      <a:r>
                        <a:rPr lang="en-US" sz="1200" b="0" i="0" u="none" strike="noStrike" noProof="0" err="1"/>
                        <a:t>CalciGrow</a:t>
                      </a:r>
                      <a:r>
                        <a:rPr lang="en-US" sz="1200" b="0" i="0" u="none" strike="noStrike" noProof="0"/>
                        <a:t> sales to 100,000 tons per year by 2030.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Farmer Impact: Establish </a:t>
                      </a:r>
                      <a:r>
                        <a:rPr lang="en-US" sz="1200" b="0" i="0" u="none" strike="noStrike" noProof="0" err="1"/>
                        <a:t>CalciGrow</a:t>
                      </a:r>
                      <a:r>
                        <a:rPr lang="en-US" sz="1200" b="0" i="0" u="none" strike="noStrike" noProof="0"/>
                        <a:t> as a must-use product by solving soil health issues and improving crop yields.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Product Development: Introduce crop- and soil-specific variations (e.g., fortified with zinc or other nutrients).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Operational Efficiency: Ensure the factory operates at the lowest cost per ton compared to competitors.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Digital Tracking: Implement a data-driven performance tracking system across the team to optimize costs and efficiency.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Financial Alignment: Manage working capital financing efficiently, ensuring financial and time investments are tracked against actual performance.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Technical Excellence: Build a high-performing agronomy and distribution team to gain farmer trust and drive brand value.</a:t>
                      </a:r>
                      <a:endParaRPr lang="en-US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/>
                        <a:t>2. Specific Changes &amp; Who is Affected?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/>
                        <a:t>Changes to be Implemented: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Laser-focus on </a:t>
                      </a:r>
                      <a:r>
                        <a:rPr lang="en-US" sz="1200" b="0" i="0" u="none" strike="noStrike" noProof="0" err="1"/>
                        <a:t>CalciGrow’s</a:t>
                      </a:r>
                      <a:r>
                        <a:rPr lang="en-US" sz="1200" b="0" i="0" u="none" strike="noStrike" noProof="0"/>
                        <a:t> success with continuous product innovation and technical superiority.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Optimizing production efficiency to achieve the lowest production costs through economies of scale.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Digital transformation to track sales, training impact, and distributor performance.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Strengthening the sales funnel by ensuring training and field days convert into </a:t>
                      </a:r>
                      <a:r>
                        <a:rPr lang="en-US" sz="1200" b="0" i="0" u="none" strike="noStrike" noProof="0" err="1"/>
                        <a:t>stockist</a:t>
                      </a:r>
                      <a:r>
                        <a:rPr lang="en-US" sz="1200" b="0" i="0" u="none" strike="noStrike" noProof="0"/>
                        <a:t> and customer acquisitions.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Redefining Head Office functions to act as a service center supporting field operations with HR, procurement, logistics, and data analytics.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Strategic financial planning to track return on investments and ensure profitability.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Major investment in technical teams—hiring and training agronomists, regional managers, and crop specialists.</a:t>
                      </a:r>
                      <a:endParaRPr lang="en-US" b="0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/>
                        <a:t>Who Will Be Affected?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Farmers: Direct beneficiaries of improved soil health, increased crop yields, and better advisory services.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Distributors &amp; </a:t>
                      </a:r>
                      <a:r>
                        <a:rPr lang="en-US" sz="1200" b="0" i="0" u="none" strike="noStrike" noProof="0" err="1"/>
                        <a:t>Stockists</a:t>
                      </a:r>
                      <a:r>
                        <a:rPr lang="en-US" sz="1200" b="0" i="0" u="none" strike="noStrike" noProof="0"/>
                        <a:t>: Gain stronger technical support, leading to increased sales and loyalty.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Production Team: Expected to drive cost efficiencies and improve productivity.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Sales &amp; Agronomy Team: Must execute targeted outreach, farmer training, and field demonstrations.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Head Office: Must align financial, administrative, and logistical operations to support business objectives.</a:t>
                      </a:r>
                      <a:endParaRPr lang="en-US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/>
                        <a:t>3. Tangible Benefits Expected for the Team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Stronger Market Position: </a:t>
                      </a:r>
                      <a:r>
                        <a:rPr lang="en-US" sz="1200" b="0" i="0" u="none" strike="noStrike" noProof="0" err="1"/>
                        <a:t>CalciGrow</a:t>
                      </a:r>
                      <a:r>
                        <a:rPr lang="en-US" sz="1200" b="0" i="0" u="none" strike="noStrike" noProof="0"/>
                        <a:t> becomes the leading soil health product, trusted by farmers and distributors.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Higher Sales &amp; Profitability: Increased volume sales lead to lower cost per ton and higher margins.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Data-Driven Decisions: Performance tracking ensures efficient resource allocation and cost control.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Enhanced Customer Acquisition: Field activities are directly tied to measurable distributor and farmer adoption rates.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Operational Excellence: Streamlined processes lead to faster order processing, better logistics, and improved service delivery.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Stronger Technical Support: Well-trained agronomists and specialists enhance farmer trust and build brand loyalty.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/>
                        <a:t>Sustainable Growth: A well-financed and well-executed strategy ensures long-term business success.</a:t>
                      </a:r>
                      <a:endParaRPr lang="en-US" b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D85F1FD-745C-EC5A-7EB9-5B10B6D1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8588"/>
            <a:ext cx="10608476" cy="90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4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0A5FE4A-8A59-4C72-34BA-EFE0C9173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11313"/>
              </p:ext>
            </p:extLst>
          </p:nvPr>
        </p:nvGraphicFramePr>
        <p:xfrm>
          <a:off x="141742" y="180374"/>
          <a:ext cx="10453222" cy="87353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26611">
                  <a:extLst>
                    <a:ext uri="{9D8B030D-6E8A-4147-A177-3AD203B41FA5}">
                      <a16:colId xmlns:a16="http://schemas.microsoft.com/office/drawing/2014/main" val="3263655864"/>
                    </a:ext>
                  </a:extLst>
                </a:gridCol>
                <a:gridCol w="5226611">
                  <a:extLst>
                    <a:ext uri="{9D8B030D-6E8A-4147-A177-3AD203B41FA5}">
                      <a16:colId xmlns:a16="http://schemas.microsoft.com/office/drawing/2014/main" val="968337157"/>
                    </a:ext>
                  </a:extLst>
                </a:gridCol>
              </a:tblGrid>
              <a:tr h="9019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Potential Obstacles To Achieve Desired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Plan how you can prevent these obstacles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37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</a:rPr>
                        <a:t>Farmer Resistance to Adoption – Farmers may be hesitant to switch to </a:t>
                      </a:r>
                      <a:r>
                        <a:rPr lang="en-US" sz="1400" u="none" strike="noStrike" noProof="0" dirty="0" err="1">
                          <a:solidFill>
                            <a:srgbClr val="000000"/>
                          </a:solidFill>
                        </a:rPr>
                        <a:t>CalciGrow</a:t>
                      </a: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</a:rPr>
                        <a:t> due to lack of awareness, skepticism, or preference for existing products.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Farmer Resistance to Adoption → Build Strong Technical Trust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Invest in on-the-ground agronomists to provide continuous farmer education and technical guidance.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Conduct high-impact demonstration farms showcasing yield improvements.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Partner with trusted local influencers or progressive farmers as product ambassadors.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085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u="none" strike="noStrike" noProof="0" dirty="0"/>
                        <a:t>High Cost of Customer Acquisition – Training sessions, field demos, and </a:t>
                      </a:r>
                      <a:r>
                        <a:rPr lang="en-US" sz="1400" u="none" strike="noStrike" noProof="0" dirty="0" err="1"/>
                        <a:t>stockist</a:t>
                      </a:r>
                      <a:r>
                        <a:rPr lang="en-US" sz="1400" u="none" strike="noStrike" noProof="0" dirty="0"/>
                        <a:t> outreach can be expensive, impacting profitability.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High Cost of Customer Acquisition → Optimize Sales Funnel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Use targeted digital marketing (WhatsApp groups, SMS alerts, localized social media) to complement physical outreach.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Focus on converting training participants into buyers with incentives for first-time users.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</a:rPr>
                        <a:t>Develop a referral system where </a:t>
                      </a:r>
                      <a:r>
                        <a:rPr lang="en-US" sz="1400" u="none" strike="noStrike" noProof="0" dirty="0" err="1">
                          <a:solidFill>
                            <a:srgbClr val="000000"/>
                          </a:solidFill>
                        </a:rPr>
                        <a:t>stockists</a:t>
                      </a: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</a:rPr>
                        <a:t> and farmers get rewarded for bringing new customers.</a:t>
                      </a:r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822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Production &amp; Supply Chain Inefficiencies – Delays in production, logistics bottlenecks, or inconsistent raw material supply could hinder sales targets.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Production &amp; Supply Chain Inefficiencies → Improve Operational Efficiencies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Ensure factory operates at maximum efficiency with lowest cost per ton.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Strengthen supplier relationships for stable raw material pricing and availability.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</a:rPr>
                        <a:t>Digitally track inventory, logistics, and </a:t>
                      </a:r>
                      <a:r>
                        <a:rPr lang="en-US" sz="1400" u="none" strike="noStrike" noProof="0" dirty="0" err="1">
                          <a:solidFill>
                            <a:srgbClr val="000000"/>
                          </a:solidFill>
                        </a:rPr>
                        <a:t>stockist</a:t>
                      </a: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</a:rPr>
                        <a:t> demand to prevent over/understocking.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sz="1400" u="none" strike="noStrike" noProof="0">
                        <a:solidFill>
                          <a:srgbClr val="000000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/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09696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Lack of Effective Performance Tracking – Without proper data-driven tracking, it may be difficult to measure ROI on marketing, training, and sales efforts.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ack of Effective Performance Tracking → Implement Data-Driven Decision Making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Use real-time dashboards to track distributor performance, customer acquisition costs, and conversion rates.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Ensure all training and field events are linked to measurable sales growth.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Regularly review key metrics with the team and adjust strategies accordingly.</a:t>
                      </a:r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859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04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821463"/>
              </p:ext>
            </p:extLst>
          </p:nvPr>
        </p:nvGraphicFramePr>
        <p:xfrm>
          <a:off x="243567" y="810403"/>
          <a:ext cx="10252272" cy="11315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4550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3820804">
                  <a:extLst>
                    <a:ext uri="{9D8B030D-6E8A-4147-A177-3AD203B41FA5}">
                      <a16:colId xmlns:a16="http://schemas.microsoft.com/office/drawing/2014/main" val="2216506820"/>
                    </a:ext>
                  </a:extLst>
                </a:gridCol>
                <a:gridCol w="2116918">
                  <a:extLst>
                    <a:ext uri="{9D8B030D-6E8A-4147-A177-3AD203B41FA5}">
                      <a16:colId xmlns:a16="http://schemas.microsoft.com/office/drawing/2014/main" val="1789464476"/>
                    </a:ext>
                  </a:extLst>
                </a:gridCol>
              </a:tblGrid>
              <a:tr h="428893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Describe a scenario in which the Fast Track program fails to meet its objectives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476250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4363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Potential reasons for failure-Root cause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Preventive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G" sz="1400" b="0" i="0" kern="120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Who is responsible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30041"/>
                  </a:ext>
                </a:extLst>
              </a:tr>
              <a:tr h="540847">
                <a:tc>
                  <a:txBody>
                    <a:bodyPr/>
                    <a:lstStyle/>
                    <a:p>
                      <a:pPr marL="228600" marR="0" lvl="1" indent="-228600" algn="l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Low Farmer Adoption; </a:t>
                      </a:r>
                      <a:r>
                        <a:rPr lang="en-US" sz="1400" b="0" i="0" u="none" strike="noStrike" noProof="0" dirty="0"/>
                        <a:t>Farmers lack awareness or trust in </a:t>
                      </a:r>
                      <a:r>
                        <a:rPr lang="en-US" sz="1400" b="0" i="0" u="none" strike="noStrike" noProof="0" err="1"/>
                        <a:t>CalciGrow</a:t>
                      </a:r>
                      <a:r>
                        <a:rPr lang="en-US" sz="1400" b="0" i="0" u="none" strike="noStrike" noProof="0" dirty="0"/>
                        <a:t>, Competitors offer cheaper alternatives with strong marketing, Inconsistent product availability at </a:t>
                      </a:r>
                      <a:r>
                        <a:rPr lang="en-US" sz="1400" b="0" i="0" u="none" strike="noStrike" noProof="0" err="1"/>
                        <a:t>stockists</a:t>
                      </a:r>
                      <a:r>
                        <a:rPr lang="en-US" sz="1400" b="0" i="0" u="none" strike="noStrike" noProof="0" dirty="0"/>
                        <a:t>.</a:t>
                      </a:r>
                      <a:endParaRPr lang="en-US" sz="1400" b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Boost Farmer Adoption &amp; Market Growth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Farmer-Centric Approach: Strengthen agronomist teams to provide regular on-farm training and advisory services.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Smart Incentives: Provide discounts or trial packages to early adopters.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Localized Marketing: Leverage progressive farmers as brand ambassadors to drive adoption in different regions.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Strengthen Distribution Channels: Ensure consistent stock availability by working closely with </a:t>
                      </a:r>
                      <a:r>
                        <a:rPr lang="en-US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stockists</a:t>
                      </a: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Meera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33536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Inefficient Production &amp; High Costs</a:t>
                      </a:r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Factory operations are not optimized, leading to high cost per ton.</a:t>
                      </a:r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Supply chain disruptions cause delays or price fluctuations.</a:t>
                      </a:r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Low sales volume prevents achieving</a:t>
                      </a:r>
                      <a:endParaRPr lang="en-US" sz="1400" b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Optimize Production &amp; Reduce Costs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Factory Efficiency Drive: Implement lean manufacturing principles to reduce waste and cost per ton.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Raw Material Security: Lock in long-term supplier contracts to drill </a:t>
                      </a:r>
                      <a:r>
                        <a:rPr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etc</a:t>
                      </a: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to stabilize costs.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Production Forecasting: Align production volumes with real-time market demand data.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Arjun </a:t>
                      </a:r>
                      <a:r>
                        <a:rPr lang="en-US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Navishka</a:t>
                      </a: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 Meera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Weak Distributor Engagement &amp; Customer Acquisition</a:t>
                      </a:r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err="1"/>
                        <a:t>Stockists</a:t>
                      </a:r>
                      <a:r>
                        <a:rPr lang="en-US" sz="1400" b="0" i="0" u="none" strike="noStrike" noProof="0" dirty="0"/>
                        <a:t> do not actively push </a:t>
                      </a:r>
                      <a:r>
                        <a:rPr lang="en-US" sz="1400" b="0" i="0" u="none" strike="noStrike" noProof="0" err="1"/>
                        <a:t>CalciGrow</a:t>
                      </a:r>
                      <a:r>
                        <a:rPr lang="en-US" sz="1400" b="0" i="0" u="none" strike="noStrike" noProof="0" dirty="0"/>
                        <a:t> due to low incentives or competing products.</a:t>
                      </a:r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Training sessions and field days do not directly convert into sales.</a:t>
                      </a:r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No proper digital tracking system to measure distributor and farmer adoption.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Enhance Distributor Engagement &amp; Customer Acquisition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Distributor Incentives: Implement tiered rewards for </a:t>
                      </a:r>
                      <a:r>
                        <a:rPr lang="en-US" sz="1400" b="0" i="0" u="none" strike="noStrike" noProof="0" err="1"/>
                        <a:t>stockists</a:t>
                      </a:r>
                      <a:r>
                        <a:rPr lang="en-US" sz="1400" b="0" i="0" u="none" strike="noStrike" noProof="0" dirty="0"/>
                        <a:t> based on sales performance.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Data-Driven Sales Approach: Use digital tracking tools to monitor customer conversions from training sessions.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Stronger Field Support: Assign dedicated sales managers to work closely with distributors and </a:t>
                      </a:r>
                      <a:r>
                        <a:rPr lang="en-US" sz="1400" b="0" i="0" u="none" strike="noStrike" noProof="0" err="1"/>
                        <a:t>stockists</a:t>
                      </a:r>
                      <a:r>
                        <a:rPr lang="en-US" sz="1400" b="0" i="0" u="none" strike="noStrike" noProof="0" dirty="0"/>
                        <a:t>.</a:t>
                      </a:r>
                    </a:p>
                    <a:p>
                      <a:pPr marL="0" marR="0" lvl="0" indent="0" algn="l" defTabSz="91376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Arjun Eric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Poor Financial &amp; Administrative Alignment</a:t>
                      </a:r>
                    </a:p>
                    <a:p>
                      <a:pPr marL="228600" marR="0" lvl="0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lang="en-US" sz="1400" b="0" i="0" u="none" strike="noStrike" noProof="0" dirty="0"/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Slow decision-making at the head office affects procurement, logistics, and marketing.</a:t>
                      </a:r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Financial investments are not measured against actual returns.</a:t>
                      </a:r>
                    </a:p>
                    <a:p>
                      <a:pPr marL="228600" marR="0" lvl="1" indent="-2286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Lack of a performance-based system for field and technical teams.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Align Finance &amp; Administration for Agility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Speed Up Decision-Making: Make head office a service hub, ensuring procurement, HR, and logistics move quickly.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ROI-Based Investment: Track marketing, training, and sales initiatives against actual farmer adoption rates.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0" i="0" u="none" strike="noStrike" noProof="0" dirty="0"/>
                        <a:t>Team Performance Metrics: Introduce KPIs for every department linked to cost efficiency, adoption rates, and sales growth.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dirty="0">
                        <a:latin typeface="Arial"/>
                        <a:ea typeface="Riforma LL" panose="020B0504020101020102" pitchFamily="34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 dirty="0" err="1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Navishka</a:t>
                      </a:r>
                      <a:r>
                        <a:rPr lang="en-US" sz="1400" b="0" i="0" dirty="0">
                          <a:latin typeface="Arial"/>
                          <a:ea typeface="Riforma LL" panose="020B0504020101020102" pitchFamily="34" charset="0"/>
                          <a:cs typeface="Arial"/>
                        </a:rPr>
                        <a:t> Alfred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1367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A22941B-6605-BC31-71D2-99ECF8B1C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0" y="-85725"/>
            <a:ext cx="9774332" cy="83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9577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1_Custom Design</vt:lpstr>
      <vt:lpstr>SOLIDS</vt:lpstr>
      <vt:lpstr>5_Custom Design</vt:lpstr>
      <vt:lpstr>4_Custom Design</vt:lpstr>
      <vt:lpstr>1_SOLIDS</vt:lpstr>
      <vt:lpstr>3_Custom Design</vt:lpstr>
      <vt:lpstr>6_Custom Design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ana-maria</dc:creator>
  <cp:revision>17</cp:revision>
  <dcterms:created xsi:type="dcterms:W3CDTF">2020-10-06T20:30:34Z</dcterms:created>
  <dcterms:modified xsi:type="dcterms:W3CDTF">2025-03-03T19:35:58Z</dcterms:modified>
</cp:coreProperties>
</file>