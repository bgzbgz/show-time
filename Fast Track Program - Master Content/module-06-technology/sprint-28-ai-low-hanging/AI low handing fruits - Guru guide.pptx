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5" r:id="rId1"/>
    <p:sldMasterId id="2147483666" r:id="rId2"/>
    <p:sldMasterId id="2147483673" r:id="rId3"/>
  </p:sldMasterIdLst>
  <p:notesMasterIdLst>
    <p:notesMasterId r:id="rId7"/>
  </p:notesMasterIdLst>
  <p:handoutMasterIdLst>
    <p:handoutMasterId r:id="rId8"/>
  </p:handoutMasterIdLst>
  <p:sldIdLst>
    <p:sldId id="656" r:id="rId4"/>
    <p:sldId id="657" r:id="rId5"/>
    <p:sldId id="384" r:id="rId6"/>
  </p:sldIdLst>
  <p:sldSz cx="6858000" cy="9906000" type="A4"/>
  <p:notesSz cx="7315200" cy="9601200"/>
  <p:embeddedFontLst>
    <p:embeddedFont>
      <p:font typeface="Monument Grotesk Mono" panose="02010504030000020004" pitchFamily="2" charset="0"/>
      <p:regular r:id="rId9"/>
    </p:embeddedFont>
    <p:embeddedFont>
      <p:font typeface="MonumentGrotesk-Mono" panose="02010504030000020004" pitchFamily="2" charset="0"/>
      <p:regular r:id="rId10"/>
    </p:embeddedFont>
    <p:embeddedFont>
      <p:font typeface="Plaak 3 Trial Regular" panose="02000000000000000000" pitchFamily="2" charset="0"/>
      <p:bold r:id="rId11"/>
    </p:embeddedFont>
    <p:embeddedFont>
      <p:font typeface="Plaak3Trial-43-Bold" panose="02000000000000000000" pitchFamily="2" charset="0"/>
      <p:bold r:id="rId12"/>
    </p:embeddedFont>
    <p:embeddedFont>
      <p:font typeface="Riforma LL" panose="020B0504020101020102" pitchFamily="34" charset="77"/>
      <p:regular r:id="rId13"/>
    </p:embeddedFont>
  </p:embeddedFontLst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a Stoyanova" initials="YS" lastIdx="3" clrIdx="0">
    <p:extLst>
      <p:ext uri="{19B8F6BF-5375-455C-9EA6-DF929625EA0E}">
        <p15:presenceInfo xmlns:p15="http://schemas.microsoft.com/office/powerpoint/2012/main" userId="fc8e5911812096b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FFF469"/>
    <a:srgbClr val="00582D"/>
    <a:srgbClr val="A20100"/>
    <a:srgbClr val="C00000"/>
    <a:srgbClr val="548235"/>
    <a:srgbClr val="A20200"/>
    <a:srgbClr val="BF9000"/>
    <a:srgbClr val="D7A21D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0" autoAdjust="0"/>
    <p:restoredTop sz="95903"/>
  </p:normalViewPr>
  <p:slideViewPr>
    <p:cSldViewPr snapToGrid="0">
      <p:cViewPr varScale="1">
        <p:scale>
          <a:sx n="145" d="100"/>
          <a:sy n="145" d="100"/>
        </p:scale>
        <p:origin x="1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6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3.fntdata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font" Target="fonts/font1.fntdata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88C1345-A2A6-4D11-BDE0-E058081ED8CA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72A2CD-9876-40E1-BBE3-8EE1DE0C55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891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7870C1C-DBCF-424F-AA99-58B43FA2B41C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5238" y="1200150"/>
            <a:ext cx="224472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298323-809A-4F9F-92DE-CBB614E45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456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94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04504" y="91372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80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8087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78" userDrawn="1">
          <p15:clr>
            <a:srgbClr val="FBAE40"/>
          </p15:clr>
        </p15:guide>
        <p15:guide id="2" orient="horz" pos="156" userDrawn="1">
          <p15:clr>
            <a:srgbClr val="FBAE40"/>
          </p15:clr>
        </p15:guide>
        <p15:guide id="4" pos="2016" userDrawn="1">
          <p15:clr>
            <a:srgbClr val="FBAE40"/>
          </p15:clr>
        </p15:guide>
        <p15:guide id="5" pos="4160" userDrawn="1">
          <p15:clr>
            <a:srgbClr val="FBAE40"/>
          </p15:clr>
        </p15:guide>
        <p15:guide id="6" pos="3876" userDrawn="1">
          <p15:clr>
            <a:srgbClr val="FBAE40"/>
          </p15:clr>
        </p15:guide>
        <p15:guide id="7" pos="159" userDrawn="1">
          <p15:clr>
            <a:srgbClr val="FBAE40"/>
          </p15:clr>
        </p15:guide>
        <p15:guide id="8" orient="horz" pos="586" userDrawn="1">
          <p15:clr>
            <a:srgbClr val="FBAE40"/>
          </p15:clr>
        </p15:guide>
        <p15:guide id="9" orient="horz" pos="2461" userDrawn="1">
          <p15:clr>
            <a:srgbClr val="FBAE40"/>
          </p15:clr>
        </p15:guide>
        <p15:guide id="10" orient="horz" pos="2311" userDrawn="1">
          <p15:clr>
            <a:srgbClr val="FBAE40"/>
          </p15:clr>
        </p15:guide>
        <p15:guide id="11" orient="horz" pos="4197" userDrawn="1">
          <p15:clr>
            <a:srgbClr val="FBAE40"/>
          </p15:clr>
        </p15:guide>
        <p15:guide id="12" orient="horz" pos="4345" userDrawn="1">
          <p15:clr>
            <a:srgbClr val="FBAE40"/>
          </p15:clr>
        </p15:guide>
        <p15:guide id="13" pos="1937" userDrawn="1">
          <p15:clr>
            <a:srgbClr val="FBAE40"/>
          </p15:clr>
        </p15:guide>
        <p15:guide id="14" pos="210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04504" y="91372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80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0759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78" userDrawn="1">
          <p15:clr>
            <a:srgbClr val="FBAE40"/>
          </p15:clr>
        </p15:guide>
        <p15:guide id="2" orient="horz" pos="156" userDrawn="1">
          <p15:clr>
            <a:srgbClr val="FBAE40"/>
          </p15:clr>
        </p15:guide>
        <p15:guide id="4" pos="2016" userDrawn="1">
          <p15:clr>
            <a:srgbClr val="FBAE40"/>
          </p15:clr>
        </p15:guide>
        <p15:guide id="5" pos="4160" userDrawn="1">
          <p15:clr>
            <a:srgbClr val="FBAE40"/>
          </p15:clr>
        </p15:guide>
        <p15:guide id="6" pos="3876" userDrawn="1">
          <p15:clr>
            <a:srgbClr val="FBAE40"/>
          </p15:clr>
        </p15:guide>
        <p15:guide id="7" pos="159" userDrawn="1">
          <p15:clr>
            <a:srgbClr val="FBAE40"/>
          </p15:clr>
        </p15:guide>
        <p15:guide id="8" orient="horz" pos="586" userDrawn="1">
          <p15:clr>
            <a:srgbClr val="FBAE40"/>
          </p15:clr>
        </p15:guide>
        <p15:guide id="9" orient="horz" pos="2461" userDrawn="1">
          <p15:clr>
            <a:srgbClr val="FBAE40"/>
          </p15:clr>
        </p15:guide>
        <p15:guide id="10" orient="horz" pos="2311" userDrawn="1">
          <p15:clr>
            <a:srgbClr val="FBAE40"/>
          </p15:clr>
        </p15:guide>
        <p15:guide id="11" orient="horz" pos="4197" userDrawn="1">
          <p15:clr>
            <a:srgbClr val="FBAE40"/>
          </p15:clr>
        </p15:guide>
        <p15:guide id="12" orient="horz" pos="4345" userDrawn="1">
          <p15:clr>
            <a:srgbClr val="FBAE40"/>
          </p15:clr>
        </p15:guide>
        <p15:guide id="13" pos="1937" userDrawn="1">
          <p15:clr>
            <a:srgbClr val="FBAE40"/>
          </p15:clr>
        </p15:guide>
        <p15:guide id="14" pos="21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21033" y="126884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79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C6323E2-8F19-C082-FD50-EB53366FD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5FDA4F2-ABB4-4F7C-31CA-0C37DE40B7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7" y="126884"/>
            <a:ext cx="255161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88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21033" y="126884"/>
            <a:ext cx="259006" cy="28075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C6323E2-8F19-C082-FD50-EB53366FD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21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C1E3C102-28F4-55C1-2550-37787607E5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819" y="218687"/>
            <a:ext cx="326362" cy="362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97356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697356"/>
            <a:ext cx="0" cy="9208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B68B7-7FEF-4BEB-999E-15C9B29401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414" y="162206"/>
            <a:ext cx="370026" cy="4190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EB965B-40E2-4592-A7A1-8D97CCD73287}"/>
              </a:ext>
            </a:extLst>
          </p:cNvPr>
          <p:cNvSpPr txBox="1"/>
          <p:nvPr userDrawn="1"/>
        </p:nvSpPr>
        <p:spPr>
          <a:xfrm>
            <a:off x="0" y="9559128"/>
            <a:ext cx="40335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cap="all" baseline="0" dirty="0">
                <a:solidFill>
                  <a:schemeClr val="tx1"/>
                </a:solidFill>
                <a:latin typeface="Monument Grotesk Mono" panose="02010504030000020004" pitchFamily="50" charset="0"/>
              </a:rPr>
              <a:t>The Fast Track Way Workshop_2023_Feedback Summary</a:t>
            </a:r>
            <a:endParaRPr lang="en-US" cap="all" baseline="0" dirty="0">
              <a:solidFill>
                <a:schemeClr val="tx1"/>
              </a:solidFill>
              <a:latin typeface="Monument Grotesk Mono" panose="02010504030000020004" pitchFamily="50" charset="0"/>
            </a:endParaRPr>
          </a:p>
        </p:txBody>
      </p:sp>
      <p:pic>
        <p:nvPicPr>
          <p:cNvPr id="12" name="Picture 1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6C3A4C37-168F-0C6B-6685-F50B2B4039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8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4E51BE-A2C4-4B7E-A25B-9DB83F9ACBA2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816240"/>
            <a:ext cx="6452481" cy="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D7230-F7FF-4432-9CB7-570D060E950F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866222"/>
            <a:ext cx="6452481" cy="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58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6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1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469625"/>
            <a:ext cx="5915025" cy="4120620"/>
          </a:xfrm>
          <a:prstGeom prst="rect">
            <a:avLst/>
          </a:prstGeom>
        </p:spPr>
        <p:txBody>
          <a:bodyPr anchor="b"/>
          <a:lstStyle>
            <a:lvl1pPr>
              <a:defRPr sz="41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629228"/>
            <a:ext cx="5915025" cy="2166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62">
                <a:solidFill>
                  <a:schemeClr val="tx1"/>
                </a:solidFill>
              </a:defRPr>
            </a:lvl1pPr>
            <a:lvl2pPr marL="31652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2pPr>
            <a:lvl3pPr marL="633039" indent="0">
              <a:buNone/>
              <a:defRPr sz="1246">
                <a:solidFill>
                  <a:schemeClr val="tx1">
                    <a:tint val="75000"/>
                  </a:schemeClr>
                </a:solidFill>
              </a:defRPr>
            </a:lvl3pPr>
            <a:lvl4pPr marL="94955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266078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582598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189911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21563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532156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68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6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11/7/25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257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DB9D7B-ABA1-46FF-8D95-5ED05CEB41EE}"/>
              </a:ext>
            </a:extLst>
          </p:cNvPr>
          <p:cNvCxnSpPr/>
          <p:nvPr userDrawn="1"/>
        </p:nvCxnSpPr>
        <p:spPr>
          <a:xfrm>
            <a:off x="6452482" y="0"/>
            <a:ext cx="0" cy="990600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1C2D4D-102A-4801-A783-15836A733F29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799884"/>
            <a:ext cx="6452481" cy="0"/>
          </a:xfrm>
          <a:prstGeom prst="line">
            <a:avLst/>
          </a:prstGeom>
          <a:ln w="12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1DF2A1-61C9-4897-9F10-923D1DF7CF36}"/>
              </a:ext>
            </a:extLst>
          </p:cNvPr>
          <p:cNvGrpSpPr/>
          <p:nvPr userDrawn="1"/>
        </p:nvGrpSpPr>
        <p:grpSpPr>
          <a:xfrm>
            <a:off x="6545302" y="174444"/>
            <a:ext cx="237175" cy="550304"/>
            <a:chOff x="9563413" y="152519"/>
            <a:chExt cx="342586" cy="38098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ED4D8C-9F30-4DF2-9C3B-200E81BBBF57}"/>
                </a:ext>
              </a:extLst>
            </p:cNvPr>
            <p:cNvSpPr/>
            <p:nvPr userDrawn="1"/>
          </p:nvSpPr>
          <p:spPr>
            <a:xfrm>
              <a:off x="9563413" y="152519"/>
              <a:ext cx="342586" cy="11100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F9DA57-1BB1-4497-A138-C7AAF64929C6}"/>
                </a:ext>
              </a:extLst>
            </p:cNvPr>
            <p:cNvSpPr/>
            <p:nvPr userDrawn="1"/>
          </p:nvSpPr>
          <p:spPr>
            <a:xfrm>
              <a:off x="9563413" y="287506"/>
              <a:ext cx="221935" cy="11100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1299D26-C7CC-43F3-BE87-977207921A95}"/>
                </a:ext>
              </a:extLst>
            </p:cNvPr>
            <p:cNvSpPr/>
            <p:nvPr userDrawn="1"/>
          </p:nvSpPr>
          <p:spPr>
            <a:xfrm>
              <a:off x="9563414" y="422493"/>
              <a:ext cx="117162" cy="11100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4701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8">
          <p15:clr>
            <a:srgbClr val="FBAE40"/>
          </p15:clr>
        </p15:guide>
        <p15:guide id="2" orient="horz" pos="108">
          <p15:clr>
            <a:srgbClr val="FBAE40"/>
          </p15:clr>
        </p15:guide>
        <p15:guide id="4" pos="2912">
          <p15:clr>
            <a:srgbClr val="FBAE40"/>
          </p15:clr>
        </p15:guide>
        <p15:guide id="5" pos="6009">
          <p15:clr>
            <a:srgbClr val="FBAE40"/>
          </p15:clr>
        </p15:guide>
        <p15:guide id="6" pos="5599">
          <p15:clr>
            <a:srgbClr val="FBAE40"/>
          </p15:clr>
        </p15:guide>
        <p15:guide id="7" pos="230">
          <p15:clr>
            <a:srgbClr val="FBAE40"/>
          </p15:clr>
        </p15:guide>
        <p15:guide id="8" orient="horz" pos="406">
          <p15:clr>
            <a:srgbClr val="FBAE40"/>
          </p15:clr>
        </p15:guide>
        <p15:guide id="9" orient="horz" pos="1704">
          <p15:clr>
            <a:srgbClr val="FBAE40"/>
          </p15:clr>
        </p15:guide>
        <p15:guide id="10" orient="horz" pos="1600">
          <p15:clr>
            <a:srgbClr val="FBAE40"/>
          </p15:clr>
        </p15:guide>
        <p15:guide id="11" orient="horz" pos="2906">
          <p15:clr>
            <a:srgbClr val="FBAE40"/>
          </p15:clr>
        </p15:guide>
        <p15:guide id="12" orient="horz" pos="3008">
          <p15:clr>
            <a:srgbClr val="FBAE40"/>
          </p15:clr>
        </p15:guide>
        <p15:guide id="13" pos="2798">
          <p15:clr>
            <a:srgbClr val="FBAE40"/>
          </p15:clr>
        </p15:guide>
        <p15:guide id="14" pos="303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472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04504" y="91372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80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1142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04504" y="91372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80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691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21033" y="126884"/>
            <a:ext cx="259006" cy="2807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-443885" y="448779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-177553"/>
            <a:ext cx="0" cy="10083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C6323E2-8F19-C082-FD50-EB53366FD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5FDA4F2-ABB4-4F7C-31CA-0C37DE40B7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7" y="126884"/>
            <a:ext cx="255161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71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5FC4BF2-EA6D-41A5-9E84-584CE6EE7C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83"/>
          <a:stretch/>
        </p:blipFill>
        <p:spPr>
          <a:xfrm>
            <a:off x="6521033" y="126884"/>
            <a:ext cx="259006" cy="28075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C6323E2-8F19-C082-FD50-EB53366FD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45FDA4F2-ABB4-4F7C-31CA-0C37DE40B7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7" y="126884"/>
            <a:ext cx="255161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82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C1E3C102-28F4-55C1-2550-37787607E5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819" y="218687"/>
            <a:ext cx="326362" cy="362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13" y="933805"/>
            <a:ext cx="5900737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6DCEF-712E-4802-A292-C9F5CB03819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97356"/>
            <a:ext cx="6858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62CD0E-D1FA-46E4-8F04-34AF4CB9DCB1}"/>
              </a:ext>
            </a:extLst>
          </p:cNvPr>
          <p:cNvCxnSpPr>
            <a:cxnSpLocks/>
          </p:cNvCxnSpPr>
          <p:nvPr userDrawn="1"/>
        </p:nvCxnSpPr>
        <p:spPr>
          <a:xfrm>
            <a:off x="6410014" y="697356"/>
            <a:ext cx="0" cy="9208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74593-40D9-457C-A956-6204627F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4" y="3068814"/>
            <a:ext cx="5900737" cy="1655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1pPr>
            <a:lvl2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2pPr>
            <a:lvl3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3pPr>
            <a:lvl4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4pPr>
            <a:lvl5pPr>
              <a:defRPr b="0" i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B68B7-7FEF-4BEB-999E-15C9B29401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414" y="162206"/>
            <a:ext cx="370026" cy="4190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EB965B-40E2-4592-A7A1-8D97CCD73287}"/>
              </a:ext>
            </a:extLst>
          </p:cNvPr>
          <p:cNvSpPr txBox="1"/>
          <p:nvPr userDrawn="1"/>
        </p:nvSpPr>
        <p:spPr>
          <a:xfrm>
            <a:off x="0" y="9559128"/>
            <a:ext cx="40335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cap="all" baseline="0" dirty="0">
                <a:solidFill>
                  <a:schemeClr val="tx1"/>
                </a:solidFill>
                <a:latin typeface="Monument Grotesk Mono" panose="02010504030000020004" pitchFamily="50" charset="0"/>
              </a:rPr>
              <a:t>The Fast Track Way Workshop_2023_Feedback Summary</a:t>
            </a:r>
            <a:endParaRPr lang="en-US" cap="all" baseline="0" dirty="0">
              <a:solidFill>
                <a:schemeClr val="tx1"/>
              </a:solidFill>
              <a:latin typeface="Monument Grotesk Mono" panose="02010504030000020004" pitchFamily="50" charset="0"/>
            </a:endParaRPr>
          </a:p>
        </p:txBody>
      </p:sp>
      <p:pic>
        <p:nvPicPr>
          <p:cNvPr id="12" name="Picture 11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6C3A4C37-168F-0C6B-6685-F50B2B4039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3" y="94286"/>
            <a:ext cx="824620" cy="3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6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078">
          <p15:clr>
            <a:srgbClr val="FBAE40"/>
          </p15:clr>
        </p15:guide>
        <p15:guide id="2" orient="horz" pos="156">
          <p15:clr>
            <a:srgbClr val="FBAE40"/>
          </p15:clr>
        </p15:guide>
        <p15:guide id="4" pos="2016">
          <p15:clr>
            <a:srgbClr val="FBAE40"/>
          </p15:clr>
        </p15:guide>
        <p15:guide id="5" pos="4160">
          <p15:clr>
            <a:srgbClr val="FBAE40"/>
          </p15:clr>
        </p15:guide>
        <p15:guide id="6" pos="3876">
          <p15:clr>
            <a:srgbClr val="FBAE40"/>
          </p15:clr>
        </p15:guide>
        <p15:guide id="7" pos="159">
          <p15:clr>
            <a:srgbClr val="FBAE40"/>
          </p15:clr>
        </p15:guide>
        <p15:guide id="8" orient="horz" pos="586">
          <p15:clr>
            <a:srgbClr val="FBAE40"/>
          </p15:clr>
        </p15:guide>
        <p15:guide id="9" orient="horz" pos="2461">
          <p15:clr>
            <a:srgbClr val="FBAE40"/>
          </p15:clr>
        </p15:guide>
        <p15:guide id="10" orient="horz" pos="2311">
          <p15:clr>
            <a:srgbClr val="FBAE40"/>
          </p15:clr>
        </p15:guide>
        <p15:guide id="11" orient="horz" pos="4197">
          <p15:clr>
            <a:srgbClr val="FBAE40"/>
          </p15:clr>
        </p15:guide>
        <p15:guide id="12" orient="horz" pos="4345">
          <p15:clr>
            <a:srgbClr val="FBAE40"/>
          </p15:clr>
        </p15:guide>
        <p15:guide id="13" pos="1937">
          <p15:clr>
            <a:srgbClr val="FBAE40"/>
          </p15:clr>
        </p15:guide>
        <p15:guide id="14" pos="21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image" Target="../media/image7.sv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9.svg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10.xml"/><Relationship Id="rId9" Type="http://schemas.openxmlformats.org/officeDocument/2006/relationships/tags" Target="../tags/tag4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6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23F13F9-AD74-4E4E-84C9-3C59484F0D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085371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80" imgH="481" progId="TCLayout.ActiveDocument.1">
                  <p:embed/>
                </p:oleObj>
              </mc:Choice>
              <mc:Fallback>
                <p:oleObj name="think-cell Slide" r:id="rId9" imgW="480" imgH="481" progId="TCLayout.ActiveDocument.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23F13F9-AD74-4E4E-84C9-3C59484F0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9592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050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5" r:id="rId3"/>
    <p:sldLayoutId id="2147483664" r:id="rId4"/>
    <p:sldLayoutId id="2147483680" r:id="rId5"/>
    <p:sldLayoutId id="2147483663" r:id="rId6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Plaak 3 Trial Regular" panose="02000000000000000000" pitchFamily="50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50516505-193D-47A9-B4A0-CD5068E8FB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184235197"/>
              </p:ext>
            </p:extLst>
          </p:nvPr>
        </p:nvGraphicFramePr>
        <p:xfrm>
          <a:off x="1588" y="1593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80" imgH="481" progId="TCLayout.ActiveDocument.1">
                  <p:embed/>
                </p:oleObj>
              </mc:Choice>
              <mc:Fallback>
                <p:oleObj name="think-cell Slide" r:id="rId10" imgW="480" imgH="48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50516505-193D-47A9-B4A0-CD5068E8FB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93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7755179B-A8A1-4A99-8E10-5CFCD830FCBE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1582" b="0" i="0" baseline="0" dirty="0">
              <a:latin typeface="Plaak 3 Trial Regular" panose="02000000000000000000" pitchFamily="50" charset="0"/>
              <a:ea typeface="+mj-ea"/>
              <a:cs typeface="+mj-cs"/>
              <a:sym typeface="Plaak 3 Trial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2ABC29-4FA3-4FF4-AEFB-B36D74161AEC}"/>
              </a:ext>
            </a:extLst>
          </p:cNvPr>
          <p:cNvCxnSpPr/>
          <p:nvPr userDrawn="1"/>
        </p:nvCxnSpPr>
        <p:spPr>
          <a:xfrm>
            <a:off x="6452482" y="0"/>
            <a:ext cx="0" cy="990600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994BB4-84AB-4F20-9DF1-03D32F97D3DB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799884"/>
            <a:ext cx="6452481" cy="0"/>
          </a:xfrm>
          <a:prstGeom prst="line">
            <a:avLst/>
          </a:prstGeom>
          <a:ln w="127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1ABC95-A7FC-4EE1-86D6-BE7CA3B366ED}"/>
              </a:ext>
            </a:extLst>
          </p:cNvPr>
          <p:cNvGrpSpPr/>
          <p:nvPr userDrawn="1"/>
        </p:nvGrpSpPr>
        <p:grpSpPr>
          <a:xfrm>
            <a:off x="6545302" y="174444"/>
            <a:ext cx="237175" cy="550304"/>
            <a:chOff x="9563413" y="152519"/>
            <a:chExt cx="342586" cy="380980"/>
          </a:xfrm>
          <a:solidFill>
            <a:schemeClr val="bg1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0E15B3-DE89-4100-B778-6CA54B642DC5}"/>
                </a:ext>
              </a:extLst>
            </p:cNvPr>
            <p:cNvSpPr/>
            <p:nvPr userDrawn="1"/>
          </p:nvSpPr>
          <p:spPr>
            <a:xfrm>
              <a:off x="9563413" y="152519"/>
              <a:ext cx="342586" cy="1110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33FE9C-6978-4CC7-9277-ADB57A0F0B10}"/>
                </a:ext>
              </a:extLst>
            </p:cNvPr>
            <p:cNvSpPr/>
            <p:nvPr userDrawn="1"/>
          </p:nvSpPr>
          <p:spPr>
            <a:xfrm>
              <a:off x="9563413" y="287506"/>
              <a:ext cx="221935" cy="1110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F99D8F1-0F7B-4FF4-9403-6912CC5FF0E4}"/>
                </a:ext>
              </a:extLst>
            </p:cNvPr>
            <p:cNvSpPr/>
            <p:nvPr userDrawn="1"/>
          </p:nvSpPr>
          <p:spPr>
            <a:xfrm>
              <a:off x="9563414" y="422493"/>
              <a:ext cx="117162" cy="1110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46">
                <a:ln>
                  <a:noFill/>
                </a:ln>
              </a:endParaRPr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13649BF4-654A-48AF-832D-0BABDBEC792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523" y="233340"/>
            <a:ext cx="1147234" cy="41123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32C1A5D-D25A-AE7B-3D20-7E634F4B2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32467" t="3622" b="-1"/>
          <a:stretch/>
        </p:blipFill>
        <p:spPr>
          <a:xfrm>
            <a:off x="447993" y="254616"/>
            <a:ext cx="774765" cy="3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80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 algn="l" defTabSz="633039" rtl="0" eaLnBrk="1" latinLnBrk="0" hangingPunct="1">
        <a:lnSpc>
          <a:spcPct val="90000"/>
        </a:lnSpc>
        <a:spcBef>
          <a:spcPct val="0"/>
        </a:spcBef>
        <a:buNone/>
        <a:defRPr sz="30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260" indent="-158260" algn="l" defTabSz="633039" rtl="0" eaLnBrk="1" latinLnBrk="0" hangingPunct="1">
        <a:lnSpc>
          <a:spcPct val="90000"/>
        </a:lnSpc>
        <a:spcBef>
          <a:spcPts val="692"/>
        </a:spcBef>
        <a:buFont typeface="Arial" panose="020B0604020202020204" pitchFamily="34" charset="0"/>
        <a:buChar char="•"/>
        <a:defRPr sz="1938" kern="1200">
          <a:solidFill>
            <a:schemeClr val="tx1"/>
          </a:solidFill>
          <a:latin typeface="+mn-lt"/>
          <a:ea typeface="+mn-ea"/>
          <a:cs typeface="+mn-cs"/>
        </a:defRPr>
      </a:lvl1pPr>
      <a:lvl2pPr marL="474779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791299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107818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424338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740858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7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373897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690416" indent="-158260" algn="l" defTabSz="633039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1pPr>
      <a:lvl2pPr marL="316520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633039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3pPr>
      <a:lvl4pPr marL="949559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266078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582598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1899117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215637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532156" algn="l" defTabSz="633039" rtl="0" eaLnBrk="1" latinLnBrk="0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23F13F9-AD74-4E4E-84C9-3C59484F0D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085371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80" imgH="481" progId="TCLayout.ActiveDocument.1">
                  <p:embed/>
                </p:oleObj>
              </mc:Choice>
              <mc:Fallback>
                <p:oleObj name="think-cell Slide" r:id="rId9" imgW="480" imgH="481" progId="TCLayout.ActiveDocument.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23F13F9-AD74-4E4E-84C9-3C59484F0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9592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571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Plaak 3 Trial Regular" panose="02000000000000000000" pitchFamily="50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iforma LL" panose="020B0504020101020102" pitchFamily="34" charset="0"/>
          <a:ea typeface="Riforma LL" panose="020B0504020101020102" pitchFamily="34" charset="0"/>
          <a:cs typeface="Riforma LL" panose="020B0504020101020102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54F6D-CC8A-524A-DB95-6300C7A8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7A0CBA-D9EE-3092-2ADE-86A1165F7B06}"/>
              </a:ext>
            </a:extLst>
          </p:cNvPr>
          <p:cNvSpPr txBox="1"/>
          <p:nvPr/>
        </p:nvSpPr>
        <p:spPr>
          <a:xfrm>
            <a:off x="204514" y="7048382"/>
            <a:ext cx="604783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000">
                <a:latin typeface="Riforma LL" panose="020B0504020101020102" pitchFamily="34" charset="77"/>
              </a:defRPr>
            </a:lvl1pPr>
          </a:lstStyle>
          <a:p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Challenge: </a:t>
            </a: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Off-topic debates (tools, IT integration, “big strategy”).</a:t>
            </a:r>
          </a:p>
          <a:p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Response</a:t>
            </a: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: “That’s in the parking lot. Today is about quick wins. Back to the agenda.”</a:t>
            </a:r>
          </a:p>
          <a:p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Challenge</a:t>
            </a: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: Over-complicated ideas.</a:t>
            </a:r>
          </a:p>
          <a:p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Response</a:t>
            </a: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: “Cut the elephant. What’s the first 7-day step?”</a:t>
            </a:r>
          </a:p>
          <a:p>
            <a:endParaRPr lang="en-US" sz="900" b="1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Challenge</a:t>
            </a: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: Endless discussion, no decision.</a:t>
            </a:r>
          </a:p>
          <a:p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Response</a:t>
            </a: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: “We’re at 3 minutes. Score it now. CEO decides if tie.”</a:t>
            </a:r>
          </a:p>
          <a:p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r>
              <a:rPr lang="en-US" sz="900" b="1" dirty="0">
                <a:ea typeface="Riforma LL" panose="020B0504020101020102" pitchFamily="34" charset="77"/>
                <a:cs typeface="Riforma LL" panose="020B0504020101020102" pitchFamily="34" charset="77"/>
              </a:rPr>
              <a:t>Challenge</a:t>
            </a:r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: Silence or vague answers.</a:t>
            </a:r>
          </a:p>
          <a:p>
            <a:r>
              <a:rPr lang="en-US" sz="900" dirty="0">
                <a:ea typeface="Riforma LL" panose="020B0504020101020102" pitchFamily="34" charset="77"/>
                <a:cs typeface="Riforma LL" panose="020B0504020101020102" pitchFamily="34" charset="77"/>
              </a:rPr>
              <a:t>Response: Use 5 Whys: “Why is this a problem? What’s the bottleneck?”</a:t>
            </a:r>
          </a:p>
          <a:p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endParaRPr lang="en-US" sz="900" dirty="0"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  <p:sp>
        <p:nvSpPr>
          <p:cNvPr id="105" name="Rectangle 1">
            <a:extLst>
              <a:ext uri="{FF2B5EF4-FFF2-40B4-BE49-F238E27FC236}">
                <a16:creationId xmlns:a16="http://schemas.microsoft.com/office/drawing/2014/main" id="{5F71EA1C-F4FB-48A7-2DEC-3C07E2CBE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27682" y="5237362"/>
            <a:ext cx="18473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BG" sz="1100" dirty="0">
              <a:solidFill>
                <a:schemeClr val="bg1"/>
              </a:solidFill>
              <a:latin typeface="Riforma LL" panose="020B0504020101020102" pitchFamily="34" charset="77"/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A415BD-B819-AB80-C6B8-EC36CB3DFB80}"/>
              </a:ext>
            </a:extLst>
          </p:cNvPr>
          <p:cNvSpPr txBox="1"/>
          <p:nvPr/>
        </p:nvSpPr>
        <p:spPr>
          <a:xfrm>
            <a:off x="195039" y="6398025"/>
            <a:ext cx="3673576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4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GB" dirty="0"/>
              <a:t>Expected Challenges </a:t>
            </a:r>
          </a:p>
          <a:p>
            <a:r>
              <a:rPr lang="en-GB" dirty="0"/>
              <a:t>and Guru Responses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6887590-9F8C-DC5D-A3E5-C40263149D9C}"/>
              </a:ext>
            </a:extLst>
          </p:cNvPr>
          <p:cNvCxnSpPr>
            <a:cxnSpLocks/>
          </p:cNvCxnSpPr>
          <p:nvPr/>
        </p:nvCxnSpPr>
        <p:spPr>
          <a:xfrm flipH="1">
            <a:off x="288251" y="6936589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4221735-16A2-A9F7-FC85-68DCFC355B7E}"/>
              </a:ext>
            </a:extLst>
          </p:cNvPr>
          <p:cNvSpPr txBox="1"/>
          <p:nvPr/>
        </p:nvSpPr>
        <p:spPr>
          <a:xfrm>
            <a:off x="195039" y="1105642"/>
            <a:ext cx="62816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900">
                <a:latin typeface="Riforma LL" panose="020B0504020101020102" pitchFamily="34" charset="77"/>
              </a:defRPr>
            </a:lvl1pPr>
          </a:lstStyle>
          <a:p>
            <a:pPr marL="0" indent="0">
              <a:buNone/>
            </a:pPr>
            <a:r>
              <a:rPr lang="en-US" dirty="0"/>
              <a:t>This sheet equips you—the Guru—to lead the sprint with confidence, discipline, and clarity. It provides a script, agenda, troubleshooting guide, and examples of good vs. bad work.</a:t>
            </a:r>
            <a:endParaRPr lang="en-BG" dirty="0"/>
          </a:p>
          <a:p>
            <a:pPr marL="0" lvl="0" indent="0">
              <a:buNone/>
            </a:pPr>
            <a:endParaRPr lang="en-BG" dirty="0"/>
          </a:p>
          <a:p>
            <a:pPr marL="0" indent="0">
              <a:buNone/>
            </a:pPr>
            <a:r>
              <a:rPr lang="en-US" b="1" dirty="0"/>
              <a:t>Overview of the Sprint</a:t>
            </a:r>
            <a:endParaRPr lang="en-BG" dirty="0"/>
          </a:p>
          <a:p>
            <a:pPr lvl="0"/>
            <a:r>
              <a:rPr lang="en-US" b="1" dirty="0"/>
              <a:t>Goal:</a:t>
            </a:r>
            <a:r>
              <a:rPr lang="en-US" dirty="0"/>
              <a:t> Identify and commit to the </a:t>
            </a:r>
            <a:r>
              <a:rPr lang="en-US" b="1" dirty="0"/>
              <a:t>Top 3 AI quick wins</a:t>
            </a:r>
            <a:r>
              <a:rPr lang="en-US" dirty="0"/>
              <a:t> for the company that can show proof in </a:t>
            </a:r>
            <a:r>
              <a:rPr lang="en-US" b="1" dirty="0"/>
              <a:t>7–30 days</a:t>
            </a:r>
            <a:r>
              <a:rPr lang="en-US" dirty="0"/>
              <a:t>.</a:t>
            </a:r>
            <a:endParaRPr lang="en-BG" dirty="0"/>
          </a:p>
          <a:p>
            <a:pPr lvl="0"/>
            <a:r>
              <a:rPr lang="en-US" b="1" dirty="0"/>
              <a:t>Method:</a:t>
            </a:r>
            <a:r>
              <a:rPr lang="en-US" dirty="0"/>
              <a:t> Use the </a:t>
            </a:r>
            <a:r>
              <a:rPr lang="en-US" b="1" dirty="0"/>
              <a:t>Fast Track AI Formula (Impact × Ease × Constraint × Speed)</a:t>
            </a:r>
            <a:r>
              <a:rPr lang="en-US" dirty="0"/>
              <a:t> and cut vague ideas down into clear, simple first steps.</a:t>
            </a:r>
            <a:endParaRPr lang="en-BG" dirty="0"/>
          </a:p>
          <a:p>
            <a:pPr lvl="0"/>
            <a:r>
              <a:rPr lang="en-US" b="1" dirty="0"/>
              <a:t>Why it matters:</a:t>
            </a:r>
            <a:r>
              <a:rPr lang="en-US" dirty="0"/>
              <a:t> AI is democratized—every leader can use it. This sprint removes hype, proves value, and builds momentum.</a:t>
            </a:r>
            <a:endParaRPr lang="en-BG" dirty="0"/>
          </a:p>
          <a:p>
            <a:pPr marL="0" lvl="0" indent="0">
              <a:buNone/>
            </a:pPr>
            <a:endParaRPr lang="en-BG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933E4B8-C15B-F470-FBF0-833A76BA1213}"/>
              </a:ext>
            </a:extLst>
          </p:cNvPr>
          <p:cNvSpPr txBox="1"/>
          <p:nvPr/>
        </p:nvSpPr>
        <p:spPr>
          <a:xfrm>
            <a:off x="5810713" y="6097966"/>
            <a:ext cx="66599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39A2D2-8200-8FB3-F137-3323F7F3261A}"/>
              </a:ext>
            </a:extLst>
          </p:cNvPr>
          <p:cNvSpPr txBox="1"/>
          <p:nvPr/>
        </p:nvSpPr>
        <p:spPr>
          <a:xfrm>
            <a:off x="195039" y="493828"/>
            <a:ext cx="1877965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0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sz="2400" dirty="0"/>
              <a:t>Purpose of </a:t>
            </a:r>
          </a:p>
          <a:p>
            <a:r>
              <a:rPr lang="en-US" sz="2400" dirty="0"/>
              <a:t>The guru guide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4BC4FF-EB42-7AB0-FDED-1993B2112290}"/>
              </a:ext>
            </a:extLst>
          </p:cNvPr>
          <p:cNvCxnSpPr>
            <a:cxnSpLocks/>
          </p:cNvCxnSpPr>
          <p:nvPr/>
        </p:nvCxnSpPr>
        <p:spPr>
          <a:xfrm flipH="1">
            <a:off x="288251" y="1031708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8422B9A-883E-3D48-EFC0-5C74EE61F0A0}"/>
              </a:ext>
            </a:extLst>
          </p:cNvPr>
          <p:cNvSpPr txBox="1"/>
          <p:nvPr/>
        </p:nvSpPr>
        <p:spPr>
          <a:xfrm>
            <a:off x="5810713" y="191569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E9D6F-BFE6-44E2-C051-942F54B3D839}"/>
              </a:ext>
            </a:extLst>
          </p:cNvPr>
          <p:cNvSpPr txBox="1"/>
          <p:nvPr/>
        </p:nvSpPr>
        <p:spPr>
          <a:xfrm>
            <a:off x="195039" y="4428835"/>
            <a:ext cx="562997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900">
                <a:latin typeface="Riforma LL" panose="020B0504020101020102" pitchFamily="34" charset="77"/>
              </a:defRPr>
            </a:lvl1pPr>
          </a:lstStyle>
          <a:p>
            <a:pPr lvl="0"/>
            <a:r>
              <a:rPr lang="en-US" b="1" dirty="0"/>
              <a:t>80/20:</a:t>
            </a:r>
            <a:r>
              <a:rPr lang="en-US" dirty="0"/>
              <a:t> Focus on the few workflows that drive most value.</a:t>
            </a:r>
            <a:endParaRPr lang="en-BG" dirty="0"/>
          </a:p>
          <a:p>
            <a:pPr lvl="0"/>
            <a:r>
              <a:rPr lang="en-US" b="1" dirty="0"/>
              <a:t>Impact × Ease:</a:t>
            </a:r>
            <a:r>
              <a:rPr lang="en-US" dirty="0"/>
              <a:t> Prioritize only high-impact, simple-to-execute ideas.</a:t>
            </a:r>
            <a:endParaRPr lang="en-BG" dirty="0"/>
          </a:p>
          <a:p>
            <a:pPr lvl="0"/>
            <a:r>
              <a:rPr lang="en-US" b="1" dirty="0"/>
              <a:t>Theory of Constraints:</a:t>
            </a:r>
            <a:r>
              <a:rPr lang="en-US" dirty="0"/>
              <a:t> Aim AI at the bottleneck to elevate throughput.</a:t>
            </a:r>
            <a:endParaRPr lang="en-BG" dirty="0"/>
          </a:p>
          <a:p>
            <a:pPr lvl="0"/>
            <a:r>
              <a:rPr lang="en-US" b="1" dirty="0"/>
              <a:t>Cut the Elephant:</a:t>
            </a:r>
            <a:r>
              <a:rPr lang="en-US" dirty="0"/>
              <a:t> Break big ideas into first 7-day steps.</a:t>
            </a:r>
            <a:endParaRPr lang="en-BG" dirty="0"/>
          </a:p>
          <a:p>
            <a:pPr lvl="0"/>
            <a:r>
              <a:rPr lang="en-US" b="1" dirty="0"/>
              <a:t>Brutal Simplicity:</a:t>
            </a:r>
            <a:r>
              <a:rPr lang="en-US" dirty="0"/>
              <a:t> If it sounds complex, you haven’t cut deep enough.</a:t>
            </a:r>
            <a:endParaRPr lang="en-BG" dirty="0"/>
          </a:p>
          <a:p>
            <a:pPr lvl="0"/>
            <a:endParaRPr lang="en-BG" dirty="0"/>
          </a:p>
          <a:p>
            <a:pPr lvl="0"/>
            <a:endParaRPr lang="en-B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1E6D54-7B8F-6038-0ACC-C973A30C39ED}"/>
              </a:ext>
            </a:extLst>
          </p:cNvPr>
          <p:cNvSpPr txBox="1"/>
          <p:nvPr/>
        </p:nvSpPr>
        <p:spPr>
          <a:xfrm>
            <a:off x="195039" y="3817021"/>
            <a:ext cx="1877965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0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US" sz="2400" dirty="0"/>
              <a:t>Key concepts </a:t>
            </a:r>
          </a:p>
          <a:p>
            <a:r>
              <a:rPr lang="en-US" sz="2400" dirty="0"/>
              <a:t>To apply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54BC87-DE39-79F9-6D32-3702B5869B36}"/>
              </a:ext>
            </a:extLst>
          </p:cNvPr>
          <p:cNvCxnSpPr>
            <a:cxnSpLocks/>
          </p:cNvCxnSpPr>
          <p:nvPr/>
        </p:nvCxnSpPr>
        <p:spPr>
          <a:xfrm flipH="1">
            <a:off x="288251" y="4354901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E890D48-F3B5-CE4C-2F23-A155B051067E}"/>
              </a:ext>
            </a:extLst>
          </p:cNvPr>
          <p:cNvSpPr txBox="1"/>
          <p:nvPr/>
        </p:nvSpPr>
        <p:spPr>
          <a:xfrm>
            <a:off x="5810713" y="3514762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6EC7A2-D92B-A825-D0A9-092E3F9B895D}"/>
              </a:ext>
            </a:extLst>
          </p:cNvPr>
          <p:cNvSpPr txBox="1"/>
          <p:nvPr/>
        </p:nvSpPr>
        <p:spPr>
          <a:xfrm>
            <a:off x="1412421" y="220638"/>
            <a:ext cx="50398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bg1"/>
                </a:solidFill>
                <a:latin typeface="Monument Grotesk Mono" panose="02010504030000020004" pitchFamily="50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</a:lstStyle>
          <a:p>
            <a:pPr algn="r">
              <a:defRPr/>
            </a:pP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[MODULE:APPLY AGGRESSIVELY TECH AND AI - SPRINT</a:t>
            </a:r>
            <a:r>
              <a:rPr lang="en-US" dirty="0">
                <a:solidFill>
                  <a:schemeClr val="tx1"/>
                </a:solidFill>
                <a:ea typeface="Riforma LL" panose="020B0504020101020102" pitchFamily="34" charset="77"/>
                <a:cs typeface="Riforma LL" panose="020B0504020101020102" pitchFamily="34" charset="77"/>
              </a:rPr>
              <a:t>:POTENTIAL TECH AND AI LOW-HANGING OPTIONS]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onument Grotesk Mono" panose="02010504030000020004" pitchFamily="50" charset="0"/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9993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53B9-4443-F46A-7B84-553478AF5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00310D-F98C-EE32-5719-179519477E75}"/>
              </a:ext>
            </a:extLst>
          </p:cNvPr>
          <p:cNvSpPr/>
          <p:nvPr/>
        </p:nvSpPr>
        <p:spPr>
          <a:xfrm>
            <a:off x="1" y="460573"/>
            <a:ext cx="6419468" cy="58569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80340" indent="-180340">
              <a:lnSpc>
                <a:spcPct val="115000"/>
              </a:lnSpc>
              <a:spcBef>
                <a:spcPts val="300"/>
              </a:spcBef>
            </a:pPr>
            <a:endParaRPr lang="en-BG" sz="1000" dirty="0">
              <a:solidFill>
                <a:srgbClr val="000000"/>
              </a:solidFill>
              <a:effectLst/>
              <a:latin typeface="Riforma LL" panose="020B0504020101020102" pitchFamily="34" charset="77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79003-1A24-C101-4EDA-81C347A43696}"/>
              </a:ext>
            </a:extLst>
          </p:cNvPr>
          <p:cNvSpPr txBox="1"/>
          <p:nvPr/>
        </p:nvSpPr>
        <p:spPr>
          <a:xfrm>
            <a:off x="204514" y="7202614"/>
            <a:ext cx="604783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000">
                <a:latin typeface="Riforma LL" panose="020B0504020101020102" pitchFamily="34" charset="77"/>
              </a:defRPr>
            </a:lvl1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Examples of Good vs. Bad Work</a:t>
            </a:r>
            <a:endParaRPr lang="en-GB" sz="900" b="1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b="1" dirty="0"/>
              <a:t>Good:</a:t>
            </a:r>
            <a:r>
              <a:rPr lang="en-GB" sz="900" dirty="0"/>
              <a:t> “AI drafts customer proposals → Owner: Sales Director → Proof: 5 proposals in 7 days → Metric: draft time cut by 75%.”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b="1" dirty="0"/>
              <a:t>Bad: </a:t>
            </a:r>
            <a:r>
              <a:rPr lang="en-GB" sz="900" dirty="0"/>
              <a:t>“Transform HR with AI someday → Owner: HR dept → No date → No metric.”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GB" sz="9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/>
              <a:t>Troubleshooting Common Pitfalls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dirty="0"/>
              <a:t>If team gets stuck on tech: Remind them AI is about outcomes, not tools.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dirty="0"/>
              <a:t>If meeting runs over: Cut debate, score immediately.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dirty="0"/>
              <a:t>If morale dips: Remind them, “Proof in 7 days or it doesn’t exist.”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dirty="0"/>
              <a:t>If leaders over-promise: Force Cut the Elephant—what is the 7-day step?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sz="9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/>
              <a:t>Conclusion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dirty="0"/>
              <a:t>The Guru wins if by 45 minutes there is one scoreboard page with the Top 3 AI moves, owners, proof dates, and metrics.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dirty="0"/>
              <a:t>Speed, clarity, and ruthless prioritization are your weapons.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900" dirty="0"/>
              <a:t>Review this sheet before the sprint. Stick to script. Don’t improvise.</a:t>
            </a:r>
          </a:p>
        </p:txBody>
      </p:sp>
      <p:sp>
        <p:nvSpPr>
          <p:cNvPr id="105" name="Rectangle 1">
            <a:extLst>
              <a:ext uri="{FF2B5EF4-FFF2-40B4-BE49-F238E27FC236}">
                <a16:creationId xmlns:a16="http://schemas.microsoft.com/office/drawing/2014/main" id="{43FDDB35-D169-D0FA-A82A-7295BDE29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27682" y="5237362"/>
            <a:ext cx="18473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BG" sz="1100" dirty="0">
              <a:solidFill>
                <a:schemeClr val="bg1"/>
              </a:solidFill>
              <a:latin typeface="Riforma LL" panose="020B0504020101020102" pitchFamily="34" charset="77"/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9FCCC9-0940-B4A3-4E53-5A4503AFC0DD}"/>
              </a:ext>
            </a:extLst>
          </p:cNvPr>
          <p:cNvSpPr txBox="1"/>
          <p:nvPr/>
        </p:nvSpPr>
        <p:spPr>
          <a:xfrm>
            <a:off x="195039" y="6617572"/>
            <a:ext cx="1838156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4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BG" dirty="0"/>
              <a:t>Guru Prep Checklist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D4202E3-ADBA-A2F9-AF4D-1614A6ACD391}"/>
              </a:ext>
            </a:extLst>
          </p:cNvPr>
          <p:cNvCxnSpPr>
            <a:cxnSpLocks/>
          </p:cNvCxnSpPr>
          <p:nvPr/>
        </p:nvCxnSpPr>
        <p:spPr>
          <a:xfrm flipH="1">
            <a:off x="288251" y="7156136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076380F9-F396-231F-51CB-0C4FB8EFF52D}"/>
              </a:ext>
            </a:extLst>
          </p:cNvPr>
          <p:cNvSpPr txBox="1"/>
          <p:nvPr/>
        </p:nvSpPr>
        <p:spPr>
          <a:xfrm>
            <a:off x="5810713" y="6317513"/>
            <a:ext cx="66599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2194B-9579-366E-B6FA-36D4F4ED517A}"/>
              </a:ext>
            </a:extLst>
          </p:cNvPr>
          <p:cNvSpPr txBox="1"/>
          <p:nvPr/>
        </p:nvSpPr>
        <p:spPr>
          <a:xfrm>
            <a:off x="206256" y="1244895"/>
            <a:ext cx="562997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900">
                <a:latin typeface="Riforma LL" panose="020B0504020101020102" pitchFamily="34" charset="77"/>
              </a:defRPr>
            </a:lvl1pPr>
          </a:lstStyle>
          <a:p>
            <a:pPr marL="0" lvl="0" indent="0">
              <a:buNone/>
            </a:pPr>
            <a:r>
              <a:rPr lang="en-GB" b="1" dirty="0">
                <a:ea typeface="Riforma LL" panose="020B0504020101020102" pitchFamily="34" charset="77"/>
                <a:cs typeface="Riforma LL" panose="020B0504020101020102" pitchFamily="34" charset="77"/>
              </a:rPr>
              <a:t>1. Opening (0–5 min) 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Script: 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“Today is about proving AI value in 7–30 days.</a:t>
            </a:r>
            <a:b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</a:b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Not pilots in labs. Not IT projects. Visible, measurable wins.</a:t>
            </a:r>
            <a:b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</a:b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By the end we’ll have 3 AI moves, each with an owner, a metric, and a proof date.”</a:t>
            </a:r>
          </a:p>
          <a:p>
            <a:r>
              <a:rPr lang="en-GB" b="1" dirty="0">
                <a:ea typeface="Riforma LL" panose="020B0504020101020102" pitchFamily="34" charset="77"/>
                <a:cs typeface="Riforma LL" panose="020B0504020101020102" pitchFamily="34" charset="77"/>
              </a:rPr>
              <a:t>Show rules</a:t>
            </a:r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: No tool debates. Max 3 min per item. CEO breaks ties.</a:t>
            </a:r>
            <a:b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</a:br>
            <a:endParaRPr lang="en-GB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lvl="0" indent="0">
              <a:buNone/>
            </a:pPr>
            <a:r>
              <a:rPr lang="en-GB" b="1" dirty="0">
                <a:ea typeface="Riforma LL" panose="020B0504020101020102" pitchFamily="34" charset="77"/>
                <a:cs typeface="Riforma LL" panose="020B0504020101020102" pitchFamily="34" charset="77"/>
              </a:rPr>
              <a:t>2. Lightning Talks (5–20 min)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Each leader presents 2–3 candidate workflows from prep sheet.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Guru Tasks: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Keep strict time (7 min max each).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Force clarity: “In one sentence, what’s the workflow and what would AI do?”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Park any irrelevant points.</a:t>
            </a:r>
          </a:p>
          <a:p>
            <a:pPr marL="0" lvl="0" indent="0">
              <a:buNone/>
            </a:pPr>
            <a:b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</a:br>
            <a:endParaRPr lang="en-GB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lvl="0" indent="0">
              <a:buNone/>
            </a:pPr>
            <a:r>
              <a:rPr lang="en-GB" b="1" dirty="0">
                <a:ea typeface="Riforma LL" panose="020B0504020101020102" pitchFamily="34" charset="77"/>
                <a:cs typeface="Riforma LL" panose="020B0504020101020102" pitchFamily="34" charset="77"/>
              </a:rPr>
              <a:t>3. Scoring (20–35 min)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Use FT-AI Formula on all ideas: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Impact (1-3)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Ease (1-3)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Constraint (×2 if bottleneck)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Speed (×1.2 ≤7d / ×1.0 ≤30d / ×0.8 ≤90d)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Write scores visibly. Circle Top 3.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Script: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“We score fast. No opinions, just numbers. If close, pick the bottleneck-hitting one.”</a:t>
            </a:r>
          </a:p>
          <a:p>
            <a:pPr marL="0" lvl="0" indent="0">
              <a:buNone/>
            </a:pPr>
            <a:b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</a:br>
            <a:endParaRPr lang="en-GB" dirty="0">
              <a:ea typeface="Riforma LL" panose="020B0504020101020102" pitchFamily="34" charset="77"/>
              <a:cs typeface="Riforma LL" panose="020B0504020101020102" pitchFamily="34" charset="77"/>
            </a:endParaRPr>
          </a:p>
          <a:p>
            <a:pPr marL="0" lvl="0" indent="0">
              <a:buNone/>
            </a:pPr>
            <a:r>
              <a:rPr lang="en-GB" b="1" dirty="0">
                <a:ea typeface="Riforma LL" panose="020B0504020101020102" pitchFamily="34" charset="77"/>
                <a:cs typeface="Riforma LL" panose="020B0504020101020102" pitchFamily="34" charset="77"/>
              </a:rPr>
              <a:t>4. Cut the Elephant &amp; WWW (35–45 min) 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For each Top 3, define: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Who (owner, name not dept.)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What (first step, ≤12 words)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When (proof date ≤30 days)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Metric (time saved, errors cut, speed, revenue, or risk)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Fill the WWW commitment sheet.</a:t>
            </a:r>
          </a:p>
          <a:p>
            <a:r>
              <a:rPr lang="en-GB" dirty="0">
                <a:ea typeface="Riforma LL" panose="020B0504020101020102" pitchFamily="34" charset="77"/>
                <a:cs typeface="Riforma LL" panose="020B0504020101020102" pitchFamily="34" charset="77"/>
              </a:rPr>
              <a:t>Close with: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GB" sz="900" dirty="0">
                <a:latin typeface="Riforma LL" panose="020B0504020101020102" pitchFamily="34" charset="77"/>
                <a:ea typeface="Riforma LL" panose="020B0504020101020102" pitchFamily="34" charset="77"/>
                <a:cs typeface="Riforma LL" panose="020B0504020101020102" pitchFamily="34" charset="77"/>
              </a:rPr>
              <a:t>“We have 3 AI moves. Owners, proof dates, and metrics. This is our scoreboard.”</a:t>
            </a:r>
          </a:p>
          <a:p>
            <a:pPr marL="0" lvl="0" indent="0">
              <a:buNone/>
            </a:pPr>
            <a:endParaRPr lang="en-BG" dirty="0"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8CA4B8-B120-7066-5719-167BF2398EF4}"/>
              </a:ext>
            </a:extLst>
          </p:cNvPr>
          <p:cNvSpPr txBox="1"/>
          <p:nvPr/>
        </p:nvSpPr>
        <p:spPr>
          <a:xfrm>
            <a:off x="206256" y="633081"/>
            <a:ext cx="2805885" cy="8697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>
              <a:lnSpc>
                <a:spcPct val="70000"/>
              </a:lnSpc>
              <a:spcBef>
                <a:spcPct val="0"/>
              </a:spcBef>
              <a:buNone/>
              <a:defRPr sz="20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r>
              <a:rPr lang="en-GB" sz="2400" dirty="0"/>
              <a:t>D</a:t>
            </a:r>
            <a:r>
              <a:rPr lang="en-BG" sz="2400" dirty="0"/>
              <a:t>etailed meeting agenda </a:t>
            </a:r>
          </a:p>
          <a:p>
            <a:r>
              <a:rPr lang="en-GB" sz="2400" dirty="0"/>
              <a:t>A</a:t>
            </a:r>
            <a:r>
              <a:rPr lang="en-BG" sz="2400" dirty="0"/>
              <a:t>nd script </a:t>
            </a:r>
            <a:endParaRPr lang="en-US" sz="2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97740B-8FA2-396F-5FB9-AEF58893FBAE}"/>
              </a:ext>
            </a:extLst>
          </p:cNvPr>
          <p:cNvCxnSpPr>
            <a:cxnSpLocks/>
          </p:cNvCxnSpPr>
          <p:nvPr/>
        </p:nvCxnSpPr>
        <p:spPr>
          <a:xfrm flipH="1">
            <a:off x="299468" y="1170961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29F619-25A5-FF41-A264-CE7A12EEDE1C}"/>
              </a:ext>
            </a:extLst>
          </p:cNvPr>
          <p:cNvSpPr txBox="1"/>
          <p:nvPr/>
        </p:nvSpPr>
        <p:spPr>
          <a:xfrm>
            <a:off x="5821930" y="330822"/>
            <a:ext cx="630368" cy="967646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lang="en-US" sz="4200" i="0" cap="none" spc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laak 3 Trial Regular" panose="02000000000000000000" pitchFamily="50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4800" dirty="0">
                <a:solidFill>
                  <a:schemeClr val="tx1"/>
                </a:solidFill>
              </a:rPr>
              <a:t>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D525C-4DB9-5A76-958E-87663FAE9915}"/>
              </a:ext>
            </a:extLst>
          </p:cNvPr>
          <p:cNvSpPr txBox="1"/>
          <p:nvPr/>
        </p:nvSpPr>
        <p:spPr>
          <a:xfrm>
            <a:off x="1412421" y="220638"/>
            <a:ext cx="50398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bg1"/>
                </a:solidFill>
                <a:latin typeface="Monument Grotesk Mono" panose="02010504030000020004" pitchFamily="50" charset="0"/>
                <a:ea typeface="Riforma LL" panose="020B0504020101020102" pitchFamily="34" charset="0"/>
                <a:cs typeface="Riforma LL" panose="020B0504020101020102" pitchFamily="34" charset="0"/>
              </a:defRPr>
            </a:lvl1pPr>
          </a:lstStyle>
          <a:p>
            <a:pPr algn="r">
              <a:defRPr/>
            </a:pP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ument Grotesk Mono" panose="02010504030000020004" pitchFamily="50" charset="0"/>
                <a:ea typeface="Riforma LL" panose="020B0504020101020102" pitchFamily="34" charset="77"/>
                <a:cs typeface="Riforma LL" panose="020B0504020101020102" pitchFamily="34" charset="77"/>
              </a:rPr>
              <a:t>[MODULE:APPLY AGGRESSIVELY TECH AND AI - SPRINT</a:t>
            </a:r>
            <a:r>
              <a:rPr lang="en-US" dirty="0">
                <a:solidFill>
                  <a:schemeClr val="tx1"/>
                </a:solidFill>
                <a:ea typeface="Riforma LL" panose="020B0504020101020102" pitchFamily="34" charset="77"/>
                <a:cs typeface="Riforma LL" panose="020B0504020101020102" pitchFamily="34" charset="77"/>
              </a:rPr>
              <a:t>:POTENTIAL TECH AND AI LOW-HANGING OPTIONS]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onument Grotesk Mono" panose="02010504030000020004" pitchFamily="50" charset="0"/>
              <a:ea typeface="Riforma LL" panose="020B0504020101020102" pitchFamily="34" charset="77"/>
              <a:cs typeface="Riforma LL" panose="020B0504020101020102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3140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A9AC01-ED0C-F5D3-F3CB-D12D0F3DAC14}"/>
              </a:ext>
            </a:extLst>
          </p:cNvPr>
          <p:cNvSpPr/>
          <p:nvPr/>
        </p:nvSpPr>
        <p:spPr>
          <a:xfrm>
            <a:off x="-116114" y="0"/>
            <a:ext cx="6974114" cy="990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3276E35-DBB3-C811-C5D8-C5664E054F28}"/>
              </a:ext>
            </a:extLst>
          </p:cNvPr>
          <p:cNvSpPr txBox="1">
            <a:spLocks/>
          </p:cNvSpPr>
          <p:nvPr/>
        </p:nvSpPr>
        <p:spPr>
          <a:xfrm>
            <a:off x="1233682" y="7445847"/>
            <a:ext cx="4390636" cy="21181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Plaak 3 Trial Regular" panose="020000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00" i="0" u="none" strike="noStrike" baseline="0" dirty="0">
                <a:solidFill>
                  <a:srgbClr val="FFFFFF"/>
                </a:solidFill>
                <a:latin typeface="Plaak3Trial-43-Bold" panose="02000000000000000000" pitchFamily="50" charset="0"/>
              </a:rPr>
              <a:t>“THE Fast Track system is Simplicity designed to make an Impact. Brilliant.”</a:t>
            </a:r>
          </a:p>
          <a:p>
            <a:pPr algn="ctr"/>
            <a:endParaRPr lang="en-US" sz="1800" b="1" i="0" u="none" strike="noStrike" baseline="0" dirty="0">
              <a:solidFill>
                <a:srgbClr val="FFFFFF"/>
              </a:solidFill>
              <a:latin typeface="Plaak3Trial-43-Bold" panose="02000000000000000000" pitchFamily="50" charset="0"/>
            </a:endParaRPr>
          </a:p>
          <a:p>
            <a:pPr algn="ctr"/>
            <a:r>
              <a:rPr lang="en-US" sz="1100" b="0" i="0" u="none" strike="noStrike" baseline="0" dirty="0">
                <a:solidFill>
                  <a:srgbClr val="FFFFFF"/>
                </a:solidFill>
                <a:latin typeface="MonumentGrotesk-Mono" panose="02010504030000020004" pitchFamily="50" charset="0"/>
              </a:rPr>
              <a:t>[XAVIER CARPINELLI, KPMG, YPO MONACO]</a:t>
            </a:r>
            <a:endParaRPr lang="en-US" sz="6000" dirty="0">
              <a:ea typeface="+mn-ea"/>
              <a:cs typeface="+mn-cs"/>
            </a:endParaRPr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F90AB019-8E29-8D3F-709F-83FE925795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19" y="4249718"/>
            <a:ext cx="1886962" cy="76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519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crUlfqiSxTYF_wzigU1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T fonts">
      <a:majorFont>
        <a:latin typeface="Exo 2.0"/>
        <a:ea typeface=""/>
        <a:cs typeface=""/>
      </a:majorFont>
      <a:minorFont>
        <a:latin typeface="Exo 2.0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T fonts">
      <a:majorFont>
        <a:latin typeface="Exo 2.0"/>
        <a:ea typeface=""/>
        <a:cs typeface=""/>
      </a:majorFont>
      <a:minorFont>
        <a:latin typeface="Exo 2.0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26086</TotalTime>
  <Words>835</Words>
  <Application>Microsoft Macintosh PowerPoint</Application>
  <PresentationFormat>A4 Paper (210x297 mm)</PresentationFormat>
  <Paragraphs>85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Riforma LL</vt:lpstr>
      <vt:lpstr>MonumentGrotesk-Mono</vt:lpstr>
      <vt:lpstr>Monument Grotesk Mono</vt:lpstr>
      <vt:lpstr>Calibri</vt:lpstr>
      <vt:lpstr>Courier New</vt:lpstr>
      <vt:lpstr>Plaak3Trial-43-Bold</vt:lpstr>
      <vt:lpstr>Arial</vt:lpstr>
      <vt:lpstr>Plaak 3 Trial Regular</vt:lpstr>
      <vt:lpstr>Office Theme</vt:lpstr>
      <vt:lpstr>1_Office Theme</vt:lpstr>
      <vt:lpstr>2_Office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Track Template new</dc:title>
  <dc:creator>Miroslav</dc:creator>
  <cp:lastModifiedBy>Nikol Nankova</cp:lastModifiedBy>
  <cp:revision>1986</cp:revision>
  <cp:lastPrinted>2023-02-27T16:00:42Z</cp:lastPrinted>
  <dcterms:created xsi:type="dcterms:W3CDTF">2018-01-04T12:41:55Z</dcterms:created>
  <dcterms:modified xsi:type="dcterms:W3CDTF">2025-11-07T07:10:52Z</dcterms:modified>
</cp:coreProperties>
</file>