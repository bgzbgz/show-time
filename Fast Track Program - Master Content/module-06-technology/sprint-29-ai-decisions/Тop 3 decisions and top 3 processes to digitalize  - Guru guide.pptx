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5" r:id="rId1"/>
    <p:sldMasterId id="2147483666" r:id="rId2"/>
    <p:sldMasterId id="2147483673" r:id="rId3"/>
  </p:sldMasterIdLst>
  <p:notesMasterIdLst>
    <p:notesMasterId r:id="rId11"/>
  </p:notesMasterIdLst>
  <p:handoutMasterIdLst>
    <p:handoutMasterId r:id="rId12"/>
  </p:handoutMasterIdLst>
  <p:sldIdLst>
    <p:sldId id="656" r:id="rId4"/>
    <p:sldId id="651" r:id="rId5"/>
    <p:sldId id="658" r:id="rId6"/>
    <p:sldId id="659" r:id="rId7"/>
    <p:sldId id="655" r:id="rId8"/>
    <p:sldId id="660" r:id="rId9"/>
    <p:sldId id="384" r:id="rId10"/>
  </p:sldIdLst>
  <p:sldSz cx="6858000" cy="9906000" type="A4"/>
  <p:notesSz cx="7315200" cy="9601200"/>
  <p:embeddedFontLst>
    <p:embeddedFont>
      <p:font typeface="Monument Grotesk Mono" panose="02010504030000020004" pitchFamily="2" charset="0"/>
      <p:regular r:id="rId13"/>
    </p:embeddedFont>
    <p:embeddedFont>
      <p:font typeface="MonumentGrotesk-Mono" panose="02010504030000020004" pitchFamily="2" charset="0"/>
      <p:regular r:id="rId14"/>
    </p:embeddedFont>
    <p:embeddedFont>
      <p:font typeface="Plaak 3 Trial Regular" panose="02000000000000000000" pitchFamily="2" charset="0"/>
      <p:bold r:id="rId15"/>
    </p:embeddedFont>
    <p:embeddedFont>
      <p:font typeface="Plaak3Trial-43-Bold" panose="02000000000000000000" pitchFamily="2" charset="0"/>
      <p:bold r:id="rId16"/>
    </p:embeddedFont>
    <p:embeddedFont>
      <p:font typeface="Riforma LL" panose="020B0504020101020102" pitchFamily="34" charset="77"/>
      <p:regular r:id="rId17"/>
    </p:embeddedFont>
  </p:embeddedFontLst>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a Stoyanova" initials="YS" lastIdx="3" clrIdx="0">
    <p:extLst>
      <p:ext uri="{19B8F6BF-5375-455C-9EA6-DF929625EA0E}">
        <p15:presenceInfo xmlns:p15="http://schemas.microsoft.com/office/powerpoint/2012/main" userId="fc8e5911812096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FFF469"/>
    <a:srgbClr val="00582D"/>
    <a:srgbClr val="A20100"/>
    <a:srgbClr val="C00000"/>
    <a:srgbClr val="548235"/>
    <a:srgbClr val="A20200"/>
    <a:srgbClr val="BF9000"/>
    <a:srgbClr val="D7A21D"/>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43" autoAdjust="0"/>
    <p:restoredTop sz="95903"/>
  </p:normalViewPr>
  <p:slideViewPr>
    <p:cSldViewPr snapToGrid="0">
      <p:cViewPr>
        <p:scale>
          <a:sx n="141" d="100"/>
          <a:sy n="141" d="100"/>
        </p:scale>
        <p:origin x="2648" y="304"/>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88" d="100"/>
          <a:sy n="88" d="100"/>
        </p:scale>
        <p:origin x="29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font" Target="fonts/font1.fntdata"/><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2.fntdata"/><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088C1345-A2A6-4D11-BDE0-E058081ED8CA}" type="datetimeFigureOut">
              <a:rPr lang="en-US" smtClean="0"/>
              <a:t>9/4/25</a:t>
            </a:fld>
            <a:endParaRPr lang="en-US" dirty="0"/>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3272A2CD-9876-40E1-BBE3-8EE1DE0C556B}" type="slidenum">
              <a:rPr lang="en-US" smtClean="0"/>
              <a:t>‹#›</a:t>
            </a:fld>
            <a:endParaRPr lang="en-US" dirty="0"/>
          </a:p>
        </p:txBody>
      </p:sp>
    </p:spTree>
    <p:extLst>
      <p:ext uri="{BB962C8B-B14F-4D97-AF65-F5344CB8AC3E}">
        <p14:creationId xmlns:p14="http://schemas.microsoft.com/office/powerpoint/2010/main" val="15599891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7870C1C-DBCF-424F-AA99-58B43FA2B41C}" type="datetimeFigureOut">
              <a:rPr lang="en-US" smtClean="0"/>
              <a:t>9/4/25</a:t>
            </a:fld>
            <a:endParaRPr lang="en-US" dirty="0"/>
          </a:p>
        </p:txBody>
      </p:sp>
      <p:sp>
        <p:nvSpPr>
          <p:cNvPr id="4" name="Slide Image Placeholder 3"/>
          <p:cNvSpPr>
            <a:spLocks noGrp="1" noRot="1" noChangeAspect="1"/>
          </p:cNvSpPr>
          <p:nvPr>
            <p:ph type="sldImg" idx="2"/>
          </p:nvPr>
        </p:nvSpPr>
        <p:spPr>
          <a:xfrm>
            <a:off x="2535238" y="1200150"/>
            <a:ext cx="224472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5298323-809A-4F9F-92DE-CBB614E4595B}" type="slidenum">
              <a:rPr lang="en-US" smtClean="0"/>
              <a:t>‹#›</a:t>
            </a:fld>
            <a:endParaRPr lang="en-US" dirty="0"/>
          </a:p>
        </p:txBody>
      </p:sp>
    </p:spTree>
    <p:extLst>
      <p:ext uri="{BB962C8B-B14F-4D97-AF65-F5344CB8AC3E}">
        <p14:creationId xmlns:p14="http://schemas.microsoft.com/office/powerpoint/2010/main" val="68604564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940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808703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075979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26850880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6819215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10270842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B4E51BE-A2C4-4B7E-A25B-9DB83F9ACBA2}"/>
              </a:ext>
            </a:extLst>
          </p:cNvPr>
          <p:cNvCxnSpPr>
            <a:cxnSpLocks/>
          </p:cNvCxnSpPr>
          <p:nvPr userDrawn="1"/>
        </p:nvCxnSpPr>
        <p:spPr>
          <a:xfrm flipH="1">
            <a:off x="1" y="3816240"/>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AD7230-F7FF-4432-9CB7-570D060E950F}"/>
              </a:ext>
            </a:extLst>
          </p:cNvPr>
          <p:cNvCxnSpPr>
            <a:cxnSpLocks/>
          </p:cNvCxnSpPr>
          <p:nvPr userDrawn="1"/>
        </p:nvCxnSpPr>
        <p:spPr>
          <a:xfrm flipH="1">
            <a:off x="1" y="6866222"/>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1583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9/4/25</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68618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a:prstGeom prst="rect">
            <a:avLst/>
          </a:prstGeom>
        </p:spPr>
        <p:txBody>
          <a:bodyPr anchor="b"/>
          <a:lstStyle>
            <a:lvl1pPr>
              <a:defRPr sz="4154"/>
            </a:lvl1pPr>
          </a:lstStyle>
          <a:p>
            <a:r>
              <a:rPr lang="en-US"/>
              <a:t>Click to edit Master title style</a:t>
            </a:r>
            <a:endParaRPr lang="en-US" dirty="0"/>
          </a:p>
        </p:txBody>
      </p:sp>
      <p:sp>
        <p:nvSpPr>
          <p:cNvPr id="3" name="Text Placeholder 2"/>
          <p:cNvSpPr>
            <a:spLocks noGrp="1"/>
          </p:cNvSpPr>
          <p:nvPr>
            <p:ph type="body" idx="1"/>
          </p:nvPr>
        </p:nvSpPr>
        <p:spPr>
          <a:xfrm>
            <a:off x="467917" y="6629228"/>
            <a:ext cx="5915025" cy="2166937"/>
          </a:xfrm>
          <a:prstGeom prst="rect">
            <a:avLst/>
          </a:prstGeom>
        </p:spPr>
        <p:txBody>
          <a:bodyPr/>
          <a:lstStyle>
            <a:lvl1pPr marL="0" indent="0">
              <a:buNone/>
              <a:defRPr sz="1662">
                <a:solidFill>
                  <a:schemeClr val="tx1"/>
                </a:solidFill>
              </a:defRPr>
            </a:lvl1pPr>
            <a:lvl2pPr marL="316520" indent="0">
              <a:buNone/>
              <a:defRPr sz="1385">
                <a:solidFill>
                  <a:schemeClr val="tx1">
                    <a:tint val="75000"/>
                  </a:schemeClr>
                </a:solidFill>
              </a:defRPr>
            </a:lvl2pPr>
            <a:lvl3pPr marL="633039" indent="0">
              <a:buNone/>
              <a:defRPr sz="1246">
                <a:solidFill>
                  <a:schemeClr val="tx1">
                    <a:tint val="75000"/>
                  </a:schemeClr>
                </a:solidFill>
              </a:defRPr>
            </a:lvl3pPr>
            <a:lvl4pPr marL="949559" indent="0">
              <a:buNone/>
              <a:defRPr sz="1108">
                <a:solidFill>
                  <a:schemeClr val="tx1">
                    <a:tint val="75000"/>
                  </a:schemeClr>
                </a:solidFill>
              </a:defRPr>
            </a:lvl4pPr>
            <a:lvl5pPr marL="1266078" indent="0">
              <a:buNone/>
              <a:defRPr sz="1108">
                <a:solidFill>
                  <a:schemeClr val="tx1">
                    <a:tint val="75000"/>
                  </a:schemeClr>
                </a:solidFill>
              </a:defRPr>
            </a:lvl5pPr>
            <a:lvl6pPr marL="1582598" indent="0">
              <a:buNone/>
              <a:defRPr sz="1108">
                <a:solidFill>
                  <a:schemeClr val="tx1">
                    <a:tint val="75000"/>
                  </a:schemeClr>
                </a:solidFill>
              </a:defRPr>
            </a:lvl6pPr>
            <a:lvl7pPr marL="1899117" indent="0">
              <a:buNone/>
              <a:defRPr sz="1108">
                <a:solidFill>
                  <a:schemeClr val="tx1">
                    <a:tint val="75000"/>
                  </a:schemeClr>
                </a:solidFill>
              </a:defRPr>
            </a:lvl7pPr>
            <a:lvl8pPr marL="2215637" indent="0">
              <a:buNone/>
              <a:defRPr sz="1108">
                <a:solidFill>
                  <a:schemeClr val="tx1">
                    <a:tint val="75000"/>
                  </a:schemeClr>
                </a:solidFill>
              </a:defRPr>
            </a:lvl8pPr>
            <a:lvl9pPr marL="2532156" indent="0">
              <a:buNone/>
              <a:defRPr sz="110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9/4/25</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08689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9/4/25</a:t>
            </a:fld>
            <a:endParaRPr lang="en-US" dirty="0"/>
          </a:p>
        </p:txBody>
      </p:sp>
      <p:sp>
        <p:nvSpPr>
          <p:cNvPr id="6" name="Footer Placeholder 5"/>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8079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257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6DB9D7B-ABA1-46FF-8D95-5ED05CEB41EE}"/>
              </a:ext>
            </a:extLst>
          </p:cNvPr>
          <p:cNvCxnSpPr/>
          <p:nvPr userDrawn="1"/>
        </p:nvCxnSpPr>
        <p:spPr>
          <a:xfrm>
            <a:off x="6452482" y="0"/>
            <a:ext cx="0" cy="990600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1C2D4D-102A-4801-A783-15836A733F29}"/>
              </a:ext>
            </a:extLst>
          </p:cNvPr>
          <p:cNvCxnSpPr>
            <a:cxnSpLocks/>
          </p:cNvCxnSpPr>
          <p:nvPr userDrawn="1"/>
        </p:nvCxnSpPr>
        <p:spPr>
          <a:xfrm flipH="1">
            <a:off x="1" y="799884"/>
            <a:ext cx="6452481" cy="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91DF2A1-61C9-4897-9F10-923D1DF7CF36}"/>
              </a:ext>
            </a:extLst>
          </p:cNvPr>
          <p:cNvGrpSpPr/>
          <p:nvPr userDrawn="1"/>
        </p:nvGrpSpPr>
        <p:grpSpPr>
          <a:xfrm>
            <a:off x="6545302" y="174444"/>
            <a:ext cx="237175" cy="550304"/>
            <a:chOff x="9563413" y="152519"/>
            <a:chExt cx="342586" cy="380980"/>
          </a:xfrm>
        </p:grpSpPr>
        <p:sp>
          <p:nvSpPr>
            <p:cNvPr id="16" name="Rectangle 15">
              <a:extLst>
                <a:ext uri="{FF2B5EF4-FFF2-40B4-BE49-F238E27FC236}">
                  <a16:creationId xmlns:a16="http://schemas.microsoft.com/office/drawing/2014/main" id="{EFED4D8C-9F30-4DF2-9C3B-200E81BBBF57}"/>
                </a:ext>
              </a:extLst>
            </p:cNvPr>
            <p:cNvSpPr/>
            <p:nvPr userDrawn="1"/>
          </p:nvSpPr>
          <p:spPr>
            <a:xfrm>
              <a:off x="9563413" y="152519"/>
              <a:ext cx="342586"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7" name="Rectangle 16">
              <a:extLst>
                <a:ext uri="{FF2B5EF4-FFF2-40B4-BE49-F238E27FC236}">
                  <a16:creationId xmlns:a16="http://schemas.microsoft.com/office/drawing/2014/main" id="{0EF9DA57-1BB1-4497-A138-C7AAF64929C6}"/>
                </a:ext>
              </a:extLst>
            </p:cNvPr>
            <p:cNvSpPr/>
            <p:nvPr userDrawn="1"/>
          </p:nvSpPr>
          <p:spPr>
            <a:xfrm>
              <a:off x="9563413" y="287506"/>
              <a:ext cx="221935"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8" name="Rectangle 17">
              <a:extLst>
                <a:ext uri="{FF2B5EF4-FFF2-40B4-BE49-F238E27FC236}">
                  <a16:creationId xmlns:a16="http://schemas.microsoft.com/office/drawing/2014/main" id="{D1299D26-C7CC-43F3-BE87-977207921A95}"/>
                </a:ext>
              </a:extLst>
            </p:cNvPr>
            <p:cNvSpPr/>
            <p:nvPr userDrawn="1"/>
          </p:nvSpPr>
          <p:spPr>
            <a:xfrm>
              <a:off x="9563414" y="422493"/>
              <a:ext cx="117162"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spTree>
    <p:extLst>
      <p:ext uri="{BB962C8B-B14F-4D97-AF65-F5344CB8AC3E}">
        <p14:creationId xmlns:p14="http://schemas.microsoft.com/office/powerpoint/2010/main" val="4064701343"/>
      </p:ext>
    </p:extLst>
  </p:cSld>
  <p:clrMapOvr>
    <a:masterClrMapping/>
  </p:clrMapOvr>
  <p:extLst>
    <p:ext uri="{DCECCB84-F9BA-43D5-87BE-67443E8EF086}">
      <p15:sldGuideLst xmlns:p15="http://schemas.microsoft.com/office/powerpoint/2012/main">
        <p15:guide id="1" orient="horz" pos="4208">
          <p15:clr>
            <a:srgbClr val="FBAE40"/>
          </p15:clr>
        </p15:guide>
        <p15:guide id="2" orient="horz" pos="108">
          <p15:clr>
            <a:srgbClr val="FBAE40"/>
          </p15:clr>
        </p15:guide>
        <p15:guide id="4" pos="2912">
          <p15:clr>
            <a:srgbClr val="FBAE40"/>
          </p15:clr>
        </p15:guide>
        <p15:guide id="5" pos="6009">
          <p15:clr>
            <a:srgbClr val="FBAE40"/>
          </p15:clr>
        </p15:guide>
        <p15:guide id="6" pos="5599">
          <p15:clr>
            <a:srgbClr val="FBAE40"/>
          </p15:clr>
        </p15:guide>
        <p15:guide id="7" pos="230">
          <p15:clr>
            <a:srgbClr val="FBAE40"/>
          </p15:clr>
        </p15:guide>
        <p15:guide id="8" orient="horz" pos="406">
          <p15:clr>
            <a:srgbClr val="FBAE40"/>
          </p15:clr>
        </p15:guide>
        <p15:guide id="9" orient="horz" pos="1704">
          <p15:clr>
            <a:srgbClr val="FBAE40"/>
          </p15:clr>
        </p15:guide>
        <p15:guide id="10" orient="horz" pos="1600">
          <p15:clr>
            <a:srgbClr val="FBAE40"/>
          </p15:clr>
        </p15:guide>
        <p15:guide id="11" orient="horz" pos="2906">
          <p15:clr>
            <a:srgbClr val="FBAE40"/>
          </p15:clr>
        </p15:guide>
        <p15:guide id="12" orient="horz" pos="3008">
          <p15:clr>
            <a:srgbClr val="FBAE40"/>
          </p15:clr>
        </p15:guide>
        <p15:guide id="13" pos="2798">
          <p15:clr>
            <a:srgbClr val="FBAE40"/>
          </p15:clr>
        </p15:guide>
        <p15:guide id="14" pos="30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472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1142531"/>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6915197"/>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18959717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4233782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776460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image" Target="../media/image7.svg"/><Relationship Id="rId3" Type="http://schemas.openxmlformats.org/officeDocument/2006/relationships/slideLayout" Target="../slideLayouts/slideLayout9.xml"/><Relationship Id="rId7" Type="http://schemas.openxmlformats.org/officeDocument/2006/relationships/theme" Target="../theme/theme2.xml"/><Relationship Id="rId12"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emf"/><Relationship Id="rId5" Type="http://schemas.openxmlformats.org/officeDocument/2006/relationships/slideLayout" Target="../slideLayouts/slideLayout11.xml"/><Relationship Id="rId15" Type="http://schemas.openxmlformats.org/officeDocument/2006/relationships/image" Target="../media/image9.svg"/><Relationship Id="rId10" Type="http://schemas.openxmlformats.org/officeDocument/2006/relationships/oleObject" Target="../embeddings/oleObject1.bin"/><Relationship Id="rId4" Type="http://schemas.openxmlformats.org/officeDocument/2006/relationships/slideLayout" Target="../slideLayouts/slideLayout10.xml"/><Relationship Id="rId9" Type="http://schemas.openxmlformats.org/officeDocument/2006/relationships/tags" Target="../tags/tag4.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1.emf"/><Relationship Id="rId4" Type="http://schemas.openxmlformats.org/officeDocument/2006/relationships/slideLayout" Target="../slideLayouts/slideLayout16.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170500182"/>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65" r:id="rId3"/>
    <p:sldLayoutId id="2147483664" r:id="rId4"/>
    <p:sldLayoutId id="2147483680" r:id="rId5"/>
    <p:sldLayoutId id="2147483663"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0516505-193D-47A9-B4A0-CD5068E8FB7E}"/>
              </a:ext>
            </a:extLst>
          </p:cNvPr>
          <p:cNvGraphicFramePr>
            <a:graphicFrameLocks noChangeAspect="1"/>
          </p:cNvGraphicFramePr>
          <p:nvPr userDrawn="1">
            <p:custDataLst>
              <p:tags r:id="rId8"/>
            </p:custDataLst>
            <p:extLst>
              <p:ext uri="{D42A27DB-BD31-4B8C-83A1-F6EECF244321}">
                <p14:modId xmlns:p14="http://schemas.microsoft.com/office/powerpoint/2010/main" val="1184235197"/>
              </p:ext>
            </p:extLst>
          </p:nvPr>
        </p:nvGraphicFramePr>
        <p:xfrm>
          <a:off x="1588" y="1593"/>
          <a:ext cx="1588" cy="1587"/>
        </p:xfrm>
        <a:graphic>
          <a:graphicData uri="http://schemas.openxmlformats.org/presentationml/2006/ole">
            <mc:AlternateContent xmlns:mc="http://schemas.openxmlformats.org/markup-compatibility/2006">
              <mc:Choice xmlns:v="urn:schemas-microsoft-com:vml" Requires="v">
                <p:oleObj name="think-cell Slide" r:id="rId10" imgW="480" imgH="481" progId="TCLayout.ActiveDocument.1">
                  <p:embed/>
                </p:oleObj>
              </mc:Choice>
              <mc:Fallback>
                <p:oleObj name="think-cell Slide" r:id="rId10" imgW="480" imgH="481" progId="TCLayout.ActiveDocument.1">
                  <p:embed/>
                  <p:pic>
                    <p:nvPicPr>
                      <p:cNvPr id="7" name="Object 6" hidden="1">
                        <a:extLst>
                          <a:ext uri="{FF2B5EF4-FFF2-40B4-BE49-F238E27FC236}">
                            <a16:creationId xmlns:a16="http://schemas.microsoft.com/office/drawing/2014/main" id="{50516505-193D-47A9-B4A0-CD5068E8FB7E}"/>
                          </a:ext>
                        </a:extLst>
                      </p:cNvPr>
                      <p:cNvPicPr/>
                      <p:nvPr/>
                    </p:nvPicPr>
                    <p:blipFill>
                      <a:blip r:embed="rId11"/>
                      <a:stretch>
                        <a:fillRect/>
                      </a:stretch>
                    </p:blipFill>
                    <p:spPr>
                      <a:xfrm>
                        <a:off x="1588" y="1593"/>
                        <a:ext cx="1588" cy="1587"/>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55179B-A8A1-4A99-8E10-5CFCD830FCBE}"/>
              </a:ext>
            </a:extLst>
          </p:cNvPr>
          <p:cNvSpPr/>
          <p:nvPr userDrawn="1">
            <p:custDataLst>
              <p:tags r:id="rId9"/>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582" b="0" i="0" baseline="0" dirty="0">
              <a:latin typeface="Plaak 3 Trial Regular" panose="02000000000000000000" pitchFamily="50" charset="0"/>
              <a:ea typeface="+mj-ea"/>
              <a:cs typeface="+mj-cs"/>
              <a:sym typeface="Plaak 3 Trial Regular" panose="02000000000000000000" pitchFamily="50" charset="0"/>
            </a:endParaRPr>
          </a:p>
        </p:txBody>
      </p:sp>
      <p:cxnSp>
        <p:nvCxnSpPr>
          <p:cNvPr id="9" name="Straight Connector 8">
            <a:extLst>
              <a:ext uri="{FF2B5EF4-FFF2-40B4-BE49-F238E27FC236}">
                <a16:creationId xmlns:a16="http://schemas.microsoft.com/office/drawing/2014/main" id="{AC2ABC29-4FA3-4FF4-AEFB-B36D74161AEC}"/>
              </a:ext>
            </a:extLst>
          </p:cNvPr>
          <p:cNvCxnSpPr/>
          <p:nvPr userDrawn="1"/>
        </p:nvCxnSpPr>
        <p:spPr>
          <a:xfrm>
            <a:off x="6452482" y="0"/>
            <a:ext cx="0" cy="990600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9994BB4-84AB-4F20-9DF1-03D32F97D3DB}"/>
              </a:ext>
            </a:extLst>
          </p:cNvPr>
          <p:cNvCxnSpPr>
            <a:cxnSpLocks/>
          </p:cNvCxnSpPr>
          <p:nvPr userDrawn="1"/>
        </p:nvCxnSpPr>
        <p:spPr>
          <a:xfrm flipH="1">
            <a:off x="1" y="799884"/>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11ABC95-A7FC-4EE1-86D6-BE7CA3B366ED}"/>
              </a:ext>
            </a:extLst>
          </p:cNvPr>
          <p:cNvGrpSpPr/>
          <p:nvPr userDrawn="1"/>
        </p:nvGrpSpPr>
        <p:grpSpPr>
          <a:xfrm>
            <a:off x="6545302" y="174444"/>
            <a:ext cx="237175" cy="550304"/>
            <a:chOff x="9563413" y="152519"/>
            <a:chExt cx="342586" cy="380980"/>
          </a:xfrm>
          <a:solidFill>
            <a:schemeClr val="bg1"/>
          </a:solidFill>
        </p:grpSpPr>
        <p:sp>
          <p:nvSpPr>
            <p:cNvPr id="12" name="Rectangle 11">
              <a:extLst>
                <a:ext uri="{FF2B5EF4-FFF2-40B4-BE49-F238E27FC236}">
                  <a16:creationId xmlns:a16="http://schemas.microsoft.com/office/drawing/2014/main" id="{A50E15B3-DE89-4100-B778-6CA54B642DC5}"/>
                </a:ext>
              </a:extLst>
            </p:cNvPr>
            <p:cNvSpPr/>
            <p:nvPr userDrawn="1"/>
          </p:nvSpPr>
          <p:spPr>
            <a:xfrm>
              <a:off x="9563413" y="152519"/>
              <a:ext cx="342586"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3" name="Rectangle 12">
              <a:extLst>
                <a:ext uri="{FF2B5EF4-FFF2-40B4-BE49-F238E27FC236}">
                  <a16:creationId xmlns:a16="http://schemas.microsoft.com/office/drawing/2014/main" id="{2E33FE9C-6978-4CC7-9277-ADB57A0F0B10}"/>
                </a:ext>
              </a:extLst>
            </p:cNvPr>
            <p:cNvSpPr/>
            <p:nvPr userDrawn="1"/>
          </p:nvSpPr>
          <p:spPr>
            <a:xfrm>
              <a:off x="9563413" y="287506"/>
              <a:ext cx="221935"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4" name="Rectangle 13">
              <a:extLst>
                <a:ext uri="{FF2B5EF4-FFF2-40B4-BE49-F238E27FC236}">
                  <a16:creationId xmlns:a16="http://schemas.microsoft.com/office/drawing/2014/main" id="{3F99D8F1-0F7B-4FF4-9403-6912CC5FF0E4}"/>
                </a:ext>
              </a:extLst>
            </p:cNvPr>
            <p:cNvSpPr/>
            <p:nvPr userDrawn="1"/>
          </p:nvSpPr>
          <p:spPr>
            <a:xfrm>
              <a:off x="9563414" y="422493"/>
              <a:ext cx="117162"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pic>
        <p:nvPicPr>
          <p:cNvPr id="15" name="Graphic 14">
            <a:extLst>
              <a:ext uri="{FF2B5EF4-FFF2-40B4-BE49-F238E27FC236}">
                <a16:creationId xmlns:a16="http://schemas.microsoft.com/office/drawing/2014/main" id="{13649BF4-654A-48AF-832D-0BABDBEC792F}"/>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523" y="233340"/>
            <a:ext cx="1147234" cy="411238"/>
          </a:xfrm>
          <a:prstGeom prst="rect">
            <a:avLst/>
          </a:prstGeom>
        </p:spPr>
      </p:pic>
      <p:pic>
        <p:nvPicPr>
          <p:cNvPr id="16" name="Graphic 15">
            <a:extLst>
              <a:ext uri="{FF2B5EF4-FFF2-40B4-BE49-F238E27FC236}">
                <a16:creationId xmlns:a16="http://schemas.microsoft.com/office/drawing/2014/main" id="{532C1A5D-D25A-AE7B-3D20-7E634F4B2AC3}"/>
              </a:ext>
            </a:extLst>
          </p:cNvPr>
          <p:cNvPicPr>
            <a:picLocks noChangeAspect="1"/>
          </p:cNvPicPr>
          <p:nvPr userDrawn="1"/>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32467" t="3622" b="-1"/>
          <a:stretch/>
        </p:blipFill>
        <p:spPr>
          <a:xfrm>
            <a:off x="447993" y="254616"/>
            <a:ext cx="774765" cy="396345"/>
          </a:xfrm>
          <a:prstGeom prst="rect">
            <a:avLst/>
          </a:prstGeom>
        </p:spPr>
      </p:pic>
    </p:spTree>
    <p:extLst>
      <p:ext uri="{BB962C8B-B14F-4D97-AF65-F5344CB8AC3E}">
        <p14:creationId xmlns:p14="http://schemas.microsoft.com/office/powerpoint/2010/main" val="404928044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xStyles>
    <p:titleStyle>
      <a:lvl1pPr algn="l" defTabSz="633039" rtl="0" eaLnBrk="1" latinLnBrk="0" hangingPunct="1">
        <a:lnSpc>
          <a:spcPct val="90000"/>
        </a:lnSpc>
        <a:spcBef>
          <a:spcPct val="0"/>
        </a:spcBef>
        <a:buNone/>
        <a:defRPr sz="3046" kern="1200">
          <a:solidFill>
            <a:schemeClr val="tx1"/>
          </a:solidFill>
          <a:latin typeface="+mj-lt"/>
          <a:ea typeface="+mj-ea"/>
          <a:cs typeface="+mj-cs"/>
        </a:defRPr>
      </a:lvl1pPr>
    </p:titleStyle>
    <p:bodyStyle>
      <a:lvl1pPr marL="158260" indent="-158260" algn="l" defTabSz="633039" rtl="0" eaLnBrk="1" latinLnBrk="0" hangingPunct="1">
        <a:lnSpc>
          <a:spcPct val="90000"/>
        </a:lnSpc>
        <a:spcBef>
          <a:spcPts val="692"/>
        </a:spcBef>
        <a:buFont typeface="Arial" panose="020B0604020202020204" pitchFamily="34" charset="0"/>
        <a:buChar char="•"/>
        <a:defRPr sz="1938" kern="1200">
          <a:solidFill>
            <a:schemeClr val="tx1"/>
          </a:solidFill>
          <a:latin typeface="+mn-lt"/>
          <a:ea typeface="+mn-ea"/>
          <a:cs typeface="+mn-cs"/>
        </a:defRPr>
      </a:lvl1pPr>
      <a:lvl2pPr marL="474779" indent="-158260" algn="l" defTabSz="633039" rtl="0" eaLnBrk="1" latinLnBrk="0" hangingPunct="1">
        <a:lnSpc>
          <a:spcPct val="90000"/>
        </a:lnSpc>
        <a:spcBef>
          <a:spcPts val="346"/>
        </a:spcBef>
        <a:buFont typeface="Arial" panose="020B0604020202020204" pitchFamily="34" charset="0"/>
        <a:buChar char="•"/>
        <a:defRPr sz="1662" kern="1200">
          <a:solidFill>
            <a:schemeClr val="tx1"/>
          </a:solidFill>
          <a:latin typeface="+mn-lt"/>
          <a:ea typeface="+mn-ea"/>
          <a:cs typeface="+mn-cs"/>
        </a:defRPr>
      </a:lvl2pPr>
      <a:lvl3pPr marL="791299" indent="-158260" algn="l" defTabSz="633039" rtl="0" eaLnBrk="1" latinLnBrk="0" hangingPunct="1">
        <a:lnSpc>
          <a:spcPct val="90000"/>
        </a:lnSpc>
        <a:spcBef>
          <a:spcPts val="346"/>
        </a:spcBef>
        <a:buFont typeface="Arial" panose="020B0604020202020204" pitchFamily="34" charset="0"/>
        <a:buChar char="•"/>
        <a:defRPr sz="1385" kern="1200">
          <a:solidFill>
            <a:schemeClr val="tx1"/>
          </a:solidFill>
          <a:latin typeface="+mn-lt"/>
          <a:ea typeface="+mn-ea"/>
          <a:cs typeface="+mn-cs"/>
        </a:defRPr>
      </a:lvl3pPr>
      <a:lvl4pPr marL="110781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4pPr>
      <a:lvl5pPr marL="142433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5pPr>
      <a:lvl6pPr marL="174085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6pPr>
      <a:lvl7pPr marL="205737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7pPr>
      <a:lvl8pPr marL="237389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8pPr>
      <a:lvl9pPr marL="2690416"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9pPr>
    </p:bodyStyle>
    <p:otherStyle>
      <a:defPPr>
        <a:defRPr lang="en-US"/>
      </a:defPPr>
      <a:lvl1pPr marL="0" algn="l" defTabSz="633039" rtl="0" eaLnBrk="1" latinLnBrk="0" hangingPunct="1">
        <a:defRPr sz="1246" kern="1200">
          <a:solidFill>
            <a:schemeClr val="tx1"/>
          </a:solidFill>
          <a:latin typeface="+mn-lt"/>
          <a:ea typeface="+mn-ea"/>
          <a:cs typeface="+mn-cs"/>
        </a:defRPr>
      </a:lvl1pPr>
      <a:lvl2pPr marL="316520" algn="l" defTabSz="633039" rtl="0" eaLnBrk="1" latinLnBrk="0" hangingPunct="1">
        <a:defRPr sz="1246" kern="1200">
          <a:solidFill>
            <a:schemeClr val="tx1"/>
          </a:solidFill>
          <a:latin typeface="+mn-lt"/>
          <a:ea typeface="+mn-ea"/>
          <a:cs typeface="+mn-cs"/>
        </a:defRPr>
      </a:lvl2pPr>
      <a:lvl3pPr marL="633039" algn="l" defTabSz="633039" rtl="0" eaLnBrk="1" latinLnBrk="0" hangingPunct="1">
        <a:defRPr sz="1246" kern="1200">
          <a:solidFill>
            <a:schemeClr val="tx1"/>
          </a:solidFill>
          <a:latin typeface="+mn-lt"/>
          <a:ea typeface="+mn-ea"/>
          <a:cs typeface="+mn-cs"/>
        </a:defRPr>
      </a:lvl3pPr>
      <a:lvl4pPr marL="949559" algn="l" defTabSz="633039" rtl="0" eaLnBrk="1" latinLnBrk="0" hangingPunct="1">
        <a:defRPr sz="1246" kern="1200">
          <a:solidFill>
            <a:schemeClr val="tx1"/>
          </a:solidFill>
          <a:latin typeface="+mn-lt"/>
          <a:ea typeface="+mn-ea"/>
          <a:cs typeface="+mn-cs"/>
        </a:defRPr>
      </a:lvl4pPr>
      <a:lvl5pPr marL="1266078" algn="l" defTabSz="633039" rtl="0" eaLnBrk="1" latinLnBrk="0" hangingPunct="1">
        <a:defRPr sz="1246" kern="1200">
          <a:solidFill>
            <a:schemeClr val="tx1"/>
          </a:solidFill>
          <a:latin typeface="+mn-lt"/>
          <a:ea typeface="+mn-ea"/>
          <a:cs typeface="+mn-cs"/>
        </a:defRPr>
      </a:lvl5pPr>
      <a:lvl6pPr marL="1582598" algn="l" defTabSz="633039" rtl="0" eaLnBrk="1" latinLnBrk="0" hangingPunct="1">
        <a:defRPr sz="1246" kern="1200">
          <a:solidFill>
            <a:schemeClr val="tx1"/>
          </a:solidFill>
          <a:latin typeface="+mn-lt"/>
          <a:ea typeface="+mn-ea"/>
          <a:cs typeface="+mn-cs"/>
        </a:defRPr>
      </a:lvl6pPr>
      <a:lvl7pPr marL="1899117" algn="l" defTabSz="633039" rtl="0" eaLnBrk="1" latinLnBrk="0" hangingPunct="1">
        <a:defRPr sz="1246" kern="1200">
          <a:solidFill>
            <a:schemeClr val="tx1"/>
          </a:solidFill>
          <a:latin typeface="+mn-lt"/>
          <a:ea typeface="+mn-ea"/>
          <a:cs typeface="+mn-cs"/>
        </a:defRPr>
      </a:lvl7pPr>
      <a:lvl8pPr marL="2215637" algn="l" defTabSz="633039" rtl="0" eaLnBrk="1" latinLnBrk="0" hangingPunct="1">
        <a:defRPr sz="1246" kern="1200">
          <a:solidFill>
            <a:schemeClr val="tx1"/>
          </a:solidFill>
          <a:latin typeface="+mn-lt"/>
          <a:ea typeface="+mn-ea"/>
          <a:cs typeface="+mn-cs"/>
        </a:defRPr>
      </a:lvl8pPr>
      <a:lvl9pPr marL="2532156" algn="l" defTabSz="633039" rtl="0" eaLnBrk="1" latinLnBrk="0" hangingPunct="1">
        <a:defRPr sz="124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6571940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930E1-9B7C-6AA9-2054-A9EF481B9D93}"/>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1F81C592-C7BA-FF75-65A5-E158BE626E69}"/>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81" name="TextBox 80">
            <a:extLst>
              <a:ext uri="{FF2B5EF4-FFF2-40B4-BE49-F238E27FC236}">
                <a16:creationId xmlns:a16="http://schemas.microsoft.com/office/drawing/2014/main" id="{453D8C0D-C5D6-4D1C-B25B-BA1462A908C5}"/>
              </a:ext>
            </a:extLst>
          </p:cNvPr>
          <p:cNvSpPr txBox="1"/>
          <p:nvPr/>
        </p:nvSpPr>
        <p:spPr>
          <a:xfrm>
            <a:off x="195039" y="1105642"/>
            <a:ext cx="6281672" cy="2308324"/>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lvl="0" indent="0">
              <a:buNone/>
            </a:pPr>
            <a:r>
              <a:rPr lang="en-GB" b="1" dirty="0"/>
              <a:t>Purpose of This Document: </a:t>
            </a:r>
          </a:p>
          <a:p>
            <a:pPr lvl="0"/>
            <a:r>
              <a:rPr lang="en-GB" dirty="0"/>
              <a:t>You are the Guru leading the most important transformation your organisation will undertake - AI democratisation across every role. This cheat sheet ensures you can navigate every challenge, keep the team focused on execution, and deliver measurable AI competitive advantage within 3 weeks.</a:t>
            </a:r>
          </a:p>
          <a:p>
            <a:pPr marL="0" lvl="0" indent="0">
              <a:buNone/>
            </a:pPr>
            <a:endParaRPr lang="en-GB" b="1" dirty="0"/>
          </a:p>
          <a:p>
            <a:pPr marL="0" lvl="0" indent="0">
              <a:buNone/>
            </a:pPr>
            <a:r>
              <a:rPr lang="en-GB" b="1" dirty="0"/>
              <a:t>Overview of the Sprint: </a:t>
            </a:r>
          </a:p>
          <a:p>
            <a:pPr lvl="0"/>
            <a:r>
              <a:rPr lang="en-GB" dirty="0"/>
              <a:t>This sprint transforms individual AI analysis into organizational competitive advantage. Your team has completed individual preparation identifying their top 3 decisions and top 3 processes for AI optimization. Your 120-min session will bridge individual insights into unified AI strategy with specific implementation deadlines and accountability.</a:t>
            </a:r>
          </a:p>
          <a:p>
            <a:pPr marL="0" lvl="0" indent="0">
              <a:buNone/>
            </a:pPr>
            <a:endParaRPr lang="en-GB" dirty="0"/>
          </a:p>
          <a:p>
            <a:pPr marL="0" lvl="0" indent="0">
              <a:buNone/>
            </a:pPr>
            <a:r>
              <a:rPr lang="en-GB" b="1" dirty="0"/>
              <a:t>Your Role as Guru: </a:t>
            </a:r>
          </a:p>
          <a:p>
            <a:pPr lvl="0"/>
            <a:r>
              <a:rPr lang="en-GB" dirty="0"/>
              <a:t>Stay ruthlessly focused on implementation, not theory. Push for specific AI tools and deadlines, not discussions about AI potential. Challenge vague commitments. Force concrete decisions. Your job is to ensure the team leaves with actionable AI advantage, not more questions about AI readiness.</a:t>
            </a:r>
          </a:p>
          <a:p>
            <a:pPr lvl="0"/>
            <a:endParaRPr lang="en-BG" dirty="0"/>
          </a:p>
        </p:txBody>
      </p:sp>
      <p:sp>
        <p:nvSpPr>
          <p:cNvPr id="16" name="TextBox 15">
            <a:extLst>
              <a:ext uri="{FF2B5EF4-FFF2-40B4-BE49-F238E27FC236}">
                <a16:creationId xmlns:a16="http://schemas.microsoft.com/office/drawing/2014/main" id="{3E1BDDF1-29CF-B26E-9C40-8A174B96DBAA}"/>
              </a:ext>
            </a:extLst>
          </p:cNvPr>
          <p:cNvSpPr txBox="1"/>
          <p:nvPr/>
        </p:nvSpPr>
        <p:spPr>
          <a:xfrm>
            <a:off x="195039" y="493828"/>
            <a:ext cx="187796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sz="2400" dirty="0"/>
              <a:t>overall</a:t>
            </a:r>
          </a:p>
          <a:p>
            <a:r>
              <a:rPr lang="en-US" sz="2400" dirty="0"/>
              <a:t>Introduction</a:t>
            </a:r>
          </a:p>
        </p:txBody>
      </p:sp>
      <p:cxnSp>
        <p:nvCxnSpPr>
          <p:cNvPr id="17" name="Straight Connector 16">
            <a:extLst>
              <a:ext uri="{FF2B5EF4-FFF2-40B4-BE49-F238E27FC236}">
                <a16:creationId xmlns:a16="http://schemas.microsoft.com/office/drawing/2014/main" id="{20094B6F-FC55-7E9D-0A11-C4E7DD323837}"/>
              </a:ext>
            </a:extLst>
          </p:cNvPr>
          <p:cNvCxnSpPr>
            <a:cxnSpLocks/>
          </p:cNvCxnSpPr>
          <p:nvPr/>
        </p:nvCxnSpPr>
        <p:spPr>
          <a:xfrm flipH="1">
            <a:off x="288251" y="1031708"/>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CECEE7D-A01F-7381-1334-9DF2A4A66DBC}"/>
              </a:ext>
            </a:extLst>
          </p:cNvPr>
          <p:cNvSpPr txBox="1"/>
          <p:nvPr/>
        </p:nvSpPr>
        <p:spPr>
          <a:xfrm>
            <a:off x="5810713" y="191569"/>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01</a:t>
            </a:r>
          </a:p>
        </p:txBody>
      </p:sp>
      <p:sp>
        <p:nvSpPr>
          <p:cNvPr id="4" name="TextBox 3">
            <a:extLst>
              <a:ext uri="{FF2B5EF4-FFF2-40B4-BE49-F238E27FC236}">
                <a16:creationId xmlns:a16="http://schemas.microsoft.com/office/drawing/2014/main" id="{C0ADA267-F771-E930-6019-8072325231C6}"/>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SPRINT:</a:t>
            </a:r>
            <a:r>
              <a:rPr lang="bg-BG" dirty="0" err="1">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
        <p:nvSpPr>
          <p:cNvPr id="2" name="TextBox 1">
            <a:extLst>
              <a:ext uri="{FF2B5EF4-FFF2-40B4-BE49-F238E27FC236}">
                <a16:creationId xmlns:a16="http://schemas.microsoft.com/office/drawing/2014/main" id="{2A1ABF13-A40D-6059-8D89-40397A7A3494}"/>
              </a:ext>
            </a:extLst>
          </p:cNvPr>
          <p:cNvSpPr txBox="1"/>
          <p:nvPr/>
        </p:nvSpPr>
        <p:spPr>
          <a:xfrm>
            <a:off x="195039" y="4307616"/>
            <a:ext cx="5629976" cy="5216813"/>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sz="1000" b="1" dirty="0"/>
              <a:t>Individual AI Decision Optimization</a:t>
            </a:r>
            <a:endParaRPr lang="en-BG" sz="1000" dirty="0"/>
          </a:p>
          <a:p>
            <a:r>
              <a:rPr lang="en-US" dirty="0"/>
              <a:t>Team members have analyzed their daily decisions by frequency and impact, identified data requirements for faster decision-making, and researched specific AI tools for decision support. Your role is to connect individual decision improvements into team decision velocity.</a:t>
            </a:r>
            <a:endParaRPr lang="en-BG" dirty="0"/>
          </a:p>
          <a:p>
            <a:endParaRPr lang="en-US" b="1" dirty="0"/>
          </a:p>
          <a:p>
            <a:r>
              <a:rPr lang="en-US" b="1" dirty="0"/>
              <a:t>Application During Meeting:</a:t>
            </a:r>
            <a:r>
              <a:rPr lang="en-US" dirty="0"/>
              <a:t> Focus on decisions that multiple team members share. Sales managers and account managers both analyze customers. Finance and operations both forecast demand. Find overlap opportunities for shared AI decision tools.</a:t>
            </a:r>
            <a:endParaRPr lang="en-BG" dirty="0"/>
          </a:p>
          <a:p>
            <a:pPr marL="0" indent="0">
              <a:buNone/>
            </a:pPr>
            <a:endParaRPr lang="en-US" b="1" dirty="0"/>
          </a:p>
          <a:p>
            <a:pPr marL="0" indent="0">
              <a:buNone/>
            </a:pPr>
            <a:r>
              <a:rPr lang="en-US" b="1" dirty="0"/>
              <a:t>Individual AI Process Automation</a:t>
            </a:r>
            <a:endParaRPr lang="en-BG" dirty="0"/>
          </a:p>
          <a:p>
            <a:r>
              <a:rPr lang="en-US" dirty="0"/>
              <a:t>Each person has mapped their most time-consuming processes and identified automation opportunities using accessible AI tools. Your role is to prevent duplication and create process automation that benefits the entire organization.</a:t>
            </a:r>
            <a:endParaRPr lang="en-BG" dirty="0"/>
          </a:p>
          <a:p>
            <a:endParaRPr lang="en-US" b="1" dirty="0"/>
          </a:p>
          <a:p>
            <a:r>
              <a:rPr lang="en-US" b="1" dirty="0"/>
              <a:t>Application During Meeting:</a:t>
            </a:r>
            <a:r>
              <a:rPr lang="en-US" dirty="0"/>
              <a:t> Look for processes that span multiple roles. Customer onboarding involves sales, customer success, and operations. Report generation involves multiple departments. Build AI automation that serves cross-functional efficiency.</a:t>
            </a:r>
            <a:endParaRPr lang="en-BG" dirty="0"/>
          </a:p>
          <a:p>
            <a:pPr marL="0" indent="0">
              <a:buNone/>
            </a:pPr>
            <a:endParaRPr lang="en-US" b="1" dirty="0"/>
          </a:p>
          <a:p>
            <a:pPr marL="0" indent="0">
              <a:buNone/>
            </a:pPr>
            <a:r>
              <a:rPr lang="en-US" sz="1000" b="1" dirty="0"/>
              <a:t>Team AI Strategy Coordination</a:t>
            </a:r>
            <a:endParaRPr lang="en-BG" sz="1000" dirty="0"/>
          </a:p>
          <a:p>
            <a:r>
              <a:rPr lang="en-US" dirty="0"/>
              <a:t>Individual AI wins must align with organizational goals to create competitive advantage. Random AI adoption creates productivity improvements. Coordinated AI strategy creates market dominance.</a:t>
            </a:r>
            <a:endParaRPr lang="en-BG" dirty="0"/>
          </a:p>
          <a:p>
            <a:endParaRPr lang="en-US" b="1" dirty="0"/>
          </a:p>
          <a:p>
            <a:r>
              <a:rPr lang="en-US" b="1" dirty="0"/>
              <a:t>Application During Meeting:</a:t>
            </a:r>
            <a:r>
              <a:rPr lang="en-US" dirty="0"/>
              <a:t> Connect every AI opportunity to business outcomes. How does faster customer analysis improve sales results? How does automated reporting enable strategic focus? Link AI implementation to revenue, efficiency, and competitive positioning.</a:t>
            </a:r>
            <a:endParaRPr lang="en-BG" dirty="0"/>
          </a:p>
          <a:p>
            <a:pPr marL="0" indent="0">
              <a:buNone/>
            </a:pPr>
            <a:endParaRPr lang="en-US" b="1" dirty="0"/>
          </a:p>
          <a:p>
            <a:pPr marL="0" indent="0">
              <a:buNone/>
            </a:pPr>
            <a:r>
              <a:rPr lang="en-US" sz="1000" b="1" dirty="0"/>
              <a:t>Competitive Advantage Timeline</a:t>
            </a:r>
            <a:endParaRPr lang="en-BG" sz="1000" dirty="0"/>
          </a:p>
          <a:p>
            <a:r>
              <a:rPr lang="en-US" dirty="0"/>
              <a:t>AI advantage comes from speed of implementation, not perfection of solution. Organizations that deploy AI across all roles within 3 weeks will dominate those that plan AI strategies for 3 months.</a:t>
            </a:r>
            <a:endParaRPr lang="en-BG" dirty="0"/>
          </a:p>
          <a:p>
            <a:pPr marL="0" indent="0">
              <a:buNone/>
            </a:pPr>
            <a:endParaRPr lang="en-US" b="1" dirty="0"/>
          </a:p>
          <a:p>
            <a:r>
              <a:rPr lang="en-US" b="1" dirty="0"/>
              <a:t>Application During Meeting:</a:t>
            </a:r>
            <a:r>
              <a:rPr lang="en-US" dirty="0"/>
              <a:t> Force specific deadlines for every AI implementation. Week 1: Individual tool deployment. Week 2: Team collaboration optimization. Week 3: Competitive advantage measurement. No extensions. No delays.</a:t>
            </a:r>
            <a:endParaRPr lang="en-BG" dirty="0"/>
          </a:p>
          <a:p>
            <a:pPr marL="0" lvl="0" indent="0">
              <a:buNone/>
            </a:pPr>
            <a:endParaRPr lang="en-BG" dirty="0"/>
          </a:p>
          <a:p>
            <a:pPr lvl="0"/>
            <a:endParaRPr lang="en-BG" dirty="0"/>
          </a:p>
        </p:txBody>
      </p:sp>
      <p:sp>
        <p:nvSpPr>
          <p:cNvPr id="3" name="TextBox 2">
            <a:extLst>
              <a:ext uri="{FF2B5EF4-FFF2-40B4-BE49-F238E27FC236}">
                <a16:creationId xmlns:a16="http://schemas.microsoft.com/office/drawing/2014/main" id="{A7E76D10-686D-E036-2CA1-D091B42C23DF}"/>
              </a:ext>
            </a:extLst>
          </p:cNvPr>
          <p:cNvSpPr txBox="1"/>
          <p:nvPr/>
        </p:nvSpPr>
        <p:spPr>
          <a:xfrm>
            <a:off x="195039" y="3695802"/>
            <a:ext cx="187796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sz="2400" dirty="0"/>
              <a:t>Key </a:t>
            </a:r>
          </a:p>
          <a:p>
            <a:r>
              <a:rPr lang="en-US" sz="2400" dirty="0"/>
              <a:t>concepts</a:t>
            </a:r>
          </a:p>
        </p:txBody>
      </p:sp>
      <p:cxnSp>
        <p:nvCxnSpPr>
          <p:cNvPr id="5" name="Straight Connector 4">
            <a:extLst>
              <a:ext uri="{FF2B5EF4-FFF2-40B4-BE49-F238E27FC236}">
                <a16:creationId xmlns:a16="http://schemas.microsoft.com/office/drawing/2014/main" id="{CBACE185-5277-5D35-B203-EAAEDE06399B}"/>
              </a:ext>
            </a:extLst>
          </p:cNvPr>
          <p:cNvCxnSpPr>
            <a:cxnSpLocks/>
          </p:cNvCxnSpPr>
          <p:nvPr/>
        </p:nvCxnSpPr>
        <p:spPr>
          <a:xfrm flipH="1">
            <a:off x="288251" y="4233682"/>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3F67472-D3E5-527B-CE9A-24F6FEA503AE}"/>
              </a:ext>
            </a:extLst>
          </p:cNvPr>
          <p:cNvSpPr txBox="1"/>
          <p:nvPr/>
        </p:nvSpPr>
        <p:spPr>
          <a:xfrm>
            <a:off x="5810713" y="3393543"/>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02</a:t>
            </a:r>
          </a:p>
        </p:txBody>
      </p:sp>
    </p:spTree>
    <p:extLst>
      <p:ext uri="{BB962C8B-B14F-4D97-AF65-F5344CB8AC3E}">
        <p14:creationId xmlns:p14="http://schemas.microsoft.com/office/powerpoint/2010/main" val="829051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54F6D-CC8A-524A-DB95-6300C7A84351}"/>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5F71EA1C-F4FB-48A7-2DEC-3C07E2CBE703}"/>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81" name="TextBox 80">
            <a:extLst>
              <a:ext uri="{FF2B5EF4-FFF2-40B4-BE49-F238E27FC236}">
                <a16:creationId xmlns:a16="http://schemas.microsoft.com/office/drawing/2014/main" id="{84221735-16A2-A9F7-FC85-68DCFC355B7E}"/>
              </a:ext>
            </a:extLst>
          </p:cNvPr>
          <p:cNvSpPr txBox="1"/>
          <p:nvPr/>
        </p:nvSpPr>
        <p:spPr>
          <a:xfrm>
            <a:off x="195039" y="1105642"/>
            <a:ext cx="6281672" cy="4247317"/>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b="1" dirty="0"/>
              <a:t>Challenge 1: Technical Tool Overwhelm</a:t>
            </a:r>
            <a:endParaRPr lang="en-BG" dirty="0"/>
          </a:p>
          <a:p>
            <a:r>
              <a:rPr lang="en-US" b="1" dirty="0"/>
              <a:t>What Happens:</a:t>
            </a:r>
            <a:r>
              <a:rPr lang="en-US" dirty="0"/>
              <a:t> Team gets lost debating AI platforms instead of focusing on business results. </a:t>
            </a:r>
          </a:p>
          <a:p>
            <a:r>
              <a:rPr lang="en-US" b="1" dirty="0"/>
              <a:t>Your Response:</a:t>
            </a:r>
            <a:r>
              <a:rPr lang="en-US" dirty="0"/>
              <a:t> "We're choosing AI tools that solve business problems, not collecting AI tools that impress technologists. What specific business outcome do we need? Let's find the simplest AI solution that delivers it." </a:t>
            </a:r>
          </a:p>
          <a:p>
            <a:r>
              <a:rPr lang="en-US" b="1" dirty="0"/>
              <a:t>Action:</a:t>
            </a:r>
            <a:r>
              <a:rPr lang="en-US" dirty="0"/>
              <a:t> Redirect every tool discussion to business impact. Focus on what the tool accomplishes, not how the tool works.</a:t>
            </a:r>
            <a:endParaRPr lang="en-BG" dirty="0"/>
          </a:p>
          <a:p>
            <a:pPr lvl="0"/>
            <a:endParaRPr lang="en-BG" dirty="0"/>
          </a:p>
          <a:p>
            <a:pPr marL="0" indent="0">
              <a:buNone/>
            </a:pPr>
            <a:r>
              <a:rPr lang="en-US" b="1" dirty="0"/>
              <a:t>Challenge 2: Implementation Resistance</a:t>
            </a:r>
            <a:endParaRPr lang="en-BG" dirty="0"/>
          </a:p>
          <a:p>
            <a:r>
              <a:rPr lang="en-US" b="1" dirty="0"/>
              <a:t>Problem:</a:t>
            </a:r>
            <a:r>
              <a:rPr lang="en-US" dirty="0"/>
              <a:t> Team members claim they're too busy for AI implementation or need more training before starting.</a:t>
            </a:r>
          </a:p>
          <a:p>
            <a:r>
              <a:rPr lang="en-US" b="1" dirty="0"/>
              <a:t>Your Response:</a:t>
            </a:r>
            <a:r>
              <a:rPr lang="en-US" dirty="0"/>
              <a:t> "AI implementation saves time, it doesn't consume time. If you're too busy for solutions that make you more efficient, you'll stay too busy forever. We start with simple tools and improve as we learn.”</a:t>
            </a:r>
          </a:p>
          <a:p>
            <a:r>
              <a:rPr lang="en-US" b="1" dirty="0"/>
              <a:t>Action:</a:t>
            </a:r>
            <a:r>
              <a:rPr lang="en-US" dirty="0"/>
              <a:t> Identify the smallest possible first step. Use AI for one decision this week. Automate one process this month. Build momentum through quick wins.</a:t>
            </a:r>
            <a:endParaRPr lang="en-BG" dirty="0"/>
          </a:p>
          <a:p>
            <a:pPr marL="0" indent="0">
              <a:buNone/>
            </a:pPr>
            <a:endParaRPr lang="en-US" b="1" dirty="0"/>
          </a:p>
          <a:p>
            <a:pPr marL="0" indent="0">
              <a:buNone/>
            </a:pPr>
            <a:r>
              <a:rPr lang="en-US" b="1" dirty="0"/>
              <a:t>Challenge 3: Perfectionist Paralysis</a:t>
            </a:r>
            <a:endParaRPr lang="en-BG" dirty="0"/>
          </a:p>
          <a:p>
            <a:r>
              <a:rPr lang="en-US" b="1" dirty="0"/>
              <a:t>Problem:</a:t>
            </a:r>
            <a:r>
              <a:rPr lang="en-US" dirty="0"/>
              <a:t> Team wants to research every AI option and plan comprehensive implementation before taking action. </a:t>
            </a:r>
          </a:p>
          <a:p>
            <a:r>
              <a:rPr lang="en-US" b="1" dirty="0"/>
              <a:t>Your Response:</a:t>
            </a:r>
            <a:r>
              <a:rPr lang="en-US" dirty="0"/>
              <a:t> "Perfect AI strategies implemented never beat good AI solutions implemented immediately. Our competitors aren't waiting for perfect AI. They're building AI advantages while we plan." </a:t>
            </a:r>
          </a:p>
          <a:p>
            <a:r>
              <a:rPr lang="en-US" b="1" dirty="0"/>
              <a:t>Action:</a:t>
            </a:r>
            <a:r>
              <a:rPr lang="en-US" dirty="0"/>
              <a:t> Set decision deadlines during the meeting. Force choices between available options. Ban phrases like "let's research this more" or "we need more data."</a:t>
            </a:r>
            <a:endParaRPr lang="en-BG" dirty="0"/>
          </a:p>
          <a:p>
            <a:pPr marL="0" indent="0">
              <a:buNone/>
            </a:pPr>
            <a:endParaRPr lang="en-US" b="1" dirty="0"/>
          </a:p>
          <a:p>
            <a:pPr marL="0" indent="0">
              <a:buNone/>
            </a:pPr>
            <a:r>
              <a:rPr lang="en-US" b="1" dirty="0"/>
              <a:t>Challenge 4: Individual vs Team Priority Conflicts</a:t>
            </a:r>
            <a:endParaRPr lang="en-BG" dirty="0"/>
          </a:p>
          <a:p>
            <a:r>
              <a:rPr lang="en-US" b="1" dirty="0"/>
              <a:t>Problem:</a:t>
            </a:r>
            <a:r>
              <a:rPr lang="en-US" dirty="0"/>
              <a:t> Personal AI opportunities don't align with organizational priorities. </a:t>
            </a:r>
          </a:p>
          <a:p>
            <a:r>
              <a:rPr lang="en-US" b="1" dirty="0"/>
              <a:t>Your Response:</a:t>
            </a:r>
            <a:r>
              <a:rPr lang="en-US" dirty="0"/>
              <a:t> "Individual AI success that doesn't serve team goals is personal productivity theater. We're building competitive advantage, not personal efficiency hobbies." </a:t>
            </a:r>
          </a:p>
          <a:p>
            <a:r>
              <a:rPr lang="en-US" b="1" dirty="0"/>
              <a:t>Action:</a:t>
            </a:r>
            <a:r>
              <a:rPr lang="en-US" dirty="0"/>
              <a:t> Connect every individual AI opportunity to team objectives. Show how personal productivity improvements enable strategic work that drives business results.</a:t>
            </a:r>
            <a:endParaRPr lang="en-BG" dirty="0"/>
          </a:p>
          <a:p>
            <a:pPr marL="0" lvl="0" indent="0">
              <a:buNone/>
            </a:pPr>
            <a:endParaRPr lang="en-BG" dirty="0"/>
          </a:p>
        </p:txBody>
      </p:sp>
      <p:sp>
        <p:nvSpPr>
          <p:cNvPr id="16" name="TextBox 15">
            <a:extLst>
              <a:ext uri="{FF2B5EF4-FFF2-40B4-BE49-F238E27FC236}">
                <a16:creationId xmlns:a16="http://schemas.microsoft.com/office/drawing/2014/main" id="{7639A2D2-8200-8FB3-F137-3323F7F3261A}"/>
              </a:ext>
            </a:extLst>
          </p:cNvPr>
          <p:cNvSpPr txBox="1"/>
          <p:nvPr/>
        </p:nvSpPr>
        <p:spPr>
          <a:xfrm>
            <a:off x="195039" y="493828"/>
            <a:ext cx="3233961"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sz="2400" dirty="0"/>
              <a:t>Expected Challenges </a:t>
            </a:r>
          </a:p>
          <a:p>
            <a:r>
              <a:rPr lang="en-US" sz="2400" dirty="0"/>
              <a:t>and How to Address Them</a:t>
            </a:r>
          </a:p>
          <a:p>
            <a:endParaRPr lang="en-US" sz="2400" dirty="0"/>
          </a:p>
        </p:txBody>
      </p:sp>
      <p:cxnSp>
        <p:nvCxnSpPr>
          <p:cNvPr id="17" name="Straight Connector 16">
            <a:extLst>
              <a:ext uri="{FF2B5EF4-FFF2-40B4-BE49-F238E27FC236}">
                <a16:creationId xmlns:a16="http://schemas.microsoft.com/office/drawing/2014/main" id="{384BC4FF-EB42-7AB0-FDED-1993B2112290}"/>
              </a:ext>
            </a:extLst>
          </p:cNvPr>
          <p:cNvCxnSpPr>
            <a:cxnSpLocks/>
          </p:cNvCxnSpPr>
          <p:nvPr/>
        </p:nvCxnSpPr>
        <p:spPr>
          <a:xfrm flipH="1">
            <a:off x="288251" y="1031708"/>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8422B9A-883E-3D48-EFC0-5C74EE61F0A0}"/>
              </a:ext>
            </a:extLst>
          </p:cNvPr>
          <p:cNvSpPr txBox="1"/>
          <p:nvPr/>
        </p:nvSpPr>
        <p:spPr>
          <a:xfrm>
            <a:off x="5810713" y="191569"/>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03</a:t>
            </a:r>
          </a:p>
        </p:txBody>
      </p:sp>
      <p:sp>
        <p:nvSpPr>
          <p:cNvPr id="4" name="TextBox 3">
            <a:extLst>
              <a:ext uri="{FF2B5EF4-FFF2-40B4-BE49-F238E27FC236}">
                <a16:creationId xmlns:a16="http://schemas.microsoft.com/office/drawing/2014/main" id="{435F4E1E-1B30-17C9-BE6C-7301E9C782CD}"/>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SPRINT:</a:t>
            </a:r>
            <a:r>
              <a:rPr lang="bg-BG" dirty="0" err="1">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
        <p:nvSpPr>
          <p:cNvPr id="6" name="Rectangle 5">
            <a:extLst>
              <a:ext uri="{FF2B5EF4-FFF2-40B4-BE49-F238E27FC236}">
                <a16:creationId xmlns:a16="http://schemas.microsoft.com/office/drawing/2014/main" id="{CDCEB98A-773C-3DB7-D9B4-A3FD12C3A24A}"/>
              </a:ext>
            </a:extLst>
          </p:cNvPr>
          <p:cNvSpPr/>
          <p:nvPr/>
        </p:nvSpPr>
        <p:spPr>
          <a:xfrm>
            <a:off x="0" y="5647925"/>
            <a:ext cx="6405223" cy="4258076"/>
          </a:xfrm>
          <a:prstGeom prst="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041C13E-37FA-974C-6E78-1C17B8C9695E}"/>
              </a:ext>
            </a:extLst>
          </p:cNvPr>
          <p:cNvSpPr txBox="1"/>
          <p:nvPr/>
        </p:nvSpPr>
        <p:spPr>
          <a:xfrm>
            <a:off x="204514" y="6612105"/>
            <a:ext cx="6047833" cy="2559675"/>
          </a:xfrm>
          <a:prstGeom prst="rect">
            <a:avLst/>
          </a:prstGeom>
          <a:noFill/>
        </p:spPr>
        <p:txBody>
          <a:bodyPr wrap="square">
            <a:spAutoFit/>
          </a:bodyPr>
          <a:lstStyle>
            <a:defPPr>
              <a:defRPr lang="en-US"/>
            </a:defPPr>
            <a:lvl1pPr marL="171450" indent="-171450">
              <a:lnSpc>
                <a:spcPct val="100000"/>
              </a:lnSpc>
              <a:spcBef>
                <a:spcPts val="100"/>
              </a:spcBef>
              <a:spcAft>
                <a:spcPts val="100"/>
              </a:spcAft>
              <a:buFont typeface="Arial" panose="020B0604020202020204" pitchFamily="34" charset="0"/>
              <a:buChar char="•"/>
              <a:defRPr sz="1000">
                <a:latin typeface="Riforma LL" panose="020B0504020101020102" pitchFamily="34" charset="77"/>
              </a:defRPr>
            </a:lvl1pPr>
          </a:lstStyle>
          <a:p>
            <a:pPr marL="0" indent="0">
              <a:buNone/>
            </a:pPr>
            <a:r>
              <a:rPr lang="en-GB" sz="900" b="1" dirty="0"/>
              <a:t>1. </a:t>
            </a:r>
            <a:r>
              <a:rPr lang="en-US" b="1" dirty="0"/>
              <a:t>Opening: AI Revolution Kickoff (10 min)</a:t>
            </a:r>
            <a:endParaRPr lang="en-BG" dirty="0"/>
          </a:p>
          <a:p>
            <a:pPr marL="0" indent="0">
              <a:buNone/>
            </a:pPr>
            <a:endParaRPr lang="en-US" sz="900" b="1" dirty="0"/>
          </a:p>
          <a:p>
            <a:pPr marL="0" indent="0">
              <a:buNone/>
            </a:pPr>
            <a:r>
              <a:rPr lang="en-US" sz="900" b="1" dirty="0"/>
              <a:t>How to Introduce:</a:t>
            </a:r>
            <a:r>
              <a:rPr lang="en-US" sz="900" dirty="0"/>
              <a:t> "We're here to turn AI analysis into AI action. Everyone completed individual preparation identifying their top AI opportunities. Now we build unified AI strategy that creates competitive advantage within 3 weeks."</a:t>
            </a:r>
            <a:endParaRPr lang="en-BG" sz="900" dirty="0"/>
          </a:p>
          <a:p>
            <a:pPr marL="0" indent="0">
              <a:buNone/>
            </a:pPr>
            <a:endParaRPr lang="en-US" sz="900" b="1" dirty="0"/>
          </a:p>
          <a:p>
            <a:pPr marL="0" indent="0">
              <a:buNone/>
            </a:pPr>
            <a:r>
              <a:rPr lang="en-US" sz="900" b="1" dirty="0"/>
              <a:t>Your Role:</a:t>
            </a:r>
            <a:endParaRPr lang="en-BG" sz="900" dirty="0"/>
          </a:p>
          <a:p>
            <a:pPr lvl="0"/>
            <a:r>
              <a:rPr lang="en-US" sz="900" dirty="0"/>
              <a:t>Confirm preparation completion from every team member</a:t>
            </a:r>
            <a:endParaRPr lang="en-BG" sz="900" dirty="0"/>
          </a:p>
          <a:p>
            <a:pPr lvl="0"/>
            <a:r>
              <a:rPr lang="en-US" sz="900" dirty="0"/>
              <a:t>Set expectation for decision-making, not discussion</a:t>
            </a:r>
            <a:endParaRPr lang="en-BG" sz="900" dirty="0"/>
          </a:p>
          <a:p>
            <a:pPr lvl="0"/>
            <a:r>
              <a:rPr lang="en-US" sz="900" dirty="0"/>
              <a:t>Establish urgency around 3-week implementation timeline</a:t>
            </a:r>
            <a:endParaRPr lang="en-BG" sz="900" dirty="0"/>
          </a:p>
          <a:p>
            <a:pPr lvl="0"/>
            <a:r>
              <a:rPr lang="en-US" sz="900" dirty="0"/>
              <a:t>Review meeting objectives and success criteria</a:t>
            </a:r>
            <a:endParaRPr lang="en-BG" sz="900" dirty="0"/>
          </a:p>
          <a:p>
            <a:pPr marL="0" indent="0">
              <a:buNone/>
            </a:pPr>
            <a:endParaRPr lang="en-US" sz="900" b="1" dirty="0"/>
          </a:p>
          <a:p>
            <a:pPr marL="0" indent="0">
              <a:buNone/>
            </a:pPr>
            <a:r>
              <a:rPr lang="en-US" sz="900" b="1" dirty="0"/>
              <a:t>Transition Statement:</a:t>
            </a:r>
            <a:r>
              <a:rPr lang="en-US" sz="900" dirty="0"/>
              <a:t> "Let's start with individual AI analysis sharing. Five min per person to present your top opportunities and implementation ideas."</a:t>
            </a:r>
            <a:endParaRPr lang="en-BG" sz="900" dirty="0"/>
          </a:p>
          <a:p>
            <a:pPr marL="0" indent="0">
              <a:buNone/>
            </a:pPr>
            <a:endParaRPr lang="en-GB" sz="900" dirty="0"/>
          </a:p>
        </p:txBody>
      </p:sp>
      <p:sp>
        <p:nvSpPr>
          <p:cNvPr id="10" name="TextBox 9">
            <a:extLst>
              <a:ext uri="{FF2B5EF4-FFF2-40B4-BE49-F238E27FC236}">
                <a16:creationId xmlns:a16="http://schemas.microsoft.com/office/drawing/2014/main" id="{ECB36305-3475-6796-97A4-1FBFF4A5AD49}"/>
              </a:ext>
            </a:extLst>
          </p:cNvPr>
          <p:cNvSpPr txBox="1"/>
          <p:nvPr/>
        </p:nvSpPr>
        <p:spPr>
          <a:xfrm>
            <a:off x="195039" y="5962498"/>
            <a:ext cx="3673576" cy="869717"/>
          </a:xfrm>
          <a:prstGeom prst="rect">
            <a:avLst/>
          </a:prstGeom>
        </p:spPr>
        <p:txBody>
          <a:bodyPr>
            <a:normAutofit/>
          </a:bodyPr>
          <a:lstStyle>
            <a:defPPr>
              <a:defRPr lang="en-US"/>
            </a:defPPr>
            <a:lvl1pPr>
              <a:lnSpc>
                <a:spcPct val="70000"/>
              </a:lnSpc>
              <a:spcBef>
                <a:spcPct val="0"/>
              </a:spcBef>
              <a:buNone/>
              <a:defRPr sz="2800" i="0" cap="none" spc="0" baseline="0">
                <a:solidFill>
                  <a:schemeClr val="tx1">
                    <a:lumMod val="85000"/>
                    <a:lumOff val="15000"/>
                  </a:schemeClr>
                </a:solidFill>
                <a:effectLst/>
                <a:latin typeface="Plaak 3 Trial Regular" panose="02000000000000000000" pitchFamily="50" charset="0"/>
              </a:defRPr>
            </a:lvl1pPr>
          </a:lstStyle>
          <a:p>
            <a:r>
              <a:rPr lang="en-US" sz="2400" dirty="0"/>
              <a:t>Meeting Agenda With </a:t>
            </a:r>
          </a:p>
          <a:p>
            <a:r>
              <a:rPr lang="en-US" sz="2400" dirty="0"/>
              <a:t>Facilitation Instructions</a:t>
            </a:r>
          </a:p>
        </p:txBody>
      </p:sp>
      <p:cxnSp>
        <p:nvCxnSpPr>
          <p:cNvPr id="11" name="Straight Connector 10">
            <a:extLst>
              <a:ext uri="{FF2B5EF4-FFF2-40B4-BE49-F238E27FC236}">
                <a16:creationId xmlns:a16="http://schemas.microsoft.com/office/drawing/2014/main" id="{21F37476-27F4-C2E0-D10E-71EAA5F2D379}"/>
              </a:ext>
            </a:extLst>
          </p:cNvPr>
          <p:cNvCxnSpPr>
            <a:cxnSpLocks/>
          </p:cNvCxnSpPr>
          <p:nvPr/>
        </p:nvCxnSpPr>
        <p:spPr>
          <a:xfrm flipH="1">
            <a:off x="288251" y="6501062"/>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6FE8CD-E26E-A2C3-B009-B9F522AD39DA}"/>
              </a:ext>
            </a:extLst>
          </p:cNvPr>
          <p:cNvSpPr txBox="1"/>
          <p:nvPr/>
        </p:nvSpPr>
        <p:spPr>
          <a:xfrm>
            <a:off x="5810713" y="5662439"/>
            <a:ext cx="66599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04</a:t>
            </a:r>
          </a:p>
        </p:txBody>
      </p:sp>
    </p:spTree>
    <p:extLst>
      <p:ext uri="{BB962C8B-B14F-4D97-AF65-F5344CB8AC3E}">
        <p14:creationId xmlns:p14="http://schemas.microsoft.com/office/powerpoint/2010/main" val="2165972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6816-2A29-BB73-11E3-75AC3F5D024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24749FB-5B55-8602-5ADB-FAB978CC77F5}"/>
              </a:ext>
            </a:extLst>
          </p:cNvPr>
          <p:cNvSpPr/>
          <p:nvPr/>
        </p:nvSpPr>
        <p:spPr>
          <a:xfrm>
            <a:off x="0" y="452297"/>
            <a:ext cx="6398576" cy="9438073"/>
          </a:xfrm>
          <a:prstGeom prst="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105" name="Rectangle 1">
            <a:extLst>
              <a:ext uri="{FF2B5EF4-FFF2-40B4-BE49-F238E27FC236}">
                <a16:creationId xmlns:a16="http://schemas.microsoft.com/office/drawing/2014/main" id="{26003BD2-09D5-6FC1-5E6A-39AE6CF2A39F}"/>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81" name="TextBox 80">
            <a:extLst>
              <a:ext uri="{FF2B5EF4-FFF2-40B4-BE49-F238E27FC236}">
                <a16:creationId xmlns:a16="http://schemas.microsoft.com/office/drawing/2014/main" id="{54295098-1240-46B8-329A-75A3D543F24E}"/>
              </a:ext>
            </a:extLst>
          </p:cNvPr>
          <p:cNvSpPr txBox="1"/>
          <p:nvPr/>
        </p:nvSpPr>
        <p:spPr>
          <a:xfrm>
            <a:off x="195039" y="545202"/>
            <a:ext cx="6281672" cy="9464129"/>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sz="1000" b="1" dirty="0"/>
              <a:t>Individual AI Analysis Sharing (45 min)</a:t>
            </a:r>
            <a:endParaRPr lang="en-BG" sz="1000" dirty="0"/>
          </a:p>
          <a:p>
            <a:pPr marL="0" indent="0">
              <a:buNone/>
            </a:pPr>
            <a:endParaRPr lang="en-US" b="1" dirty="0"/>
          </a:p>
          <a:p>
            <a:pPr marL="0" indent="0">
              <a:buNone/>
            </a:pPr>
            <a:r>
              <a:rPr lang="en-US" b="1" dirty="0"/>
              <a:t>Structure for Each Person (5 min):</a:t>
            </a:r>
            <a:endParaRPr lang="en-BG" dirty="0"/>
          </a:p>
          <a:p>
            <a:pPr lvl="0"/>
            <a:r>
              <a:rPr lang="en-US" dirty="0"/>
              <a:t>Top 3 decisions for AI optimization (2 min)</a:t>
            </a:r>
            <a:endParaRPr lang="en-BG" dirty="0"/>
          </a:p>
          <a:p>
            <a:pPr lvl="0"/>
            <a:r>
              <a:rPr lang="en-US" dirty="0"/>
              <a:t>Top 3 processes for AI automation (2 min)</a:t>
            </a:r>
            <a:endParaRPr lang="en-BG" dirty="0"/>
          </a:p>
          <a:p>
            <a:pPr lvl="0"/>
            <a:r>
              <a:rPr lang="en-US" dirty="0"/>
              <a:t>Specific AI tools and implementation timeline (1 min)</a:t>
            </a:r>
            <a:endParaRPr lang="en-BG" dirty="0"/>
          </a:p>
          <a:p>
            <a:pPr marL="0" indent="0">
              <a:buNone/>
            </a:pPr>
            <a:endParaRPr lang="en-US" b="1" dirty="0"/>
          </a:p>
          <a:p>
            <a:pPr marL="0" indent="0">
              <a:buNone/>
            </a:pPr>
            <a:r>
              <a:rPr lang="en-US" b="1" dirty="0"/>
              <a:t>Your Management Approach:</a:t>
            </a:r>
            <a:endParaRPr lang="en-BG" dirty="0"/>
          </a:p>
          <a:p>
            <a:pPr lvl="0"/>
            <a:r>
              <a:rPr lang="en-US" dirty="0"/>
              <a:t>Keep energy high and presentations focused</a:t>
            </a:r>
            <a:endParaRPr lang="en-BG" dirty="0"/>
          </a:p>
          <a:p>
            <a:pPr lvl="0"/>
            <a:r>
              <a:rPr lang="en-US" dirty="0"/>
              <a:t>Ask clarifying questions about business impact</a:t>
            </a:r>
            <a:endParaRPr lang="en-BG" dirty="0"/>
          </a:p>
          <a:p>
            <a:pPr lvl="0"/>
            <a:r>
              <a:rPr lang="en-US" dirty="0"/>
              <a:t>Identify common patterns across presentations</a:t>
            </a:r>
            <a:endParaRPr lang="en-BG" dirty="0"/>
          </a:p>
          <a:p>
            <a:pPr lvl="0"/>
            <a:r>
              <a:rPr lang="en-US" dirty="0"/>
              <a:t>Note opportunities for collaboration and shared tools</a:t>
            </a:r>
            <a:endParaRPr lang="en-BG" dirty="0"/>
          </a:p>
          <a:p>
            <a:pPr marL="0" indent="0">
              <a:buNone/>
            </a:pPr>
            <a:endParaRPr lang="en-US" b="1" dirty="0"/>
          </a:p>
          <a:p>
            <a:pPr marL="0" indent="0">
              <a:buNone/>
            </a:pPr>
            <a:r>
              <a:rPr lang="en-US" b="1" dirty="0"/>
              <a:t>Quality Control Questions:</a:t>
            </a:r>
            <a:endParaRPr lang="en-BG" dirty="0"/>
          </a:p>
          <a:p>
            <a:pPr lvl="0"/>
            <a:r>
              <a:rPr lang="en-US" dirty="0"/>
              <a:t>"What specific business result will this AI implementation achieve?"</a:t>
            </a:r>
            <a:endParaRPr lang="en-BG" dirty="0"/>
          </a:p>
          <a:p>
            <a:pPr lvl="0"/>
            <a:r>
              <a:rPr lang="en-US" dirty="0"/>
              <a:t>"How will you measure success within 3 weeks?"</a:t>
            </a:r>
            <a:endParaRPr lang="en-BG" dirty="0"/>
          </a:p>
          <a:p>
            <a:pPr lvl="0"/>
            <a:r>
              <a:rPr lang="en-US" dirty="0"/>
              <a:t>"What's the simplest first step you can take this week?"</a:t>
            </a:r>
            <a:endParaRPr lang="en-BG" dirty="0"/>
          </a:p>
          <a:p>
            <a:pPr marL="0" indent="0">
              <a:buNone/>
            </a:pPr>
            <a:endParaRPr lang="en-US" b="1" dirty="0"/>
          </a:p>
          <a:p>
            <a:pPr marL="0" indent="0">
              <a:buNone/>
            </a:pPr>
            <a:r>
              <a:rPr lang="en-US" sz="1000" b="1" dirty="0"/>
              <a:t>Pattern Recognition and Opportunity Identification (20 min)</a:t>
            </a:r>
            <a:endParaRPr lang="en-BG" sz="1000" dirty="0"/>
          </a:p>
          <a:p>
            <a:pPr marL="0" indent="0">
              <a:buNone/>
            </a:pPr>
            <a:endParaRPr lang="en-US" b="1" dirty="0"/>
          </a:p>
          <a:p>
            <a:pPr marL="0" indent="0">
              <a:buNone/>
            </a:pPr>
            <a:r>
              <a:rPr lang="en-US" b="1" dirty="0"/>
              <a:t>Step 1: Common Decision Analysis (8 min)</a:t>
            </a:r>
            <a:r>
              <a:rPr lang="en-US" dirty="0"/>
              <a:t> </a:t>
            </a:r>
          </a:p>
          <a:p>
            <a:r>
              <a:rPr lang="en-US" dirty="0"/>
              <a:t>Map decisions that multiple team members share. Customer analysis, resource allocation, timeline planning, performance evaluation.</a:t>
            </a:r>
            <a:endParaRPr lang="en-BG" dirty="0"/>
          </a:p>
          <a:p>
            <a:pPr marL="0" indent="0">
              <a:buNone/>
            </a:pPr>
            <a:r>
              <a:rPr lang="en-US" b="1" dirty="0"/>
              <a:t>Step 2: Shared Process Identification (8 min)</a:t>
            </a:r>
          </a:p>
          <a:p>
            <a:r>
              <a:rPr lang="en-US" dirty="0"/>
              <a:t>Identify processes that span multiple roles. Communication workflows, reporting systems, planning activities, quality control.</a:t>
            </a:r>
            <a:endParaRPr lang="en-BG" dirty="0"/>
          </a:p>
          <a:p>
            <a:pPr marL="0" indent="0">
              <a:buNone/>
            </a:pPr>
            <a:r>
              <a:rPr lang="en-US" b="1" dirty="0"/>
              <a:t>Step 3: Collaboration Opportunity Assessment (4 min)</a:t>
            </a:r>
            <a:r>
              <a:rPr lang="en-US" dirty="0"/>
              <a:t> </a:t>
            </a:r>
          </a:p>
          <a:p>
            <a:r>
              <a:rPr lang="en-US" dirty="0"/>
              <a:t>Find AI implementations that benefit multiple team members. Shared databases, common analysis tools, integrated automation systems.</a:t>
            </a:r>
            <a:endParaRPr lang="en-BG" dirty="0"/>
          </a:p>
          <a:p>
            <a:pPr marL="0" indent="0">
              <a:buNone/>
            </a:pPr>
            <a:endParaRPr lang="en-US" b="1" dirty="0"/>
          </a:p>
          <a:p>
            <a:pPr marL="0" indent="0">
              <a:buNone/>
            </a:pPr>
            <a:r>
              <a:rPr lang="en-US" b="1" dirty="0"/>
              <a:t>Your Facilitation Focus:</a:t>
            </a:r>
            <a:endParaRPr lang="en-BG" dirty="0"/>
          </a:p>
          <a:p>
            <a:pPr lvl="0"/>
            <a:r>
              <a:rPr lang="en-US" dirty="0"/>
              <a:t>Push for specific shared opportunities, not general collaboration</a:t>
            </a:r>
            <a:endParaRPr lang="en-BG" dirty="0"/>
          </a:p>
          <a:p>
            <a:pPr lvl="0"/>
            <a:r>
              <a:rPr lang="en-US" dirty="0"/>
              <a:t>Force prioritization of highest-impact shared AI implementations</a:t>
            </a:r>
            <a:endParaRPr lang="en-BG" dirty="0"/>
          </a:p>
          <a:p>
            <a:pPr lvl="0"/>
            <a:r>
              <a:rPr lang="en-US" dirty="0"/>
              <a:t>Prevent abstract discussions about potential synergies</a:t>
            </a:r>
            <a:endParaRPr lang="en-US" b="1" dirty="0"/>
          </a:p>
          <a:p>
            <a:pPr marL="0" indent="0">
              <a:buNone/>
            </a:pPr>
            <a:endParaRPr lang="en-US" b="1" dirty="0"/>
          </a:p>
          <a:p>
            <a:pPr marL="0" indent="0">
              <a:buNone/>
            </a:pPr>
            <a:r>
              <a:rPr lang="en-US" sz="1000" b="1" dirty="0"/>
              <a:t>Company AI Strategy Development (25 min)</a:t>
            </a:r>
          </a:p>
          <a:p>
            <a:pPr marL="0" indent="0">
              <a:buNone/>
            </a:pPr>
            <a:endParaRPr lang="en-BG" sz="1000" b="1" dirty="0"/>
          </a:p>
          <a:p>
            <a:pPr marL="0" indent="0">
              <a:buNone/>
            </a:pPr>
            <a:r>
              <a:rPr lang="en-US" b="1" dirty="0"/>
              <a:t>Step 1: Strategic Alignment (10 min)</a:t>
            </a:r>
          </a:p>
          <a:p>
            <a:r>
              <a:rPr lang="en-US" dirty="0"/>
              <a:t>Connect individual AI opportunities to company objectives. How does AI decision optimization serve strategic goals? How does process automation enable competitive advantage?</a:t>
            </a:r>
            <a:endParaRPr lang="en-BG" dirty="0"/>
          </a:p>
          <a:p>
            <a:pPr marL="0" indent="0">
              <a:buNone/>
            </a:pPr>
            <a:r>
              <a:rPr lang="en-US" b="1" dirty="0"/>
              <a:t>Step 2: Priority Setting (10 min)</a:t>
            </a:r>
            <a:r>
              <a:rPr lang="en-US" dirty="0"/>
              <a:t> </a:t>
            </a:r>
          </a:p>
          <a:p>
            <a:r>
              <a:rPr lang="en-US" dirty="0"/>
              <a:t>Rank AI implementations by business impact and ease of implementation. Focus on high-impact, low-complexity opportunities first.</a:t>
            </a:r>
            <a:endParaRPr lang="en-BG" dirty="0"/>
          </a:p>
          <a:p>
            <a:pPr marL="0" indent="0">
              <a:buNone/>
            </a:pPr>
            <a:r>
              <a:rPr lang="en-US" b="1" dirty="0"/>
              <a:t>Step 3: Resource Allocation (5 min)</a:t>
            </a:r>
            <a:r>
              <a:rPr lang="en-US" dirty="0"/>
              <a:t> </a:t>
            </a:r>
          </a:p>
          <a:p>
            <a:r>
              <a:rPr lang="en-US" dirty="0"/>
              <a:t>Assign ownership for AI implementation initiatives. Identify shared tools and individual responsibilities. Establish support systems and collaboration protocols.</a:t>
            </a:r>
            <a:endParaRPr lang="en-BG" dirty="0"/>
          </a:p>
          <a:p>
            <a:pPr marL="0" indent="0">
              <a:buNone/>
            </a:pPr>
            <a:endParaRPr lang="en-US" b="1" dirty="0"/>
          </a:p>
          <a:p>
            <a:pPr marL="0" indent="0">
              <a:buNone/>
            </a:pPr>
            <a:r>
              <a:rPr lang="en-US" b="1" dirty="0"/>
              <a:t>Your Strategic Focus:</a:t>
            </a:r>
            <a:endParaRPr lang="en-BG" dirty="0"/>
          </a:p>
          <a:p>
            <a:pPr lvl="0"/>
            <a:r>
              <a:rPr lang="en-US" dirty="0"/>
              <a:t>Ensure every AI implementation serves business objectives</a:t>
            </a:r>
            <a:endParaRPr lang="en-BG" dirty="0"/>
          </a:p>
          <a:p>
            <a:pPr lvl="0"/>
            <a:r>
              <a:rPr lang="en-US" dirty="0"/>
              <a:t>Force choices between competing AI opportunities</a:t>
            </a:r>
            <a:endParaRPr lang="en-BG" dirty="0"/>
          </a:p>
          <a:p>
            <a:pPr lvl="0"/>
            <a:r>
              <a:rPr lang="en-US" dirty="0"/>
              <a:t>Create accountability for results, not activities</a:t>
            </a:r>
            <a:endParaRPr lang="en-BG" dirty="0"/>
          </a:p>
          <a:p>
            <a:pPr marL="0" indent="0">
              <a:buNone/>
            </a:pPr>
            <a:endParaRPr lang="en-US" b="1" dirty="0"/>
          </a:p>
          <a:p>
            <a:pPr marL="0" indent="0">
              <a:buNone/>
            </a:pPr>
            <a:r>
              <a:rPr lang="en-US" sz="1000" b="1" dirty="0"/>
              <a:t>Implementation Planning and Accountability (15 min)</a:t>
            </a:r>
          </a:p>
          <a:p>
            <a:pPr marL="0" indent="0">
              <a:buNone/>
            </a:pPr>
            <a:endParaRPr lang="en-BG" sz="1000" dirty="0"/>
          </a:p>
          <a:p>
            <a:r>
              <a:rPr lang="en-US" dirty="0"/>
              <a:t>Individual AI tool deployment and initial automation setup. Specific tools selected, accounts created, initial implementations tested.</a:t>
            </a:r>
            <a:endParaRPr lang="en-BG" dirty="0"/>
          </a:p>
          <a:p>
            <a:r>
              <a:rPr lang="en-US" dirty="0"/>
              <a:t>Team collaboration integration and shared AI system deployment. Cross-functional AI tools implemented, knowledge sharing established.</a:t>
            </a:r>
            <a:endParaRPr lang="en-BG" dirty="0"/>
          </a:p>
          <a:p>
            <a:r>
              <a:rPr lang="en-US" dirty="0"/>
              <a:t>Competitive advantage measurement and optimization. Success metrics tracked, improvements implemented, competitive positioning assessed.</a:t>
            </a:r>
            <a:endParaRPr lang="en-BG" dirty="0"/>
          </a:p>
          <a:p>
            <a:pPr marL="0" indent="0">
              <a:buNone/>
            </a:pPr>
            <a:endParaRPr lang="en-US" b="1" dirty="0"/>
          </a:p>
          <a:p>
            <a:pPr marL="0" indent="0">
              <a:buNone/>
            </a:pPr>
            <a:r>
              <a:rPr lang="en-US" b="1" dirty="0"/>
              <a:t>Your Implementation Focus:</a:t>
            </a:r>
            <a:endParaRPr lang="en-BG" dirty="0"/>
          </a:p>
          <a:p>
            <a:pPr lvl="0"/>
            <a:r>
              <a:rPr lang="en-US" dirty="0"/>
              <a:t>Force specific deadlines for every commitment</a:t>
            </a:r>
            <a:endParaRPr lang="en-BG" dirty="0"/>
          </a:p>
          <a:p>
            <a:pPr lvl="0"/>
            <a:r>
              <a:rPr lang="en-US" dirty="0"/>
              <a:t>Assign clear ownership for each AI implementation</a:t>
            </a:r>
            <a:endParaRPr lang="en-BG" dirty="0"/>
          </a:p>
          <a:p>
            <a:pPr lvl="0"/>
            <a:r>
              <a:rPr lang="en-US" dirty="0"/>
              <a:t>Establish progress review schedule and accountability measures</a:t>
            </a:r>
            <a:endParaRPr lang="en-BG" dirty="0"/>
          </a:p>
          <a:p>
            <a:pPr marL="0" indent="0">
              <a:buNone/>
            </a:pPr>
            <a:endParaRPr lang="en-US" b="1" dirty="0"/>
          </a:p>
        </p:txBody>
      </p:sp>
      <p:sp>
        <p:nvSpPr>
          <p:cNvPr id="4" name="TextBox 3">
            <a:extLst>
              <a:ext uri="{FF2B5EF4-FFF2-40B4-BE49-F238E27FC236}">
                <a16:creationId xmlns:a16="http://schemas.microsoft.com/office/drawing/2014/main" id="{9EB4EE94-55D4-00A6-E50F-51010EC8B05F}"/>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SPRINT:</a:t>
            </a:r>
            <a:r>
              <a:rPr lang="bg-BG" dirty="0" err="1">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Tree>
    <p:extLst>
      <p:ext uri="{BB962C8B-B14F-4D97-AF65-F5344CB8AC3E}">
        <p14:creationId xmlns:p14="http://schemas.microsoft.com/office/powerpoint/2010/main" val="3569286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F222-0EE0-1267-B936-C6BB550FE7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5972E07-ECE0-0F6E-7FD1-2BF84A54FD7D}"/>
              </a:ext>
            </a:extLst>
          </p:cNvPr>
          <p:cNvSpPr/>
          <p:nvPr/>
        </p:nvSpPr>
        <p:spPr>
          <a:xfrm>
            <a:off x="0" y="452298"/>
            <a:ext cx="6398576" cy="1638910"/>
          </a:xfrm>
          <a:prstGeom prst="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105" name="Rectangle 1">
            <a:extLst>
              <a:ext uri="{FF2B5EF4-FFF2-40B4-BE49-F238E27FC236}">
                <a16:creationId xmlns:a16="http://schemas.microsoft.com/office/drawing/2014/main" id="{C50096BC-09ED-F136-C80E-074C42659BF5}"/>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81" name="TextBox 80">
            <a:extLst>
              <a:ext uri="{FF2B5EF4-FFF2-40B4-BE49-F238E27FC236}">
                <a16:creationId xmlns:a16="http://schemas.microsoft.com/office/drawing/2014/main" id="{AD622A9E-2182-E8E4-EFF5-EAADF0080BFB}"/>
              </a:ext>
            </a:extLst>
          </p:cNvPr>
          <p:cNvSpPr txBox="1"/>
          <p:nvPr/>
        </p:nvSpPr>
        <p:spPr>
          <a:xfrm>
            <a:off x="195039" y="545202"/>
            <a:ext cx="6281672" cy="1638910"/>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sz="1050" b="1" dirty="0"/>
              <a:t>Commitment and Next Steps (5 min)</a:t>
            </a:r>
            <a:endParaRPr lang="en-BG" sz="1050" dirty="0"/>
          </a:p>
          <a:p>
            <a:pPr marL="0" indent="0">
              <a:buNone/>
            </a:pPr>
            <a:endParaRPr lang="en-US" b="1" dirty="0"/>
          </a:p>
          <a:p>
            <a:pPr marL="0" indent="0">
              <a:buNone/>
            </a:pPr>
            <a:r>
              <a:rPr lang="en-US" b="1" dirty="0"/>
              <a:t>Essential Outputs:</a:t>
            </a:r>
            <a:endParaRPr lang="en-BG" dirty="0"/>
          </a:p>
          <a:p>
            <a:pPr lvl="0"/>
            <a:r>
              <a:rPr lang="en-US" dirty="0"/>
              <a:t>Individual AI implementation commitments with specific deadlines</a:t>
            </a:r>
            <a:endParaRPr lang="en-BG" dirty="0"/>
          </a:p>
          <a:p>
            <a:pPr lvl="0"/>
            <a:r>
              <a:rPr lang="en-US" dirty="0"/>
              <a:t>Team AI strategy with shared tools and collaboration plans</a:t>
            </a:r>
            <a:endParaRPr lang="en-BG" dirty="0"/>
          </a:p>
          <a:p>
            <a:pPr lvl="0"/>
            <a:r>
              <a:rPr lang="en-US" dirty="0"/>
              <a:t>3-week timeline with milestone deadlines and progress reviews</a:t>
            </a:r>
            <a:endParaRPr lang="en-BG" dirty="0"/>
          </a:p>
          <a:p>
            <a:pPr lvl="0"/>
            <a:r>
              <a:rPr lang="en-US" dirty="0"/>
              <a:t>Accountability partnerships for mutual support and progress tracking</a:t>
            </a:r>
            <a:endParaRPr lang="en-BG" dirty="0"/>
          </a:p>
          <a:p>
            <a:r>
              <a:rPr lang="en-US" b="1" dirty="0"/>
              <a:t>Your Closing:</a:t>
            </a:r>
            <a:r>
              <a:rPr lang="en-US" dirty="0"/>
              <a:t> "We've built the foundation for AI competitive advantage. Implementation starts immediately. Progress reviews happen weekly. Competitive advantage gets measured in 3 weeks."</a:t>
            </a:r>
            <a:endParaRPr lang="en-BG" dirty="0"/>
          </a:p>
          <a:p>
            <a:pPr lvl="0"/>
            <a:endParaRPr lang="en-GB" dirty="0"/>
          </a:p>
          <a:p>
            <a:pPr lvl="0"/>
            <a:endParaRPr lang="en-BG" dirty="0"/>
          </a:p>
        </p:txBody>
      </p:sp>
      <p:sp>
        <p:nvSpPr>
          <p:cNvPr id="4" name="TextBox 3">
            <a:extLst>
              <a:ext uri="{FF2B5EF4-FFF2-40B4-BE49-F238E27FC236}">
                <a16:creationId xmlns:a16="http://schemas.microsoft.com/office/drawing/2014/main" id="{F07D688A-E940-C136-6464-305ABD6B7D2D}"/>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SPRINT:</a:t>
            </a:r>
            <a:r>
              <a:rPr lang="bg-BG" dirty="0" err="1">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
        <p:nvSpPr>
          <p:cNvPr id="3" name="TextBox 2">
            <a:extLst>
              <a:ext uri="{FF2B5EF4-FFF2-40B4-BE49-F238E27FC236}">
                <a16:creationId xmlns:a16="http://schemas.microsoft.com/office/drawing/2014/main" id="{6CB0E44A-7954-5052-87C2-77388F88AEE7}"/>
              </a:ext>
            </a:extLst>
          </p:cNvPr>
          <p:cNvSpPr txBox="1"/>
          <p:nvPr/>
        </p:nvSpPr>
        <p:spPr>
          <a:xfrm>
            <a:off x="195039" y="3335757"/>
            <a:ext cx="5629976" cy="5770811"/>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b="1" dirty="0"/>
              <a:t>Individual Sharing Section</a:t>
            </a:r>
            <a:endParaRPr lang="en-BG" dirty="0"/>
          </a:p>
          <a:p>
            <a:r>
              <a:rPr lang="en-US" b="1" dirty="0"/>
              <a:t>Q: "I couldn't identify clear AI opportunities for my role."</a:t>
            </a:r>
            <a:r>
              <a:rPr lang="en-US" dirty="0"/>
              <a:t> </a:t>
            </a:r>
          </a:p>
          <a:p>
            <a:r>
              <a:rPr lang="en-US" b="1" dirty="0"/>
              <a:t>A:</a:t>
            </a:r>
            <a:r>
              <a:rPr lang="en-US" dirty="0"/>
              <a:t> "Every role has decisions and processes. If you make choices and complete tasks, AI can optimize both. Let's start with your most time-consuming decisions and most repetitive processes."</a:t>
            </a:r>
            <a:endParaRPr lang="en-BG" dirty="0"/>
          </a:p>
          <a:p>
            <a:endParaRPr lang="en-US" b="1" dirty="0"/>
          </a:p>
          <a:p>
            <a:r>
              <a:rPr lang="en-US" b="1" dirty="0"/>
              <a:t>Q: "The AI tools I researched seem too complex for my skill level."</a:t>
            </a:r>
            <a:r>
              <a:rPr lang="en-US" dirty="0"/>
              <a:t> </a:t>
            </a:r>
          </a:p>
          <a:p>
            <a:r>
              <a:rPr lang="en-US" b="1" dirty="0"/>
              <a:t>A:</a:t>
            </a:r>
            <a:r>
              <a:rPr lang="en-US" dirty="0"/>
              <a:t> "AI tools should simplify your work, not complicate it. If a tool requires training, find a simpler tool that works immediately. ChatGPT and basic automation platforms require no technical skills."</a:t>
            </a:r>
            <a:endParaRPr lang="en-BG" dirty="0"/>
          </a:p>
          <a:p>
            <a:pPr marL="0" indent="0">
              <a:buNone/>
            </a:pPr>
            <a:endParaRPr lang="en-US" b="1" dirty="0"/>
          </a:p>
          <a:p>
            <a:pPr marL="0" indent="0">
              <a:buNone/>
            </a:pPr>
            <a:endParaRPr lang="en-US" b="1" dirty="0"/>
          </a:p>
          <a:p>
            <a:pPr marL="0" indent="0">
              <a:buNone/>
            </a:pPr>
            <a:r>
              <a:rPr lang="en-US" b="1" dirty="0"/>
              <a:t>Pattern Recognition Section</a:t>
            </a:r>
            <a:endParaRPr lang="en-BG" dirty="0"/>
          </a:p>
          <a:p>
            <a:r>
              <a:rPr lang="en-US" b="1" dirty="0"/>
              <a:t>Q: "Our individual AI opportunities don't seem to overlap much."</a:t>
            </a:r>
            <a:r>
              <a:rPr lang="en-US" dirty="0"/>
              <a:t> </a:t>
            </a:r>
          </a:p>
          <a:p>
            <a:r>
              <a:rPr lang="en-US" b="1" dirty="0"/>
              <a:t>A:</a:t>
            </a:r>
            <a:r>
              <a:rPr lang="en-US" dirty="0"/>
              <a:t> "Look deeper. Everyone makes resource decisions. Everyone communicates with customers. Everyone reports on progress. Find the common elements even if the specific applications differ."</a:t>
            </a:r>
            <a:endParaRPr lang="en-BG" dirty="0"/>
          </a:p>
          <a:p>
            <a:endParaRPr lang="en-US" b="1" dirty="0"/>
          </a:p>
          <a:p>
            <a:r>
              <a:rPr lang="en-US" b="1" dirty="0"/>
              <a:t>Q: "Should we standardize on specific AI tools across the team?"</a:t>
            </a:r>
            <a:r>
              <a:rPr lang="en-US" dirty="0"/>
              <a:t> </a:t>
            </a:r>
          </a:p>
          <a:p>
            <a:r>
              <a:rPr lang="en-US" b="1" dirty="0"/>
              <a:t>A:</a:t>
            </a:r>
            <a:r>
              <a:rPr lang="en-US" dirty="0"/>
              <a:t> "Standardization helps with shared learning and support. But individual productivity tools can vary. Focus standardization on tools that enable collaboration and shared processes."</a:t>
            </a:r>
            <a:endParaRPr lang="en-BG" dirty="0"/>
          </a:p>
          <a:p>
            <a:pPr marL="0" indent="0">
              <a:buNone/>
            </a:pPr>
            <a:endParaRPr lang="en-US" b="1" dirty="0"/>
          </a:p>
          <a:p>
            <a:pPr marL="0" indent="0">
              <a:buNone/>
            </a:pPr>
            <a:r>
              <a:rPr lang="en-US" b="1" dirty="0"/>
              <a:t>Strategy Development Section</a:t>
            </a:r>
            <a:endParaRPr lang="en-BG" dirty="0"/>
          </a:p>
          <a:p>
            <a:r>
              <a:rPr lang="en-US" b="1" dirty="0"/>
              <a:t>Q: "How do we know if our AI strategy aligns with company priorities?"</a:t>
            </a:r>
            <a:r>
              <a:rPr lang="en-US" dirty="0"/>
              <a:t> </a:t>
            </a:r>
          </a:p>
          <a:p>
            <a:r>
              <a:rPr lang="en-US" b="1" dirty="0"/>
              <a:t>A:</a:t>
            </a:r>
            <a:r>
              <a:rPr lang="en-US" dirty="0"/>
              <a:t> "Connect every AI implementation to measurable business outcomes. Revenue improvement, cost reduction, customer satisfaction, competitive positioning. If AI doesn't drive business results, it's not strategic."</a:t>
            </a:r>
            <a:endParaRPr lang="en-BG" dirty="0"/>
          </a:p>
          <a:p>
            <a:endParaRPr lang="en-US" b="1" dirty="0"/>
          </a:p>
          <a:p>
            <a:r>
              <a:rPr lang="en-US" b="1" dirty="0"/>
              <a:t>Q: "What if our AI implementations conflict with each other?"</a:t>
            </a:r>
            <a:r>
              <a:rPr lang="en-US" dirty="0"/>
              <a:t> </a:t>
            </a:r>
          </a:p>
          <a:p>
            <a:r>
              <a:rPr lang="en-US" b="1" dirty="0"/>
              <a:t>A:</a:t>
            </a:r>
            <a:r>
              <a:rPr lang="en-US" dirty="0"/>
              <a:t> "Good problem to have. It means multiple people see AI opportunities. Prioritize by business impact and implementation speed. Start with highest value, lowest complexity options."</a:t>
            </a:r>
            <a:endParaRPr lang="en-BG" dirty="0"/>
          </a:p>
          <a:p>
            <a:pPr marL="0" indent="0">
              <a:buNone/>
            </a:pPr>
            <a:endParaRPr lang="en-US" b="1" dirty="0"/>
          </a:p>
          <a:p>
            <a:pPr marL="0" indent="0">
              <a:buNone/>
            </a:pPr>
            <a:r>
              <a:rPr lang="en-US" b="1" dirty="0"/>
              <a:t>Implementation Planning Section</a:t>
            </a:r>
            <a:endParaRPr lang="en-BG" dirty="0"/>
          </a:p>
          <a:p>
            <a:r>
              <a:rPr lang="en-US" b="1" dirty="0"/>
              <a:t>Q: "Three weeks seems too aggressive for meaningful AI implementation."</a:t>
            </a:r>
            <a:r>
              <a:rPr lang="en-US" dirty="0"/>
              <a:t> </a:t>
            </a:r>
          </a:p>
          <a:p>
            <a:r>
              <a:rPr lang="en-US" b="1" dirty="0"/>
              <a:t>A:</a:t>
            </a:r>
            <a:r>
              <a:rPr lang="en-US" dirty="0"/>
              <a:t> "Three weeks is enough time to deploy basic AI tools and measure initial results. We're not building custom AI systems. We're using existing tools to optimize current work. Start simple and expand success."</a:t>
            </a:r>
            <a:endParaRPr lang="en-BG" dirty="0"/>
          </a:p>
          <a:p>
            <a:endParaRPr lang="en-US" b="1" dirty="0"/>
          </a:p>
          <a:p>
            <a:r>
              <a:rPr lang="en-US" b="1" dirty="0"/>
              <a:t>Q: "What if we encounter technical problems during implementation?"</a:t>
            </a:r>
            <a:r>
              <a:rPr lang="en-US" dirty="0"/>
              <a:t> </a:t>
            </a:r>
          </a:p>
          <a:p>
            <a:r>
              <a:rPr lang="en-US" b="1" dirty="0"/>
              <a:t>A:</a:t>
            </a:r>
            <a:r>
              <a:rPr lang="en-US" dirty="0"/>
              <a:t> "AI tools are designed for non-technical users. If you encounter complexity, choose simpler tools. The goal is business improvement, not technical mastery. Focus on results, not sophistication."</a:t>
            </a:r>
            <a:endParaRPr lang="en-BG" dirty="0"/>
          </a:p>
          <a:p>
            <a:endParaRPr lang="en-GB" dirty="0"/>
          </a:p>
        </p:txBody>
      </p:sp>
      <p:sp>
        <p:nvSpPr>
          <p:cNvPr id="5" name="TextBox 4">
            <a:extLst>
              <a:ext uri="{FF2B5EF4-FFF2-40B4-BE49-F238E27FC236}">
                <a16:creationId xmlns:a16="http://schemas.microsoft.com/office/drawing/2014/main" id="{2B4608EF-54B1-72E7-1519-BD1EE83B9986}"/>
              </a:ext>
            </a:extLst>
          </p:cNvPr>
          <p:cNvSpPr txBox="1"/>
          <p:nvPr/>
        </p:nvSpPr>
        <p:spPr>
          <a:xfrm>
            <a:off x="195038" y="2723943"/>
            <a:ext cx="2776761" cy="869717"/>
          </a:xfrm>
          <a:prstGeom prst="rect">
            <a:avLst/>
          </a:prstGeom>
        </p:spPr>
        <p:txBody>
          <a:bodyPr>
            <a:normAutofit/>
          </a:bodyPr>
          <a:lstStyle>
            <a:defPPr>
              <a:defRPr lang="en-US"/>
            </a:defPPr>
            <a:lvl1pPr>
              <a:lnSpc>
                <a:spcPct val="70000"/>
              </a:lnSpc>
              <a:spcBef>
                <a:spcPct val="0"/>
              </a:spcBef>
              <a:buNone/>
              <a:defRPr sz="2400" i="0" cap="none" spc="0" baseline="0">
                <a:solidFill>
                  <a:schemeClr val="tx1">
                    <a:lumMod val="85000"/>
                    <a:lumOff val="15000"/>
                  </a:schemeClr>
                </a:solidFill>
                <a:effectLst/>
                <a:latin typeface="Plaak 3 Trial Regular" panose="02000000000000000000" pitchFamily="50" charset="0"/>
              </a:defRPr>
            </a:lvl1pPr>
          </a:lstStyle>
          <a:p>
            <a:r>
              <a:rPr lang="en-GB" dirty="0"/>
              <a:t>Questions and Answers for Each Agenda Item</a:t>
            </a:r>
          </a:p>
          <a:p>
            <a:endParaRPr lang="en-BG" dirty="0"/>
          </a:p>
        </p:txBody>
      </p:sp>
      <p:cxnSp>
        <p:nvCxnSpPr>
          <p:cNvPr id="7" name="Straight Connector 6">
            <a:extLst>
              <a:ext uri="{FF2B5EF4-FFF2-40B4-BE49-F238E27FC236}">
                <a16:creationId xmlns:a16="http://schemas.microsoft.com/office/drawing/2014/main" id="{9AB6DC5C-1D34-1C11-A2E2-F72DD58EC89D}"/>
              </a:ext>
            </a:extLst>
          </p:cNvPr>
          <p:cNvCxnSpPr>
            <a:cxnSpLocks/>
          </p:cNvCxnSpPr>
          <p:nvPr/>
        </p:nvCxnSpPr>
        <p:spPr>
          <a:xfrm flipH="1">
            <a:off x="288251" y="3261823"/>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F3C4FEB-8EA0-7856-933B-90169B968F1E}"/>
              </a:ext>
            </a:extLst>
          </p:cNvPr>
          <p:cNvSpPr txBox="1"/>
          <p:nvPr/>
        </p:nvSpPr>
        <p:spPr>
          <a:xfrm>
            <a:off x="5810713" y="2404878"/>
            <a:ext cx="66599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05</a:t>
            </a:r>
          </a:p>
        </p:txBody>
      </p:sp>
    </p:spTree>
    <p:extLst>
      <p:ext uri="{BB962C8B-B14F-4D97-AF65-F5344CB8AC3E}">
        <p14:creationId xmlns:p14="http://schemas.microsoft.com/office/powerpoint/2010/main" val="1609044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53B9-4443-F46A-7B84-553478AF5962}"/>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43FDDB35-D169-D0FA-A82A-7295BDE29202}"/>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81" name="TextBox 80">
            <a:extLst>
              <a:ext uri="{FF2B5EF4-FFF2-40B4-BE49-F238E27FC236}">
                <a16:creationId xmlns:a16="http://schemas.microsoft.com/office/drawing/2014/main" id="{8CA385D0-139D-430D-1E06-3887031F15AA}"/>
              </a:ext>
            </a:extLst>
          </p:cNvPr>
          <p:cNvSpPr txBox="1"/>
          <p:nvPr/>
        </p:nvSpPr>
        <p:spPr>
          <a:xfrm>
            <a:off x="195039" y="5523663"/>
            <a:ext cx="5629976" cy="4385816"/>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b="1" dirty="0"/>
              <a:t>Pitfall 1: Academic AI Discussion</a:t>
            </a:r>
            <a:endParaRPr lang="en-BG" dirty="0"/>
          </a:p>
          <a:p>
            <a:r>
              <a:rPr lang="en-US" b="1" dirty="0"/>
              <a:t>Signs:</a:t>
            </a:r>
            <a:r>
              <a:rPr lang="en-US" dirty="0"/>
              <a:t> Debates about AI capabilities, discussions of AI ethics, theoretical conversations about AI future </a:t>
            </a:r>
          </a:p>
          <a:p>
            <a:r>
              <a:rPr lang="en-US" b="1" dirty="0"/>
              <a:t>Solution:</a:t>
            </a:r>
            <a:r>
              <a:rPr lang="en-US" dirty="0"/>
              <a:t> "We're implementing AI business solutions, not debating AI philosophy. What specific business problem are we solving? Let's focus on that."</a:t>
            </a:r>
            <a:endParaRPr lang="en-BG" dirty="0"/>
          </a:p>
          <a:p>
            <a:pPr marL="0" indent="0">
              <a:buNone/>
            </a:pPr>
            <a:endParaRPr lang="en-US" b="1" dirty="0"/>
          </a:p>
          <a:p>
            <a:pPr marL="0" indent="0">
              <a:buNone/>
            </a:pPr>
            <a:r>
              <a:rPr lang="en-US" b="1" dirty="0"/>
              <a:t>Pitfall 2: Tool Collection Syndrome</a:t>
            </a:r>
            <a:endParaRPr lang="en-BG" dirty="0"/>
          </a:p>
          <a:p>
            <a:r>
              <a:rPr lang="en-US" b="1" dirty="0"/>
              <a:t>Signs:</a:t>
            </a:r>
            <a:r>
              <a:rPr lang="en-US" dirty="0"/>
              <a:t> Lists of AI tools without implementation plans, excitement about AI features without business applications </a:t>
            </a:r>
          </a:p>
          <a:p>
            <a:r>
              <a:rPr lang="en-US" b="1" dirty="0"/>
              <a:t>Solution:</a:t>
            </a:r>
            <a:r>
              <a:rPr lang="en-US" dirty="0"/>
              <a:t> "AI tools are worthless without business results. For every tool we consider, we need specific business outcomes and success metrics. Choose tools that solve problems, not tools that impress colleagues."</a:t>
            </a:r>
            <a:endParaRPr lang="en-BG" dirty="0"/>
          </a:p>
          <a:p>
            <a:pPr marL="0" indent="0">
              <a:buNone/>
            </a:pPr>
            <a:endParaRPr lang="en-US" b="1" dirty="0"/>
          </a:p>
          <a:p>
            <a:pPr marL="0" indent="0">
              <a:buNone/>
            </a:pPr>
            <a:r>
              <a:rPr lang="en-US" b="1" dirty="0"/>
              <a:t>Pitfall 3: Implementation Procrastination</a:t>
            </a:r>
            <a:endParaRPr lang="en-BG" dirty="0"/>
          </a:p>
          <a:p>
            <a:r>
              <a:rPr lang="en-US" b="1" dirty="0"/>
              <a:t>Signs:</a:t>
            </a:r>
            <a:r>
              <a:rPr lang="en-US" dirty="0"/>
              <a:t> Requests for more research time, concerns about readiness, needs for additional training</a:t>
            </a:r>
          </a:p>
          <a:p>
            <a:r>
              <a:rPr lang="en-US" b="1" dirty="0"/>
              <a:t>Solution:</a:t>
            </a:r>
            <a:r>
              <a:rPr lang="en-US" dirty="0"/>
              <a:t> "AI readiness comes from AI usage, not AI research. Start with simple tools that work immediately. Learn by doing, not by studying. Competitive advantage goes to organizations that implement fast, not organizations that plan perfectly."</a:t>
            </a:r>
            <a:endParaRPr lang="en-BG" dirty="0"/>
          </a:p>
          <a:p>
            <a:pPr marL="0" indent="0">
              <a:buNone/>
            </a:pPr>
            <a:endParaRPr lang="en-US" b="1" dirty="0"/>
          </a:p>
          <a:p>
            <a:pPr marL="0" indent="0">
              <a:buNone/>
            </a:pPr>
            <a:r>
              <a:rPr lang="en-US" b="1" dirty="0"/>
              <a:t>Pitfall 4: Individual Optimization Without Team Strategy</a:t>
            </a:r>
            <a:endParaRPr lang="en-BG" dirty="0"/>
          </a:p>
          <a:p>
            <a:r>
              <a:rPr lang="en-US" b="1" dirty="0"/>
              <a:t>Signs:</a:t>
            </a:r>
            <a:r>
              <a:rPr lang="en-US" dirty="0"/>
              <a:t> Personal productivity improvements that don't connect to organizational goals </a:t>
            </a:r>
          </a:p>
          <a:p>
            <a:r>
              <a:rPr lang="en-US" b="1" dirty="0"/>
              <a:t>Solution:</a:t>
            </a:r>
            <a:r>
              <a:rPr lang="en-US" dirty="0"/>
              <a:t> "Individual AI success that doesn't serve team objectives is personal efficiency theater. Every AI implementation must drive business results. Connect your AI productivity to company competitive advantage."</a:t>
            </a:r>
            <a:endParaRPr lang="en-BG" dirty="0"/>
          </a:p>
          <a:p>
            <a:pPr marL="0" indent="0">
              <a:buNone/>
            </a:pPr>
            <a:endParaRPr lang="en-US" b="1" dirty="0"/>
          </a:p>
          <a:p>
            <a:pPr marL="0" indent="0">
              <a:buNone/>
            </a:pPr>
            <a:r>
              <a:rPr lang="en-US" b="1" dirty="0"/>
              <a:t>Emergency Phrases for Difficult Moments</a:t>
            </a:r>
            <a:endParaRPr lang="en-BG" dirty="0"/>
          </a:p>
          <a:p>
            <a:pPr lvl="0"/>
            <a:r>
              <a:rPr lang="en-US" dirty="0"/>
              <a:t>"Let's get back to the implementation decision we need to make"</a:t>
            </a:r>
            <a:endParaRPr lang="en-BG" dirty="0"/>
          </a:p>
          <a:p>
            <a:pPr lvl="0"/>
            <a:r>
              <a:rPr lang="en-US" dirty="0"/>
              <a:t>"What specific business result will this AI solution deliver?"</a:t>
            </a:r>
            <a:endParaRPr lang="en-BG" dirty="0"/>
          </a:p>
          <a:p>
            <a:pPr lvl="0"/>
            <a:r>
              <a:rPr lang="en-US" dirty="0"/>
              <a:t>"We need to choose our direction and start implementing"</a:t>
            </a:r>
            <a:endParaRPr lang="en-BG" dirty="0"/>
          </a:p>
          <a:p>
            <a:pPr lvl="0"/>
            <a:r>
              <a:rPr lang="en-US" dirty="0"/>
              <a:t>"AI advantage comes from action, not analysis"</a:t>
            </a:r>
            <a:endParaRPr lang="en-BG" dirty="0"/>
          </a:p>
          <a:p>
            <a:pPr marL="0" indent="0">
              <a:buNone/>
            </a:pPr>
            <a:endParaRPr lang="en-GB" dirty="0"/>
          </a:p>
        </p:txBody>
      </p:sp>
      <p:sp>
        <p:nvSpPr>
          <p:cNvPr id="16" name="TextBox 15">
            <a:extLst>
              <a:ext uri="{FF2B5EF4-FFF2-40B4-BE49-F238E27FC236}">
                <a16:creationId xmlns:a16="http://schemas.microsoft.com/office/drawing/2014/main" id="{5D68868B-77D8-82AD-7329-A9211C8D5048}"/>
              </a:ext>
            </a:extLst>
          </p:cNvPr>
          <p:cNvSpPr txBox="1"/>
          <p:nvPr/>
        </p:nvSpPr>
        <p:spPr>
          <a:xfrm>
            <a:off x="195039" y="4911849"/>
            <a:ext cx="1483154" cy="869717"/>
          </a:xfrm>
          <a:prstGeom prst="rect">
            <a:avLst/>
          </a:prstGeom>
        </p:spPr>
        <p:txBody>
          <a:bodyPr>
            <a:normAutofit/>
          </a:bodyPr>
          <a:lstStyle>
            <a:defPPr>
              <a:defRPr lang="en-US"/>
            </a:defPPr>
            <a:lvl1pPr>
              <a:lnSpc>
                <a:spcPct val="70000"/>
              </a:lnSpc>
              <a:spcBef>
                <a:spcPct val="0"/>
              </a:spcBef>
              <a:buNone/>
              <a:defRPr sz="2400" i="0" cap="none" spc="0" baseline="0">
                <a:solidFill>
                  <a:schemeClr val="tx1">
                    <a:lumMod val="85000"/>
                    <a:lumOff val="15000"/>
                  </a:schemeClr>
                </a:solidFill>
                <a:effectLst/>
                <a:latin typeface="Plaak 3 Trial Regular" panose="02000000000000000000" pitchFamily="50" charset="0"/>
              </a:defRPr>
            </a:lvl1pPr>
          </a:lstStyle>
          <a:p>
            <a:r>
              <a:rPr lang="en-BG" dirty="0"/>
              <a:t>FAQ and Pitfalls</a:t>
            </a:r>
          </a:p>
        </p:txBody>
      </p:sp>
      <p:cxnSp>
        <p:nvCxnSpPr>
          <p:cNvPr id="17" name="Straight Connector 16">
            <a:extLst>
              <a:ext uri="{FF2B5EF4-FFF2-40B4-BE49-F238E27FC236}">
                <a16:creationId xmlns:a16="http://schemas.microsoft.com/office/drawing/2014/main" id="{292CB01C-FF7A-5B3F-3841-8414705CA573}"/>
              </a:ext>
            </a:extLst>
          </p:cNvPr>
          <p:cNvCxnSpPr>
            <a:cxnSpLocks/>
          </p:cNvCxnSpPr>
          <p:nvPr/>
        </p:nvCxnSpPr>
        <p:spPr>
          <a:xfrm flipH="1">
            <a:off x="288251" y="5449729"/>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0CF1262-D90C-9125-73AC-2A2533D491B5}"/>
              </a:ext>
            </a:extLst>
          </p:cNvPr>
          <p:cNvSpPr txBox="1"/>
          <p:nvPr/>
        </p:nvSpPr>
        <p:spPr>
          <a:xfrm>
            <a:off x="5810713" y="4609590"/>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07</a:t>
            </a:r>
          </a:p>
        </p:txBody>
      </p:sp>
      <p:sp>
        <p:nvSpPr>
          <p:cNvPr id="9" name="TextBox 8">
            <a:extLst>
              <a:ext uri="{FF2B5EF4-FFF2-40B4-BE49-F238E27FC236}">
                <a16:creationId xmlns:a16="http://schemas.microsoft.com/office/drawing/2014/main" id="{5982194B-9579-366E-B6FA-36D4F4ED517A}"/>
              </a:ext>
            </a:extLst>
          </p:cNvPr>
          <p:cNvSpPr txBox="1"/>
          <p:nvPr/>
        </p:nvSpPr>
        <p:spPr>
          <a:xfrm>
            <a:off x="206256" y="1196767"/>
            <a:ext cx="5629976" cy="3554819"/>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b="1" dirty="0"/>
              <a:t>Individual Sharing - Good Example</a:t>
            </a:r>
            <a:endParaRPr lang="en-BG" dirty="0"/>
          </a:p>
          <a:p>
            <a:r>
              <a:rPr lang="en-US" b="1" dirty="0"/>
              <a:t>Decision:</a:t>
            </a:r>
            <a:r>
              <a:rPr lang="en-US" dirty="0"/>
              <a:t> Customer prospect prioritization currently takes 2 hours weekly reviewing CRM data </a:t>
            </a:r>
            <a:r>
              <a:rPr lang="en-US" b="1" dirty="0"/>
              <a:t>AI Opportunity:</a:t>
            </a:r>
            <a:r>
              <a:rPr lang="en-US" dirty="0"/>
              <a:t> Use ChatGPT to analyze customer data and rank prospects by likelihood to close </a:t>
            </a:r>
            <a:r>
              <a:rPr lang="en-US" b="1" dirty="0"/>
              <a:t>Implementation:</a:t>
            </a:r>
            <a:r>
              <a:rPr lang="en-US" dirty="0"/>
              <a:t> Create AI prompt template, test with 5 prospects this week, measure time savings </a:t>
            </a:r>
            <a:r>
              <a:rPr lang="en-US" b="1" dirty="0"/>
              <a:t>Success Metric:</a:t>
            </a:r>
            <a:r>
              <a:rPr lang="en-US" dirty="0"/>
              <a:t> Reduce prioritization time 70% while improving close rate accuracy</a:t>
            </a:r>
            <a:endParaRPr lang="en-BG" dirty="0"/>
          </a:p>
          <a:p>
            <a:pPr marL="0" indent="0">
              <a:buNone/>
            </a:pPr>
            <a:endParaRPr lang="en-US" b="1" dirty="0"/>
          </a:p>
          <a:p>
            <a:pPr marL="0" indent="0">
              <a:buNone/>
            </a:pPr>
            <a:r>
              <a:rPr lang="en-US" b="1" dirty="0"/>
              <a:t>Individual Sharing - Bad Example</a:t>
            </a:r>
            <a:endParaRPr lang="en-BG" dirty="0"/>
          </a:p>
          <a:p>
            <a:r>
              <a:rPr lang="en-US" b="1" dirty="0"/>
              <a:t>Decision:</a:t>
            </a:r>
            <a:r>
              <a:rPr lang="en-US" dirty="0"/>
              <a:t> General business strategy decisions </a:t>
            </a:r>
            <a:r>
              <a:rPr lang="en-US" b="1" dirty="0"/>
              <a:t>AI Opportunity:</a:t>
            </a:r>
            <a:r>
              <a:rPr lang="en-US" dirty="0"/>
              <a:t> Use AI for strategic planning </a:t>
            </a:r>
            <a:r>
              <a:rPr lang="en-US" b="1" dirty="0"/>
              <a:t>Implementation:</a:t>
            </a:r>
            <a:r>
              <a:rPr lang="en-US" dirty="0"/>
              <a:t> Research AI strategy tools </a:t>
            </a:r>
            <a:r>
              <a:rPr lang="en-US" b="1" dirty="0"/>
              <a:t>Success Metric:</a:t>
            </a:r>
            <a:r>
              <a:rPr lang="en-US" dirty="0"/>
              <a:t> Better strategic decisions</a:t>
            </a:r>
            <a:endParaRPr lang="en-BG" dirty="0"/>
          </a:p>
          <a:p>
            <a:r>
              <a:rPr lang="en-US" b="1" dirty="0"/>
              <a:t>Why Bad:</a:t>
            </a:r>
            <a:r>
              <a:rPr lang="en-US" dirty="0"/>
              <a:t> Too vague, no specific measurement, no immediate implementation plan, no clear business impact</a:t>
            </a:r>
            <a:endParaRPr lang="en-BG" dirty="0"/>
          </a:p>
          <a:p>
            <a:pPr marL="0" indent="0">
              <a:buNone/>
            </a:pPr>
            <a:endParaRPr lang="en-US" b="1" dirty="0"/>
          </a:p>
          <a:p>
            <a:pPr marL="0" indent="0">
              <a:buNone/>
            </a:pPr>
            <a:r>
              <a:rPr lang="en-US" b="1" dirty="0"/>
              <a:t>Strategy Development - Good Example</a:t>
            </a:r>
            <a:endParaRPr lang="en-BG" dirty="0"/>
          </a:p>
          <a:p>
            <a:r>
              <a:rPr lang="en-US" b="1" dirty="0"/>
              <a:t>Company AI Priority:</a:t>
            </a:r>
            <a:r>
              <a:rPr lang="en-US" dirty="0"/>
              <a:t> Customer response speed competitive advantage </a:t>
            </a:r>
            <a:r>
              <a:rPr lang="en-US" b="1" dirty="0"/>
              <a:t>Individual Contributions:</a:t>
            </a:r>
            <a:r>
              <a:rPr lang="en-US" dirty="0"/>
              <a:t> Sales AI for prospect analysis, Customer Success AI for issue prediction, Marketing AI for personalization </a:t>
            </a:r>
            <a:r>
              <a:rPr lang="en-US" b="1" dirty="0"/>
              <a:t>Shared Tools:</a:t>
            </a:r>
            <a:r>
              <a:rPr lang="en-US" dirty="0"/>
              <a:t> Unified customer database with AI analysis capabilities </a:t>
            </a:r>
            <a:r>
              <a:rPr lang="en-US" b="1" dirty="0"/>
              <a:t>Success Metric:</a:t>
            </a:r>
            <a:r>
              <a:rPr lang="en-US" dirty="0"/>
              <a:t> 50% faster customer response time within 3 weeks</a:t>
            </a:r>
            <a:endParaRPr lang="en-BG" dirty="0"/>
          </a:p>
          <a:p>
            <a:pPr marL="0" indent="0">
              <a:buNone/>
            </a:pPr>
            <a:endParaRPr lang="en-US" b="1" dirty="0"/>
          </a:p>
          <a:p>
            <a:pPr marL="0" indent="0">
              <a:buNone/>
            </a:pPr>
            <a:r>
              <a:rPr lang="en-US" b="1" dirty="0"/>
              <a:t>Strategy Development - Bad Example</a:t>
            </a:r>
            <a:endParaRPr lang="en-BG" dirty="0"/>
          </a:p>
          <a:p>
            <a:r>
              <a:rPr lang="en-US" b="1" dirty="0"/>
              <a:t>Company AI Priority:</a:t>
            </a:r>
            <a:r>
              <a:rPr lang="en-US" dirty="0"/>
              <a:t> General AI adoption across organization</a:t>
            </a:r>
            <a:br>
              <a:rPr lang="en-US" dirty="0"/>
            </a:br>
            <a:r>
              <a:rPr lang="en-US" b="1" dirty="0"/>
              <a:t>Individual Contributions:</a:t>
            </a:r>
            <a:r>
              <a:rPr lang="en-US" dirty="0"/>
              <a:t> Everyone uses AI tools for their work </a:t>
            </a:r>
            <a:r>
              <a:rPr lang="en-US" b="1" dirty="0"/>
              <a:t>Shared Tools:</a:t>
            </a:r>
            <a:r>
              <a:rPr lang="en-US" dirty="0"/>
              <a:t> Various AI platforms as needed </a:t>
            </a:r>
            <a:r>
              <a:rPr lang="en-US" b="1" dirty="0"/>
              <a:t>Success Metric:</a:t>
            </a:r>
            <a:r>
              <a:rPr lang="en-US" dirty="0"/>
              <a:t> Increased AI usage and productivity</a:t>
            </a:r>
            <a:endParaRPr lang="en-BG" dirty="0"/>
          </a:p>
          <a:p>
            <a:r>
              <a:rPr lang="en-US" b="1" dirty="0"/>
              <a:t>Why Bad:</a:t>
            </a:r>
            <a:r>
              <a:rPr lang="en-US" dirty="0"/>
              <a:t> No specific competitive focus, no measurable business outcomes, no implementation urgency, no accountability structure</a:t>
            </a:r>
            <a:endParaRPr lang="en-BG" dirty="0"/>
          </a:p>
          <a:p>
            <a:pPr marL="0" lvl="0" indent="0">
              <a:buNone/>
            </a:pPr>
            <a:endParaRPr lang="en-BG" dirty="0"/>
          </a:p>
        </p:txBody>
      </p:sp>
      <p:sp>
        <p:nvSpPr>
          <p:cNvPr id="10" name="TextBox 9">
            <a:extLst>
              <a:ext uri="{FF2B5EF4-FFF2-40B4-BE49-F238E27FC236}">
                <a16:creationId xmlns:a16="http://schemas.microsoft.com/office/drawing/2014/main" id="{9B8CA4B8-B120-7066-5719-167BF2398EF4}"/>
              </a:ext>
            </a:extLst>
          </p:cNvPr>
          <p:cNvSpPr txBox="1"/>
          <p:nvPr/>
        </p:nvSpPr>
        <p:spPr>
          <a:xfrm>
            <a:off x="206256" y="584953"/>
            <a:ext cx="280588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GB" sz="2400" dirty="0"/>
              <a:t>Examples of Good</a:t>
            </a:r>
          </a:p>
          <a:p>
            <a:r>
              <a:rPr lang="en-GB" sz="2400" dirty="0"/>
              <a:t>and Bad Work</a:t>
            </a:r>
          </a:p>
        </p:txBody>
      </p:sp>
      <p:cxnSp>
        <p:nvCxnSpPr>
          <p:cNvPr id="11" name="Straight Connector 10">
            <a:extLst>
              <a:ext uri="{FF2B5EF4-FFF2-40B4-BE49-F238E27FC236}">
                <a16:creationId xmlns:a16="http://schemas.microsoft.com/office/drawing/2014/main" id="{1F97740B-8FA2-396F-5FB9-AEF58893FBAE}"/>
              </a:ext>
            </a:extLst>
          </p:cNvPr>
          <p:cNvCxnSpPr>
            <a:cxnSpLocks/>
          </p:cNvCxnSpPr>
          <p:nvPr/>
        </p:nvCxnSpPr>
        <p:spPr>
          <a:xfrm flipH="1">
            <a:off x="299468" y="1122833"/>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529F619-25A5-FF41-A264-CE7A12EEDE1C}"/>
              </a:ext>
            </a:extLst>
          </p:cNvPr>
          <p:cNvSpPr txBox="1"/>
          <p:nvPr/>
        </p:nvSpPr>
        <p:spPr>
          <a:xfrm>
            <a:off x="5821930" y="282694"/>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06</a:t>
            </a:r>
          </a:p>
        </p:txBody>
      </p:sp>
      <p:sp>
        <p:nvSpPr>
          <p:cNvPr id="3" name="TextBox 2">
            <a:extLst>
              <a:ext uri="{FF2B5EF4-FFF2-40B4-BE49-F238E27FC236}">
                <a16:creationId xmlns:a16="http://schemas.microsoft.com/office/drawing/2014/main" id="{ADC15C4A-47D4-CB6C-7E14-C4B0DE772947}"/>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SPRINT:</a:t>
            </a:r>
            <a:r>
              <a:rPr lang="bg-BG" dirty="0" err="1">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Tree>
    <p:extLst>
      <p:ext uri="{BB962C8B-B14F-4D97-AF65-F5344CB8AC3E}">
        <p14:creationId xmlns:p14="http://schemas.microsoft.com/office/powerpoint/2010/main" val="597389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DAFA-CF6D-F6D3-4A5C-42A222221A87}"/>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7436C6DA-14B4-6460-6AB6-A7F0A4B723CA}"/>
              </a:ext>
            </a:extLst>
          </p:cNvPr>
          <p:cNvSpPr>
            <a:spLocks noChangeArrowheads="1"/>
          </p:cNvSpPr>
          <p:nvPr/>
        </p:nvSpPr>
        <p:spPr bwMode="auto">
          <a:xfrm>
            <a:off x="-2827682" y="5237362"/>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9" name="TextBox 8">
            <a:extLst>
              <a:ext uri="{FF2B5EF4-FFF2-40B4-BE49-F238E27FC236}">
                <a16:creationId xmlns:a16="http://schemas.microsoft.com/office/drawing/2014/main" id="{8457661F-2962-6E1C-690C-C6163FFF1DAE}"/>
              </a:ext>
            </a:extLst>
          </p:cNvPr>
          <p:cNvSpPr txBox="1"/>
          <p:nvPr/>
        </p:nvSpPr>
        <p:spPr>
          <a:xfrm>
            <a:off x="206256" y="1244895"/>
            <a:ext cx="5629976" cy="2308324"/>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dirty="0"/>
              <a:t>Your success as Guru depends on keeping the team focused on AI implementation that creates business competitive advantage. Don't get pulled into theoretical AI discussions or technical tool debates. Stay laser-focused on business results, implementation deadlines, and competitive positioning.</a:t>
            </a:r>
            <a:endParaRPr lang="en-BG" dirty="0"/>
          </a:p>
          <a:p>
            <a:pPr marL="0" indent="0">
              <a:buNone/>
            </a:pPr>
            <a:endParaRPr lang="en-US" dirty="0"/>
          </a:p>
          <a:p>
            <a:pPr marL="0" indent="0">
              <a:buNone/>
            </a:pPr>
            <a:r>
              <a:rPr lang="en-US" dirty="0"/>
              <a:t>Remember: AI democratization is the fastest path to market dominance. Organizations that enable every employee with AI capabilities will crush competitors that treat AI as technology projects.</a:t>
            </a:r>
            <a:endParaRPr lang="en-BG" dirty="0"/>
          </a:p>
          <a:p>
            <a:pPr marL="0" indent="0">
              <a:buNone/>
            </a:pPr>
            <a:endParaRPr lang="en-US" dirty="0"/>
          </a:p>
          <a:p>
            <a:pPr marL="0" indent="0">
              <a:buNone/>
            </a:pPr>
            <a:r>
              <a:rPr lang="en-US" dirty="0"/>
              <a:t>By the end of this meeting, your team should have crystal-clear answers to:</a:t>
            </a:r>
            <a:endParaRPr lang="en-BG" dirty="0"/>
          </a:p>
          <a:p>
            <a:pPr lvl="0"/>
            <a:r>
              <a:rPr lang="en-US" dirty="0"/>
              <a:t>What are our individual AI implementation commitments?</a:t>
            </a:r>
            <a:endParaRPr lang="en-BG" dirty="0"/>
          </a:p>
          <a:p>
            <a:pPr lvl="0"/>
            <a:r>
              <a:rPr lang="en-US" dirty="0"/>
              <a:t>How does our team AI strategy create competitive advantage?</a:t>
            </a:r>
            <a:endParaRPr lang="en-BG" dirty="0"/>
          </a:p>
          <a:p>
            <a:pPr lvl="0"/>
            <a:r>
              <a:rPr lang="en-US" dirty="0"/>
              <a:t>What are our specific 3-week implementation deadlines?</a:t>
            </a:r>
            <a:endParaRPr lang="en-BG" dirty="0"/>
          </a:p>
          <a:p>
            <a:pPr lvl="0"/>
            <a:r>
              <a:rPr lang="en-US" dirty="0"/>
              <a:t>Who owns what AI implementations and success measurements?</a:t>
            </a:r>
            <a:endParaRPr lang="en-BG" dirty="0"/>
          </a:p>
          <a:p>
            <a:pPr marL="0" indent="0">
              <a:buNone/>
            </a:pPr>
            <a:endParaRPr lang="en-US" dirty="0"/>
          </a:p>
          <a:p>
            <a:pPr marL="0" indent="0">
              <a:buNone/>
            </a:pPr>
            <a:r>
              <a:rPr lang="en-US" dirty="0"/>
              <a:t>If you have these answers with committed deadlines and clear accountability, you succeeded. If not, keep pushing until you do.</a:t>
            </a:r>
            <a:endParaRPr lang="en-BG" dirty="0"/>
          </a:p>
        </p:txBody>
      </p:sp>
      <p:sp>
        <p:nvSpPr>
          <p:cNvPr id="10" name="TextBox 9">
            <a:extLst>
              <a:ext uri="{FF2B5EF4-FFF2-40B4-BE49-F238E27FC236}">
                <a16:creationId xmlns:a16="http://schemas.microsoft.com/office/drawing/2014/main" id="{758AD9B8-25C5-3D7E-093C-081608504998}"/>
              </a:ext>
            </a:extLst>
          </p:cNvPr>
          <p:cNvSpPr txBox="1"/>
          <p:nvPr/>
        </p:nvSpPr>
        <p:spPr>
          <a:xfrm>
            <a:off x="206256" y="633081"/>
            <a:ext cx="280588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BG" sz="2400" dirty="0"/>
              <a:t>Discussion Points and Potential Challenges </a:t>
            </a:r>
            <a:endParaRPr lang="en-US" sz="2400" dirty="0"/>
          </a:p>
        </p:txBody>
      </p:sp>
      <p:cxnSp>
        <p:nvCxnSpPr>
          <p:cNvPr id="11" name="Straight Connector 10">
            <a:extLst>
              <a:ext uri="{FF2B5EF4-FFF2-40B4-BE49-F238E27FC236}">
                <a16:creationId xmlns:a16="http://schemas.microsoft.com/office/drawing/2014/main" id="{29A89BAB-853F-112F-C511-199BEF969AA1}"/>
              </a:ext>
            </a:extLst>
          </p:cNvPr>
          <p:cNvCxnSpPr>
            <a:cxnSpLocks/>
          </p:cNvCxnSpPr>
          <p:nvPr/>
        </p:nvCxnSpPr>
        <p:spPr>
          <a:xfrm flipH="1">
            <a:off x="299468" y="1170961"/>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2F72B56-616F-ED11-E54B-3C127C3C1BEC}"/>
              </a:ext>
            </a:extLst>
          </p:cNvPr>
          <p:cNvSpPr txBox="1"/>
          <p:nvPr/>
        </p:nvSpPr>
        <p:spPr>
          <a:xfrm>
            <a:off x="5821930" y="330822"/>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800" dirty="0">
                <a:solidFill>
                  <a:schemeClr val="tx1"/>
                </a:solidFill>
              </a:rPr>
              <a:t>08</a:t>
            </a:r>
          </a:p>
        </p:txBody>
      </p:sp>
      <p:sp>
        <p:nvSpPr>
          <p:cNvPr id="3" name="TextBox 2">
            <a:extLst>
              <a:ext uri="{FF2B5EF4-FFF2-40B4-BE49-F238E27FC236}">
                <a16:creationId xmlns:a16="http://schemas.microsoft.com/office/drawing/2014/main" id="{E4E06825-E8DB-B72C-9E32-EE751FB6D043}"/>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lang="en-US" dirty="0">
                <a:solidFill>
                  <a:schemeClr val="tx1"/>
                </a:solidFill>
                <a:ea typeface="Riforma LL" panose="020B0504020101020102" pitchFamily="34" charset="77"/>
                <a:cs typeface="Riforma LL" panose="020B0504020101020102" pitchFamily="34" charset="77"/>
              </a:rPr>
              <a:t>MODULE: APPLY AGGRESSIVELY TECH AND AI - </a:t>
            </a:r>
            <a:r>
              <a:rPr lang="en-US">
                <a:solidFill>
                  <a:schemeClr val="tx1"/>
                </a:solidFill>
                <a:ea typeface="Riforma LL" panose="020B0504020101020102" pitchFamily="34" charset="77"/>
                <a:cs typeface="Riforma LL" panose="020B0504020101020102" pitchFamily="34" charset="77"/>
              </a:rPr>
              <a:t>SPRINT:</a:t>
            </a:r>
            <a:r>
              <a:rPr lang="bg-BG">
                <a:solidFill>
                  <a:schemeClr val="tx1"/>
                </a:solidFill>
                <a:ea typeface="Riforma LL" panose="020B0504020101020102" pitchFamily="34" charset="77"/>
                <a:cs typeface="Riforma LL" panose="020B0504020101020102" pitchFamily="34" charset="77"/>
              </a:rPr>
              <a:t>Т</a:t>
            </a:r>
            <a:r>
              <a:rPr lang="en-US" dirty="0">
                <a:solidFill>
                  <a:schemeClr val="tx1"/>
                </a:solidFill>
                <a:ea typeface="Riforma LL" panose="020B0504020101020102" pitchFamily="34" charset="77"/>
                <a:cs typeface="Riforma LL" panose="020B0504020101020102" pitchFamily="34" charset="77"/>
              </a:rPr>
              <a:t>OP 3 DECISIONS AND TOP 3 PROCESSES TO DIGITALIZE]</a:t>
            </a:r>
            <a:endPar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endParaRPr>
          </a:p>
        </p:txBody>
      </p:sp>
    </p:spTree>
    <p:extLst>
      <p:ext uri="{BB962C8B-B14F-4D97-AF65-F5344CB8AC3E}">
        <p14:creationId xmlns:p14="http://schemas.microsoft.com/office/powerpoint/2010/main" val="396456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A9AC01-ED0C-F5D3-F3CB-D12D0F3DAC14}"/>
              </a:ext>
            </a:extLst>
          </p:cNvPr>
          <p:cNvSpPr/>
          <p:nvPr/>
        </p:nvSpPr>
        <p:spPr>
          <a:xfrm>
            <a:off x="-116114" y="0"/>
            <a:ext cx="6974114" cy="990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2">
            <a:extLst>
              <a:ext uri="{FF2B5EF4-FFF2-40B4-BE49-F238E27FC236}">
                <a16:creationId xmlns:a16="http://schemas.microsoft.com/office/drawing/2014/main" id="{C3276E35-DBB3-C811-C5D8-C5664E054F28}"/>
              </a:ext>
            </a:extLst>
          </p:cNvPr>
          <p:cNvSpPr txBox="1">
            <a:spLocks/>
          </p:cNvSpPr>
          <p:nvPr/>
        </p:nvSpPr>
        <p:spPr>
          <a:xfrm>
            <a:off x="1233682" y="7445847"/>
            <a:ext cx="4390636" cy="2118181"/>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a:lstStyle>
          <a:p>
            <a:pPr algn="ctr"/>
            <a:r>
              <a:rPr lang="en-US" sz="1800" i="0" u="none" strike="noStrike" baseline="0" dirty="0">
                <a:solidFill>
                  <a:srgbClr val="FFFFFF"/>
                </a:solidFill>
                <a:latin typeface="Plaak3Trial-43-Bold" panose="02000000000000000000" pitchFamily="50" charset="0"/>
              </a:rPr>
              <a:t>“THE Fast Track system is Simplicity designed to make an Impact. Brilliant.”</a:t>
            </a:r>
          </a:p>
          <a:p>
            <a:pPr algn="ctr"/>
            <a:endParaRPr lang="en-US" sz="1800" b="1" i="0" u="none" strike="noStrike" baseline="0" dirty="0">
              <a:solidFill>
                <a:srgbClr val="FFFFFF"/>
              </a:solidFill>
              <a:latin typeface="Plaak3Trial-43-Bold" panose="02000000000000000000" pitchFamily="50" charset="0"/>
            </a:endParaRPr>
          </a:p>
          <a:p>
            <a:pPr algn="ctr"/>
            <a:r>
              <a:rPr lang="en-US" sz="1100" b="0" i="0" u="none" strike="noStrike" baseline="0" dirty="0">
                <a:solidFill>
                  <a:srgbClr val="FFFFFF"/>
                </a:solidFill>
                <a:latin typeface="MonumentGrotesk-Mono" panose="02010504030000020004" pitchFamily="50" charset="0"/>
              </a:rPr>
              <a:t>[XAVIER CARPINELLI, KPMG, YPO MONACO]</a:t>
            </a:r>
            <a:endParaRPr lang="en-US" sz="6000" dirty="0">
              <a:ea typeface="+mn-ea"/>
              <a:cs typeface="+mn-cs"/>
            </a:endParaRPr>
          </a:p>
        </p:txBody>
      </p:sp>
      <p:pic>
        <p:nvPicPr>
          <p:cNvPr id="2" name="Picture 1" descr="A close up of a logo&#10;&#10;Description automatically generated">
            <a:extLst>
              <a:ext uri="{FF2B5EF4-FFF2-40B4-BE49-F238E27FC236}">
                <a16:creationId xmlns:a16="http://schemas.microsoft.com/office/drawing/2014/main" id="{F90AB019-8E29-8D3F-709F-83FE925795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5519" y="4249718"/>
            <a:ext cx="1886962" cy="765331"/>
          </a:xfrm>
          <a:prstGeom prst="rect">
            <a:avLst/>
          </a:prstGeom>
        </p:spPr>
      </p:pic>
    </p:spTree>
    <p:extLst>
      <p:ext uri="{BB962C8B-B14F-4D97-AF65-F5344CB8AC3E}">
        <p14:creationId xmlns:p14="http://schemas.microsoft.com/office/powerpoint/2010/main" val="14739519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ZUcrUlfqiSxTYF_wzigU1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25704</TotalTime>
  <Words>2677</Words>
  <Application>Microsoft Macintosh PowerPoint</Application>
  <PresentationFormat>A4 Paper (210x297 mm)</PresentationFormat>
  <Paragraphs>224</Paragraphs>
  <Slides>7</Slides>
  <Notes>0</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7</vt:i4>
      </vt:variant>
    </vt:vector>
  </HeadingPairs>
  <TitlesOfParts>
    <vt:vector size="18" baseType="lpstr">
      <vt:lpstr>Plaak3Trial-43-Bold</vt:lpstr>
      <vt:lpstr>Arial</vt:lpstr>
      <vt:lpstr>Plaak 3 Trial Regular</vt:lpstr>
      <vt:lpstr>Riforma LL</vt:lpstr>
      <vt:lpstr>MonumentGrotesk-Mono</vt:lpstr>
      <vt:lpstr>Monument Grotesk Mono</vt:lpstr>
      <vt:lpstr>Calibri</vt:lpstr>
      <vt:lpstr>Office Theme</vt:lpstr>
      <vt:lpstr>1_Office Theme</vt:lpstr>
      <vt:lpstr>2_Office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Track Template new</dc:title>
  <dc:creator>Miroslav</dc:creator>
  <cp:lastModifiedBy>Nikol Nankova</cp:lastModifiedBy>
  <cp:revision>1988</cp:revision>
  <cp:lastPrinted>2023-02-27T16:00:42Z</cp:lastPrinted>
  <dcterms:created xsi:type="dcterms:W3CDTF">2018-01-04T12:41:55Z</dcterms:created>
  <dcterms:modified xsi:type="dcterms:W3CDTF">2025-09-04T17:20:36Z</dcterms:modified>
</cp:coreProperties>
</file>