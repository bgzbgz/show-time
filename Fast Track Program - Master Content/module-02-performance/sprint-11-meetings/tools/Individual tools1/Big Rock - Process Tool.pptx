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11"/>
  </p:notesMasterIdLst>
  <p:handoutMasterIdLst>
    <p:handoutMasterId r:id="rId12"/>
  </p:handoutMasterIdLst>
  <p:sldIdLst>
    <p:sldId id="2463" r:id="rId4"/>
    <p:sldId id="2487" r:id="rId5"/>
    <p:sldId id="2486" r:id="rId6"/>
    <p:sldId id="2435" r:id="rId7"/>
    <p:sldId id="2489" r:id="rId8"/>
    <p:sldId id="2491" r:id="rId9"/>
    <p:sldId id="2485" r:id="rId10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74" autoAdjust="0"/>
    <p:restoredTop sz="77139" autoAdjust="0"/>
  </p:normalViewPr>
  <p:slideViewPr>
    <p:cSldViewPr snapToGrid="0">
      <p:cViewPr>
        <p:scale>
          <a:sx n="85" d="100"/>
          <a:sy n="85" d="100"/>
        </p:scale>
        <p:origin x="3368" y="1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12/6/24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12/6/24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2800" kern="1400" spc="-5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 TRACK BIG ROCK DISCUSSION TOOL</a:t>
            </a:r>
            <a:endParaRPr lang="en-BG" sz="2800" kern="1400" spc="-50" dirty="0"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analyze and solve critical issues (“big rocks”) in 30 minutes with maximum efficiency, leveraging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Elon Musk’s first principles of thinking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Theory of Constraints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80/20 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simplicity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 of Subtraction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goal is to strip problems to their core, identify bottlenecks, and focus only on high-impact actions.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1: Clarify the Core Problem (5 Minutes)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crystal clear, razor-sharp problem statement.</a:t>
            </a:r>
            <a:endParaRPr lang="en-BG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issue at its most basic level?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we had to explain this problem to a 10-year-old, how would we phrase it?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is this issue the most important thing to address now?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measurable outcome defines success?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Vagueness: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Overcomplicating the problem or using broad definitions.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 Creep: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Adding unrelated topics to the discussion.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Premature Solutions: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Discussing fixes before understanding the problem.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endParaRPr lang="en-US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75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5FFE-734E-2935-CAB1-4B659CBB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0D9A4-3935-89F3-2B03-369F0BE85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05970-F22A-CB2F-F3D9-8EF587AB2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2: Deconstruct the Problem (5 Minutes)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 kern="100" dirty="0" err="1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prioritised</a:t>
            </a: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breakdown of the problem’s core constraints and elements.</a:t>
            </a:r>
            <a:endParaRPr lang="en-BG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1:  First Principles Thinking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do we know to be absolutely true about this problem?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are the foundational facts we can build upon?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we ignored conventional approaches, how would we approach this from scratch?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we making any assumptions that we haven’t validated?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2: Theory of Constraints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single biggest bottleneck preventing progress?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part of the process or system is slowing everything else down?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we addressed this one constraint, how much of the problem would improve?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this constraint internal (within our control) or external (outside our control)?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3: Law of Subtraction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can we remove or stop doing that would simplify the problem?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unnecessary steps, processes, or elements adding complexity?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would this problem look like if we started with a clean slate?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Overcomplication: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Getting lost in irrelevant details.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Assumption Bias: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Failing to challenge deeply held beliefs.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Distraction: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Allowing the discussion to shift from constraints to minor issues.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C9964-1E0F-2F96-111C-49EA4E1F2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831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C6BC-ECE8-ABD7-09DB-2A9DF9AC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11A27-551C-9783-A4D4-762C67328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FEFE7-C234-983A-666E-ACEF5D739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Identify the Root Cause(s) (10 Minutes)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concise statement of the root cause(s).</a:t>
            </a:r>
            <a:endParaRPr lang="en-BG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1: the 5 Whys Technique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does this issue exist? (Repeat “Why?” for each response.)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directly caused this issue to occur?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systemic or recurring factor might be driving this problem?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this cause were eliminated, would the problem still exist?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2: 80/20 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20% of factors are driving 80% of this issue’s impact?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recurring themes or patterns that explain most of the problem?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Shallow Analysis: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Addressing symptoms rather than the root cause.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Groupthink: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Letting dominant voices lead without challenge.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Neglect: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Ignoring evidence that contradicts initial assumptions.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19E89-B9CE-24E4-3324-A2606ABA6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743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 Identify the Root Cause(s) (10 Minutes)</a:t>
            </a:r>
            <a:endParaRPr lang="en-BG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concise statement of the root cause(s).</a:t>
            </a:r>
            <a:endParaRPr lang="en-BG" sz="16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1: the 5 Whys Technique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does this issue exist? (Repeat “Why?” for each response.)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directly caused this issue to occur?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systemic or recurring factor might be driving this problem?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this cause were eliminated, would the problem still exist?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Action 2: 80/20 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20% of factors are driving 80% of this issue’s impact?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recurring themes or patterns that explain most of the problem?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Shallow Analysis: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Addressing symptoms rather than the root cause.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Groupthink: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Letting dominant voices lead without challenge.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Neglect: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Ignoring evidence that contradicts initial assumptions.</a:t>
            </a:r>
            <a:endParaRPr lang="en-BG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BG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/>
          </a:p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001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42BE-98E2-6084-6A4D-F207B401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332B2-45C6-FFA7-8272-1D441F73D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B741D-4D5B-997D-4815-F280EAD30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Generate High-Impact Solutions (7 Minutes)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shortlist of 2-3 prioritized, actionable solutions</a:t>
            </a:r>
            <a:endParaRPr lang="en-BG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brainstorm solutions that directly address the bottleneck or root cause(s).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apply impact/easy.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 of Subtraction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Eliminate unnecessary steps in proposed solutions.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steps or actions can we remove to make the solution simpler and more direct?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unnecessary features, processes, or steps in our proposed solutions?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minimum viable solution that still effectively addresses the root cause?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can we design the solution to require fewer resources or dependencies?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Confirm the solution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b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implemented with existing resources.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this solution be implemented immediately with the resources we have?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cost (time, money, effort) of implementing this solution, and does the expected impact justify it?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we have the skills, tools, or capacity needed to execute this solution?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any quick wins or low-hanging fruit we can tackle right now?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Overloading: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Proposing too many solutions, leading to indecision.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Overengineering: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Creating overly complex or resource-intensive ideas.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Ignoring Constraints: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Suggesting solutions that don’t address the bottleneck.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B8C52-D97D-0DE5-4E45-53E901BD0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0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02D6B-7F53-02B2-9CC2-7C1B3490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45679-D4F8-81B6-1157-21D554150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AF9BF-2E89-F104-AE42-3114C422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 Generate High-Impact Solutions (7 Minutes)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400" b="1" kern="100" dirty="0">
                <a:solidFill>
                  <a:srgbClr val="0F476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shortlist of 2-3 prioritized, actionable solutions</a:t>
            </a:r>
            <a:endParaRPr lang="en-BG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brainstorm solutions that directly address the bottleneck or root cause(s).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apply impact/easy.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Law of Subtraction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Eliminate unnecessary steps in proposed solutions.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steps or actions can we remove to make the solution simpler and more direct?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unnecessary features, processes, or steps in our proposed solutions?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minimum viable solution that still effectively addresses the root cause?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can we design the solution to require fewer resources or dependencies?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Confirm the solution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b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implemented with existing resources.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this solution be implemented immediately with the resources we have?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cost (time, money, effort) of implementing this solution, and does the expected impact justify it?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we have the skills, tools, or capacity needed to execute this solution?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itchFamily="2" charset="2"/>
              <a:buChar char=""/>
              <a:tabLst>
                <a:tab pos="13716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there any quick wins or low-hanging fruit we can tackle right now?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Overloading: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Proposing too many solutions, leading to indecision.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Overengineering: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Creating overly complex or resource-intensive ideas.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Ignoring Constraints: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Suggesting solutions that don’t address the bottleneck.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C7A94-BB7E-CA8F-77BD-EA839F87A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840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0988-0AFD-5572-E7C0-B006A606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EE328-4986-2812-726A-9E48C8E5E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7E2F-6151-6B53-2D9C-54088B6CA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en-US" sz="16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5: WWW</a:t>
            </a:r>
            <a:endParaRPr lang="en-BG" sz="16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top three next steps.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Assign responsibility for each action.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KPIs  and set a follow-up timeline.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1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Avoid: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Ambiguity: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Leaving next steps undefined or vague.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Ownership: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Failing to assign clear responsibilities.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Follow-Up: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Neglecting to review progress in future meetings.</a:t>
            </a:r>
            <a:endParaRPr lang="en-BG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50CD5-F916-8EA8-8B67-7A7C561D6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09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4CF6476-D2C3-2348-BEC7-148925E38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39512"/>
              </p:ext>
            </p:extLst>
          </p:nvPr>
        </p:nvGraphicFramePr>
        <p:xfrm>
          <a:off x="276084" y="729013"/>
          <a:ext cx="9649794" cy="644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7482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522312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471743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GUIDING QUESTIONS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21833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1.  What is the issue at its most basic level?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76854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2. If we had to explain this problem to a 10-year-old, how would we phrase it?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1493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3. Why is this issue the most important thing to address now?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1493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4. </a:t>
                      </a: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measurable outcome defines success?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7DC5A5E-3CBA-EF6B-9638-1BD99EA4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1: Clarify the Core Problem 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0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EB8D-AFDC-B62A-A0AC-A678D057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51C2-35D2-A0DE-0E06-B2593713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2: Deconstruct the Problem 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75FC12-5363-EC00-AE61-D41F01278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75743"/>
              </p:ext>
            </p:extLst>
          </p:nvPr>
        </p:nvGraphicFramePr>
        <p:xfrm>
          <a:off x="130175" y="771613"/>
          <a:ext cx="9814834" cy="65770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2963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3335193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  <a:gridCol w="3186678">
                  <a:extLst>
                    <a:ext uri="{9D8B030D-6E8A-4147-A177-3AD203B41FA5}">
                      <a16:colId xmlns:a16="http://schemas.microsoft.com/office/drawing/2014/main" val="2156595074"/>
                    </a:ext>
                  </a:extLst>
                </a:gridCol>
              </a:tblGrid>
              <a:tr h="47103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1: First Principles Thinking</a:t>
                      </a: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2: Theory of Constraints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3: Law of Subtraction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What do we know to be absolutely true about this problem?</a:t>
                      </a:r>
                      <a:endParaRPr lang="en-BG" sz="1200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What is the single biggest bottleneck preventing progress?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Aptos" panose="020B0004020202020204" pitchFamily="34" charset="0"/>
                        </a:rPr>
                        <a:t>What can we remove or stop doing that would simplify the problem?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124859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sz="1200" dirty="0"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50816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What are the foundational facts we can build upon?</a:t>
                      </a:r>
                      <a:endParaRPr lang="en-BG" sz="1200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Which part of the process or system is slowing everything else down?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latin typeface="Aptos" panose="020B0004020202020204" pitchFamily="34" charset="0"/>
                        </a:rPr>
                        <a:t>Are there unnecessary steps, processes, or elements adding complexity?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112166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sz="1200" dirty="0"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If we ignored conventional approaches, how would we approach this from scratch?</a:t>
                      </a:r>
                      <a:endParaRPr lang="en-BG" sz="1200" kern="12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If we addressed this one constraint, how much of the problem would improve?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BG" sz="1200" dirty="0">
                          <a:latin typeface="Aptos" panose="020B0004020202020204" pitchFamily="34" charset="0"/>
                        </a:rPr>
                        <a:t>W</a:t>
                      </a:r>
                      <a:r>
                        <a:rPr lang="en-GB" sz="1200" dirty="0">
                          <a:latin typeface="Aptos" panose="020B0004020202020204" pitchFamily="34" charset="0"/>
                        </a:rPr>
                        <a:t>hat would this problem look like if we started with a clean slate?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89500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sz="1200" dirty="0"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13386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Are we making any assumptions that we haven’t validated 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Is this constraint internal (within our control) or external (outside our control)?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20564"/>
                  </a:ext>
                </a:extLst>
              </a:tr>
              <a:tr h="631277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G" sz="1200" dirty="0"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65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3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D4AA-ECAF-4463-A9FD-971FEF57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A66BFF-1861-CE2C-1EE9-C15F6A109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664662"/>
              </p:ext>
            </p:extLst>
          </p:nvPr>
        </p:nvGraphicFramePr>
        <p:xfrm>
          <a:off x="276084" y="729013"/>
          <a:ext cx="9649794" cy="6398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7482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7522312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</a:tblGrid>
              <a:tr h="484139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bg1"/>
                          </a:solidFill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The rood causes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18289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1. Why 1? 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118289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2. Why 2?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118289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3. Why 3?</a:t>
                      </a:r>
                      <a:endParaRPr lang="en-US" sz="14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37399"/>
                  </a:ext>
                </a:extLst>
              </a:tr>
              <a:tr h="118289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4. Why 4?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92884"/>
                  </a:ext>
                </a:extLst>
              </a:tr>
              <a:tr h="118289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5. Why 5? 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The root cause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9084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8A7AD69-01DA-F657-6F2F-676C4981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3: Identify the Root Cause - part 1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54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871DD4D-FAF2-D54E-A599-1D9E19903E47}"/>
              </a:ext>
            </a:extLst>
          </p:cNvPr>
          <p:cNvSpPr/>
          <p:nvPr/>
        </p:nvSpPr>
        <p:spPr>
          <a:xfrm>
            <a:off x="7403098" y="3356745"/>
            <a:ext cx="2426233" cy="1093658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3.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9FC6D-5058-344E-BED6-E0D6CFB060B7}"/>
              </a:ext>
            </a:extLst>
          </p:cNvPr>
          <p:cNvSpPr/>
          <p:nvPr/>
        </p:nvSpPr>
        <p:spPr>
          <a:xfrm>
            <a:off x="7415640" y="958160"/>
            <a:ext cx="2434876" cy="1093658"/>
          </a:xfrm>
          <a:prstGeom prst="rect">
            <a:avLst/>
          </a:prstGeom>
          <a:solidFill>
            <a:srgbClr val="FFF469"/>
          </a:solidFill>
          <a:ln w="285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1. Top issue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7B328B-1E05-6E4A-8BBC-74FD66D23DA8}"/>
              </a:ext>
            </a:extLst>
          </p:cNvPr>
          <p:cNvSpPr/>
          <p:nvPr/>
        </p:nvSpPr>
        <p:spPr>
          <a:xfrm>
            <a:off x="7403098" y="2164513"/>
            <a:ext cx="2426236" cy="1093654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2.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F4504D-B68C-A549-9148-11EBB8E8136F}"/>
              </a:ext>
            </a:extLst>
          </p:cNvPr>
          <p:cNvCxnSpPr>
            <a:cxnSpLocks/>
          </p:cNvCxnSpPr>
          <p:nvPr/>
        </p:nvCxnSpPr>
        <p:spPr>
          <a:xfrm flipV="1">
            <a:off x="3415751" y="4552005"/>
            <a:ext cx="3783835" cy="1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584B1B-903B-BB4A-A47A-B0EC7AB15495}"/>
              </a:ext>
            </a:extLst>
          </p:cNvPr>
          <p:cNvCxnSpPr>
            <a:cxnSpLocks/>
          </p:cNvCxnSpPr>
          <p:nvPr/>
        </p:nvCxnSpPr>
        <p:spPr>
          <a:xfrm flipV="1">
            <a:off x="3415773" y="847900"/>
            <a:ext cx="0" cy="3704105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E6DBF2-8158-AC46-B350-75BDCB6367BC}"/>
              </a:ext>
            </a:extLst>
          </p:cNvPr>
          <p:cNvCxnSpPr>
            <a:cxnSpLocks/>
          </p:cNvCxnSpPr>
          <p:nvPr/>
        </p:nvCxnSpPr>
        <p:spPr>
          <a:xfrm>
            <a:off x="5276993" y="1066887"/>
            <a:ext cx="4722" cy="3307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5B562A-DB73-2B4C-BD4E-4C254CD7AC09}"/>
              </a:ext>
            </a:extLst>
          </p:cNvPr>
          <p:cNvCxnSpPr>
            <a:cxnSpLocks/>
          </p:cNvCxnSpPr>
          <p:nvPr/>
        </p:nvCxnSpPr>
        <p:spPr>
          <a:xfrm flipH="1">
            <a:off x="3782157" y="2681352"/>
            <a:ext cx="2927098" cy="0"/>
          </a:xfrm>
          <a:prstGeom prst="line">
            <a:avLst/>
          </a:prstGeom>
          <a:ln>
            <a:solidFill>
              <a:srgbClr val="3D23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DD1047-A24C-7042-BB5E-7AA9295F5801}"/>
              </a:ext>
            </a:extLst>
          </p:cNvPr>
          <p:cNvSpPr txBox="1"/>
          <p:nvPr/>
        </p:nvSpPr>
        <p:spPr>
          <a:xfrm>
            <a:off x="4662114" y="4605195"/>
            <a:ext cx="116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Impact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864DC-7561-FF46-9A3F-5F2D8C4D1E3B}"/>
              </a:ext>
            </a:extLst>
          </p:cNvPr>
          <p:cNvSpPr txBox="1"/>
          <p:nvPr/>
        </p:nvSpPr>
        <p:spPr>
          <a:xfrm rot="16200000">
            <a:off x="2649326" y="2530674"/>
            <a:ext cx="1167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Easy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47148F6-8B47-5149-BAE7-21FD3F250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5980"/>
              </p:ext>
            </p:extLst>
          </p:nvPr>
        </p:nvGraphicFramePr>
        <p:xfrm>
          <a:off x="297381" y="796777"/>
          <a:ext cx="2766458" cy="62810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66458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323947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Which 20% of factors are driving 80% of this issue’s impact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75148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72918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798083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81722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101800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3311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9765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12733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051154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5636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575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070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64555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3640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1307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1797F7F-B0A5-914F-A762-535932DE93EC}"/>
              </a:ext>
            </a:extLst>
          </p:cNvPr>
          <p:cNvSpPr/>
          <p:nvPr/>
        </p:nvSpPr>
        <p:spPr>
          <a:xfrm>
            <a:off x="5344318" y="950440"/>
            <a:ext cx="1670801" cy="1627814"/>
          </a:xfrm>
          <a:prstGeom prst="rect">
            <a:avLst/>
          </a:prstGeom>
          <a:solidFill>
            <a:srgbClr val="FFF469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C62EA1-7807-4C4E-95B8-C079DF5A2A65}"/>
              </a:ext>
            </a:extLst>
          </p:cNvPr>
          <p:cNvSpPr/>
          <p:nvPr/>
        </p:nvSpPr>
        <p:spPr>
          <a:xfrm>
            <a:off x="5344318" y="2772232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5E5F84-EEEF-1241-85B4-310D4A7B566B}"/>
              </a:ext>
            </a:extLst>
          </p:cNvPr>
          <p:cNvSpPr/>
          <p:nvPr/>
        </p:nvSpPr>
        <p:spPr>
          <a:xfrm>
            <a:off x="3548312" y="958750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773181-4887-1341-B793-B6A2A79DFFAF}"/>
              </a:ext>
            </a:extLst>
          </p:cNvPr>
          <p:cNvSpPr/>
          <p:nvPr/>
        </p:nvSpPr>
        <p:spPr>
          <a:xfrm>
            <a:off x="3594030" y="2772232"/>
            <a:ext cx="1625084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DC415E-15E7-35E3-B7BF-B5159B8A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8563123" cy="401639"/>
          </a:xfrm>
        </p:spPr>
        <p:txBody>
          <a:bodyPr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3: identify the root cause - part 2 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74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AE18-E0EF-7CB8-2C82-1851FC13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FC0B35-2135-C00C-51DB-059D1D48BFA2}"/>
              </a:ext>
            </a:extLst>
          </p:cNvPr>
          <p:cNvSpPr/>
          <p:nvPr/>
        </p:nvSpPr>
        <p:spPr>
          <a:xfrm>
            <a:off x="7403098" y="3356745"/>
            <a:ext cx="2426233" cy="1093658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3.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CAB9BE-3EC9-ECE5-F2AA-587981398472}"/>
              </a:ext>
            </a:extLst>
          </p:cNvPr>
          <p:cNvSpPr/>
          <p:nvPr/>
        </p:nvSpPr>
        <p:spPr>
          <a:xfrm>
            <a:off x="7415640" y="958160"/>
            <a:ext cx="2434876" cy="1093658"/>
          </a:xfrm>
          <a:prstGeom prst="rect">
            <a:avLst/>
          </a:prstGeom>
          <a:solidFill>
            <a:srgbClr val="FFF469"/>
          </a:solidFill>
          <a:ln w="285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1. Top solution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2CBE3-2CE0-BB61-7049-CC8133FDEDFD}"/>
              </a:ext>
            </a:extLst>
          </p:cNvPr>
          <p:cNvSpPr/>
          <p:nvPr/>
        </p:nvSpPr>
        <p:spPr>
          <a:xfrm>
            <a:off x="7403098" y="2164513"/>
            <a:ext cx="2426236" cy="1093654"/>
          </a:xfrm>
          <a:prstGeom prst="rect">
            <a:avLst/>
          </a:prstGeom>
          <a:noFill/>
          <a:ln w="3175">
            <a:solidFill>
              <a:srgbClr val="3D23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2.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E31C6D-5DD0-2833-4906-51439DDAC3CD}"/>
              </a:ext>
            </a:extLst>
          </p:cNvPr>
          <p:cNvCxnSpPr>
            <a:cxnSpLocks/>
          </p:cNvCxnSpPr>
          <p:nvPr/>
        </p:nvCxnSpPr>
        <p:spPr>
          <a:xfrm flipV="1">
            <a:off x="3415751" y="4552005"/>
            <a:ext cx="3783835" cy="1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24F132-8CDE-D96A-875F-1FA0A0F794E0}"/>
              </a:ext>
            </a:extLst>
          </p:cNvPr>
          <p:cNvCxnSpPr>
            <a:cxnSpLocks/>
          </p:cNvCxnSpPr>
          <p:nvPr/>
        </p:nvCxnSpPr>
        <p:spPr>
          <a:xfrm flipV="1">
            <a:off x="3415773" y="847900"/>
            <a:ext cx="0" cy="3704105"/>
          </a:xfrm>
          <a:prstGeom prst="straightConnector1">
            <a:avLst/>
          </a:prstGeom>
          <a:ln>
            <a:solidFill>
              <a:srgbClr val="3D23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8660D5-02B3-A922-9400-AC2054829609}"/>
              </a:ext>
            </a:extLst>
          </p:cNvPr>
          <p:cNvCxnSpPr>
            <a:cxnSpLocks/>
          </p:cNvCxnSpPr>
          <p:nvPr/>
        </p:nvCxnSpPr>
        <p:spPr>
          <a:xfrm>
            <a:off x="5276993" y="1066887"/>
            <a:ext cx="4722" cy="33077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CC543-C69A-2170-BF23-6DE232211FA7}"/>
              </a:ext>
            </a:extLst>
          </p:cNvPr>
          <p:cNvCxnSpPr>
            <a:cxnSpLocks/>
          </p:cNvCxnSpPr>
          <p:nvPr/>
        </p:nvCxnSpPr>
        <p:spPr>
          <a:xfrm flipH="1">
            <a:off x="3782157" y="2681352"/>
            <a:ext cx="2927098" cy="0"/>
          </a:xfrm>
          <a:prstGeom prst="line">
            <a:avLst/>
          </a:prstGeom>
          <a:ln>
            <a:solidFill>
              <a:srgbClr val="3D23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F1D268-1AA4-58E4-AC99-FC95BE1C3DBA}"/>
              </a:ext>
            </a:extLst>
          </p:cNvPr>
          <p:cNvSpPr txBox="1"/>
          <p:nvPr/>
        </p:nvSpPr>
        <p:spPr>
          <a:xfrm>
            <a:off x="4662114" y="4605195"/>
            <a:ext cx="1167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Impact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E3717-C655-0990-F3C8-13F7148CCDF1}"/>
              </a:ext>
            </a:extLst>
          </p:cNvPr>
          <p:cNvSpPr txBox="1"/>
          <p:nvPr/>
        </p:nvSpPr>
        <p:spPr>
          <a:xfrm rot="16200000">
            <a:off x="2649326" y="2530674"/>
            <a:ext cx="1167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Riforma LL" panose="020B0504020101020102" pitchFamily="34" charset="77"/>
                <a:cs typeface="Arial" panose="020B0604020202020204" pitchFamily="34" charset="0"/>
              </a:rPr>
              <a:t>Easy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7FAB16E-4EC0-94E0-3214-5054197B2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129428"/>
              </p:ext>
            </p:extLst>
          </p:nvPr>
        </p:nvGraphicFramePr>
        <p:xfrm>
          <a:off x="297381" y="796777"/>
          <a:ext cx="2766458" cy="62810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766458">
                  <a:extLst>
                    <a:ext uri="{9D8B030D-6E8A-4147-A177-3AD203B41FA5}">
                      <a16:colId xmlns:a16="http://schemas.microsoft.com/office/drawing/2014/main" val="2283365220"/>
                    </a:ext>
                  </a:extLst>
                </a:gridCol>
              </a:tblGrid>
              <a:tr h="323947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Solutions that directly address the bottleneck or root cause(s).</a:t>
                      </a: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44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292218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99555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81623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75148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72918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798083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81722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101800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3311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9765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127331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051154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5636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575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0709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964555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36407"/>
                  </a:ext>
                </a:extLst>
              </a:tr>
              <a:tr h="323947">
                <a:tc>
                  <a:txBody>
                    <a:bodyPr/>
                    <a:lstStyle/>
                    <a:p>
                      <a:endParaRPr lang="en-US" sz="1200" b="0" i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193" marR="84193" marT="42097" marB="420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1307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E87AB274-37E3-122B-2E76-CA5CF9494F6E}"/>
              </a:ext>
            </a:extLst>
          </p:cNvPr>
          <p:cNvSpPr/>
          <p:nvPr/>
        </p:nvSpPr>
        <p:spPr>
          <a:xfrm>
            <a:off x="5344318" y="950440"/>
            <a:ext cx="1670801" cy="1627814"/>
          </a:xfrm>
          <a:prstGeom prst="rect">
            <a:avLst/>
          </a:prstGeom>
          <a:solidFill>
            <a:srgbClr val="FFF469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7B6EA4-C2F0-6AFE-90A1-E3D42353D4DC}"/>
              </a:ext>
            </a:extLst>
          </p:cNvPr>
          <p:cNvSpPr/>
          <p:nvPr/>
        </p:nvSpPr>
        <p:spPr>
          <a:xfrm>
            <a:off x="5344318" y="2772232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0E17AC-0E57-3222-6902-232EC79CA7EC}"/>
              </a:ext>
            </a:extLst>
          </p:cNvPr>
          <p:cNvSpPr/>
          <p:nvPr/>
        </p:nvSpPr>
        <p:spPr>
          <a:xfrm>
            <a:off x="3548312" y="958750"/>
            <a:ext cx="1670801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26C7A-0E89-73BE-80DE-ED2E5FC7F60A}"/>
              </a:ext>
            </a:extLst>
          </p:cNvPr>
          <p:cNvSpPr/>
          <p:nvPr/>
        </p:nvSpPr>
        <p:spPr>
          <a:xfrm>
            <a:off x="3594030" y="2772232"/>
            <a:ext cx="1625084" cy="16278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 sz="1200" dirty="0"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4F406A-7E57-F892-3FA1-5197FE71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8463385" cy="401639"/>
          </a:xfrm>
        </p:spPr>
        <p:txBody>
          <a:bodyPr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4: Generate High-Impact Solutions - part 1 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3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3E1E9-20E5-2EBD-D3E8-F87484A2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BAB63-D780-F413-7E88-26B1347F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7867606" cy="401639"/>
          </a:xfrm>
        </p:spPr>
        <p:txBody>
          <a:bodyPr anchor="b"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4: Generate High-Impact Solutions - part 2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CBFCC0-4D26-EDB2-69BD-642EDA76A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07800"/>
              </p:ext>
            </p:extLst>
          </p:nvPr>
        </p:nvGraphicFramePr>
        <p:xfrm>
          <a:off x="130174" y="771613"/>
          <a:ext cx="9709861" cy="6624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3998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4885863">
                  <a:extLst>
                    <a:ext uri="{9D8B030D-6E8A-4147-A177-3AD203B41FA5}">
                      <a16:colId xmlns:a16="http://schemas.microsoft.com/office/drawing/2014/main" val="1174125584"/>
                    </a:ext>
                  </a:extLst>
                </a:gridCol>
              </a:tblGrid>
              <a:tr h="47103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Law of Subtraction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Confirm the solution can be implemented with existing resources.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What steps or actions can we remove to make the solution simpler and more direct?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Can this solution be implemented immediately with the resources we have?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7072"/>
                  </a:ext>
                </a:extLst>
              </a:tr>
              <a:tr h="1248598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459937"/>
                  </a:ext>
                </a:extLst>
              </a:tr>
              <a:tr h="508163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Are there unnecessary features, processes, or steps in our proposed solutions?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What is the cost (time, money, effort) of implementing this solution, and does the expected impact justify it?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1112166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Riforma LL" panose="020B0504020101020102" pitchFamily="34" charset="77"/>
                        <a:cs typeface="Riforma LL" panose="020B0504020101020102" pitchFamily="34" charset="77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What is the minimum viable solution that still effectively addresses the root cause?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Do we have the skills, tools, or capacity needed to execute this solution?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895009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113386"/>
                  </a:ext>
                </a:extLst>
              </a:tr>
              <a:tr h="508786">
                <a:tc>
                  <a:txBody>
                    <a:bodyPr/>
                    <a:lstStyle/>
                    <a:p>
                      <a:pPr marL="0" marR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How can we design the solution to require fewer resources or dependencies?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noProof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Are there any quick wins or low-hanging fruit we can tackle right now?</a:t>
                      </a: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20564"/>
                  </a:ext>
                </a:extLst>
              </a:tr>
              <a:tr h="631277">
                <a:tc>
                  <a:txBody>
                    <a:bodyPr/>
                    <a:lstStyle/>
                    <a:p>
                      <a:endParaRPr lang="en-US" sz="1200" b="0" i="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n-US" sz="1200" b="0" i="0" kern="1200" noProof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84193" marR="84193" marT="42097" marB="420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5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98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6635-FBBA-4A9E-1250-1EEBEAB8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211364-2CCE-0B45-6ECC-51116A01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01922"/>
              </p:ext>
            </p:extLst>
          </p:nvPr>
        </p:nvGraphicFramePr>
        <p:xfrm>
          <a:off x="197707" y="707528"/>
          <a:ext cx="9740772" cy="664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6924">
                  <a:extLst>
                    <a:ext uri="{9D8B030D-6E8A-4147-A177-3AD203B41FA5}">
                      <a16:colId xmlns:a16="http://schemas.microsoft.com/office/drawing/2014/main" val="3313590318"/>
                    </a:ext>
                  </a:extLst>
                </a:gridCol>
                <a:gridCol w="3246924">
                  <a:extLst>
                    <a:ext uri="{9D8B030D-6E8A-4147-A177-3AD203B41FA5}">
                      <a16:colId xmlns:a16="http://schemas.microsoft.com/office/drawing/2014/main" val="2037221690"/>
                    </a:ext>
                  </a:extLst>
                </a:gridCol>
                <a:gridCol w="3246924">
                  <a:extLst>
                    <a:ext uri="{9D8B030D-6E8A-4147-A177-3AD203B41FA5}">
                      <a16:colId xmlns:a16="http://schemas.microsoft.com/office/drawing/2014/main" val="1141431981"/>
                    </a:ext>
                  </a:extLst>
                </a:gridCol>
              </a:tblGrid>
              <a:tr h="306771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Action steps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Who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0"/>
                          <a:cs typeface="Arial" panose="020B0604020202020204" pitchFamily="34" charset="0"/>
                        </a:rPr>
                        <a:t>When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444230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355713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831091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191955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76221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489280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850026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745525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12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949818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532393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499567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239439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605932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548402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958448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433600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46656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0792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4AEC63B-0041-9442-6CD4-8267F623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" y="211686"/>
            <a:ext cx="6413361" cy="401639"/>
          </a:xfrm>
        </p:spPr>
        <p:txBody>
          <a:bodyPr/>
          <a:lstStyle/>
          <a:p>
            <a:r>
              <a:rPr lang="en-US" sz="3600" b="0" dirty="0">
                <a:latin typeface="Plaak 3 Trial Regular" panose="02000000000000000000" pitchFamily="2" charset="0"/>
              </a:rPr>
              <a:t>Step 5: www</a:t>
            </a:r>
            <a:endParaRPr lang="en-BG" sz="3600" b="0" dirty="0">
              <a:latin typeface="Plaak 3 Trial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72767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12000</TotalTime>
  <Words>1632</Words>
  <Application>Microsoft Macintosh PowerPoint</Application>
  <PresentationFormat>Custom</PresentationFormat>
  <Paragraphs>187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Calibri</vt:lpstr>
      <vt:lpstr>Courier New</vt:lpstr>
      <vt:lpstr>PF Square Sans Pro Light</vt:lpstr>
      <vt:lpstr>Plaak 3 Trial Regular</vt:lpstr>
      <vt:lpstr>Symbol</vt:lpstr>
      <vt:lpstr>Wingdings</vt:lpstr>
      <vt:lpstr>4_Custom Design</vt:lpstr>
      <vt:lpstr>5_Custom Design</vt:lpstr>
      <vt:lpstr>SOLIDS</vt:lpstr>
      <vt:lpstr>Step 1: Clarify the Core Problem </vt:lpstr>
      <vt:lpstr>Step 2: Deconstruct the Problem </vt:lpstr>
      <vt:lpstr>Step 3: Identify the Root Cause - part 1</vt:lpstr>
      <vt:lpstr>Step 3: identify the root cause - part 2 </vt:lpstr>
      <vt:lpstr>Step 4: Generate High-Impact Solutions - part 1 </vt:lpstr>
      <vt:lpstr>Step 4: Generate High-Impact Solutions - part 2</vt:lpstr>
      <vt:lpstr>Step 5: www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780</cp:revision>
  <cp:lastPrinted>2020-02-28T13:07:06Z</cp:lastPrinted>
  <dcterms:created xsi:type="dcterms:W3CDTF">2019-08-22T09:52:59Z</dcterms:created>
  <dcterms:modified xsi:type="dcterms:W3CDTF">2024-12-06T16:04:32Z</dcterms:modified>
</cp:coreProperties>
</file>