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16" r:id="rId1"/>
    <p:sldMasterId id="2147484438" r:id="rId2"/>
    <p:sldMasterId id="2147484444" r:id="rId3"/>
    <p:sldMasterId id="2147484446" r:id="rId4"/>
    <p:sldMasterId id="2147484454" r:id="rId5"/>
    <p:sldMasterId id="2147484461" r:id="rId6"/>
    <p:sldMasterId id="2147484471" r:id="rId7"/>
  </p:sldMasterIdLst>
  <p:notesMasterIdLst>
    <p:notesMasterId r:id="rId24"/>
  </p:notesMasterIdLst>
  <p:handoutMasterIdLst>
    <p:handoutMasterId r:id="rId25"/>
  </p:handoutMasterIdLst>
  <p:sldIdLst>
    <p:sldId id="2550" r:id="rId8"/>
    <p:sldId id="2541" r:id="rId9"/>
    <p:sldId id="2543" r:id="rId10"/>
    <p:sldId id="2544" r:id="rId11"/>
    <p:sldId id="2510" r:id="rId12"/>
    <p:sldId id="2570" r:id="rId13"/>
    <p:sldId id="2571" r:id="rId14"/>
    <p:sldId id="2572" r:id="rId15"/>
    <p:sldId id="2574" r:id="rId16"/>
    <p:sldId id="2575" r:id="rId17"/>
    <p:sldId id="2578" r:id="rId18"/>
    <p:sldId id="2501" r:id="rId19"/>
    <p:sldId id="2551" r:id="rId20"/>
    <p:sldId id="2546" r:id="rId21"/>
    <p:sldId id="2547" r:id="rId22"/>
    <p:sldId id="2549" r:id="rId23"/>
  </p:sldIdLst>
  <p:sldSz cx="10688638" cy="7562850"/>
  <p:notesSz cx="6858000" cy="9144000"/>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15:guide id="1" orient="horz" pos="4393" userDrawn="1">
          <p15:clr>
            <a:srgbClr val="A4A3A4"/>
          </p15:clr>
        </p15:guide>
        <p15:guide id="2" pos="231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a Nankova" initials="AN" lastIdx="1" clrIdx="0">
    <p:extLst>
      <p:ext uri="{19B8F6BF-5375-455C-9EA6-DF929625EA0E}">
        <p15:presenceInfo xmlns:p15="http://schemas.microsoft.com/office/powerpoint/2012/main" userId="5216f2014b7d670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FEF37F"/>
    <a:srgbClr val="B2B2B2"/>
    <a:srgbClr val="0D3272"/>
    <a:srgbClr val="717272"/>
    <a:srgbClr val="FCC100"/>
    <a:srgbClr val="0F85CE"/>
    <a:srgbClr val="EEEDEE"/>
    <a:srgbClr val="89BFE1"/>
    <a:srgbClr val="FFEF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5" d="100"/>
          <a:sy n="105" d="100"/>
        </p:scale>
        <p:origin x="1784" y="184"/>
      </p:cViewPr>
      <p:guideLst>
        <p:guide orient="horz" pos="4393"/>
        <p:guide pos="231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Gross Margin %</c:v>
                </c:pt>
                <c:pt idx="1">
                  <c:v>Operating Profit %</c:v>
                </c:pt>
                <c:pt idx="2">
                  <c:v>Net Profit %</c:v>
                </c:pt>
              </c:strCache>
            </c:strRef>
          </c:cat>
          <c:val>
            <c:numRef>
              <c:f>Sheet1!$B$2:$B$4</c:f>
              <c:numCache>
                <c:formatCode>General</c:formatCode>
                <c:ptCount val="3"/>
                <c:pt idx="0">
                  <c:v>10</c:v>
                </c:pt>
                <c:pt idx="1">
                  <c:v>3</c:v>
                </c:pt>
                <c:pt idx="2">
                  <c:v>3</c:v>
                </c:pt>
              </c:numCache>
            </c:numRef>
          </c:val>
          <c:extLst>
            <c:ext xmlns:c16="http://schemas.microsoft.com/office/drawing/2014/chart" uri="{C3380CC4-5D6E-409C-BE32-E72D297353CC}">
              <c16:uniqueId val="{00000000-0721-4F45-BAE9-1CB16D46AEDA}"/>
            </c:ext>
          </c:extLst>
        </c:ser>
        <c:ser>
          <c:idx val="1"/>
          <c:order val="1"/>
          <c:tx>
            <c:strRef>
              <c:f>Sheet1!$C$1</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Gross Margin %</c:v>
                </c:pt>
                <c:pt idx="1">
                  <c:v>Operating Profit %</c:v>
                </c:pt>
                <c:pt idx="2">
                  <c:v>Net Profit %</c:v>
                </c:pt>
              </c:strCache>
            </c:strRef>
          </c:cat>
          <c:val>
            <c:numRef>
              <c:f>Sheet1!$C$2:$C$4</c:f>
              <c:numCache>
                <c:formatCode>General</c:formatCode>
                <c:ptCount val="3"/>
                <c:pt idx="0">
                  <c:v>20</c:v>
                </c:pt>
                <c:pt idx="1">
                  <c:v>13</c:v>
                </c:pt>
                <c:pt idx="2">
                  <c:v>11</c:v>
                </c:pt>
              </c:numCache>
            </c:numRef>
          </c:val>
          <c:extLst>
            <c:ext xmlns:c16="http://schemas.microsoft.com/office/drawing/2014/chart" uri="{C3380CC4-5D6E-409C-BE32-E72D297353CC}">
              <c16:uniqueId val="{00000001-0721-4F45-BAE9-1CB16D46AEDA}"/>
            </c:ext>
          </c:extLst>
        </c:ser>
        <c:ser>
          <c:idx val="2"/>
          <c:order val="2"/>
          <c:tx>
            <c:strRef>
              <c:f>Sheet1!$D$1</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Gross Margin %</c:v>
                </c:pt>
                <c:pt idx="1">
                  <c:v>Operating Profit %</c:v>
                </c:pt>
                <c:pt idx="2">
                  <c:v>Net Profit %</c:v>
                </c:pt>
              </c:strCache>
            </c:strRef>
          </c:cat>
          <c:val>
            <c:numRef>
              <c:f>Sheet1!$D$2:$D$4</c:f>
              <c:numCache>
                <c:formatCode>General</c:formatCode>
                <c:ptCount val="3"/>
                <c:pt idx="0">
                  <c:v>16</c:v>
                </c:pt>
                <c:pt idx="1">
                  <c:v>10</c:v>
                </c:pt>
                <c:pt idx="2">
                  <c:v>9</c:v>
                </c:pt>
              </c:numCache>
            </c:numRef>
          </c:val>
          <c:extLst>
            <c:ext xmlns:c16="http://schemas.microsoft.com/office/drawing/2014/chart" uri="{C3380CC4-5D6E-409C-BE32-E72D297353CC}">
              <c16:uniqueId val="{00000002-0721-4F45-BAE9-1CB16D46AEDA}"/>
            </c:ext>
          </c:extLst>
        </c:ser>
        <c:ser>
          <c:idx val="3"/>
          <c:order val="3"/>
          <c:tx>
            <c:strRef>
              <c:f>Sheet1!$E$1</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Gross Margin %</c:v>
                </c:pt>
                <c:pt idx="1">
                  <c:v>Operating Profit %</c:v>
                </c:pt>
                <c:pt idx="2">
                  <c:v>Net Profit %</c:v>
                </c:pt>
              </c:strCache>
            </c:strRef>
          </c:cat>
          <c:val>
            <c:numRef>
              <c:f>Sheet1!$E$2:$E$4</c:f>
              <c:numCache>
                <c:formatCode>General</c:formatCode>
                <c:ptCount val="3"/>
                <c:pt idx="0">
                  <c:v>18</c:v>
                </c:pt>
                <c:pt idx="1">
                  <c:v>10</c:v>
                </c:pt>
                <c:pt idx="2">
                  <c:v>10</c:v>
                </c:pt>
              </c:numCache>
            </c:numRef>
          </c:val>
          <c:extLst>
            <c:ext xmlns:c16="http://schemas.microsoft.com/office/drawing/2014/chart" uri="{C3380CC4-5D6E-409C-BE32-E72D297353CC}">
              <c16:uniqueId val="{00000000-D206-4B4D-84B0-1826CE6FC39A}"/>
            </c:ext>
          </c:extLst>
        </c:ser>
        <c:dLbls>
          <c:dLblPos val="outEnd"/>
          <c:showLegendKey val="0"/>
          <c:showVal val="1"/>
          <c:showCatName val="0"/>
          <c:showSerName val="0"/>
          <c:showPercent val="0"/>
          <c:showBubbleSize val="0"/>
        </c:dLbls>
        <c:gapWidth val="219"/>
        <c:overlap val="-27"/>
        <c:axId val="2115142224"/>
        <c:axId val="2115134032"/>
      </c:barChart>
      <c:catAx>
        <c:axId val="2115142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34032"/>
        <c:crosses val="autoZero"/>
        <c:auto val="1"/>
        <c:lblAlgn val="ctr"/>
        <c:lblOffset val="100"/>
        <c:noMultiLvlLbl val="0"/>
      </c:catAx>
      <c:valAx>
        <c:axId val="211513403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115142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BG"/>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Accounts Payable Days</c:v>
                </c:pt>
                <c:pt idx="1">
                  <c:v>Inventory Days</c:v>
                </c:pt>
                <c:pt idx="2">
                  <c:v>Accounts Receivable Days</c:v>
                </c:pt>
              </c:strCache>
            </c:strRef>
          </c:cat>
          <c:val>
            <c:numRef>
              <c:f>Sheet1!$B$2:$B$4</c:f>
              <c:numCache>
                <c:formatCode>General</c:formatCode>
                <c:ptCount val="3"/>
                <c:pt idx="0">
                  <c:v>4</c:v>
                </c:pt>
                <c:pt idx="1">
                  <c:v>12</c:v>
                </c:pt>
                <c:pt idx="2">
                  <c:v>54</c:v>
                </c:pt>
              </c:numCache>
            </c:numRef>
          </c:val>
          <c:extLst>
            <c:ext xmlns:c16="http://schemas.microsoft.com/office/drawing/2014/chart" uri="{C3380CC4-5D6E-409C-BE32-E72D297353CC}">
              <c16:uniqueId val="{00000000-6E3E-CE48-AD73-BD17EEE042E1}"/>
            </c:ext>
          </c:extLst>
        </c:ser>
        <c:ser>
          <c:idx val="1"/>
          <c:order val="1"/>
          <c:tx>
            <c:strRef>
              <c:f>Sheet1!$C$1</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Accounts Payable Days</c:v>
                </c:pt>
                <c:pt idx="1">
                  <c:v>Inventory Days</c:v>
                </c:pt>
                <c:pt idx="2">
                  <c:v>Accounts Receivable Days</c:v>
                </c:pt>
              </c:strCache>
            </c:strRef>
          </c:cat>
          <c:val>
            <c:numRef>
              <c:f>Sheet1!$C$2:$C$4</c:f>
              <c:numCache>
                <c:formatCode>General</c:formatCode>
                <c:ptCount val="3"/>
                <c:pt idx="0">
                  <c:v>3</c:v>
                </c:pt>
                <c:pt idx="1">
                  <c:v>20</c:v>
                </c:pt>
                <c:pt idx="2">
                  <c:v>60</c:v>
                </c:pt>
              </c:numCache>
            </c:numRef>
          </c:val>
          <c:extLst>
            <c:ext xmlns:c16="http://schemas.microsoft.com/office/drawing/2014/chart" uri="{C3380CC4-5D6E-409C-BE32-E72D297353CC}">
              <c16:uniqueId val="{00000001-6E3E-CE48-AD73-BD17EEE042E1}"/>
            </c:ext>
          </c:extLst>
        </c:ser>
        <c:ser>
          <c:idx val="2"/>
          <c:order val="2"/>
          <c:tx>
            <c:strRef>
              <c:f>Sheet1!$D$1</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Accounts Payable Days</c:v>
                </c:pt>
                <c:pt idx="1">
                  <c:v>Inventory Days</c:v>
                </c:pt>
                <c:pt idx="2">
                  <c:v>Accounts Receivable Days</c:v>
                </c:pt>
              </c:strCache>
            </c:strRef>
          </c:cat>
          <c:val>
            <c:numRef>
              <c:f>Sheet1!$D$2:$D$4</c:f>
              <c:numCache>
                <c:formatCode>General</c:formatCode>
                <c:ptCount val="3"/>
                <c:pt idx="0">
                  <c:v>12</c:v>
                </c:pt>
                <c:pt idx="1">
                  <c:v>31</c:v>
                </c:pt>
                <c:pt idx="2">
                  <c:v>71</c:v>
                </c:pt>
              </c:numCache>
            </c:numRef>
          </c:val>
          <c:extLst>
            <c:ext xmlns:c16="http://schemas.microsoft.com/office/drawing/2014/chart" uri="{C3380CC4-5D6E-409C-BE32-E72D297353CC}">
              <c16:uniqueId val="{00000002-6E3E-CE48-AD73-BD17EEE042E1}"/>
            </c:ext>
          </c:extLst>
        </c:ser>
        <c:ser>
          <c:idx val="3"/>
          <c:order val="3"/>
          <c:tx>
            <c:strRef>
              <c:f>Sheet1!$E$1</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Accounts Payable Days</c:v>
                </c:pt>
                <c:pt idx="1">
                  <c:v>Inventory Days</c:v>
                </c:pt>
                <c:pt idx="2">
                  <c:v>Accounts Receivable Days</c:v>
                </c:pt>
              </c:strCache>
            </c:strRef>
          </c:cat>
          <c:val>
            <c:numRef>
              <c:f>Sheet1!$E$2:$E$4</c:f>
              <c:numCache>
                <c:formatCode>General</c:formatCode>
                <c:ptCount val="3"/>
                <c:pt idx="0">
                  <c:v>12</c:v>
                </c:pt>
                <c:pt idx="1">
                  <c:v>31</c:v>
                </c:pt>
                <c:pt idx="2">
                  <c:v>71</c:v>
                </c:pt>
              </c:numCache>
            </c:numRef>
          </c:val>
          <c:extLst>
            <c:ext xmlns:c16="http://schemas.microsoft.com/office/drawing/2014/chart" uri="{C3380CC4-5D6E-409C-BE32-E72D297353CC}">
              <c16:uniqueId val="{00000000-AAD5-D240-BF6F-B7CEFC8A911B}"/>
            </c:ext>
          </c:extLst>
        </c:ser>
        <c:dLbls>
          <c:dLblPos val="outEnd"/>
          <c:showLegendKey val="0"/>
          <c:showVal val="1"/>
          <c:showCatName val="0"/>
          <c:showSerName val="0"/>
          <c:showPercent val="0"/>
          <c:showBubbleSize val="0"/>
        </c:dLbls>
        <c:gapWidth val="219"/>
        <c:overlap val="-27"/>
        <c:axId val="2115142224"/>
        <c:axId val="2115134032"/>
      </c:barChart>
      <c:catAx>
        <c:axId val="2115142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34032"/>
        <c:crosses val="autoZero"/>
        <c:auto val="1"/>
        <c:lblAlgn val="ctr"/>
        <c:lblOffset val="100"/>
        <c:noMultiLvlLbl val="0"/>
      </c:catAx>
      <c:valAx>
        <c:axId val="211513403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115142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BG"/>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Operating Profit %</c:v>
                </c:pt>
                <c:pt idx="1">
                  <c:v>Asset Turnover</c:v>
                </c:pt>
                <c:pt idx="2">
                  <c:v>Return on Capital %</c:v>
                </c:pt>
              </c:strCache>
            </c:strRef>
          </c:cat>
          <c:val>
            <c:numRef>
              <c:f>Sheet1!$B$2:$B$4</c:f>
              <c:numCache>
                <c:formatCode>0.00</c:formatCode>
                <c:ptCount val="3"/>
                <c:pt idx="0">
                  <c:v>1.23</c:v>
                </c:pt>
                <c:pt idx="1">
                  <c:v>25.5</c:v>
                </c:pt>
                <c:pt idx="2">
                  <c:v>1.25</c:v>
                </c:pt>
              </c:numCache>
            </c:numRef>
          </c:val>
          <c:extLst>
            <c:ext xmlns:c16="http://schemas.microsoft.com/office/drawing/2014/chart" uri="{C3380CC4-5D6E-409C-BE32-E72D297353CC}">
              <c16:uniqueId val="{00000000-3A42-914C-AD35-18A0E7089CAB}"/>
            </c:ext>
          </c:extLst>
        </c:ser>
        <c:ser>
          <c:idx val="1"/>
          <c:order val="1"/>
          <c:tx>
            <c:strRef>
              <c:f>Sheet1!$C$1</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Operating Profit %</c:v>
                </c:pt>
                <c:pt idx="1">
                  <c:v>Asset Turnover</c:v>
                </c:pt>
                <c:pt idx="2">
                  <c:v>Return on Capital %</c:v>
                </c:pt>
              </c:strCache>
            </c:strRef>
          </c:cat>
          <c:val>
            <c:numRef>
              <c:f>Sheet1!$C$2:$C$4</c:f>
              <c:numCache>
                <c:formatCode>0.00</c:formatCode>
                <c:ptCount val="3"/>
                <c:pt idx="0">
                  <c:v>2</c:v>
                </c:pt>
                <c:pt idx="1">
                  <c:v>17.3</c:v>
                </c:pt>
                <c:pt idx="2">
                  <c:v>4.45</c:v>
                </c:pt>
              </c:numCache>
            </c:numRef>
          </c:val>
          <c:extLst>
            <c:ext xmlns:c16="http://schemas.microsoft.com/office/drawing/2014/chart" uri="{C3380CC4-5D6E-409C-BE32-E72D297353CC}">
              <c16:uniqueId val="{00000001-3A42-914C-AD35-18A0E7089CAB}"/>
            </c:ext>
          </c:extLst>
        </c:ser>
        <c:ser>
          <c:idx val="2"/>
          <c:order val="2"/>
          <c:tx>
            <c:strRef>
              <c:f>Sheet1!$D$1</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Operating Profit %</c:v>
                </c:pt>
                <c:pt idx="1">
                  <c:v>Asset Turnover</c:v>
                </c:pt>
                <c:pt idx="2">
                  <c:v>Return on Capital %</c:v>
                </c:pt>
              </c:strCache>
            </c:strRef>
          </c:cat>
          <c:val>
            <c:numRef>
              <c:f>Sheet1!$D$2:$D$4</c:f>
              <c:numCache>
                <c:formatCode>0.00</c:formatCode>
                <c:ptCount val="3"/>
                <c:pt idx="0">
                  <c:v>6.37</c:v>
                </c:pt>
                <c:pt idx="1">
                  <c:v>17.25</c:v>
                </c:pt>
                <c:pt idx="2">
                  <c:v>10.63</c:v>
                </c:pt>
              </c:numCache>
            </c:numRef>
          </c:val>
          <c:extLst>
            <c:ext xmlns:c16="http://schemas.microsoft.com/office/drawing/2014/chart" uri="{C3380CC4-5D6E-409C-BE32-E72D297353CC}">
              <c16:uniqueId val="{00000002-3A42-914C-AD35-18A0E7089CAB}"/>
            </c:ext>
          </c:extLst>
        </c:ser>
        <c:ser>
          <c:idx val="3"/>
          <c:order val="3"/>
          <c:tx>
            <c:strRef>
              <c:f>Sheet1!$E$1</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Operating Profit %</c:v>
                </c:pt>
                <c:pt idx="1">
                  <c:v>Asset Turnover</c:v>
                </c:pt>
                <c:pt idx="2">
                  <c:v>Return on Capital %</c:v>
                </c:pt>
              </c:strCache>
            </c:strRef>
          </c:cat>
          <c:val>
            <c:numRef>
              <c:f>Sheet1!$E$2:$E$4</c:f>
              <c:numCache>
                <c:formatCode>0.00</c:formatCode>
                <c:ptCount val="3"/>
                <c:pt idx="0">
                  <c:v>5</c:v>
                </c:pt>
                <c:pt idx="1">
                  <c:v>16</c:v>
                </c:pt>
                <c:pt idx="2">
                  <c:v>8</c:v>
                </c:pt>
              </c:numCache>
            </c:numRef>
          </c:val>
          <c:extLst>
            <c:ext xmlns:c16="http://schemas.microsoft.com/office/drawing/2014/chart" uri="{C3380CC4-5D6E-409C-BE32-E72D297353CC}">
              <c16:uniqueId val="{00000000-B2C9-1941-AA04-E0DB6F034042}"/>
            </c:ext>
          </c:extLst>
        </c:ser>
        <c:dLbls>
          <c:dLblPos val="outEnd"/>
          <c:showLegendKey val="0"/>
          <c:showVal val="1"/>
          <c:showCatName val="0"/>
          <c:showSerName val="0"/>
          <c:showPercent val="0"/>
          <c:showBubbleSize val="0"/>
        </c:dLbls>
        <c:gapWidth val="219"/>
        <c:overlap val="-27"/>
        <c:axId val="2115142224"/>
        <c:axId val="2115134032"/>
      </c:barChart>
      <c:catAx>
        <c:axId val="2115142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34032"/>
        <c:crosses val="autoZero"/>
        <c:auto val="1"/>
        <c:lblAlgn val="ctr"/>
        <c:lblOffset val="100"/>
        <c:noMultiLvlLbl val="0"/>
      </c:catAx>
      <c:valAx>
        <c:axId val="2115134032"/>
        <c:scaling>
          <c:orientation val="minMax"/>
        </c:scaling>
        <c:delete val="1"/>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2115142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BG"/>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delete val="1"/>
          </c:dLbls>
          <c:cat>
            <c:strRef>
              <c:f>Sheet1!$A$2:$A$4</c:f>
              <c:strCache>
                <c:ptCount val="3"/>
                <c:pt idx="0">
                  <c:v>Cash</c:v>
                </c:pt>
                <c:pt idx="1">
                  <c:v>Total Debt</c:v>
                </c:pt>
                <c:pt idx="2">
                  <c:v>Equity</c:v>
                </c:pt>
              </c:strCache>
            </c:strRef>
          </c:cat>
          <c:val>
            <c:numRef>
              <c:f>Sheet1!$B$2:$B$4</c:f>
              <c:numCache>
                <c:formatCode>_([$€-2]\ * #\ ##0.00_);_([$€-2]\ * \(#\ ##0.00\);_([$€-2]\ * "-"??_);_(@_)</c:formatCode>
                <c:ptCount val="3"/>
                <c:pt idx="0">
                  <c:v>696000</c:v>
                </c:pt>
                <c:pt idx="1">
                  <c:v>1000000</c:v>
                </c:pt>
                <c:pt idx="2">
                  <c:v>580000</c:v>
                </c:pt>
              </c:numCache>
            </c:numRef>
          </c:val>
          <c:extLst>
            <c:ext xmlns:c16="http://schemas.microsoft.com/office/drawing/2014/chart" uri="{C3380CC4-5D6E-409C-BE32-E72D297353CC}">
              <c16:uniqueId val="{00000000-9B9E-7849-81D8-991A3EDD68A1}"/>
            </c:ext>
          </c:extLst>
        </c:ser>
        <c:ser>
          <c:idx val="1"/>
          <c:order val="1"/>
          <c:tx>
            <c:strRef>
              <c:f>Sheet1!$C$1</c:f>
              <c:strCache>
                <c:ptCount val="1"/>
                <c:pt idx="0">
                  <c:v>Q2</c:v>
                </c:pt>
              </c:strCache>
            </c:strRef>
          </c:tx>
          <c:spPr>
            <a:solidFill>
              <a:schemeClr val="accent2"/>
            </a:solidFill>
            <a:ln>
              <a:noFill/>
            </a:ln>
            <a:effectLst/>
          </c:spPr>
          <c:invertIfNegative val="0"/>
          <c:dLbls>
            <c:delete val="1"/>
          </c:dLbls>
          <c:cat>
            <c:strRef>
              <c:f>Sheet1!$A$2:$A$4</c:f>
              <c:strCache>
                <c:ptCount val="3"/>
                <c:pt idx="0">
                  <c:v>Cash</c:v>
                </c:pt>
                <c:pt idx="1">
                  <c:v>Total Debt</c:v>
                </c:pt>
                <c:pt idx="2">
                  <c:v>Equity</c:v>
                </c:pt>
              </c:strCache>
            </c:strRef>
          </c:cat>
          <c:val>
            <c:numRef>
              <c:f>Sheet1!$C$2:$C$4</c:f>
              <c:numCache>
                <c:formatCode>_([$€-2]\ * #\ ##0.00_);_([$€-2]\ * \(#\ ##0.00\);_([$€-2]\ * "-"??_);_(@_)</c:formatCode>
                <c:ptCount val="3"/>
                <c:pt idx="0">
                  <c:v>109000</c:v>
                </c:pt>
                <c:pt idx="1">
                  <c:v>2500000</c:v>
                </c:pt>
                <c:pt idx="2">
                  <c:v>261000</c:v>
                </c:pt>
              </c:numCache>
            </c:numRef>
          </c:val>
          <c:extLst>
            <c:ext xmlns:c16="http://schemas.microsoft.com/office/drawing/2014/chart" uri="{C3380CC4-5D6E-409C-BE32-E72D297353CC}">
              <c16:uniqueId val="{00000001-9B9E-7849-81D8-991A3EDD68A1}"/>
            </c:ext>
          </c:extLst>
        </c:ser>
        <c:ser>
          <c:idx val="2"/>
          <c:order val="2"/>
          <c:tx>
            <c:strRef>
              <c:f>Sheet1!$D$1</c:f>
              <c:strCache>
                <c:ptCount val="1"/>
                <c:pt idx="0">
                  <c:v>Q3</c:v>
                </c:pt>
              </c:strCache>
            </c:strRef>
          </c:tx>
          <c:spPr>
            <a:solidFill>
              <a:schemeClr val="accent3"/>
            </a:solidFill>
            <a:ln>
              <a:noFill/>
            </a:ln>
            <a:effectLst/>
          </c:spPr>
          <c:invertIfNegative val="0"/>
          <c:dLbls>
            <c:delete val="1"/>
          </c:dLbls>
          <c:cat>
            <c:strRef>
              <c:f>Sheet1!$A$2:$A$4</c:f>
              <c:strCache>
                <c:ptCount val="3"/>
                <c:pt idx="0">
                  <c:v>Cash</c:v>
                </c:pt>
                <c:pt idx="1">
                  <c:v>Total Debt</c:v>
                </c:pt>
                <c:pt idx="2">
                  <c:v>Equity</c:v>
                </c:pt>
              </c:strCache>
            </c:strRef>
          </c:cat>
          <c:val>
            <c:numRef>
              <c:f>Sheet1!$D$2:$D$4</c:f>
              <c:numCache>
                <c:formatCode>_([$€-2]\ * #\ ##0.00_);_([$€-2]\ * \(#\ ##0.00\);_([$€-2]\ * "-"??_);_(@_)</c:formatCode>
                <c:ptCount val="3"/>
                <c:pt idx="0">
                  <c:v>443000</c:v>
                </c:pt>
                <c:pt idx="1">
                  <c:v>3100000</c:v>
                </c:pt>
                <c:pt idx="2">
                  <c:v>179000</c:v>
                </c:pt>
              </c:numCache>
            </c:numRef>
          </c:val>
          <c:extLst>
            <c:ext xmlns:c16="http://schemas.microsoft.com/office/drawing/2014/chart" uri="{C3380CC4-5D6E-409C-BE32-E72D297353CC}">
              <c16:uniqueId val="{00000002-9B9E-7849-81D8-991A3EDD68A1}"/>
            </c:ext>
          </c:extLst>
        </c:ser>
        <c:ser>
          <c:idx val="3"/>
          <c:order val="3"/>
          <c:tx>
            <c:strRef>
              <c:f>Sheet1!$E$1</c:f>
              <c:strCache>
                <c:ptCount val="1"/>
                <c:pt idx="0">
                  <c:v>Q4</c:v>
                </c:pt>
              </c:strCache>
            </c:strRef>
          </c:tx>
          <c:spPr>
            <a:solidFill>
              <a:schemeClr val="accent4"/>
            </a:solidFill>
            <a:ln>
              <a:noFill/>
            </a:ln>
            <a:effectLst/>
          </c:spPr>
          <c:invertIfNegative val="0"/>
          <c:dLbls>
            <c:delete val="1"/>
          </c:dLbls>
          <c:cat>
            <c:strRef>
              <c:f>Sheet1!$A$2:$A$4</c:f>
              <c:strCache>
                <c:ptCount val="3"/>
                <c:pt idx="0">
                  <c:v>Cash</c:v>
                </c:pt>
                <c:pt idx="1">
                  <c:v>Total Debt</c:v>
                </c:pt>
                <c:pt idx="2">
                  <c:v>Equity</c:v>
                </c:pt>
              </c:strCache>
            </c:strRef>
          </c:cat>
          <c:val>
            <c:numRef>
              <c:f>Sheet1!$E$2:$E$4</c:f>
              <c:numCache>
                <c:formatCode>_([$€-2]\ * #\ ##0.00_);_([$€-2]\ * \(#\ ##0.00\);_([$€-2]\ * "-"??_);_(@_)</c:formatCode>
                <c:ptCount val="3"/>
                <c:pt idx="0">
                  <c:v>443000</c:v>
                </c:pt>
                <c:pt idx="1">
                  <c:v>3100000</c:v>
                </c:pt>
                <c:pt idx="2">
                  <c:v>179000</c:v>
                </c:pt>
              </c:numCache>
            </c:numRef>
          </c:val>
          <c:extLst>
            <c:ext xmlns:c16="http://schemas.microsoft.com/office/drawing/2014/chart" uri="{C3380CC4-5D6E-409C-BE32-E72D297353CC}">
              <c16:uniqueId val="{00000000-BB65-BD4A-89BC-3CFF210DC6EF}"/>
            </c:ext>
          </c:extLst>
        </c:ser>
        <c:dLbls>
          <c:dLblPos val="outEnd"/>
          <c:showLegendKey val="0"/>
          <c:showVal val="1"/>
          <c:showCatName val="0"/>
          <c:showSerName val="0"/>
          <c:showPercent val="0"/>
          <c:showBubbleSize val="0"/>
        </c:dLbls>
        <c:gapWidth val="219"/>
        <c:overlap val="-27"/>
        <c:axId val="2115142224"/>
        <c:axId val="2115134032"/>
      </c:barChart>
      <c:catAx>
        <c:axId val="2115142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34032"/>
        <c:crosses val="autoZero"/>
        <c:auto val="1"/>
        <c:lblAlgn val="ctr"/>
        <c:lblOffset val="100"/>
        <c:noMultiLvlLbl val="0"/>
      </c:catAx>
      <c:valAx>
        <c:axId val="2115134032"/>
        <c:scaling>
          <c:orientation val="minMax"/>
        </c:scaling>
        <c:delete val="0"/>
        <c:axPos val="l"/>
        <c:majorGridlines>
          <c:spPr>
            <a:ln w="9525" cap="flat" cmpd="sng" algn="ctr">
              <a:solidFill>
                <a:schemeClr val="tx1">
                  <a:lumMod val="15000"/>
                  <a:lumOff val="85000"/>
                </a:schemeClr>
              </a:solidFill>
              <a:round/>
            </a:ln>
            <a:effectLst/>
          </c:spPr>
        </c:majorGridlines>
        <c:numFmt formatCode="_([$€-2]\ * #\ ##0.00_);_([$€-2]\ * \(#\ ##0.00\);_([$€-2]\ *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42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BG"/>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96457D4A-3A70-4343-9758-775435F7A22E}" type="datetimeFigureOut">
              <a:rPr lang="en-US"/>
              <a:pPr>
                <a:defRPr/>
              </a:pPr>
              <a:t>12/6/24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C8683F37-8904-4846-9242-6A858545E9E1}"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754FBBB8-96E2-494F-B716-7974840A6007}" type="datetimeFigureOut">
              <a:rPr lang="en-US"/>
              <a:pPr>
                <a:defRPr/>
              </a:pPr>
              <a:t>12/6/24</a:t>
            </a:fld>
            <a:endParaRPr lang="en-US"/>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D1F6A1A1-8B93-49C9-AFC7-D0DF50B7520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a:t>
            </a:fld>
            <a:endParaRPr lang="en-US"/>
          </a:p>
        </p:txBody>
      </p:sp>
    </p:spTree>
    <p:extLst>
      <p:ext uri="{BB962C8B-B14F-4D97-AF65-F5344CB8AC3E}">
        <p14:creationId xmlns:p14="http://schemas.microsoft.com/office/powerpoint/2010/main" val="1716733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a:latin typeface="Corbel" pitchFamily="34" charset="0"/>
              </a:rPr>
              <a:t>This slide summarizes the most important achievements/failures from the past period.</a:t>
            </a:r>
          </a:p>
          <a:p>
            <a:pPr>
              <a:buFontTx/>
              <a:buChar char="-"/>
              <a:defRPr/>
            </a:pPr>
            <a:r>
              <a:rPr lang="en-US" sz="1200" baseline="0">
                <a:latin typeface="Corbel" pitchFamily="34" charset="0"/>
              </a:rPr>
              <a:t> Each line describes a </a:t>
            </a:r>
            <a:r>
              <a:rPr lang="en-US" sz="1200" b="1" baseline="0">
                <a:latin typeface="Corbel" pitchFamily="34" charset="0"/>
              </a:rPr>
              <a:t>GOOD or a BAD outcome from the past year</a:t>
            </a:r>
            <a:r>
              <a:rPr lang="en-US" sz="1200" baseline="0">
                <a:latin typeface="Corbel" pitchFamily="34" charset="0"/>
              </a:rPr>
              <a:t>. These should be related to main priorities/projects of the company </a:t>
            </a:r>
          </a:p>
          <a:p>
            <a:pPr>
              <a:buFontTx/>
              <a:buNone/>
              <a:defRPr/>
            </a:pPr>
            <a:r>
              <a:rPr lang="en-US" sz="1200" baseline="0">
                <a:latin typeface="Corbel" pitchFamily="34" charset="0"/>
              </a:rPr>
              <a:t>- Each line contains a </a:t>
            </a:r>
            <a:r>
              <a:rPr lang="en-US" sz="1200" b="1" baseline="0">
                <a:latin typeface="Corbel" pitchFamily="34" charset="0"/>
              </a:rPr>
              <a:t>NUMBER</a:t>
            </a:r>
            <a:r>
              <a:rPr lang="en-US" sz="1200" baseline="0">
                <a:latin typeface="Corbel" pitchFamily="34" charset="0"/>
              </a:rPr>
              <a:t> that describes the extent to which results are considered either positive or negative. For example, “The company earned 50,000 euros above budgeted revenue in Q1”.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a:latin typeface="Corbel" pitchFamily="34" charset="0"/>
              </a:rPr>
              <a:t>- Good and Bad results are </a:t>
            </a:r>
            <a:r>
              <a:rPr lang="en-US" sz="1200" b="1" baseline="0">
                <a:latin typeface="Corbel" pitchFamily="34" charset="0"/>
              </a:rPr>
              <a:t>color – coded in GREEN or RED </a:t>
            </a:r>
            <a:r>
              <a:rPr lang="en-US" sz="1200" baseline="0">
                <a:latin typeface="Corbel" pitchFamily="34" charset="0"/>
              </a:rPr>
              <a:t>respectively.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2</a:t>
            </a:fld>
            <a:endParaRPr lang="en-US"/>
          </a:p>
        </p:txBody>
      </p:sp>
    </p:spTree>
    <p:extLst>
      <p:ext uri="{BB962C8B-B14F-4D97-AF65-F5344CB8AC3E}">
        <p14:creationId xmlns:p14="http://schemas.microsoft.com/office/powerpoint/2010/main" val="1604095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0" u="none" strike="noStrike" kern="1200" baseline="0">
                <a:solidFill>
                  <a:schemeClr val="tx1"/>
                </a:solidFill>
                <a:latin typeface="+mn-lt"/>
                <a:ea typeface="+mn-ea"/>
                <a:cs typeface="+mn-cs"/>
              </a:rPr>
              <a:t>Targets </a:t>
            </a:r>
            <a:r>
              <a:rPr lang="en-GB" sz="1200" b="0" i="0" u="none" strike="noStrike" kern="1200" baseline="0">
                <a:solidFill>
                  <a:schemeClr val="tx1"/>
                </a:solidFill>
                <a:latin typeface="+mn-lt"/>
                <a:ea typeface="+mn-ea"/>
                <a:cs typeface="+mn-cs"/>
              </a:rPr>
              <a:t>- measurable goals that contain a NUMBER. </a:t>
            </a:r>
            <a:r>
              <a:rPr lang="en-US" baseline="0"/>
              <a:t>Select a handful of important metrics that are important for you to track in your business.</a:t>
            </a:r>
            <a:endParaRPr lang="en-GB" sz="1200" b="0" i="0" u="none" strike="noStrike" kern="1200" baseline="0">
              <a:solidFill>
                <a:schemeClr val="tx1"/>
              </a:solidFill>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BG"/>
          </a:p>
          <a:p>
            <a:r>
              <a:rPr lang="en-GB" b="1"/>
              <a:t>Priorities </a:t>
            </a:r>
            <a:r>
              <a:rPr lang="en-GB"/>
              <a:t>are not targets, but CELARLY DEFINED</a:t>
            </a:r>
            <a:r>
              <a:rPr lang="en-GB" baseline="0"/>
              <a:t> ACTIONS that:</a:t>
            </a:r>
          </a:p>
          <a:p>
            <a:pPr marL="171450" indent="-171450">
              <a:buFontTx/>
              <a:buChar char="-"/>
            </a:pPr>
            <a:r>
              <a:rPr lang="en-GB" baseline="0"/>
              <a:t>Start with a VERB</a:t>
            </a:r>
          </a:p>
          <a:p>
            <a:pPr marL="171450" indent="-171450">
              <a:buFontTx/>
              <a:buChar char="-"/>
            </a:pPr>
            <a:r>
              <a:rPr lang="en-GB" baseline="0"/>
              <a:t>Are completed within this year/quarter</a:t>
            </a:r>
          </a:p>
          <a:p>
            <a:pPr marL="0" indent="0" algn="l">
              <a:buFontTx/>
              <a:buNone/>
            </a:pPr>
            <a:endParaRPr lang="en-GB" b="0" baseline="0"/>
          </a:p>
          <a:p>
            <a:pPr marL="0" indent="0" algn="l">
              <a:buFontTx/>
              <a:buNone/>
            </a:pPr>
            <a:r>
              <a:rPr lang="en-GB" b="1"/>
              <a:t>KPIs</a:t>
            </a:r>
            <a:r>
              <a:rPr lang="en-GB" baseline="0"/>
              <a:t> are quantitative or qualitative measurement for the completion of each initiative. KPIs are either a NUMBER, a DATE or could be marked as YES/NO.</a:t>
            </a:r>
          </a:p>
          <a:p>
            <a:endParaRPr lang="en-GB"/>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3</a:t>
            </a:fld>
            <a:endParaRPr lang="en-US"/>
          </a:p>
        </p:txBody>
      </p:sp>
    </p:spTree>
    <p:extLst>
      <p:ext uri="{BB962C8B-B14F-4D97-AF65-F5344CB8AC3E}">
        <p14:creationId xmlns:p14="http://schemas.microsoft.com/office/powerpoint/2010/main" val="1956490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4</a:t>
            </a:fld>
            <a:endParaRPr lang="en-US"/>
          </a:p>
        </p:txBody>
      </p:sp>
    </p:spTree>
    <p:extLst>
      <p:ext uri="{BB962C8B-B14F-4D97-AF65-F5344CB8AC3E}">
        <p14:creationId xmlns:p14="http://schemas.microsoft.com/office/powerpoint/2010/main" val="1604095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charset="0"/>
              <a:buNone/>
            </a:pPr>
            <a:r>
              <a:rPr lang="en-GB" sz="1200" b="1" i="0" u="sng" strike="noStrike" kern="1200" baseline="0">
                <a:solidFill>
                  <a:schemeClr val="tx1"/>
                </a:solidFill>
                <a:latin typeface="+mn-lt"/>
                <a:ea typeface="+mn-ea"/>
                <a:cs typeface="+mn-cs"/>
              </a:rPr>
              <a:t>A new and better ME</a:t>
            </a:r>
          </a:p>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lang="en-GB" sz="1200" b="0" i="0" u="none" strike="noStrike" kern="1200" baseline="0">
                <a:solidFill>
                  <a:schemeClr val="tx1"/>
                </a:solidFill>
                <a:latin typeface="+mn-lt"/>
                <a:ea typeface="+mn-ea"/>
                <a:cs typeface="+mn-cs"/>
              </a:rPr>
              <a:t>* write-down the top 3 things (concrete behaviours) that you will start/stop or do better in the new year. Outline the change in behaviour that will give you the biggest impact on performance. Make sure they are  start/stop/do better behaviours and are not too vague. </a:t>
            </a:r>
          </a:p>
          <a:p>
            <a:pPr marL="0" indent="0">
              <a:buFont typeface="Arial" charset="0"/>
              <a:buNone/>
            </a:pPr>
            <a:endParaRPr lang="en-GB" sz="1200" b="0" i="0" u="none" strike="noStrike" kern="1200" baseline="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lang="en-GB" sz="1200" b="1" i="0" u="sng" strike="noStrike" kern="1200" baseline="0">
                <a:solidFill>
                  <a:schemeClr val="tx1"/>
                </a:solidFill>
                <a:latin typeface="+mn-lt"/>
                <a:ea typeface="+mn-ea"/>
                <a:cs typeface="+mn-cs"/>
              </a:rPr>
              <a:t>A new and better company</a:t>
            </a:r>
          </a:p>
          <a:p>
            <a:pPr marL="0" indent="0">
              <a:buFont typeface="Arial" charset="0"/>
              <a:buNone/>
            </a:pPr>
            <a:r>
              <a:rPr lang="en-US" sz="1200" u="none" kern="1200">
                <a:solidFill>
                  <a:schemeClr val="tx1"/>
                </a:solidFill>
                <a:effectLst/>
                <a:latin typeface="+mn-lt"/>
                <a:ea typeface="+mn-ea"/>
                <a:cs typeface="+mn-cs"/>
              </a:rPr>
              <a:t>how can you change the way you work so you can dedicate 80% of your time on your STRENGTHS and priorities. </a:t>
            </a:r>
            <a:r>
              <a:rPr lang="en-GB" sz="1200" b="0" i="0" u="none" strike="noStrike" kern="1200" baseline="0">
                <a:solidFill>
                  <a:schemeClr val="tx1"/>
                </a:solidFill>
                <a:latin typeface="+mn-lt"/>
                <a:ea typeface="+mn-ea"/>
                <a:cs typeface="+mn-cs"/>
              </a:rPr>
              <a:t>Write-down the top 3 things (concrete behaviours) that will give the biggest impact on the company performance. Make sure they are  start/stop/do better behaviours and are not too vague. </a:t>
            </a:r>
          </a:p>
          <a:p>
            <a:pPr marL="0" indent="0">
              <a:buFont typeface="Arial" charset="0"/>
              <a:buNone/>
            </a:pPr>
            <a:endParaRPr lang="en-GB" sz="1200" b="0" i="0" u="none" strike="noStrike" kern="1200" baseline="0">
              <a:solidFill>
                <a:schemeClr val="tx1"/>
              </a:solidFill>
              <a:latin typeface="+mn-lt"/>
              <a:ea typeface="+mn-ea"/>
              <a:cs typeface="+mn-cs"/>
            </a:endParaRPr>
          </a:p>
          <a:p>
            <a:endParaRPr lang="en-GB"/>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5</a:t>
            </a:fld>
            <a:endParaRPr lang="en-US"/>
          </a:p>
        </p:txBody>
      </p:sp>
    </p:spTree>
    <p:extLst>
      <p:ext uri="{BB962C8B-B14F-4D97-AF65-F5344CB8AC3E}">
        <p14:creationId xmlns:p14="http://schemas.microsoft.com/office/powerpoint/2010/main" val="1946305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G" b="1"/>
              <a:t>Overall analysis</a:t>
            </a:r>
          </a:p>
          <a:p>
            <a:endParaRPr lang="en-GB"/>
          </a:p>
          <a:p>
            <a:r>
              <a:rPr lang="en-GB" b="1"/>
              <a:t>Chapter 1: Profit</a:t>
            </a:r>
          </a:p>
          <a:p>
            <a:pPr marL="171450" indent="-171450">
              <a:buFont typeface="Arial" panose="020B0604020202020204" pitchFamily="34" charset="0"/>
              <a:buChar char="•"/>
            </a:pPr>
            <a:r>
              <a:rPr lang="en-GB"/>
              <a:t>Focuses on key profitability metrics to assess financial performance.</a:t>
            </a:r>
          </a:p>
          <a:p>
            <a:r>
              <a:rPr lang="en-GB" b="1"/>
              <a:t>Chapter 2: Working Capital</a:t>
            </a:r>
          </a:p>
          <a:p>
            <a:pPr marL="171450" indent="-171450">
              <a:buFont typeface="Arial" panose="020B0604020202020204" pitchFamily="34" charset="0"/>
              <a:buChar char="•"/>
            </a:pPr>
            <a:r>
              <a:rPr lang="en-GB"/>
              <a:t>Focuses on managing short-term assets and liabilities to ensure liquidity.</a:t>
            </a:r>
          </a:p>
          <a:p>
            <a:endParaRPr lang="en-GB"/>
          </a:p>
          <a:p>
            <a:r>
              <a:rPr lang="en-GB" b="1"/>
              <a:t>Instructions:</a:t>
            </a:r>
          </a:p>
          <a:p>
            <a:endParaRPr lang="en-GB"/>
          </a:p>
          <a:p>
            <a:r>
              <a:rPr lang="en-GB" b="1"/>
              <a:t>Target</a:t>
            </a:r>
            <a:r>
              <a:rPr lang="en-GB"/>
              <a:t>: Enter the target values set for the current period.</a:t>
            </a:r>
          </a:p>
          <a:p>
            <a:r>
              <a:rPr lang="en-GB" b="1"/>
              <a:t>Actual</a:t>
            </a:r>
            <a:r>
              <a:rPr lang="en-GB"/>
              <a:t>: Enter the actual values achieved for the current period.</a:t>
            </a:r>
          </a:p>
          <a:p>
            <a:r>
              <a:rPr lang="en-GB" b="1"/>
              <a:t>Gap</a:t>
            </a:r>
            <a:r>
              <a:rPr lang="en-GB"/>
              <a:t>: Calculate and enter the gap (Target - Actual). </a:t>
            </a:r>
            <a:r>
              <a:rPr lang="en-GB" err="1"/>
              <a:t>Color</a:t>
            </a:r>
            <a:r>
              <a:rPr lang="en-GB"/>
              <a:t> the text </a:t>
            </a:r>
            <a:r>
              <a:rPr lang="en-GB">
                <a:solidFill>
                  <a:schemeClr val="accent6">
                    <a:lumMod val="75000"/>
                  </a:schemeClr>
                </a:solidFill>
              </a:rPr>
              <a:t>green</a:t>
            </a:r>
            <a:r>
              <a:rPr lang="en-GB"/>
              <a:t> if on track/exceeding expectations, red if not meeting the target.</a:t>
            </a: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6</a:t>
            </a:fld>
            <a:endParaRPr lang="en-US"/>
          </a:p>
        </p:txBody>
      </p:sp>
    </p:spTree>
    <p:extLst>
      <p:ext uri="{BB962C8B-B14F-4D97-AF65-F5344CB8AC3E}">
        <p14:creationId xmlns:p14="http://schemas.microsoft.com/office/powerpoint/2010/main" val="1766377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Now, we delve deeper into each chapter, starting with </a:t>
            </a:r>
            <a:r>
              <a:rPr lang="en-GB" b="1" i="0" u="none" strike="noStrike">
                <a:solidFill>
                  <a:srgbClr val="000000"/>
                </a:solidFill>
                <a:effectLst/>
              </a:rPr>
              <a:t>Chapter 1: Profitability</a:t>
            </a:r>
            <a:r>
              <a:rPr lang="en-GB" b="0" i="0" u="none" strike="noStrike">
                <a:solidFill>
                  <a:srgbClr val="000000"/>
                </a:solidFill>
                <a:effectLst/>
              </a:rPr>
              <a:t>. This slide focuses on assessing the financial performance over the past quarters.</a:t>
            </a:r>
          </a:p>
          <a:p>
            <a:pPr algn="l"/>
            <a:endParaRPr lang="en-GB" b="1" i="0" u="none" strike="noStrike">
              <a:solidFill>
                <a:srgbClr val="000000"/>
              </a:solidFill>
              <a:effectLst/>
            </a:endParaRPr>
          </a:p>
          <a:p>
            <a:pPr algn="l"/>
            <a:r>
              <a:rPr lang="en-GB" b="1" i="0" u="none" strike="noStrike">
                <a:solidFill>
                  <a:srgbClr val="000000"/>
                </a:solidFill>
                <a:effectLst/>
              </a:rPr>
              <a:t>Instructions</a:t>
            </a:r>
          </a:p>
          <a:p>
            <a:pPr marL="171450" indent="-171450" algn="l">
              <a:buFont typeface="Arial" panose="020B0604020202020204" pitchFamily="34" charset="0"/>
              <a:buChar char="•"/>
            </a:pPr>
            <a:r>
              <a:rPr lang="en-GB" b="1" i="0" u="none" strike="noStrike">
                <a:solidFill>
                  <a:srgbClr val="000000"/>
                </a:solidFill>
                <a:effectLst/>
              </a:rPr>
              <a:t>Q1, Q2, Q3</a:t>
            </a:r>
            <a:r>
              <a:rPr lang="en-GB" b="0" i="0" u="none" strike="noStrike">
                <a:solidFill>
                  <a:srgbClr val="000000"/>
                </a:solidFill>
                <a:effectLst/>
              </a:rPr>
              <a:t>: Enter the actual values for each profitability metric for the respective quarters. This will help in evaluating the long-term development of these metrics.</a:t>
            </a:r>
          </a:p>
          <a:p>
            <a:pPr marL="171450" indent="-171450" algn="l">
              <a:buFont typeface="Arial" panose="020B0604020202020204" pitchFamily="34" charset="0"/>
              <a:buChar char="•"/>
            </a:pPr>
            <a:r>
              <a:rPr lang="en-GB" b="1" i="0" u="none" strike="noStrike">
                <a:solidFill>
                  <a:srgbClr val="000000"/>
                </a:solidFill>
                <a:effectLst/>
              </a:rPr>
              <a:t>Comments</a:t>
            </a:r>
            <a:r>
              <a:rPr lang="en-GB" b="0" i="0" u="none" strike="noStrike">
                <a:solidFill>
                  <a:srgbClr val="000000"/>
                </a:solidFill>
                <a:effectLst/>
              </a:rPr>
              <a:t>: Add any additional observations or comments based on the historical trends and developments observed. This process helps in identifying trends, understanding the reasons behind the changes, and making informed decisions to improve profitability.</a:t>
            </a:r>
          </a:p>
          <a:p>
            <a:pPr marL="171450" indent="-171450" algn="l">
              <a:buFont typeface="Arial" panose="020B0604020202020204" pitchFamily="34" charset="0"/>
              <a:buChar char="•"/>
            </a:pPr>
            <a:r>
              <a:rPr lang="en-GB" b="1"/>
              <a:t>Graph</a:t>
            </a:r>
            <a:r>
              <a:rPr lang="en-GB"/>
              <a:t>: Including a graph is valuable makes it easier to identify patterns, anomalies, and areas needing attention. </a:t>
            </a:r>
            <a:r>
              <a:rPr lang="en-US"/>
              <a:t>You can visualize your results in a bar graph</a:t>
            </a:r>
            <a:r>
              <a:rPr lang="en-GB"/>
              <a:t>.</a:t>
            </a:r>
          </a:p>
          <a:p>
            <a:endParaRPr lang="en-BG"/>
          </a:p>
          <a:p>
            <a:pPr algn="l"/>
            <a:r>
              <a:rPr lang="en-GB" b="1" i="0" u="none" strike="noStrike">
                <a:solidFill>
                  <a:srgbClr val="000000"/>
                </a:solidFill>
                <a:effectLst/>
              </a:rPr>
              <a:t>What You Want to See:</a:t>
            </a:r>
          </a:p>
          <a:p>
            <a:pPr marL="171450" indent="-171450" algn="l">
              <a:buFont typeface="Arial" panose="020B0604020202020204" pitchFamily="34" charset="0"/>
              <a:buChar char="•"/>
            </a:pPr>
            <a:r>
              <a:rPr lang="en-GB" b="1" i="0" u="none" strike="noStrike">
                <a:solidFill>
                  <a:srgbClr val="000000"/>
                </a:solidFill>
                <a:effectLst/>
              </a:rPr>
              <a:t>Increasing Revenue</a:t>
            </a:r>
            <a:r>
              <a:rPr lang="en-GB" b="0" i="0" u="none" strike="noStrike">
                <a:solidFill>
                  <a:srgbClr val="000000"/>
                </a:solidFill>
                <a:effectLst/>
              </a:rPr>
              <a:t>: The company is making more sales.</a:t>
            </a:r>
          </a:p>
          <a:p>
            <a:pPr marL="171450" indent="-171450" algn="l">
              <a:buFont typeface="Arial" panose="020B0604020202020204" pitchFamily="34" charset="0"/>
              <a:buChar char="•"/>
            </a:pPr>
            <a:r>
              <a:rPr lang="en-GB" b="1" i="0" u="none" strike="noStrike">
                <a:solidFill>
                  <a:srgbClr val="000000"/>
                </a:solidFill>
                <a:effectLst/>
              </a:rPr>
              <a:t>High Gross Margin %</a:t>
            </a:r>
            <a:r>
              <a:rPr lang="en-GB" b="0" i="0" u="none" strike="noStrike">
                <a:solidFill>
                  <a:srgbClr val="000000"/>
                </a:solidFill>
                <a:effectLst/>
              </a:rPr>
              <a:t>: The company is good at controlling production costs.</a:t>
            </a:r>
          </a:p>
          <a:p>
            <a:pPr marL="171450" indent="-171450" algn="l">
              <a:buFont typeface="Arial" panose="020B0604020202020204" pitchFamily="34" charset="0"/>
              <a:buChar char="•"/>
            </a:pPr>
            <a:r>
              <a:rPr lang="en-GB" b="1" i="0" u="none" strike="noStrike">
                <a:solidFill>
                  <a:srgbClr val="000000"/>
                </a:solidFill>
                <a:effectLst/>
              </a:rPr>
              <a:t>Low Overheads %</a:t>
            </a:r>
            <a:r>
              <a:rPr lang="en-GB" b="0" i="0" u="none" strike="noStrike">
                <a:solidFill>
                  <a:srgbClr val="000000"/>
                </a:solidFill>
                <a:effectLst/>
              </a:rPr>
              <a:t>: The company is keeping its general expenses low.</a:t>
            </a:r>
          </a:p>
          <a:p>
            <a:pPr marL="171450" indent="-171450" algn="l">
              <a:buFont typeface="Arial" panose="020B0604020202020204" pitchFamily="34" charset="0"/>
              <a:buChar char="•"/>
            </a:pPr>
            <a:r>
              <a:rPr lang="en-GB" b="1" i="0" u="none" strike="noStrike">
                <a:solidFill>
                  <a:srgbClr val="000000"/>
                </a:solidFill>
                <a:effectLst/>
              </a:rPr>
              <a:t>High EBIT Margin %</a:t>
            </a:r>
            <a:r>
              <a:rPr lang="en-GB" b="0" i="0" u="none" strike="noStrike">
                <a:solidFill>
                  <a:srgbClr val="000000"/>
                </a:solidFill>
                <a:effectLst/>
              </a:rPr>
              <a:t>: The company is earning more profit from its core business activities.</a:t>
            </a:r>
          </a:p>
          <a:p>
            <a:pPr marL="171450" indent="-171450" algn="l">
              <a:buFont typeface="Arial" panose="020B0604020202020204" pitchFamily="34" charset="0"/>
              <a:buChar char="•"/>
            </a:pPr>
            <a:r>
              <a:rPr lang="en-GB" b="1" i="0" u="none" strike="noStrike">
                <a:solidFill>
                  <a:srgbClr val="000000"/>
                </a:solidFill>
                <a:effectLst/>
              </a:rPr>
              <a:t>Increasing Net Profit</a:t>
            </a:r>
            <a:r>
              <a:rPr lang="en-GB" b="0" i="0" u="none" strike="noStrike">
                <a:solidFill>
                  <a:srgbClr val="000000"/>
                </a:solidFill>
                <a:effectLst/>
              </a:rPr>
              <a:t>: The company is making more money after all expenses.</a:t>
            </a:r>
          </a:p>
          <a:p>
            <a:pPr marL="171450" indent="-171450" algn="l">
              <a:buFont typeface="Arial" panose="020B0604020202020204" pitchFamily="34" charset="0"/>
              <a:buChar char="•"/>
            </a:pPr>
            <a:r>
              <a:rPr lang="en-GB" b="1" i="0" u="none" strike="noStrike">
                <a:solidFill>
                  <a:srgbClr val="000000"/>
                </a:solidFill>
                <a:effectLst/>
              </a:rPr>
              <a:t>High Net Profit Margin %</a:t>
            </a:r>
            <a:r>
              <a:rPr lang="en-GB" b="0" i="0" u="none" strike="noStrike">
                <a:solidFill>
                  <a:srgbClr val="000000"/>
                </a:solidFill>
                <a:effectLst/>
              </a:rPr>
              <a:t>: The company is turning a higher percentage of sales into profit.</a:t>
            </a:r>
          </a:p>
          <a:p>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7</a:t>
            </a:fld>
            <a:endParaRPr lang="en-US"/>
          </a:p>
        </p:txBody>
      </p:sp>
    </p:spTree>
    <p:extLst>
      <p:ext uri="{BB962C8B-B14F-4D97-AF65-F5344CB8AC3E}">
        <p14:creationId xmlns:p14="http://schemas.microsoft.com/office/powerpoint/2010/main" val="2468107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Next, we delve into </a:t>
            </a:r>
            <a:r>
              <a:rPr lang="en-GB" b="1" i="0" u="none" strike="noStrike">
                <a:solidFill>
                  <a:srgbClr val="000000"/>
                </a:solidFill>
                <a:effectLst/>
              </a:rPr>
              <a:t>Chapter 2: Working Capital</a:t>
            </a:r>
            <a:r>
              <a:rPr lang="en-GB" b="0" i="0" u="none" strike="noStrike">
                <a:solidFill>
                  <a:srgbClr val="000000"/>
                </a:solidFill>
                <a:effectLst/>
              </a:rPr>
              <a:t>. This slide focuses on assessing the efficiency of managing short-term assets and liabilities over the past quarters.</a:t>
            </a:r>
            <a:endParaRPr lang="bg-BG" b="0" i="0" u="none" strike="noStrike">
              <a:solidFill>
                <a:srgbClr val="000000"/>
              </a:solidFill>
              <a:effectLst/>
            </a:endParaRPr>
          </a:p>
          <a:p>
            <a:pPr algn="l"/>
            <a:endParaRPr lang="en-GB" b="0" i="0" u="none" strike="noStrike">
              <a:solidFill>
                <a:srgbClr val="000000"/>
              </a:solidFill>
              <a:effectLst/>
            </a:endParaRPr>
          </a:p>
          <a:p>
            <a:pPr algn="l"/>
            <a:r>
              <a:rPr lang="en-GB" b="1" i="0" u="none" strike="noStrike">
                <a:solidFill>
                  <a:srgbClr val="000000"/>
                </a:solidFill>
                <a:effectLst/>
              </a:rPr>
              <a:t>Instructions</a:t>
            </a:r>
          </a:p>
          <a:p>
            <a:pPr algn="l">
              <a:buFont typeface="Arial" panose="020B0604020202020204" pitchFamily="34" charset="0"/>
              <a:buChar char="•"/>
            </a:pPr>
            <a:r>
              <a:rPr lang="en-GB" b="1" i="0" u="none" strike="noStrike">
                <a:solidFill>
                  <a:srgbClr val="000000"/>
                </a:solidFill>
                <a:effectLst/>
              </a:rPr>
              <a:t>Q1, Q2, Q3</a:t>
            </a:r>
            <a:r>
              <a:rPr lang="en-GB" b="0" i="0" u="none" strike="noStrike">
                <a:solidFill>
                  <a:srgbClr val="000000"/>
                </a:solidFill>
                <a:effectLst/>
              </a:rPr>
              <a:t>: Enter the actual values for each working capital metric (Accounts Receivable Days, Days Inventory Outstanding/WIP, Accounts Payable Days) for the respective quarters. This will help in evaluating the long-term development of these metrics.</a:t>
            </a:r>
          </a:p>
          <a:p>
            <a:pPr algn="l">
              <a:buFont typeface="Arial" panose="020B0604020202020204" pitchFamily="34" charset="0"/>
              <a:buChar char="•"/>
            </a:pPr>
            <a:r>
              <a:rPr lang="en-GB" b="1" i="0" u="none" strike="noStrike">
                <a:solidFill>
                  <a:srgbClr val="000000"/>
                </a:solidFill>
                <a:effectLst/>
              </a:rPr>
              <a:t>Comments</a:t>
            </a:r>
            <a:r>
              <a:rPr lang="en-GB" b="0" i="0" u="none" strike="noStrike">
                <a:solidFill>
                  <a:srgbClr val="000000"/>
                </a:solidFill>
                <a:effectLst/>
              </a:rPr>
              <a:t>: Add any additional observations or comments based on the historical trends and developments observed in these metrics.</a:t>
            </a:r>
          </a:p>
          <a:p>
            <a:pPr algn="l">
              <a:buFont typeface="Arial" panose="020B0604020202020204" pitchFamily="34" charset="0"/>
              <a:buChar char="•"/>
            </a:pPr>
            <a:r>
              <a:rPr lang="en-GB" b="1" i="0" u="none" strike="noStrike">
                <a:solidFill>
                  <a:srgbClr val="000000"/>
                </a:solidFill>
                <a:effectLst/>
              </a:rPr>
              <a:t>Graph</a:t>
            </a:r>
            <a:r>
              <a:rPr lang="en-GB" b="0" i="0" u="none" strike="noStrike">
                <a:solidFill>
                  <a:srgbClr val="000000"/>
                </a:solidFill>
                <a:effectLst/>
              </a:rPr>
              <a:t>: The graph represents the trends over time for each metric. </a:t>
            </a:r>
          </a:p>
          <a:p>
            <a:pPr algn="l">
              <a:buFont typeface="Arial" panose="020B0604020202020204" pitchFamily="34" charset="0"/>
              <a:buChar char="•"/>
            </a:pPr>
            <a:endParaRPr lang="en-GB" b="0" i="0" u="none" strike="noStrike">
              <a:solidFill>
                <a:srgbClr val="000000"/>
              </a:solidFill>
              <a:effectLst/>
            </a:endParaRPr>
          </a:p>
          <a:p>
            <a:pPr algn="l">
              <a:buFont typeface="Arial" panose="020B0604020202020204" pitchFamily="34" charset="0"/>
              <a:buChar char="•"/>
            </a:pPr>
            <a:endParaRPr lang="en-BG"/>
          </a:p>
          <a:p>
            <a:r>
              <a:rPr lang="en-BG" b="1"/>
              <a:t>What You Want to See:</a:t>
            </a:r>
          </a:p>
          <a:p>
            <a:pPr marL="171450" indent="-171450">
              <a:buFont typeface="Arial" panose="020B0604020202020204" pitchFamily="34" charset="0"/>
              <a:buChar char="•"/>
            </a:pPr>
            <a:r>
              <a:rPr lang="en-GB" b="1"/>
              <a:t>Low Accounts Receivable Days (DSO)</a:t>
            </a:r>
            <a:r>
              <a:rPr lang="en-GB"/>
              <a:t>: Customers are paying their bills quickly.</a:t>
            </a:r>
          </a:p>
          <a:p>
            <a:pPr marL="171450" indent="-171450">
              <a:buFont typeface="Arial" panose="020B0604020202020204" pitchFamily="34" charset="0"/>
              <a:buChar char="•"/>
            </a:pPr>
            <a:r>
              <a:rPr lang="en-GB" b="1"/>
              <a:t>Low Days Inventory Outstanding (DIO)</a:t>
            </a:r>
            <a:r>
              <a:rPr lang="en-GB"/>
              <a:t>: Inventory is being sold quickly and not sitting in storage.</a:t>
            </a:r>
          </a:p>
          <a:p>
            <a:pPr marL="171450" indent="-171450">
              <a:buFont typeface="Arial" panose="020B0604020202020204" pitchFamily="34" charset="0"/>
              <a:buChar char="•"/>
            </a:pPr>
            <a:r>
              <a:rPr lang="en-GB" b="1"/>
              <a:t>High Accounts Payable Days (DPO)</a:t>
            </a:r>
            <a:r>
              <a:rPr lang="en-GB"/>
              <a:t>: The company is taking longer to pay its suppliers, keeping cash longer.</a:t>
            </a: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8</a:t>
            </a:fld>
            <a:endParaRPr lang="en-US"/>
          </a:p>
        </p:txBody>
      </p:sp>
    </p:spTree>
    <p:extLst>
      <p:ext uri="{BB962C8B-B14F-4D97-AF65-F5344CB8AC3E}">
        <p14:creationId xmlns:p14="http://schemas.microsoft.com/office/powerpoint/2010/main" val="290453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Next, we delve into </a:t>
            </a:r>
            <a:r>
              <a:rPr lang="en-GB" b="1" i="0" u="none" strike="noStrike">
                <a:solidFill>
                  <a:srgbClr val="000000"/>
                </a:solidFill>
                <a:effectLst/>
              </a:rPr>
              <a:t>Chapter 3: Other Capital</a:t>
            </a:r>
            <a:r>
              <a:rPr lang="en-GB" b="0" i="0" u="none" strike="noStrike">
                <a:solidFill>
                  <a:srgbClr val="000000"/>
                </a:solidFill>
                <a:effectLst/>
              </a:rPr>
              <a:t>. This slide focuses on the management of various non-operational assets and liabilities, as well as the overall return on capital.</a:t>
            </a:r>
          </a:p>
          <a:p>
            <a:pPr algn="l"/>
            <a:endParaRPr lang="en-GB" b="0" i="0" u="none" strike="noStrike">
              <a:solidFill>
                <a:srgbClr val="000000"/>
              </a:solidFill>
              <a:effectLst/>
            </a:endParaRPr>
          </a:p>
          <a:p>
            <a:pPr algn="l"/>
            <a:r>
              <a:rPr lang="en-GB" b="1" i="0" u="none" strike="noStrike">
                <a:solidFill>
                  <a:srgbClr val="000000"/>
                </a:solidFill>
                <a:effectLst/>
              </a:rPr>
              <a:t>Other Capital</a:t>
            </a:r>
            <a:r>
              <a:rPr lang="en-GB" b="0" i="0" u="none" strike="noStrike">
                <a:solidFill>
                  <a:srgbClr val="000000"/>
                </a:solidFill>
                <a:effectLst/>
              </a:rPr>
              <a:t>: Includes fixed assets, other assets, and liabilities that are not part of day-to-day operations but are crucial for understanding the complete financial picture. </a:t>
            </a:r>
          </a:p>
          <a:p>
            <a:pPr algn="l"/>
            <a:r>
              <a:rPr lang="en-GB" b="1" i="0" u="none" strike="noStrike">
                <a:solidFill>
                  <a:srgbClr val="000000"/>
                </a:solidFill>
                <a:effectLst/>
              </a:rPr>
              <a:t>Return on Capital</a:t>
            </a:r>
            <a:r>
              <a:rPr lang="en-GB" b="0" i="0" u="none" strike="noStrike">
                <a:solidFill>
                  <a:srgbClr val="000000"/>
                </a:solidFill>
                <a:effectLst/>
              </a:rPr>
              <a:t>: Measures how effectively the company is using its capital to generate profits. A higher return indicates better performance and efficient use of resources.</a:t>
            </a:r>
          </a:p>
          <a:p>
            <a:pPr algn="l"/>
            <a:endParaRPr lang="en-GB" b="1" i="0" u="none" strike="noStrike">
              <a:solidFill>
                <a:srgbClr val="000000"/>
              </a:solidFill>
              <a:effectLst/>
            </a:endParaRPr>
          </a:p>
          <a:p>
            <a:pPr algn="l"/>
            <a:r>
              <a:rPr lang="en-GB" b="1" i="0" u="none" strike="noStrike">
                <a:solidFill>
                  <a:srgbClr val="000000"/>
                </a:solidFill>
                <a:effectLst/>
              </a:rPr>
              <a:t>Instructions:</a:t>
            </a:r>
          </a:p>
          <a:p>
            <a:pPr algn="l">
              <a:buFont typeface="Arial" panose="020B0604020202020204" pitchFamily="34" charset="0"/>
              <a:buChar char="•"/>
            </a:pPr>
            <a:r>
              <a:rPr lang="en-GB" b="1" i="0" u="none" strike="noStrike">
                <a:solidFill>
                  <a:srgbClr val="000000"/>
                </a:solidFill>
                <a:effectLst/>
              </a:rPr>
              <a:t>Q1, Q2, Q3</a:t>
            </a:r>
            <a:r>
              <a:rPr lang="en-GB" b="0" i="0" u="none" strike="noStrike">
                <a:solidFill>
                  <a:srgbClr val="000000"/>
                </a:solidFill>
                <a:effectLst/>
              </a:rPr>
              <a:t>: Enter the actual values for each other capital metric for the respective quarters. This will help in evaluating the long-term development of these metrics.</a:t>
            </a:r>
          </a:p>
          <a:p>
            <a:pPr algn="l">
              <a:buFont typeface="Arial" panose="020B0604020202020204" pitchFamily="34" charset="0"/>
              <a:buChar char="•"/>
            </a:pPr>
            <a:r>
              <a:rPr lang="en-GB" b="1" i="0" u="none" strike="noStrike">
                <a:solidFill>
                  <a:srgbClr val="000000"/>
                </a:solidFill>
                <a:effectLst/>
              </a:rPr>
              <a:t>Comments</a:t>
            </a:r>
            <a:r>
              <a:rPr lang="en-GB" b="0" i="0" u="none" strike="noStrike">
                <a:solidFill>
                  <a:srgbClr val="000000"/>
                </a:solidFill>
                <a:effectLst/>
              </a:rPr>
              <a:t>: Add any additional observations or comments based on the historical trends and developments observed in these metrics.</a:t>
            </a:r>
          </a:p>
          <a:p>
            <a:pPr algn="l">
              <a:buFont typeface="Arial" panose="020B0604020202020204" pitchFamily="34" charset="0"/>
              <a:buChar char="•"/>
            </a:pPr>
            <a:r>
              <a:rPr lang="en-GB" b="1" i="0" u="none" strike="noStrike">
                <a:solidFill>
                  <a:srgbClr val="000000"/>
                </a:solidFill>
                <a:effectLst/>
              </a:rPr>
              <a:t>Graph</a:t>
            </a:r>
            <a:r>
              <a:rPr lang="en-GB" b="0" i="0" u="none" strike="noStrike">
                <a:solidFill>
                  <a:srgbClr val="000000"/>
                </a:solidFill>
                <a:effectLst/>
              </a:rPr>
              <a:t>: Generate a graph to visualize trends over time.</a:t>
            </a:r>
          </a:p>
          <a:p>
            <a:endParaRPr lang="en-BG"/>
          </a:p>
          <a:p>
            <a:r>
              <a:rPr lang="en-BG"/>
              <a:t>What You Want to See:</a:t>
            </a:r>
          </a:p>
          <a:p>
            <a:pPr marL="171450" indent="-171450">
              <a:buFont typeface="Arial" panose="020B0604020202020204" pitchFamily="34" charset="0"/>
              <a:buChar char="•"/>
            </a:pPr>
            <a:r>
              <a:rPr lang="en-GB" b="1" i="0" u="none" strike="noStrike">
                <a:solidFill>
                  <a:srgbClr val="000000"/>
                </a:solidFill>
                <a:effectLst/>
              </a:rPr>
              <a:t>Increasing Return on Capital</a:t>
            </a:r>
            <a:r>
              <a:rPr lang="en-GB" b="0" i="0" u="none" strike="noStrike">
                <a:solidFill>
                  <a:srgbClr val="000000"/>
                </a:solidFill>
                <a:effectLst/>
                <a:latin typeface="-webkit-standard"/>
              </a:rPr>
              <a:t>: The company is effectively using its investments to generate profits.</a:t>
            </a:r>
          </a:p>
          <a:p>
            <a:pPr marL="171450" indent="-171450">
              <a:buFont typeface="Arial" panose="020B0604020202020204" pitchFamily="34" charset="0"/>
              <a:buChar char="•"/>
            </a:pPr>
            <a:r>
              <a:rPr lang="en-GB" b="1" i="0" u="none" strike="noStrike">
                <a:solidFill>
                  <a:srgbClr val="000000"/>
                </a:solidFill>
                <a:effectLst/>
              </a:rPr>
              <a:t>Improvements in Asset Turnover</a:t>
            </a:r>
            <a:r>
              <a:rPr lang="en-GB" b="0" i="0" u="none" strike="noStrike">
                <a:solidFill>
                  <a:srgbClr val="000000"/>
                </a:solidFill>
                <a:effectLst/>
                <a:latin typeface="-webkit-standard"/>
              </a:rPr>
              <a:t>: The company is getting better at using its assets to generate revenue.</a:t>
            </a:r>
          </a:p>
          <a:p>
            <a:pPr marL="171450" indent="-171450">
              <a:buFont typeface="Arial" panose="020B0604020202020204" pitchFamily="34" charset="0"/>
              <a:buChar char="•"/>
            </a:pPr>
            <a:r>
              <a:rPr lang="en-GB" b="1" i="0" u="none" strike="noStrike">
                <a:solidFill>
                  <a:srgbClr val="000000"/>
                </a:solidFill>
                <a:effectLst/>
              </a:rPr>
              <a:t>Increasing Operating Profit</a:t>
            </a:r>
            <a:r>
              <a:rPr lang="en-GB" b="0" i="0" u="none" strike="noStrike">
                <a:solidFill>
                  <a:srgbClr val="000000"/>
                </a:solidFill>
                <a:effectLst/>
                <a:latin typeface="-webkit-standard"/>
              </a:rPr>
              <a:t>: The company is becoming more efficient and profitable from its core operations.</a:t>
            </a:r>
          </a:p>
          <a:p>
            <a:pPr marL="171450" indent="-171450">
              <a:buFont typeface="Arial" panose="020B0604020202020204" pitchFamily="34" charset="0"/>
              <a:buChar char="•"/>
            </a:pP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9</a:t>
            </a:fld>
            <a:endParaRPr lang="en-US"/>
          </a:p>
        </p:txBody>
      </p:sp>
    </p:spTree>
    <p:extLst>
      <p:ext uri="{BB962C8B-B14F-4D97-AF65-F5344CB8AC3E}">
        <p14:creationId xmlns:p14="http://schemas.microsoft.com/office/powerpoint/2010/main" val="3557188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Finally, we delve into </a:t>
            </a:r>
            <a:r>
              <a:rPr lang="en-GB" b="1" i="0" u="none" strike="noStrike">
                <a:solidFill>
                  <a:srgbClr val="000000"/>
                </a:solidFill>
                <a:effectLst/>
              </a:rPr>
              <a:t>Chapter 4: Funding</a:t>
            </a:r>
            <a:r>
              <a:rPr lang="en-GB" b="0" i="0" u="none" strike="noStrike">
                <a:solidFill>
                  <a:srgbClr val="000000"/>
                </a:solidFill>
                <a:effectLst/>
              </a:rPr>
              <a:t>. This slide focuses on the company's financial structure by examining cash, debt, equity, and total funding.</a:t>
            </a:r>
          </a:p>
          <a:p>
            <a:pPr algn="l"/>
            <a:endParaRPr lang="en-GB" b="0" i="0" u="none" strike="noStrike">
              <a:solidFill>
                <a:srgbClr val="000000"/>
              </a:solidFill>
              <a:effectLst/>
            </a:endParaRPr>
          </a:p>
          <a:p>
            <a:pPr algn="l"/>
            <a:r>
              <a:rPr lang="en-GB" b="1" i="0" u="none" strike="noStrike">
                <a:solidFill>
                  <a:srgbClr val="000000"/>
                </a:solidFill>
                <a:effectLst/>
              </a:rPr>
              <a:t>Funding</a:t>
            </a:r>
            <a:r>
              <a:rPr lang="en-GB" b="0" i="0" u="none" strike="noStrike">
                <a:solidFill>
                  <a:srgbClr val="000000"/>
                </a:solidFill>
                <a:effectLst/>
              </a:rPr>
              <a:t> is crucial because it helps us understand how the company finances its operations and growth. It ensures we have enough cash to run the business, manage debt wisely, and maintain a healthy balance between debt and equity. </a:t>
            </a:r>
          </a:p>
          <a:p>
            <a:pPr algn="l"/>
            <a:endParaRPr lang="en-GB" b="0" i="0" u="none" strike="noStrike">
              <a:solidFill>
                <a:srgbClr val="000000"/>
              </a:solidFill>
              <a:effectLst/>
            </a:endParaRPr>
          </a:p>
          <a:p>
            <a:pPr algn="l"/>
            <a:r>
              <a:rPr lang="en-GB" b="1" i="0" u="none" strike="noStrike">
                <a:solidFill>
                  <a:srgbClr val="000000"/>
                </a:solidFill>
                <a:effectLst/>
              </a:rPr>
              <a:t>Instructions</a:t>
            </a:r>
          </a:p>
          <a:p>
            <a:pPr marL="171450" indent="-171450" algn="l">
              <a:buFont typeface="Arial" panose="020B0604020202020204" pitchFamily="34" charset="0"/>
              <a:buChar char="•"/>
            </a:pPr>
            <a:r>
              <a:rPr lang="en-GB" b="1" i="0" u="none" strike="noStrike">
                <a:solidFill>
                  <a:srgbClr val="000000"/>
                </a:solidFill>
                <a:effectLst/>
              </a:rPr>
              <a:t>Q1, Q2, Q3</a:t>
            </a:r>
            <a:r>
              <a:rPr lang="en-GB" b="0" i="0" u="none" strike="noStrike">
                <a:solidFill>
                  <a:srgbClr val="000000"/>
                </a:solidFill>
                <a:effectLst/>
              </a:rPr>
              <a:t>: Enter the actual values for each funding metric for the respective quarters. This will help in evaluating the long-term development of these metrics.</a:t>
            </a:r>
          </a:p>
          <a:p>
            <a:pPr marL="171450" indent="-171450" algn="l">
              <a:buFont typeface="Arial" panose="020B0604020202020204" pitchFamily="34" charset="0"/>
              <a:buChar char="•"/>
            </a:pPr>
            <a:r>
              <a:rPr lang="en-GB" b="1" i="0" u="none" strike="noStrike">
                <a:solidFill>
                  <a:srgbClr val="000000"/>
                </a:solidFill>
                <a:effectLst/>
              </a:rPr>
              <a:t>Comments</a:t>
            </a:r>
            <a:r>
              <a:rPr lang="en-GB" b="0" i="0" u="none" strike="noStrike">
                <a:solidFill>
                  <a:srgbClr val="000000"/>
                </a:solidFill>
                <a:effectLst/>
              </a:rPr>
              <a:t>: Add any additional observations or comments based on the historical trends and developments observed in these metrics.</a:t>
            </a:r>
          </a:p>
          <a:p>
            <a:pPr marL="171450" indent="-171450" algn="l">
              <a:buFont typeface="Arial" panose="020B0604020202020204" pitchFamily="34" charset="0"/>
              <a:buChar char="•"/>
            </a:pPr>
            <a:r>
              <a:rPr lang="en-GB" b="1" i="0" u="none" strike="noStrike">
                <a:solidFill>
                  <a:srgbClr val="000000"/>
                </a:solidFill>
                <a:effectLst/>
              </a:rPr>
              <a:t>Graph</a:t>
            </a:r>
            <a:r>
              <a:rPr lang="en-GB" b="0" i="0" u="none" strike="noStrike">
                <a:solidFill>
                  <a:srgbClr val="000000"/>
                </a:solidFill>
                <a:effectLst/>
              </a:rPr>
              <a:t>: Generate a graph to visualize the trends.</a:t>
            </a:r>
          </a:p>
          <a:p>
            <a:pPr marL="171450" indent="-171450" algn="l">
              <a:buFont typeface="Arial" panose="020B0604020202020204" pitchFamily="34" charset="0"/>
              <a:buChar char="•"/>
            </a:pPr>
            <a:endParaRPr lang="en-BG"/>
          </a:p>
          <a:p>
            <a:pPr algn="l"/>
            <a:r>
              <a:rPr lang="en-BG" b="1"/>
              <a:t>Analysis:</a:t>
            </a:r>
            <a:endParaRPr lang="en-BG"/>
          </a:p>
          <a:p>
            <a:pPr marL="171450" indent="-171450" algn="l">
              <a:buFont typeface="Arial" panose="020B0604020202020204" pitchFamily="34" charset="0"/>
              <a:buChar char="•"/>
            </a:pPr>
            <a:r>
              <a:rPr lang="en-GB" b="1" i="0" u="none" strike="noStrike">
                <a:solidFill>
                  <a:srgbClr val="000000"/>
                </a:solidFill>
                <a:effectLst/>
              </a:rPr>
              <a:t>Increasing Cash Reserves</a:t>
            </a:r>
            <a:r>
              <a:rPr lang="en-GB" b="0" i="0" u="none" strike="noStrike">
                <a:solidFill>
                  <a:srgbClr val="000000"/>
                </a:solidFill>
                <a:effectLst/>
              </a:rPr>
              <a:t>: Indicates strong liquidity.</a:t>
            </a:r>
          </a:p>
          <a:p>
            <a:pPr marL="171450" indent="-171450" algn="l">
              <a:buFont typeface="Arial" panose="020B0604020202020204" pitchFamily="34" charset="0"/>
              <a:buChar char="•"/>
            </a:pPr>
            <a:r>
              <a:rPr lang="en-GB" b="1" i="0" u="none" strike="noStrike">
                <a:solidFill>
                  <a:srgbClr val="000000"/>
                </a:solidFill>
                <a:effectLst/>
              </a:rPr>
              <a:t>Manageable Levels of Debt</a:t>
            </a:r>
            <a:r>
              <a:rPr lang="en-GB" b="0" i="0" u="none" strike="noStrike">
                <a:solidFill>
                  <a:srgbClr val="000000"/>
                </a:solidFill>
                <a:effectLst/>
              </a:rPr>
              <a:t>: Typically, a debt-to-equity ratio below 1 is healthy.</a:t>
            </a:r>
          </a:p>
          <a:p>
            <a:pPr marL="171450" indent="-171450" algn="l">
              <a:buFont typeface="Arial" panose="020B0604020202020204" pitchFamily="34" charset="0"/>
              <a:buChar char="•"/>
            </a:pPr>
            <a:r>
              <a:rPr lang="en-GB" b="1" i="0" u="none" strike="noStrike">
                <a:solidFill>
                  <a:srgbClr val="000000"/>
                </a:solidFill>
                <a:effectLst/>
              </a:rPr>
              <a:t>Healthy Equity Growth</a:t>
            </a:r>
            <a:r>
              <a:rPr lang="en-GB" b="0" i="0" u="none" strike="noStrike">
                <a:solidFill>
                  <a:srgbClr val="000000"/>
                </a:solidFill>
                <a:effectLst/>
              </a:rPr>
              <a:t>: Reflects increasing shareholder value.</a:t>
            </a:r>
          </a:p>
          <a:p>
            <a:pPr marL="171450" indent="-171450" algn="l">
              <a:buFont typeface="Arial" panose="020B0604020202020204" pitchFamily="34" charset="0"/>
              <a:buChar char="•"/>
            </a:pPr>
            <a:r>
              <a:rPr lang="en-GB" b="1" i="0" u="none" strike="noStrike">
                <a:solidFill>
                  <a:srgbClr val="000000"/>
                </a:solidFill>
                <a:effectLst/>
              </a:rPr>
              <a:t>Balanced Mix of Debt and Equity</a:t>
            </a:r>
            <a:r>
              <a:rPr lang="en-GB" b="0" i="0" u="none" strike="noStrike">
                <a:solidFill>
                  <a:srgbClr val="000000"/>
                </a:solidFill>
                <a:effectLst/>
              </a:rPr>
              <a:t>: Supports growth while maintaining financial stability.</a:t>
            </a:r>
          </a:p>
          <a:p>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10</a:t>
            </a:fld>
            <a:endParaRPr lang="en-US"/>
          </a:p>
        </p:txBody>
      </p:sp>
    </p:spTree>
    <p:extLst>
      <p:ext uri="{BB962C8B-B14F-4D97-AF65-F5344CB8AC3E}">
        <p14:creationId xmlns:p14="http://schemas.microsoft.com/office/powerpoint/2010/main" val="3546134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This slide guides you through selecting and </a:t>
            </a:r>
            <a:r>
              <a:rPr lang="en-GB" b="0" i="0" u="none" strike="noStrike" err="1">
                <a:solidFill>
                  <a:srgbClr val="000000"/>
                </a:solidFill>
                <a:effectLst/>
              </a:rPr>
              <a:t>analyzing</a:t>
            </a:r>
            <a:r>
              <a:rPr lang="en-GB" b="0" i="0" u="none" strike="noStrike">
                <a:solidFill>
                  <a:srgbClr val="000000"/>
                </a:solidFill>
                <a:effectLst/>
              </a:rPr>
              <a:t> the most impactful metrics for </a:t>
            </a:r>
            <a:r>
              <a:rPr lang="en-GB" b="1" i="0" u="none" strike="noStrike">
                <a:solidFill>
                  <a:srgbClr val="000000"/>
                </a:solidFill>
                <a:effectLst/>
              </a:rPr>
              <a:t>Power of 1 </a:t>
            </a:r>
            <a:r>
              <a:rPr lang="en-GB" b="0" i="0" u="none" strike="noStrike">
                <a:solidFill>
                  <a:srgbClr val="000000"/>
                </a:solidFill>
                <a:effectLst/>
              </a:rPr>
              <a:t>methodology. </a:t>
            </a:r>
          </a:p>
          <a:p>
            <a:pPr algn="l"/>
            <a:r>
              <a:rPr lang="en-GB" b="0" i="0" u="none" strike="noStrike">
                <a:solidFill>
                  <a:srgbClr val="000000"/>
                </a:solidFill>
                <a:effectLst/>
              </a:rPr>
              <a:t>Follow these steps to identify the key levers that can significantly improve your financial performance.</a:t>
            </a:r>
          </a:p>
          <a:p>
            <a:pPr algn="l"/>
            <a:r>
              <a:rPr lang="en-GB" b="1" i="0" u="none" strike="noStrike">
                <a:solidFill>
                  <a:srgbClr val="000000"/>
                </a:solidFill>
                <a:effectLst/>
              </a:rPr>
              <a:t>Instructions</a:t>
            </a:r>
          </a:p>
          <a:p>
            <a:pPr algn="l">
              <a:buFont typeface="+mj-lt"/>
              <a:buAutoNum type="arabicPeriod"/>
            </a:pPr>
            <a:r>
              <a:rPr lang="en-GB" b="1" i="0" u="none" strike="noStrike">
                <a:solidFill>
                  <a:srgbClr val="000000"/>
                </a:solidFill>
                <a:effectLst/>
              </a:rPr>
              <a:t>Identify the Seven Levers</a:t>
            </a:r>
            <a:r>
              <a:rPr lang="en-GB" b="0" i="0" u="none" strike="noStrike">
                <a:solidFill>
                  <a:srgbClr val="000000"/>
                </a:solidFill>
                <a:effectLst/>
              </a:rPr>
              <a:t>:</a:t>
            </a:r>
          </a:p>
          <a:p>
            <a:pPr marL="742950" lvl="1" indent="-285750" algn="l">
              <a:buFont typeface="+mj-lt"/>
              <a:buAutoNum type="arabicPeriod"/>
            </a:pPr>
            <a:r>
              <a:rPr lang="en-GB" b="0" i="0" u="none" strike="noStrike">
                <a:solidFill>
                  <a:srgbClr val="000000"/>
                </a:solidFill>
                <a:effectLst/>
              </a:rPr>
              <a:t>Focus on the 7 key financial levers:</a:t>
            </a:r>
          </a:p>
          <a:p>
            <a:pPr marL="1143000" lvl="2" indent="-228600" algn="l">
              <a:buFont typeface="+mj-lt"/>
              <a:buAutoNum type="arabicPeriod"/>
            </a:pPr>
            <a:r>
              <a:rPr lang="en-GB" b="0" i="0" u="none" strike="noStrike">
                <a:solidFill>
                  <a:srgbClr val="000000"/>
                </a:solidFill>
                <a:effectLst/>
              </a:rPr>
              <a:t>Price Increase %</a:t>
            </a:r>
          </a:p>
          <a:p>
            <a:pPr marL="1143000" lvl="2" indent="-228600" algn="l">
              <a:buFont typeface="+mj-lt"/>
              <a:buAutoNum type="arabicPeriod"/>
            </a:pPr>
            <a:r>
              <a:rPr lang="en-GB" b="0" i="0" u="none" strike="noStrike">
                <a:solidFill>
                  <a:srgbClr val="000000"/>
                </a:solidFill>
                <a:effectLst/>
              </a:rPr>
              <a:t>Revenue Growth %</a:t>
            </a:r>
          </a:p>
          <a:p>
            <a:pPr marL="1143000" lvl="2" indent="-228600" algn="l">
              <a:buFont typeface="+mj-lt"/>
              <a:buAutoNum type="arabicPeriod"/>
            </a:pPr>
            <a:r>
              <a:rPr lang="en-GB" b="0" i="0" u="none" strike="noStrike">
                <a:solidFill>
                  <a:srgbClr val="000000"/>
                </a:solidFill>
                <a:effectLst/>
              </a:rPr>
              <a:t>Cost of Goods Sold (COGS) Reduction %</a:t>
            </a:r>
          </a:p>
          <a:p>
            <a:pPr marL="1143000" lvl="2" indent="-228600" algn="l">
              <a:buFont typeface="+mj-lt"/>
              <a:buAutoNum type="arabicPeriod"/>
            </a:pPr>
            <a:r>
              <a:rPr lang="en-GB" b="0" i="0" u="none" strike="noStrike">
                <a:solidFill>
                  <a:srgbClr val="000000"/>
                </a:solidFill>
                <a:effectLst/>
              </a:rPr>
              <a:t>Overheads Reduction %</a:t>
            </a:r>
          </a:p>
          <a:p>
            <a:pPr marL="1143000" lvl="2" indent="-228600" algn="l">
              <a:buFont typeface="+mj-lt"/>
              <a:buAutoNum type="arabicPeriod"/>
            </a:pPr>
            <a:r>
              <a:rPr lang="en-GB" b="0" i="0" u="none" strike="noStrike">
                <a:solidFill>
                  <a:srgbClr val="000000"/>
                </a:solidFill>
                <a:effectLst/>
              </a:rPr>
              <a:t>Reduction Accounts Receivable Days</a:t>
            </a:r>
          </a:p>
          <a:p>
            <a:pPr marL="1143000" lvl="2" indent="-228600" algn="l">
              <a:buFont typeface="+mj-lt"/>
              <a:buAutoNum type="arabicPeriod"/>
            </a:pPr>
            <a:r>
              <a:rPr lang="en-GB" b="0" i="0" u="none" strike="noStrike">
                <a:solidFill>
                  <a:srgbClr val="000000"/>
                </a:solidFill>
                <a:effectLst/>
              </a:rPr>
              <a:t>Reduction in Inventory Days</a:t>
            </a:r>
          </a:p>
          <a:p>
            <a:pPr marL="1143000" lvl="2" indent="-228600" algn="l">
              <a:buFont typeface="+mj-lt"/>
              <a:buAutoNum type="arabicPeriod"/>
            </a:pPr>
            <a:r>
              <a:rPr lang="en-GB" b="0" i="0" u="none" strike="noStrike">
                <a:solidFill>
                  <a:srgbClr val="000000"/>
                </a:solidFill>
                <a:effectLst/>
              </a:rPr>
              <a:t>Increase in Accounts Payable Days</a:t>
            </a:r>
          </a:p>
          <a:p>
            <a:pPr algn="l">
              <a:buFont typeface="+mj-lt"/>
              <a:buAutoNum type="arabicPeriod"/>
            </a:pPr>
            <a:r>
              <a:rPr lang="en-GB" b="1" i="0" u="none" strike="noStrike">
                <a:solidFill>
                  <a:srgbClr val="000000"/>
                </a:solidFill>
                <a:effectLst/>
              </a:rPr>
              <a:t>Experiment with the Power of 1</a:t>
            </a:r>
            <a:r>
              <a:rPr lang="en-GB" b="0" i="0" u="none" strike="noStrike">
                <a:solidFill>
                  <a:srgbClr val="000000"/>
                </a:solidFill>
                <a:effectLst/>
              </a:rPr>
              <a:t>:</a:t>
            </a:r>
          </a:p>
          <a:p>
            <a:pPr marL="742950" lvl="1" indent="-285750" algn="l">
              <a:buFont typeface="+mj-lt"/>
              <a:buAutoNum type="arabicPeriod"/>
            </a:pPr>
            <a:r>
              <a:rPr lang="en-GB" b="0" i="0" u="none" strike="noStrike">
                <a:solidFill>
                  <a:srgbClr val="000000"/>
                </a:solidFill>
                <a:effectLst/>
              </a:rPr>
              <a:t>Use the Power of 1 methodology to simulate a 1% improvement or 1-day change in each of these seven levers. (use the excel too Power of One)</a:t>
            </a:r>
          </a:p>
          <a:p>
            <a:pPr marL="742950" lvl="1" indent="-285750" algn="l">
              <a:buFont typeface="+mj-lt"/>
              <a:buAutoNum type="arabicPeriod"/>
            </a:pPr>
            <a:r>
              <a:rPr lang="en-GB" b="0" i="0" u="none" strike="noStrike">
                <a:solidFill>
                  <a:srgbClr val="000000"/>
                </a:solidFill>
                <a:effectLst/>
              </a:rPr>
              <a:t>Analyze the impact of these small changes on your net cash flow and EBIT (Earnings Before Interest and Taxes). This helps you understand which metrics have the most significant effect on your financial performance.</a:t>
            </a:r>
          </a:p>
          <a:p>
            <a:pPr algn="l">
              <a:buFont typeface="+mj-lt"/>
              <a:buAutoNum type="arabicPeriod"/>
            </a:pPr>
            <a:r>
              <a:rPr lang="en-GB" b="1" i="0" u="none" strike="noStrike">
                <a:solidFill>
                  <a:srgbClr val="000000"/>
                </a:solidFill>
                <a:effectLst/>
              </a:rPr>
              <a:t>Choose the Most Impactful Levers</a:t>
            </a:r>
            <a:r>
              <a:rPr lang="en-GB" b="0" i="0" u="none" strike="noStrike">
                <a:solidFill>
                  <a:srgbClr val="000000"/>
                </a:solidFill>
                <a:effectLst/>
              </a:rPr>
              <a:t>:</a:t>
            </a:r>
          </a:p>
          <a:p>
            <a:pPr marL="742950" lvl="1" indent="-285750" algn="l">
              <a:buFont typeface="+mj-lt"/>
              <a:buAutoNum type="arabicPeriod"/>
            </a:pPr>
            <a:r>
              <a:rPr lang="en-GB" b="0" i="0" u="none" strike="noStrike">
                <a:solidFill>
                  <a:srgbClr val="000000"/>
                </a:solidFill>
                <a:effectLst/>
              </a:rPr>
              <a:t>Compare the results of the simulations to determine which levers provide the greatest improvement in cash flow and EBIT.</a:t>
            </a:r>
          </a:p>
          <a:p>
            <a:pPr marL="742950" lvl="1" indent="-285750" algn="l">
              <a:buFont typeface="+mj-lt"/>
              <a:buAutoNum type="arabicPeriod"/>
            </a:pPr>
            <a:r>
              <a:rPr lang="en-GB" b="0" i="0" u="none" strike="noStrike">
                <a:solidFill>
                  <a:srgbClr val="000000"/>
                </a:solidFill>
                <a:effectLst/>
              </a:rPr>
              <a:t>Focus on the levers that show the highest potential impact. These are your key levers for financial improvement.</a:t>
            </a:r>
          </a:p>
          <a:p>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11</a:t>
            </a:fld>
            <a:endParaRPr lang="en-US"/>
          </a:p>
        </p:txBody>
      </p:sp>
    </p:spTree>
    <p:extLst>
      <p:ext uri="{BB962C8B-B14F-4D97-AF65-F5344CB8AC3E}">
        <p14:creationId xmlns:p14="http://schemas.microsoft.com/office/powerpoint/2010/main" val="3844354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12</a:t>
            </a:fld>
            <a:endParaRPr lang="en-US"/>
          </a:p>
        </p:txBody>
      </p:sp>
    </p:spTree>
    <p:extLst>
      <p:ext uri="{BB962C8B-B14F-4D97-AF65-F5344CB8AC3E}">
        <p14:creationId xmlns:p14="http://schemas.microsoft.com/office/powerpoint/2010/main" val="2356161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a:t>Mark with colour and specify % completion of each of the individual KPIs </a:t>
            </a: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13</a:t>
            </a:fld>
            <a:endParaRPr lang="en-US"/>
          </a:p>
        </p:txBody>
      </p:sp>
    </p:spTree>
    <p:extLst>
      <p:ext uri="{BB962C8B-B14F-4D97-AF65-F5344CB8AC3E}">
        <p14:creationId xmlns:p14="http://schemas.microsoft.com/office/powerpoint/2010/main" val="671465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BG"/>
              <a:t>C</a:t>
            </a:r>
            <a:r>
              <a:rPr lang="en-GB"/>
              <a:t>h</a:t>
            </a:r>
            <a:r>
              <a:rPr lang="en-BG"/>
              <a:t>oose </a:t>
            </a:r>
            <a:r>
              <a:rPr lang="en-GB"/>
              <a:t>up to 3</a:t>
            </a:r>
            <a:r>
              <a:rPr lang="en-BG"/>
              <a:t> priorities </a:t>
            </a:r>
            <a:r>
              <a:rPr lang="en-GB"/>
              <a:t>that </a:t>
            </a:r>
            <a:r>
              <a:rPr lang="en-BG"/>
              <a:t>went the most successful</a:t>
            </a:r>
            <a:r>
              <a:rPr lang="en-GB"/>
              <a:t> this year</a:t>
            </a:r>
            <a:r>
              <a:rPr lang="en-BG"/>
              <a:t>. Ask WHY </a:t>
            </a:r>
            <a:r>
              <a:rPr lang="en-GB"/>
              <a:t>5 </a:t>
            </a:r>
            <a:r>
              <a:rPr lang="en-BG"/>
              <a:t>times untill you reach </a:t>
            </a:r>
            <a:r>
              <a:rPr lang="en-BG" u="sng"/>
              <a:t>the root-cause for success</a:t>
            </a:r>
            <a:r>
              <a:rPr lang="en-BG"/>
              <a:t>. W</a:t>
            </a:r>
            <a:r>
              <a:rPr lang="en-GB"/>
              <a:t>h</a:t>
            </a:r>
            <a:r>
              <a:rPr lang="en-BG"/>
              <a:t>at is the main learning out of this success? Repeat the same for the priorit</a:t>
            </a:r>
            <a:r>
              <a:rPr lang="en-GB" err="1"/>
              <a:t>ies</a:t>
            </a:r>
            <a:r>
              <a:rPr lang="en-BG"/>
              <a:t> that had the least success during the past </a:t>
            </a:r>
            <a:r>
              <a:rPr lang="en-GB"/>
              <a:t>year</a:t>
            </a:r>
            <a:r>
              <a:rPr lang="en-BG"/>
              <a:t>. </a:t>
            </a:r>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14</a:t>
            </a:fld>
            <a:endParaRPr lang="en-US"/>
          </a:p>
        </p:txBody>
      </p:sp>
    </p:spTree>
    <p:extLst>
      <p:ext uri="{BB962C8B-B14F-4D97-AF65-F5344CB8AC3E}">
        <p14:creationId xmlns:p14="http://schemas.microsoft.com/office/powerpoint/2010/main" val="671465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charset="0"/>
              <a:buNone/>
            </a:pPr>
            <a:r>
              <a:rPr lang="en-GB" sz="1200" b="1" i="0" u="sng" strike="noStrike" kern="1200" baseline="0">
                <a:solidFill>
                  <a:schemeClr val="tx1"/>
                </a:solidFill>
                <a:latin typeface="+mn-lt"/>
                <a:ea typeface="+mn-ea"/>
                <a:cs typeface="+mn-cs"/>
              </a:rPr>
              <a:t>This slide is continuation of the previous analysis of what worked well and what didn’t</a:t>
            </a:r>
          </a:p>
          <a:p>
            <a:pPr marL="0" indent="0">
              <a:buFont typeface="Arial" charset="0"/>
              <a:buNone/>
            </a:pPr>
            <a:endParaRPr lang="en-GB" sz="1200" b="1" i="0" u="sng" strike="noStrike" kern="1200" baseline="0">
              <a:solidFill>
                <a:schemeClr val="tx1"/>
              </a:solidFill>
              <a:latin typeface="+mn-lt"/>
              <a:ea typeface="+mn-ea"/>
              <a:cs typeface="+mn-cs"/>
            </a:endParaRPr>
          </a:p>
          <a:p>
            <a:pPr marL="0" indent="0">
              <a:buFont typeface="Arial" charset="0"/>
              <a:buNone/>
            </a:pPr>
            <a:r>
              <a:rPr lang="en-GB" sz="1200" b="1" i="0" u="sng" strike="noStrike" kern="1200" baseline="0">
                <a:solidFill>
                  <a:schemeClr val="tx1"/>
                </a:solidFill>
                <a:latin typeface="+mn-lt"/>
                <a:ea typeface="+mn-ea"/>
                <a:cs typeface="+mn-cs"/>
              </a:rPr>
              <a:t>A new and better ME</a:t>
            </a:r>
          </a:p>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lang="en-GB" sz="1200" b="0" i="0" u="none" strike="noStrike" kern="1200" baseline="0">
                <a:solidFill>
                  <a:schemeClr val="tx1"/>
                </a:solidFill>
                <a:latin typeface="+mn-lt"/>
                <a:ea typeface="+mn-ea"/>
                <a:cs typeface="+mn-cs"/>
              </a:rPr>
              <a:t>* write-down the top 3 things (concrete behaviours) that you will start/stop or do better in the new year. Outline the change in behaviour that will give you the biggest impact on performance. Make sure they are  start/stop/do better behaviours and are not too vague. </a:t>
            </a:r>
          </a:p>
          <a:p>
            <a:pPr marL="0" indent="0">
              <a:buFont typeface="Arial" charset="0"/>
              <a:buNone/>
            </a:pPr>
            <a:endParaRPr lang="en-GB" sz="1200" b="0" i="0" u="none" strike="noStrike" kern="1200" baseline="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lang="en-GB" sz="1200" b="1" i="0" u="sng" strike="noStrike" kern="1200" baseline="0">
                <a:solidFill>
                  <a:schemeClr val="tx1"/>
                </a:solidFill>
                <a:latin typeface="+mn-lt"/>
                <a:ea typeface="+mn-ea"/>
                <a:cs typeface="+mn-cs"/>
              </a:rPr>
              <a:t>A new and better company</a:t>
            </a:r>
          </a:p>
          <a:p>
            <a:pPr marL="0" indent="0">
              <a:buFont typeface="Arial" charset="0"/>
              <a:buNone/>
            </a:pPr>
            <a:r>
              <a:rPr lang="en-US" sz="1200" u="none" kern="1200">
                <a:solidFill>
                  <a:schemeClr val="tx1"/>
                </a:solidFill>
                <a:effectLst/>
                <a:latin typeface="+mn-lt"/>
                <a:ea typeface="+mn-ea"/>
                <a:cs typeface="+mn-cs"/>
              </a:rPr>
              <a:t>how can you change the way you work so you can dedicate 80% of your time on your STRENGTHS and priorities. </a:t>
            </a:r>
            <a:r>
              <a:rPr lang="en-GB" sz="1200" b="0" i="0" u="none" strike="noStrike" kern="1200" baseline="0">
                <a:solidFill>
                  <a:schemeClr val="tx1"/>
                </a:solidFill>
                <a:latin typeface="+mn-lt"/>
                <a:ea typeface="+mn-ea"/>
                <a:cs typeface="+mn-cs"/>
              </a:rPr>
              <a:t>Write-down the top 3 things (concrete behaviours) that will give the biggest impact on the company performance. Make sure they are  start/stop/do better behaviours and are not too vague. </a:t>
            </a:r>
          </a:p>
          <a:p>
            <a:endParaRPr lang="en-GB"/>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15</a:t>
            </a:fld>
            <a:endParaRPr lang="en-US"/>
          </a:p>
        </p:txBody>
      </p:sp>
    </p:spTree>
    <p:extLst>
      <p:ext uri="{BB962C8B-B14F-4D97-AF65-F5344CB8AC3E}">
        <p14:creationId xmlns:p14="http://schemas.microsoft.com/office/powerpoint/2010/main" val="551317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sz="1200" b="0" i="0" u="none" strike="noStrike" kern="1200" baseline="0">
                <a:solidFill>
                  <a:schemeClr val="tx1"/>
                </a:solidFill>
                <a:latin typeface="+mn-lt"/>
                <a:ea typeface="+mn-ea"/>
                <a:cs typeface="+mn-cs"/>
              </a:rPr>
              <a:t>Think of specific situation/action from the last year that shows the values of the company</a:t>
            </a:r>
          </a:p>
          <a:p>
            <a:pPr marL="171450" indent="-171450">
              <a:buFont typeface="Arial" charset="0"/>
              <a:buChar char="•"/>
            </a:pPr>
            <a:r>
              <a:rPr lang="en-US" sz="1200" u="sng" kern="1200">
                <a:solidFill>
                  <a:schemeClr val="tx1"/>
                </a:solidFill>
                <a:effectLst/>
                <a:latin typeface="+mn-lt"/>
                <a:ea typeface="+mn-ea"/>
                <a:cs typeface="+mn-cs"/>
              </a:rPr>
              <a:t>The story must have REALLY happened throughout </a:t>
            </a:r>
            <a:r>
              <a:rPr lang="en-BG"/>
              <a:t> </a:t>
            </a:r>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16</a:t>
            </a:fld>
            <a:endParaRPr lang="en-US"/>
          </a:p>
        </p:txBody>
      </p:sp>
    </p:spTree>
    <p:extLst>
      <p:ext uri="{BB962C8B-B14F-4D97-AF65-F5344CB8AC3E}">
        <p14:creationId xmlns:p14="http://schemas.microsoft.com/office/powerpoint/2010/main" val="3102979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149D8D-8119-404F-8144-40680EF12F96}"/>
              </a:ext>
            </a:extLst>
          </p:cNvPr>
          <p:cNvSpPr/>
          <p:nvPr userDrawn="1"/>
        </p:nvSpPr>
        <p:spPr>
          <a:xfrm>
            <a:off x="180753" y="545806"/>
            <a:ext cx="3511296" cy="6839712"/>
          </a:xfrm>
          <a:prstGeom prst="rect">
            <a:avLst/>
          </a:prstGeom>
          <a:solidFill>
            <a:srgbClr val="EEED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351590" y="121150"/>
            <a:ext cx="3446463" cy="401639"/>
          </a:xfrm>
          <a:prstGeom prst="rect">
            <a:avLst/>
          </a:prstGeom>
        </p:spPr>
        <p:txBody>
          <a:bodyPr anchor="b"/>
          <a:lstStyle>
            <a:lvl1pPr>
              <a:defRPr sz="1600">
                <a:solidFill>
                  <a:schemeClr val="bg1"/>
                </a:solidFill>
                <a:latin typeface="PF Square Sans Pro Medium" panose="0200050000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2E869D3-6F0A-44D2-A6AC-D6B3100715F1}"/>
              </a:ext>
            </a:extLst>
          </p:cNvPr>
          <p:cNvSpPr>
            <a:spLocks noGrp="1"/>
          </p:cNvSpPr>
          <p:nvPr>
            <p:ph idx="1"/>
          </p:nvPr>
        </p:nvSpPr>
        <p:spPr>
          <a:xfrm>
            <a:off x="3862886" y="939884"/>
            <a:ext cx="6474162" cy="644563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351590" y="939885"/>
            <a:ext cx="3167787" cy="6445631"/>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85462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C908-C6EA-40BC-84E5-8601B3A61A93}"/>
              </a:ext>
            </a:extLst>
          </p:cNvPr>
          <p:cNvSpPr>
            <a:spLocks noGrp="1"/>
          </p:cNvSpPr>
          <p:nvPr>
            <p:ph type="ctrTitle"/>
          </p:nvPr>
        </p:nvSpPr>
        <p:spPr>
          <a:xfrm>
            <a:off x="1336675" y="1238250"/>
            <a:ext cx="8015288" cy="2632075"/>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0482F5-F859-4EB4-86D7-6862BD2B3C80}"/>
              </a:ext>
            </a:extLst>
          </p:cNvPr>
          <p:cNvSpPr>
            <a:spLocks noGrp="1"/>
          </p:cNvSpPr>
          <p:nvPr>
            <p:ph type="subTitle" idx="1"/>
          </p:nvPr>
        </p:nvSpPr>
        <p:spPr>
          <a:xfrm>
            <a:off x="1336675" y="3971925"/>
            <a:ext cx="8015288" cy="18256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ectangle 8">
            <a:extLst>
              <a:ext uri="{FF2B5EF4-FFF2-40B4-BE49-F238E27FC236}">
                <a16:creationId xmlns:a16="http://schemas.microsoft.com/office/drawing/2014/main" id="{DF3534BF-1C45-4368-8169-ECE10FF1D610}"/>
              </a:ext>
            </a:extLst>
          </p:cNvPr>
          <p:cNvSpPr/>
          <p:nvPr userDrawn="1"/>
        </p:nvSpPr>
        <p:spPr>
          <a:xfrm>
            <a:off x="10401771" y="545480"/>
            <a:ext cx="109728" cy="1097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8220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B641-31FC-4D60-A586-84293CC23109}"/>
              </a:ext>
            </a:extLst>
          </p:cNvPr>
          <p:cNvSpPr>
            <a:spLocks noGrp="1"/>
          </p:cNvSpPr>
          <p:nvPr>
            <p:ph type="title"/>
          </p:nvPr>
        </p:nvSpPr>
        <p:spPr>
          <a:xfrm>
            <a:off x="735013" y="403225"/>
            <a:ext cx="9218612" cy="1460500"/>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FC128EA-6F10-4127-AC7D-40567E278071}"/>
              </a:ext>
            </a:extLst>
          </p:cNvPr>
          <p:cNvSpPr>
            <a:spLocks noGrp="1"/>
          </p:cNvSpPr>
          <p:nvPr>
            <p:ph idx="1"/>
          </p:nvPr>
        </p:nvSpPr>
        <p:spPr>
          <a:xfrm>
            <a:off x="735013" y="2012950"/>
            <a:ext cx="9218612" cy="47990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11FC94-B493-43FD-BF9F-5D1B791BE554}"/>
              </a:ext>
            </a:extLst>
          </p:cNvPr>
          <p:cNvSpPr>
            <a:spLocks noGrp="1"/>
          </p:cNvSpPr>
          <p:nvPr>
            <p:ph type="dt" sz="half" idx="10"/>
          </p:nvPr>
        </p:nvSpPr>
        <p:spPr>
          <a:xfrm>
            <a:off x="735013" y="7010400"/>
            <a:ext cx="2405062" cy="401638"/>
          </a:xfrm>
          <a:prstGeom prst="rect">
            <a:avLst/>
          </a:prstGeom>
        </p:spPr>
        <p:txBody>
          <a:bodyPr/>
          <a:lstStyle/>
          <a:p>
            <a:fld id="{9863AC28-63C9-46A7-8F3F-BCCD7D6B6895}" type="datetimeFigureOut">
              <a:rPr lang="en-US" smtClean="0"/>
              <a:t>12/6/24</a:t>
            </a:fld>
            <a:endParaRPr lang="en-US"/>
          </a:p>
        </p:txBody>
      </p:sp>
      <p:sp>
        <p:nvSpPr>
          <p:cNvPr id="5" name="Footer Placeholder 4">
            <a:extLst>
              <a:ext uri="{FF2B5EF4-FFF2-40B4-BE49-F238E27FC236}">
                <a16:creationId xmlns:a16="http://schemas.microsoft.com/office/drawing/2014/main" id="{D7BA2856-ED67-4B7E-8279-8E6789B05907}"/>
              </a:ext>
            </a:extLst>
          </p:cNvPr>
          <p:cNvSpPr>
            <a:spLocks noGrp="1"/>
          </p:cNvSpPr>
          <p:nvPr>
            <p:ph type="ftr" sz="quarter" idx="11"/>
          </p:nvPr>
        </p:nvSpPr>
        <p:spPr>
          <a:xfrm>
            <a:off x="3540125" y="7010400"/>
            <a:ext cx="3608388" cy="40163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614362-6709-4AE9-B1D3-7928B7FB3640}"/>
              </a:ext>
            </a:extLst>
          </p:cNvPr>
          <p:cNvSpPr>
            <a:spLocks noGrp="1"/>
          </p:cNvSpPr>
          <p:nvPr>
            <p:ph type="sldNum" sz="quarter" idx="12"/>
          </p:nvPr>
        </p:nvSpPr>
        <p:spPr>
          <a:xfrm>
            <a:off x="7548563" y="7010400"/>
            <a:ext cx="2405062" cy="401638"/>
          </a:xfrm>
          <a:prstGeom prst="rect">
            <a:avLst/>
          </a:prstGeom>
        </p:spPr>
        <p:txBody>
          <a:bodyPr/>
          <a:lstStyle/>
          <a:p>
            <a:fld id="{9995BC35-55FA-4155-ACB1-4444378FC6F3}" type="slidenum">
              <a:rPr lang="en-US" smtClean="0"/>
              <a:t>‹#›</a:t>
            </a:fld>
            <a:endParaRPr lang="en-US"/>
          </a:p>
        </p:txBody>
      </p:sp>
    </p:spTree>
    <p:extLst>
      <p:ext uri="{BB962C8B-B14F-4D97-AF65-F5344CB8AC3E}">
        <p14:creationId xmlns:p14="http://schemas.microsoft.com/office/powerpoint/2010/main" val="962032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86E5-B4B8-4784-8B0D-2AF7F38B9006}"/>
              </a:ext>
            </a:extLst>
          </p:cNvPr>
          <p:cNvSpPr>
            <a:spLocks noGrp="1"/>
          </p:cNvSpPr>
          <p:nvPr>
            <p:ph type="title"/>
          </p:nvPr>
        </p:nvSpPr>
        <p:spPr>
          <a:xfrm>
            <a:off x="728663" y="1885950"/>
            <a:ext cx="9220200" cy="3144838"/>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82CEA1-F41B-42B4-8034-9669B18788FC}"/>
              </a:ext>
            </a:extLst>
          </p:cNvPr>
          <p:cNvSpPr>
            <a:spLocks noGrp="1"/>
          </p:cNvSpPr>
          <p:nvPr>
            <p:ph type="body" idx="1"/>
          </p:nvPr>
        </p:nvSpPr>
        <p:spPr>
          <a:xfrm>
            <a:off x="728663" y="5060950"/>
            <a:ext cx="9220200" cy="1654175"/>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23CFF6-4041-4594-9E37-571FDD8F9BC5}"/>
              </a:ext>
            </a:extLst>
          </p:cNvPr>
          <p:cNvSpPr>
            <a:spLocks noGrp="1"/>
          </p:cNvSpPr>
          <p:nvPr>
            <p:ph type="dt" sz="half" idx="10"/>
          </p:nvPr>
        </p:nvSpPr>
        <p:spPr>
          <a:xfrm>
            <a:off x="735013" y="7010400"/>
            <a:ext cx="2405062" cy="401638"/>
          </a:xfrm>
          <a:prstGeom prst="rect">
            <a:avLst/>
          </a:prstGeom>
        </p:spPr>
        <p:txBody>
          <a:bodyPr/>
          <a:lstStyle/>
          <a:p>
            <a:fld id="{9863AC28-63C9-46A7-8F3F-BCCD7D6B6895}" type="datetimeFigureOut">
              <a:rPr lang="en-US" smtClean="0"/>
              <a:t>12/6/24</a:t>
            </a:fld>
            <a:endParaRPr lang="en-US"/>
          </a:p>
        </p:txBody>
      </p:sp>
      <p:sp>
        <p:nvSpPr>
          <p:cNvPr id="5" name="Footer Placeholder 4">
            <a:extLst>
              <a:ext uri="{FF2B5EF4-FFF2-40B4-BE49-F238E27FC236}">
                <a16:creationId xmlns:a16="http://schemas.microsoft.com/office/drawing/2014/main" id="{E18B0066-8AAF-4EE5-8E31-6B8D98B34360}"/>
              </a:ext>
            </a:extLst>
          </p:cNvPr>
          <p:cNvSpPr>
            <a:spLocks noGrp="1"/>
          </p:cNvSpPr>
          <p:nvPr>
            <p:ph type="ftr" sz="quarter" idx="11"/>
          </p:nvPr>
        </p:nvSpPr>
        <p:spPr>
          <a:xfrm>
            <a:off x="3540125" y="7010400"/>
            <a:ext cx="3608388" cy="40163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B578B1-AA48-45E7-9399-FED42559BD19}"/>
              </a:ext>
            </a:extLst>
          </p:cNvPr>
          <p:cNvSpPr>
            <a:spLocks noGrp="1"/>
          </p:cNvSpPr>
          <p:nvPr>
            <p:ph type="sldNum" sz="quarter" idx="12"/>
          </p:nvPr>
        </p:nvSpPr>
        <p:spPr>
          <a:xfrm>
            <a:off x="7548563" y="7010400"/>
            <a:ext cx="2405062" cy="401638"/>
          </a:xfrm>
          <a:prstGeom prst="rect">
            <a:avLst/>
          </a:prstGeom>
        </p:spPr>
        <p:txBody>
          <a:bodyPr/>
          <a:lstStyle/>
          <a:p>
            <a:fld id="{9995BC35-55FA-4155-ACB1-4444378FC6F3}" type="slidenum">
              <a:rPr lang="en-US" smtClean="0"/>
              <a:t>‹#›</a:t>
            </a:fld>
            <a:endParaRPr lang="en-US"/>
          </a:p>
        </p:txBody>
      </p:sp>
    </p:spTree>
    <p:extLst>
      <p:ext uri="{BB962C8B-B14F-4D97-AF65-F5344CB8AC3E}">
        <p14:creationId xmlns:p14="http://schemas.microsoft.com/office/powerpoint/2010/main" val="112995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1EE2D-9B15-47C1-9EB0-5E77BB45E6AB}"/>
              </a:ext>
            </a:extLst>
          </p:cNvPr>
          <p:cNvSpPr>
            <a:spLocks noGrp="1"/>
          </p:cNvSpPr>
          <p:nvPr>
            <p:ph type="title"/>
          </p:nvPr>
        </p:nvSpPr>
        <p:spPr>
          <a:xfrm>
            <a:off x="735013" y="403225"/>
            <a:ext cx="9218612" cy="1460500"/>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391FD81-9B3A-47E5-80B8-A6801D01428B}"/>
              </a:ext>
            </a:extLst>
          </p:cNvPr>
          <p:cNvSpPr>
            <a:spLocks noGrp="1"/>
          </p:cNvSpPr>
          <p:nvPr>
            <p:ph sz="half" idx="1"/>
          </p:nvPr>
        </p:nvSpPr>
        <p:spPr>
          <a:xfrm>
            <a:off x="735013" y="2012950"/>
            <a:ext cx="4532312" cy="47990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6F2160-B179-4E87-8430-5B7283F7BC44}"/>
              </a:ext>
            </a:extLst>
          </p:cNvPr>
          <p:cNvSpPr>
            <a:spLocks noGrp="1"/>
          </p:cNvSpPr>
          <p:nvPr>
            <p:ph sz="half" idx="2"/>
          </p:nvPr>
        </p:nvSpPr>
        <p:spPr>
          <a:xfrm>
            <a:off x="5419725" y="2012950"/>
            <a:ext cx="4533900" cy="47990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361295-A1C3-4C52-9270-6A501BECB5E0}"/>
              </a:ext>
            </a:extLst>
          </p:cNvPr>
          <p:cNvSpPr>
            <a:spLocks noGrp="1"/>
          </p:cNvSpPr>
          <p:nvPr>
            <p:ph type="dt" sz="half" idx="10"/>
          </p:nvPr>
        </p:nvSpPr>
        <p:spPr>
          <a:xfrm>
            <a:off x="735013" y="7010400"/>
            <a:ext cx="2405062" cy="401638"/>
          </a:xfrm>
          <a:prstGeom prst="rect">
            <a:avLst/>
          </a:prstGeom>
        </p:spPr>
        <p:txBody>
          <a:bodyPr/>
          <a:lstStyle/>
          <a:p>
            <a:fld id="{9863AC28-63C9-46A7-8F3F-BCCD7D6B6895}" type="datetimeFigureOut">
              <a:rPr lang="en-US" smtClean="0"/>
              <a:t>12/6/24</a:t>
            </a:fld>
            <a:endParaRPr lang="en-US"/>
          </a:p>
        </p:txBody>
      </p:sp>
      <p:sp>
        <p:nvSpPr>
          <p:cNvPr id="6" name="Footer Placeholder 5">
            <a:extLst>
              <a:ext uri="{FF2B5EF4-FFF2-40B4-BE49-F238E27FC236}">
                <a16:creationId xmlns:a16="http://schemas.microsoft.com/office/drawing/2014/main" id="{2D330D10-DEED-4CD4-8B49-39C47A485C73}"/>
              </a:ext>
            </a:extLst>
          </p:cNvPr>
          <p:cNvSpPr>
            <a:spLocks noGrp="1"/>
          </p:cNvSpPr>
          <p:nvPr>
            <p:ph type="ftr" sz="quarter" idx="11"/>
          </p:nvPr>
        </p:nvSpPr>
        <p:spPr>
          <a:xfrm>
            <a:off x="3540125" y="7010400"/>
            <a:ext cx="3608388" cy="40163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D83B19E-5879-4D95-A082-E18A8BDB3E7F}"/>
              </a:ext>
            </a:extLst>
          </p:cNvPr>
          <p:cNvSpPr>
            <a:spLocks noGrp="1"/>
          </p:cNvSpPr>
          <p:nvPr>
            <p:ph type="sldNum" sz="quarter" idx="12"/>
          </p:nvPr>
        </p:nvSpPr>
        <p:spPr>
          <a:xfrm>
            <a:off x="7548563" y="7010400"/>
            <a:ext cx="2405062" cy="401638"/>
          </a:xfrm>
          <a:prstGeom prst="rect">
            <a:avLst/>
          </a:prstGeom>
        </p:spPr>
        <p:txBody>
          <a:bodyPr/>
          <a:lstStyle/>
          <a:p>
            <a:fld id="{9995BC35-55FA-4155-ACB1-4444378FC6F3}" type="slidenum">
              <a:rPr lang="en-US" smtClean="0"/>
              <a:t>‹#›</a:t>
            </a:fld>
            <a:endParaRPr lang="en-US"/>
          </a:p>
        </p:txBody>
      </p:sp>
    </p:spTree>
    <p:extLst>
      <p:ext uri="{BB962C8B-B14F-4D97-AF65-F5344CB8AC3E}">
        <p14:creationId xmlns:p14="http://schemas.microsoft.com/office/powerpoint/2010/main" val="76690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448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043194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1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233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3684726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a:latin typeface="Plaak 3 Trial Regular" panose="02000000000000000000" pitchFamily="50" charset="0"/>
              </a:defRPr>
            </a:lvl1pPr>
          </a:lstStyle>
          <a:p>
            <a:r>
              <a:rPr lang="en-US"/>
              <a:t>Click to edit Master title style</a:t>
            </a:r>
          </a:p>
        </p:txBody>
      </p:sp>
    </p:spTree>
    <p:extLst>
      <p:ext uri="{BB962C8B-B14F-4D97-AF65-F5344CB8AC3E}">
        <p14:creationId xmlns:p14="http://schemas.microsoft.com/office/powerpoint/2010/main" val="3569064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a:latin typeface="Plaak 3 Trial Regular" panose="02000000000000000000" pitchFamily="50" charset="0"/>
              </a:defRPr>
            </a:lvl1pPr>
          </a:lstStyle>
          <a:p>
            <a:r>
              <a:rPr lang="en-US"/>
              <a:t>Click to edit Master title style</a:t>
            </a:r>
          </a:p>
        </p:txBody>
      </p:sp>
    </p:spTree>
    <p:extLst>
      <p:ext uri="{BB962C8B-B14F-4D97-AF65-F5344CB8AC3E}">
        <p14:creationId xmlns:p14="http://schemas.microsoft.com/office/powerpoint/2010/main" val="1767502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3125973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531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4204172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239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1156665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813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334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0020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2309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956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9891954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a:latin typeface="Plaak 3 Trial Regular" panose="02000000000000000000" pitchFamily="50" charset="0"/>
              </a:defRPr>
            </a:lvl1pPr>
          </a:lstStyle>
          <a:p>
            <a:r>
              <a:rPr lang="en-US"/>
              <a:t>Click to edit Master title style</a:t>
            </a:r>
          </a:p>
        </p:txBody>
      </p:sp>
    </p:spTree>
    <p:extLst>
      <p:ext uri="{BB962C8B-B14F-4D97-AF65-F5344CB8AC3E}">
        <p14:creationId xmlns:p14="http://schemas.microsoft.com/office/powerpoint/2010/main" val="9961915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04920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Text Placeholder 6">
            <a:extLst>
              <a:ext uri="{FF2B5EF4-FFF2-40B4-BE49-F238E27FC236}">
                <a16:creationId xmlns:a16="http://schemas.microsoft.com/office/drawing/2014/main" id="{923954D2-DE86-485A-82C4-0A97CB7FC4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2" name="Text Placeholder 6">
            <a:extLst>
              <a:ext uri="{FF2B5EF4-FFF2-40B4-BE49-F238E27FC236}">
                <a16:creationId xmlns:a16="http://schemas.microsoft.com/office/drawing/2014/main" id="{A658E159-4F12-4E61-B298-A2E12DD7BA48}"/>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2702354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7C66F39-4FDC-4901-ACC3-5728E52A8E89}"/>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2689696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C1B3C4-C681-4106-ACA7-A636C51E7DE8}"/>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8" name="Text Placeholder 3">
            <a:extLst>
              <a:ext uri="{FF2B5EF4-FFF2-40B4-BE49-F238E27FC236}">
                <a16:creationId xmlns:a16="http://schemas.microsoft.com/office/drawing/2014/main" id="{E7C96BC2-E0CF-437D-8550-C869D3AF0FB3}"/>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ext Placeholder 6">
            <a:extLst>
              <a:ext uri="{FF2B5EF4-FFF2-40B4-BE49-F238E27FC236}">
                <a16:creationId xmlns:a16="http://schemas.microsoft.com/office/drawing/2014/main" id="{9C281297-A77A-4B6D-9A5B-9672D00DE96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2" name="Text Placeholder 6">
            <a:extLst>
              <a:ext uri="{FF2B5EF4-FFF2-40B4-BE49-F238E27FC236}">
                <a16:creationId xmlns:a16="http://schemas.microsoft.com/office/drawing/2014/main" id="{75CE5C54-5AB2-4A74-8B67-5492731C7B14}"/>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1046706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520F4F0-901B-40CD-B4D6-D2302FE6E5CE}"/>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755D76-41F0-4513-A3F8-AE83A0D00BEA}"/>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FE6A13B6-71DD-4743-8DC5-4A8D996BA8BA}"/>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3">
            <a:extLst>
              <a:ext uri="{FF2B5EF4-FFF2-40B4-BE49-F238E27FC236}">
                <a16:creationId xmlns:a16="http://schemas.microsoft.com/office/drawing/2014/main" id="{F335ADFE-970A-413E-A34F-0930136ADCB1}"/>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Text Placeholder 3">
            <a:extLst>
              <a:ext uri="{FF2B5EF4-FFF2-40B4-BE49-F238E27FC236}">
                <a16:creationId xmlns:a16="http://schemas.microsoft.com/office/drawing/2014/main" id="{442C00F2-19A4-4704-9FA7-D5F0897A43E8}"/>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78729DC3-464B-493F-8F16-F6A8EFD33A49}"/>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14" name="Text Placeholder 6">
            <a:extLst>
              <a:ext uri="{FF2B5EF4-FFF2-40B4-BE49-F238E27FC236}">
                <a16:creationId xmlns:a16="http://schemas.microsoft.com/office/drawing/2014/main" id="{D63369D3-6899-4683-B5E5-4F4C1D42046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5" name="Text Placeholder 6">
            <a:extLst>
              <a:ext uri="{FF2B5EF4-FFF2-40B4-BE49-F238E27FC236}">
                <a16:creationId xmlns:a16="http://schemas.microsoft.com/office/drawing/2014/main" id="{CD645791-DA6C-435E-A126-F330C842CEC0}"/>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4005556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CEBC85E5-A623-4936-A4D2-601B65ED0CD2}"/>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8E3F24E8-0B25-4B45-8DBB-00E105360B37}"/>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12" name="Text Placeholder 6">
            <a:extLst>
              <a:ext uri="{FF2B5EF4-FFF2-40B4-BE49-F238E27FC236}">
                <a16:creationId xmlns:a16="http://schemas.microsoft.com/office/drawing/2014/main" id="{12572854-73CF-4220-B5F8-1A983553551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3" name="Text Placeholder 6">
            <a:extLst>
              <a:ext uri="{FF2B5EF4-FFF2-40B4-BE49-F238E27FC236}">
                <a16:creationId xmlns:a16="http://schemas.microsoft.com/office/drawing/2014/main" id="{8F1CF014-F305-43CE-8FAE-D03DFA92E200}"/>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2132559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541CE07-0789-4BF7-8874-E3CF0B19AB18}"/>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3DFFE40-6F6E-4AC4-A7DE-1653172C5A1D}"/>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4959649E-49B5-45E1-B47D-D98CABFFA113}"/>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Text Placeholder 3">
            <a:extLst>
              <a:ext uri="{FF2B5EF4-FFF2-40B4-BE49-F238E27FC236}">
                <a16:creationId xmlns:a16="http://schemas.microsoft.com/office/drawing/2014/main" id="{BF135383-3194-424E-B03E-9AA70F150D9D}"/>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ext Placeholder 3">
            <a:extLst>
              <a:ext uri="{FF2B5EF4-FFF2-40B4-BE49-F238E27FC236}">
                <a16:creationId xmlns:a16="http://schemas.microsoft.com/office/drawing/2014/main" id="{25D04BB9-0A68-4EC5-B711-4BF1A7743811}"/>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Title 1">
            <a:extLst>
              <a:ext uri="{FF2B5EF4-FFF2-40B4-BE49-F238E27FC236}">
                <a16:creationId xmlns:a16="http://schemas.microsoft.com/office/drawing/2014/main" id="{C0516865-DA93-493B-9B85-304E94925AEC}"/>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362323D2-B2F0-4A2F-AB7B-A214172272C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16D1ABAB-FACA-4162-9761-5AEA98E4F638}"/>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3922703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2277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21698386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1005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8511900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6451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884509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0105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684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291937"/>
      </p:ext>
    </p:extLst>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592015"/>
      </p:ext>
    </p:extLst>
  </p:cSld>
  <p:clrMap bg1="lt1" tx1="dk1" bg2="lt2" tx2="dk2" accent1="accent1" accent2="accent2" accent3="accent3" accent4="accent4" accent5="accent5" accent6="accent6" hlink="hlink" folHlink="folHlink"/>
  <p:sldLayoutIdLst>
    <p:sldLayoutId id="2147484439" r:id="rId1"/>
    <p:sldLayoutId id="2147484440" r:id="rId2"/>
    <p:sldLayoutId id="2147484441" r:id="rId3"/>
    <p:sldLayoutId id="2147484442" r:id="rId4"/>
    <p:sldLayoutId id="214748444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4220359801"/>
      </p:ext>
    </p:extLst>
  </p:cSld>
  <p:clrMap bg1="lt1" tx1="dk1" bg2="lt2" tx2="dk2" accent1="accent1" accent2="accent2" accent3="accent3" accent4="accent4" accent5="accent5" accent6="accent6" hlink="hlink" folHlink="folHlink"/>
  <p:sldLayoutIdLst>
    <p:sldLayoutId id="2147484445"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74742577"/>
      </p:ext>
    </p:extLst>
  </p:cSld>
  <p:clrMap bg1="lt1" tx1="dk1" bg2="lt2" tx2="dk2" accent1="accent1" accent2="accent2" accent3="accent3" accent4="accent4" accent5="accent5" accent6="accent6" hlink="hlink" folHlink="folHlink"/>
  <p:sldLayoutIdLst>
    <p:sldLayoutId id="2147484447" r:id="rId1"/>
    <p:sldLayoutId id="2147484448" r:id="rId2"/>
    <p:sldLayoutId id="2147484449" r:id="rId3"/>
    <p:sldLayoutId id="2147484450" r:id="rId4"/>
    <p:sldLayoutId id="2147484451" r:id="rId5"/>
    <p:sldLayoutId id="2147484452" r:id="rId6"/>
    <p:sldLayoutId id="2147484453"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601616"/>
      </p:ext>
    </p:extLst>
  </p:cSld>
  <p:clrMap bg1="lt1" tx1="dk1" bg2="lt2" tx2="dk2" accent1="accent1" accent2="accent2" accent3="accent3" accent4="accent4" accent5="accent5" accent6="accent6" hlink="hlink" folHlink="folHlink"/>
  <p:sldLayoutIdLst>
    <p:sldLayoutId id="2147484455" r:id="rId1"/>
    <p:sldLayoutId id="2147484456" r:id="rId2"/>
    <p:sldLayoutId id="2147484457" r:id="rId3"/>
    <p:sldLayoutId id="2147484458" r:id="rId4"/>
    <p:sldLayoutId id="2147484459" r:id="rId5"/>
    <p:sldLayoutId id="214748446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0"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0"/>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996532631"/>
      </p:ext>
    </p:extLst>
  </p:cSld>
  <p:clrMap bg1="lt1" tx1="dk1" bg2="lt2" tx2="dk2" accent1="accent1" accent2="accent2" accent3="accent3" accent4="accent4" accent5="accent5" accent6="accent6" hlink="hlink" folHlink="folHlink"/>
  <p:sldLayoutIdLst>
    <p:sldLayoutId id="2147484462" r:id="rId1"/>
    <p:sldLayoutId id="2147484463" r:id="rId2"/>
    <p:sldLayoutId id="2147484464" r:id="rId3"/>
    <p:sldLayoutId id="2147484465" r:id="rId4"/>
    <p:sldLayoutId id="2147484466" r:id="rId5"/>
    <p:sldLayoutId id="2147484467" r:id="rId6"/>
    <p:sldLayoutId id="2147484468"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01">
          <p15:clr>
            <a:srgbClr val="F26B43"/>
          </p15:clr>
        </p15:guide>
        <p15:guide id="2" pos="574">
          <p15:clr>
            <a:srgbClr val="F26B43"/>
          </p15:clr>
        </p15:guide>
        <p15:guide id="3" pos="6621">
          <p15:clr>
            <a:srgbClr val="F26B43"/>
          </p15:clr>
        </p15:guide>
        <p15:guide id="4" pos="112">
          <p15:clr>
            <a:srgbClr val="F26B43"/>
          </p15:clr>
        </p15:guide>
        <p15:guide id="5" pos="641">
          <p15:clr>
            <a:srgbClr val="F26B43"/>
          </p15:clr>
        </p15:guide>
        <p15:guide id="6" pos="1103">
          <p15:clr>
            <a:srgbClr val="F26B43"/>
          </p15:clr>
        </p15:guide>
        <p15:guide id="7" pos="1172">
          <p15:clr>
            <a:srgbClr val="F26B43"/>
          </p15:clr>
        </p15:guide>
        <p15:guide id="8" pos="1634">
          <p15:clr>
            <a:srgbClr val="F26B43"/>
          </p15:clr>
        </p15:guide>
        <p15:guide id="9" pos="1701">
          <p15:clr>
            <a:srgbClr val="F26B43"/>
          </p15:clr>
        </p15:guide>
        <p15:guide id="10" pos="2163">
          <p15:clr>
            <a:srgbClr val="F26B43"/>
          </p15:clr>
        </p15:guide>
        <p15:guide id="11" pos="2231">
          <p15:clr>
            <a:srgbClr val="F26B43"/>
          </p15:clr>
        </p15:guide>
        <p15:guide id="12" pos="2762">
          <p15:clr>
            <a:srgbClr val="F26B43"/>
          </p15:clr>
        </p15:guide>
        <p15:guide id="13" pos="2694">
          <p15:clr>
            <a:srgbClr val="F26B43"/>
          </p15:clr>
        </p15:guide>
        <p15:guide id="14" pos="3225">
          <p15:clr>
            <a:srgbClr val="F26B43"/>
          </p15:clr>
        </p15:guide>
        <p15:guide id="15" pos="3291">
          <p15:clr>
            <a:srgbClr val="F26B43"/>
          </p15:clr>
        </p15:guide>
        <p15:guide id="16" pos="3752">
          <p15:clr>
            <a:srgbClr val="F26B43"/>
          </p15:clr>
        </p15:guide>
        <p15:guide id="17" pos="3820">
          <p15:clr>
            <a:srgbClr val="F26B43"/>
          </p15:clr>
        </p15:guide>
        <p15:guide id="18" pos="4283">
          <p15:clr>
            <a:srgbClr val="F26B43"/>
          </p15:clr>
        </p15:guide>
        <p15:guide id="19" pos="4350">
          <p15:clr>
            <a:srgbClr val="F26B43"/>
          </p15:clr>
        </p15:guide>
        <p15:guide id="20" pos="4812">
          <p15:clr>
            <a:srgbClr val="F26B43"/>
          </p15:clr>
        </p15:guide>
        <p15:guide id="21" pos="4886">
          <p15:clr>
            <a:srgbClr val="F26B43"/>
          </p15:clr>
        </p15:guide>
        <p15:guide id="22" pos="5349">
          <p15:clr>
            <a:srgbClr val="F26B43"/>
          </p15:clr>
        </p15:guide>
        <p15:guide id="23" pos="5417">
          <p15:clr>
            <a:srgbClr val="F26B43"/>
          </p15:clr>
        </p15:guide>
        <p15:guide id="24" pos="5880">
          <p15:clr>
            <a:srgbClr val="F26B43"/>
          </p15:clr>
        </p15:guide>
        <p15:guide id="25" pos="5946">
          <p15:clr>
            <a:srgbClr val="F26B43"/>
          </p15:clr>
        </p15:guide>
        <p15:guide id="26" pos="2198">
          <p15:clr>
            <a:srgbClr val="F26B43"/>
          </p15:clr>
        </p15:guide>
        <p15:guide id="27" pos="4316">
          <p15:clr>
            <a:srgbClr val="F26B43"/>
          </p15:clr>
        </p15:guide>
        <p15:guide id="28" orient="horz" pos="2480">
          <p15:clr>
            <a:srgbClr val="F26B43"/>
          </p15:clr>
        </p15:guide>
        <p15:guide id="30" orient="horz" pos="114">
          <p15:clr>
            <a:srgbClr val="F26B43"/>
          </p15:clr>
        </p15:guide>
        <p15:guide id="31" orient="horz" pos="465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27804014"/>
      </p:ext>
    </p:extLst>
  </p:cSld>
  <p:clrMap bg1="lt1" tx1="dk1" bg2="lt2" tx2="dk2" accent1="accent1" accent2="accent2" accent3="accent3" accent4="accent4" accent5="accent5" accent6="accent6" hlink="hlink" folHlink="folHlink"/>
  <p:sldLayoutIdLst>
    <p:sldLayoutId id="2147484472" r:id="rId1"/>
    <p:sldLayoutId id="2147484473" r:id="rId2"/>
    <p:sldLayoutId id="2147484474" r:id="rId3"/>
    <p:sldLayoutId id="2147484475" r:id="rId4"/>
    <p:sldLayoutId id="2147484476" r:id="rId5"/>
    <p:sldLayoutId id="2147484477" r:id="rId6"/>
    <p:sldLayoutId id="2147484478"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493620-C278-4DF7-9A09-B72C95B02659}"/>
              </a:ext>
            </a:extLst>
          </p:cNvPr>
          <p:cNvSpPr/>
          <p:nvPr/>
        </p:nvSpPr>
        <p:spPr>
          <a:xfrm>
            <a:off x="0" y="2636874"/>
            <a:ext cx="10688638" cy="49259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1">
            <a:extLst>
              <a:ext uri="{FF2B5EF4-FFF2-40B4-BE49-F238E27FC236}">
                <a16:creationId xmlns:a16="http://schemas.microsoft.com/office/drawing/2014/main" id="{FEBBDFB0-30D6-4A66-9276-900F4A21790F}"/>
              </a:ext>
            </a:extLst>
          </p:cNvPr>
          <p:cNvSpPr txBox="1">
            <a:spLocks/>
          </p:cNvSpPr>
          <p:nvPr/>
        </p:nvSpPr>
        <p:spPr>
          <a:xfrm>
            <a:off x="270764" y="3294817"/>
            <a:ext cx="89154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a:ln>
                  <a:noFill/>
                </a:ln>
                <a:solidFill>
                  <a:sysClr val="window" lastClr="FFFFFF"/>
                </a:solidFill>
                <a:effectLst/>
                <a:uLnTx/>
                <a:uFillTx/>
                <a:latin typeface="PF Square Sans Pro Medium" panose="02000500000000020004" pitchFamily="2" charset="0"/>
              </a:rPr>
              <a:t>(COMPANY NAME) </a:t>
            </a:r>
            <a:br>
              <a:rPr kumimoji="0" lang="en-US" sz="4000" b="0" i="0" u="none" strike="noStrike" kern="1200" cap="none" spc="0" normalizeH="0" baseline="0" noProof="0">
                <a:ln>
                  <a:noFill/>
                </a:ln>
                <a:solidFill>
                  <a:sysClr val="window" lastClr="FFFFFF"/>
                </a:solidFill>
                <a:effectLst/>
                <a:uLnTx/>
                <a:uFillTx/>
                <a:latin typeface="PF Square Sans Pro Medium" panose="02000500000000020004" pitchFamily="2" charset="0"/>
              </a:rPr>
            </a:br>
            <a:r>
              <a:rPr kumimoji="0" lang="en-US" sz="4000" b="0" i="0" u="none" strike="noStrike" kern="1200" cap="none" spc="0" normalizeH="0" baseline="0" noProof="0">
                <a:ln>
                  <a:noFill/>
                </a:ln>
                <a:solidFill>
                  <a:sysClr val="window" lastClr="FFFFFF"/>
                </a:solidFill>
                <a:effectLst/>
                <a:uLnTx/>
                <a:uFillTx/>
                <a:latin typeface="PF Square Sans Pro Medium" panose="02000500000000020004" pitchFamily="2" charset="0"/>
              </a:rPr>
              <a:t>ANNUAL MEETING</a:t>
            </a:r>
          </a:p>
        </p:txBody>
      </p:sp>
      <p:sp>
        <p:nvSpPr>
          <p:cNvPr id="6" name="Rectangle 4">
            <a:extLst>
              <a:ext uri="{FF2B5EF4-FFF2-40B4-BE49-F238E27FC236}">
                <a16:creationId xmlns:a16="http://schemas.microsoft.com/office/drawing/2014/main" id="{CA2C343D-39B0-4DE1-A3AB-FBC4CB33FCC5}"/>
              </a:ext>
            </a:extLst>
          </p:cNvPr>
          <p:cNvSpPr txBox="1">
            <a:spLocks noChangeArrowheads="1"/>
          </p:cNvSpPr>
          <p:nvPr/>
        </p:nvSpPr>
        <p:spPr>
          <a:xfrm>
            <a:off x="301989" y="5023809"/>
            <a:ext cx="6934200" cy="124940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en-GB" sz="2800">
                <a:solidFill>
                  <a:prstClr val="white"/>
                </a:solidFill>
                <a:latin typeface="PF Square Sans Pro Light" panose="02000506000000020004" pitchFamily="2" charset="0"/>
              </a:rPr>
              <a:t>PRESENTED BY: …</a:t>
            </a:r>
          </a:p>
          <a:p>
            <a:pPr>
              <a:lnSpc>
                <a:spcPct val="200000"/>
              </a:lnSpc>
            </a:pPr>
            <a:r>
              <a:rPr lang="en-US" sz="2800">
                <a:solidFill>
                  <a:prstClr val="white"/>
                </a:solidFill>
                <a:latin typeface="PF Square Sans Pro Light" panose="02000506000000020004" pitchFamily="2" charset="0"/>
              </a:rPr>
              <a:t>DATE:</a:t>
            </a:r>
            <a:endParaRPr lang="en-GB" sz="2800">
              <a:solidFill>
                <a:prstClr val="white"/>
              </a:solidFill>
              <a:latin typeface="PF Square Sans Pro Light" panose="02000506000000020004" pitchFamily="2" charset="0"/>
            </a:endParaRPr>
          </a:p>
        </p:txBody>
      </p:sp>
      <p:pic>
        <p:nvPicPr>
          <p:cNvPr id="8" name="Picture 7">
            <a:extLst>
              <a:ext uri="{FF2B5EF4-FFF2-40B4-BE49-F238E27FC236}">
                <a16:creationId xmlns:a16="http://schemas.microsoft.com/office/drawing/2014/main" id="{5C66660C-3BCB-4DA5-B5E2-10CD9E37F9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55598" y="439470"/>
            <a:ext cx="2874948" cy="1166046"/>
          </a:xfrm>
          <a:prstGeom prst="rect">
            <a:avLst/>
          </a:prstGeom>
        </p:spPr>
      </p:pic>
    </p:spTree>
    <p:extLst>
      <p:ext uri="{BB962C8B-B14F-4D97-AF65-F5344CB8AC3E}">
        <p14:creationId xmlns:p14="http://schemas.microsoft.com/office/powerpoint/2010/main" val="1770588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4">
            <a:extLst>
              <a:ext uri="{FF2B5EF4-FFF2-40B4-BE49-F238E27FC236}">
                <a16:creationId xmlns:a16="http://schemas.microsoft.com/office/drawing/2014/main" id="{22052900-32A4-431B-83CB-91E71D75CF9B}"/>
              </a:ext>
            </a:extLst>
          </p:cNvPr>
          <p:cNvGraphicFramePr>
            <a:graphicFrameLocks/>
          </p:cNvGraphicFramePr>
          <p:nvPr>
            <p:extLst>
              <p:ext uri="{D42A27DB-BD31-4B8C-83A1-F6EECF244321}">
                <p14:modId xmlns:p14="http://schemas.microsoft.com/office/powerpoint/2010/main" val="138304958"/>
              </p:ext>
            </p:extLst>
          </p:nvPr>
        </p:nvGraphicFramePr>
        <p:xfrm>
          <a:off x="251459" y="797312"/>
          <a:ext cx="9626598" cy="6197850"/>
        </p:xfrm>
        <a:graphic>
          <a:graphicData uri="http://schemas.openxmlformats.org/drawingml/2006/table">
            <a:tbl>
              <a:tblPr/>
              <a:tblGrid>
                <a:gridCol w="438394">
                  <a:extLst>
                    <a:ext uri="{9D8B030D-6E8A-4147-A177-3AD203B41FA5}">
                      <a16:colId xmlns:a16="http://schemas.microsoft.com/office/drawing/2014/main" val="20000"/>
                    </a:ext>
                  </a:extLst>
                </a:gridCol>
                <a:gridCol w="9188204">
                  <a:extLst>
                    <a:ext uri="{9D8B030D-6E8A-4147-A177-3AD203B41FA5}">
                      <a16:colId xmlns:a16="http://schemas.microsoft.com/office/drawing/2014/main" val="20001"/>
                    </a:ext>
                  </a:extLst>
                </a:gridCol>
              </a:tblGrid>
              <a:tr h="478120">
                <a:tc gridSpan="2">
                  <a:txBody>
                    <a:bodyPr/>
                    <a:lstStyle/>
                    <a:p>
                      <a:pPr algn="ctr" fontAlgn="b"/>
                      <a:r>
                        <a:rPr lang="en-US" sz="2400" b="0" i="0" u="none" strike="noStrike">
                          <a:solidFill>
                            <a:srgbClr val="FFFFFF"/>
                          </a:solidFill>
                          <a:effectLst/>
                          <a:latin typeface="PF Square Sans Pro" panose="02000506040000020004" pitchFamily="2" charset="0"/>
                        </a:rPr>
                        <a:t>WHAT </a:t>
                      </a:r>
                      <a:r>
                        <a:rPr lang="en-US" sz="2400" b="0" i="0" u="none" strike="noStrike">
                          <a:solidFill>
                            <a:schemeClr val="accent6"/>
                          </a:solidFill>
                          <a:effectLst/>
                          <a:latin typeface="PF Square Sans Pro" panose="02000506040000020004" pitchFamily="2" charset="0"/>
                        </a:rPr>
                        <a:t>WENT WELL </a:t>
                      </a:r>
                      <a:r>
                        <a:rPr lang="en-US" sz="2400" b="0" i="0" u="none" strike="noStrike">
                          <a:solidFill>
                            <a:srgbClr val="FFFFFF"/>
                          </a:solidFill>
                          <a:effectLst/>
                          <a:latin typeface="PF Square Sans Pro" panose="02000506040000020004" pitchFamily="2" charset="0"/>
                        </a:rPr>
                        <a:t>AND WHAT </a:t>
                      </a:r>
                      <a:r>
                        <a:rPr lang="en-US" sz="2400" b="0" i="0" u="none" strike="noStrike">
                          <a:solidFill>
                            <a:srgbClr val="FF0000"/>
                          </a:solidFill>
                          <a:effectLst/>
                          <a:latin typeface="PF Square Sans Pro" panose="02000506040000020004" pitchFamily="2" charset="0"/>
                        </a:rPr>
                        <a:t>DID NOT</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extLst>
                  <a:ext uri="{0D108BD9-81ED-4DB2-BD59-A6C34878D82A}">
                    <a16:rowId xmlns:a16="http://schemas.microsoft.com/office/drawing/2014/main" val="10000"/>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4.</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5.</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6.</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7.</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8.</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025663634"/>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9.</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71599799"/>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10.</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400321312"/>
                  </a:ext>
                </a:extLst>
              </a:tr>
            </a:tbl>
          </a:graphicData>
        </a:graphic>
      </p:graphicFrame>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251459" y="171992"/>
            <a:ext cx="8737600" cy="395696"/>
          </a:xfrm>
        </p:spPr>
        <p:txBody>
          <a:bodyPr anchor="b"/>
          <a:lstStyle/>
          <a:p>
            <a:r>
              <a:rPr lang="en-US" sz="2800" b="1" dirty="0">
                <a:latin typeface="+mj-lt"/>
              </a:rPr>
              <a:t>EXECUTIVE SUMMARY FOR LAST YEAR </a:t>
            </a:r>
            <a:endParaRPr lang="en-BG" sz="2800" b="1" dirty="0">
              <a:latin typeface="+mj-lt"/>
            </a:endParaRPr>
          </a:p>
        </p:txBody>
      </p:sp>
      <p:sp>
        <p:nvSpPr>
          <p:cNvPr id="5" name="Rectangle 4">
            <a:extLst>
              <a:ext uri="{FF2B5EF4-FFF2-40B4-BE49-F238E27FC236}">
                <a16:creationId xmlns:a16="http://schemas.microsoft.com/office/drawing/2014/main" id="{D87C4E32-79B8-49F1-A650-A011F0AA89E4}"/>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CEO </a:t>
            </a:r>
          </a:p>
        </p:txBody>
      </p:sp>
    </p:spTree>
    <p:extLst>
      <p:ext uri="{BB962C8B-B14F-4D97-AF65-F5344CB8AC3E}">
        <p14:creationId xmlns:p14="http://schemas.microsoft.com/office/powerpoint/2010/main" val="642077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847ECD-99C5-41D9-82B2-7626EC988181}"/>
              </a:ext>
            </a:extLst>
          </p:cNvPr>
          <p:cNvSpPr>
            <a:spLocks noGrp="1"/>
          </p:cNvSpPr>
          <p:nvPr>
            <p:ph type="title"/>
          </p:nvPr>
        </p:nvSpPr>
        <p:spPr>
          <a:xfrm>
            <a:off x="248224" y="169375"/>
            <a:ext cx="7469312" cy="401639"/>
          </a:xfrm>
        </p:spPr>
        <p:txBody>
          <a:bodyPr anchor="b"/>
          <a:lstStyle/>
          <a:p>
            <a:r>
              <a:rPr lang="en-GB" sz="2800" b="1" dirty="0">
                <a:latin typeface="+mj-lt"/>
              </a:rPr>
              <a:t>COMPANY PERFORMANCE REVIEW LAST YEAR</a:t>
            </a:r>
          </a:p>
        </p:txBody>
      </p:sp>
      <p:graphicFrame>
        <p:nvGraphicFramePr>
          <p:cNvPr id="6" name="Table 5">
            <a:extLst>
              <a:ext uri="{FF2B5EF4-FFF2-40B4-BE49-F238E27FC236}">
                <a16:creationId xmlns:a16="http://schemas.microsoft.com/office/drawing/2014/main" id="{3AB8781E-9D2E-4935-AA34-5C55B3F77B4A}"/>
              </a:ext>
            </a:extLst>
          </p:cNvPr>
          <p:cNvGraphicFramePr>
            <a:graphicFrameLocks noGrp="1"/>
          </p:cNvGraphicFramePr>
          <p:nvPr>
            <p:extLst>
              <p:ext uri="{D42A27DB-BD31-4B8C-83A1-F6EECF244321}">
                <p14:modId xmlns:p14="http://schemas.microsoft.com/office/powerpoint/2010/main" val="3471115683"/>
              </p:ext>
            </p:extLst>
          </p:nvPr>
        </p:nvGraphicFramePr>
        <p:xfrm>
          <a:off x="248224" y="836415"/>
          <a:ext cx="9707738" cy="2549610"/>
        </p:xfrm>
        <a:graphic>
          <a:graphicData uri="http://schemas.openxmlformats.org/drawingml/2006/table">
            <a:tbl>
              <a:tblPr firstRow="1" bandRow="1">
                <a:tableStyleId>{2D5ABB26-0587-4C30-8999-92F81FD0307C}</a:tableStyleId>
              </a:tblPr>
              <a:tblGrid>
                <a:gridCol w="8492364">
                  <a:extLst>
                    <a:ext uri="{9D8B030D-6E8A-4147-A177-3AD203B41FA5}">
                      <a16:colId xmlns:a16="http://schemas.microsoft.com/office/drawing/2014/main" val="239924796"/>
                    </a:ext>
                  </a:extLst>
                </a:gridCol>
                <a:gridCol w="1215374">
                  <a:extLst>
                    <a:ext uri="{9D8B030D-6E8A-4147-A177-3AD203B41FA5}">
                      <a16:colId xmlns:a16="http://schemas.microsoft.com/office/drawing/2014/main" val="1353352533"/>
                    </a:ext>
                  </a:extLst>
                </a:gridCol>
              </a:tblGrid>
              <a:tr h="299709">
                <a:tc>
                  <a:txBody>
                    <a:bodyPr/>
                    <a:lstStyle/>
                    <a:p>
                      <a:pPr algn="ctr" fontAlgn="auto">
                        <a:spcAft>
                          <a:spcPts val="0"/>
                        </a:spcAft>
                      </a:pPr>
                      <a:r>
                        <a:rPr lang="en-US" sz="1800" b="0" i="0">
                          <a:solidFill>
                            <a:schemeClr val="bg1"/>
                          </a:solidFill>
                          <a:latin typeface="PF Square Sans Pro" panose="02000506040000020004" pitchFamily="2" charset="0"/>
                        </a:rPr>
                        <a:t>2024 TARGETS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PF Square Sans Pro" panose="02000506040000020004" pitchFamily="2" charset="0"/>
                        </a:rPr>
                        <a:t>PROGRESS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42599928"/>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NOT 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494677619"/>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5594936"/>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3216090"/>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5858458"/>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516324730"/>
                  </a:ext>
                </a:extLst>
              </a:tr>
            </a:tbl>
          </a:graphicData>
        </a:graphic>
      </p:graphicFrame>
      <p:graphicFrame>
        <p:nvGraphicFramePr>
          <p:cNvPr id="7" name="Table 6">
            <a:extLst>
              <a:ext uri="{FF2B5EF4-FFF2-40B4-BE49-F238E27FC236}">
                <a16:creationId xmlns:a16="http://schemas.microsoft.com/office/drawing/2014/main" id="{2F5076AC-4834-4BE8-BE9D-322906F759D0}"/>
              </a:ext>
            </a:extLst>
          </p:cNvPr>
          <p:cNvGraphicFramePr>
            <a:graphicFrameLocks noGrp="1"/>
          </p:cNvGraphicFramePr>
          <p:nvPr>
            <p:extLst>
              <p:ext uri="{D42A27DB-BD31-4B8C-83A1-F6EECF244321}">
                <p14:modId xmlns:p14="http://schemas.microsoft.com/office/powerpoint/2010/main" val="3516907867"/>
              </p:ext>
            </p:extLst>
          </p:nvPr>
        </p:nvGraphicFramePr>
        <p:xfrm>
          <a:off x="248224" y="3870882"/>
          <a:ext cx="9707740" cy="3048000"/>
        </p:xfrm>
        <a:graphic>
          <a:graphicData uri="http://schemas.openxmlformats.org/drawingml/2006/table">
            <a:tbl>
              <a:tblPr firstRow="1" bandRow="1">
                <a:tableStyleId>{2D5ABB26-0587-4C30-8999-92F81FD0307C}</a:tableStyleId>
              </a:tblPr>
              <a:tblGrid>
                <a:gridCol w="6966123">
                  <a:extLst>
                    <a:ext uri="{9D8B030D-6E8A-4147-A177-3AD203B41FA5}">
                      <a16:colId xmlns:a16="http://schemas.microsoft.com/office/drawing/2014/main" val="239924796"/>
                    </a:ext>
                  </a:extLst>
                </a:gridCol>
                <a:gridCol w="1526241">
                  <a:extLst>
                    <a:ext uri="{9D8B030D-6E8A-4147-A177-3AD203B41FA5}">
                      <a16:colId xmlns:a16="http://schemas.microsoft.com/office/drawing/2014/main" val="1435361538"/>
                    </a:ext>
                  </a:extLst>
                </a:gridCol>
                <a:gridCol w="1215376">
                  <a:extLst>
                    <a:ext uri="{9D8B030D-6E8A-4147-A177-3AD203B41FA5}">
                      <a16:colId xmlns:a16="http://schemas.microsoft.com/office/drawing/2014/main" val="4008994198"/>
                    </a:ext>
                  </a:extLst>
                </a:gridCol>
              </a:tblGrid>
              <a:tr h="246091">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800" b="0" i="0">
                          <a:solidFill>
                            <a:schemeClr val="bg1"/>
                          </a:solidFill>
                          <a:latin typeface="PF Square Sans Pro" panose="02000506040000020004" pitchFamily="2" charset="0"/>
                        </a:rPr>
                        <a:t>2024 PRIORITIES </a:t>
                      </a:r>
                    </a:p>
                  </a:txBody>
                  <a:tcP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PF Square Sans Pro" panose="02000506040000020004" pitchFamily="2" charset="0"/>
                        </a:rPr>
                        <a:t>KPI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PF Square Sans Pro" panose="02000506040000020004" pitchFamily="2" charset="0"/>
                        </a:rPr>
                        <a:t>PROGRESS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NOT 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342599928"/>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601760332"/>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012188083"/>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7149773"/>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7704878"/>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179670620"/>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bl>
          </a:graphicData>
        </a:graphic>
      </p:graphicFrame>
      <p:sp>
        <p:nvSpPr>
          <p:cNvPr id="8" name="Rectangle 7">
            <a:extLst>
              <a:ext uri="{FF2B5EF4-FFF2-40B4-BE49-F238E27FC236}">
                <a16:creationId xmlns:a16="http://schemas.microsoft.com/office/drawing/2014/main" id="{E37A0555-50A1-4534-9D5D-F06302F6887E}"/>
              </a:ext>
            </a:extLst>
          </p:cNvPr>
          <p:cNvSpPr/>
          <p:nvPr/>
        </p:nvSpPr>
        <p:spPr>
          <a:xfrm rot="20378607">
            <a:off x="7604012" y="5323531"/>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CEO </a:t>
            </a:r>
          </a:p>
        </p:txBody>
      </p:sp>
    </p:spTree>
    <p:extLst>
      <p:ext uri="{BB962C8B-B14F-4D97-AF65-F5344CB8AC3E}">
        <p14:creationId xmlns:p14="http://schemas.microsoft.com/office/powerpoint/2010/main" val="185231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177030" y="205993"/>
            <a:ext cx="8737600" cy="395696"/>
          </a:xfrm>
        </p:spPr>
        <p:txBody>
          <a:bodyPr anchor="b"/>
          <a:lstStyle/>
          <a:p>
            <a:r>
              <a:rPr lang="en-US" sz="2800" b="1" dirty="0">
                <a:latin typeface="+mj-lt"/>
              </a:rPr>
              <a:t>WHAT IS NEW IN THE INDUSTRY SINCE LAST YEAR</a:t>
            </a:r>
            <a:endParaRPr lang="en-BG" sz="2800" b="1" dirty="0">
              <a:latin typeface="+mj-lt"/>
            </a:endParaRPr>
          </a:p>
        </p:txBody>
      </p:sp>
      <p:graphicFrame>
        <p:nvGraphicFramePr>
          <p:cNvPr id="8" name="Content Placeholder 4">
            <a:extLst>
              <a:ext uri="{FF2B5EF4-FFF2-40B4-BE49-F238E27FC236}">
                <a16:creationId xmlns:a16="http://schemas.microsoft.com/office/drawing/2014/main" id="{3474C476-EB19-7945-B16D-B51C6B222F3D}"/>
              </a:ext>
            </a:extLst>
          </p:cNvPr>
          <p:cNvGraphicFramePr>
            <a:graphicFrameLocks/>
          </p:cNvGraphicFramePr>
          <p:nvPr>
            <p:extLst>
              <p:ext uri="{D42A27DB-BD31-4B8C-83A1-F6EECF244321}">
                <p14:modId xmlns:p14="http://schemas.microsoft.com/office/powerpoint/2010/main" val="75151771"/>
              </p:ext>
            </p:extLst>
          </p:nvPr>
        </p:nvGraphicFramePr>
        <p:xfrm>
          <a:off x="446049" y="919586"/>
          <a:ext cx="9397717" cy="6127212"/>
        </p:xfrm>
        <a:graphic>
          <a:graphicData uri="http://schemas.openxmlformats.org/drawingml/2006/table">
            <a:tbl>
              <a:tblPr/>
              <a:tblGrid>
                <a:gridCol w="427971">
                  <a:extLst>
                    <a:ext uri="{9D8B030D-6E8A-4147-A177-3AD203B41FA5}">
                      <a16:colId xmlns:a16="http://schemas.microsoft.com/office/drawing/2014/main" val="20000"/>
                    </a:ext>
                  </a:extLst>
                </a:gridCol>
                <a:gridCol w="8969746">
                  <a:extLst>
                    <a:ext uri="{9D8B030D-6E8A-4147-A177-3AD203B41FA5}">
                      <a16:colId xmlns:a16="http://schemas.microsoft.com/office/drawing/2014/main" val="20001"/>
                    </a:ext>
                  </a:extLst>
                </a:gridCol>
              </a:tblGrid>
              <a:tr h="579660">
                <a:tc gridSpan="2">
                  <a:txBody>
                    <a:bodyPr/>
                    <a:lstStyle/>
                    <a:p>
                      <a:pPr algn="ctr" fontAlgn="b"/>
                      <a:r>
                        <a:rPr lang="en-US" sz="2400" b="0" i="0" u="none" strike="noStrike">
                          <a:solidFill>
                            <a:srgbClr val="FFFFFF"/>
                          </a:solidFill>
                          <a:effectLst/>
                          <a:latin typeface="PF Square Sans Pro" panose="02000506040000020004" pitchFamily="2" charset="0"/>
                        </a:rPr>
                        <a:t>WHAT CHANGED IN 2024 </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extLst>
                  <a:ext uri="{0D108BD9-81ED-4DB2-BD59-A6C34878D82A}">
                    <a16:rowId xmlns:a16="http://schemas.microsoft.com/office/drawing/2014/main" val="10000"/>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6"/>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solidFill>
                          <a:schemeClr val="accent6"/>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solidFill>
                          <a:schemeClr val="accent6"/>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4.</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endParaRPr lang="en-US" sz="1600" b="0" i="0">
                        <a:solidFill>
                          <a:schemeClr val="accent6"/>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5.</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solidFill>
                          <a:srgbClr val="FF0000"/>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6.</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solidFill>
                          <a:srgbClr val="FF0000"/>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7.</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600" b="0" i="0">
                        <a:solidFill>
                          <a:srgbClr val="FF0000"/>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8.</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solidFill>
                          <a:srgbClr val="FF0000"/>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025663634"/>
                  </a:ext>
                </a:extLst>
              </a:tr>
            </a:tbl>
          </a:graphicData>
        </a:graphic>
      </p:graphicFrame>
      <p:sp>
        <p:nvSpPr>
          <p:cNvPr id="2" name="Rectangle 1">
            <a:extLst>
              <a:ext uri="{FF2B5EF4-FFF2-40B4-BE49-F238E27FC236}">
                <a16:creationId xmlns:a16="http://schemas.microsoft.com/office/drawing/2014/main" id="{9F90FC30-5285-75EE-976A-27463E6A47E5}"/>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CEO </a:t>
            </a:r>
          </a:p>
        </p:txBody>
      </p:sp>
    </p:spTree>
    <p:extLst>
      <p:ext uri="{BB962C8B-B14F-4D97-AF65-F5344CB8AC3E}">
        <p14:creationId xmlns:p14="http://schemas.microsoft.com/office/powerpoint/2010/main" val="261178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152834" y="192264"/>
            <a:ext cx="8665217" cy="401639"/>
          </a:xfrm>
        </p:spPr>
        <p:txBody>
          <a:bodyPr anchor="b"/>
          <a:lstStyle/>
          <a:p>
            <a:r>
              <a:rPr lang="en-US" sz="2800" b="1" dirty="0">
                <a:latin typeface="+mj-lt"/>
              </a:rPr>
              <a:t>IF I START THE YEAR AGAIN, I WOULD DO DIFFERENTLY </a:t>
            </a:r>
            <a:endParaRPr lang="en-BG" sz="2800" b="1" dirty="0">
              <a:latin typeface="+mj-lt"/>
            </a:endParaRPr>
          </a:p>
        </p:txBody>
      </p:sp>
      <p:graphicFrame>
        <p:nvGraphicFramePr>
          <p:cNvPr id="10" name="Table 9">
            <a:extLst>
              <a:ext uri="{FF2B5EF4-FFF2-40B4-BE49-F238E27FC236}">
                <a16:creationId xmlns:a16="http://schemas.microsoft.com/office/drawing/2014/main" id="{CECF18FC-41F8-4667-B3A7-A7ADF1B70930}"/>
              </a:ext>
            </a:extLst>
          </p:cNvPr>
          <p:cNvGraphicFramePr>
            <a:graphicFrameLocks noGrp="1"/>
          </p:cNvGraphicFramePr>
          <p:nvPr/>
        </p:nvGraphicFramePr>
        <p:xfrm>
          <a:off x="321013" y="853440"/>
          <a:ext cx="4697846" cy="5471885"/>
        </p:xfrm>
        <a:graphic>
          <a:graphicData uri="http://schemas.openxmlformats.org/drawingml/2006/table">
            <a:tbl>
              <a:tblPr firstRow="1" bandRow="1">
                <a:tableStyleId>{2D5ABB26-0587-4C30-8999-92F81FD0307C}</a:tableStyleId>
              </a:tblPr>
              <a:tblGrid>
                <a:gridCol w="4697846">
                  <a:extLst>
                    <a:ext uri="{9D8B030D-6E8A-4147-A177-3AD203B41FA5}">
                      <a16:colId xmlns:a16="http://schemas.microsoft.com/office/drawing/2014/main" val="239924796"/>
                    </a:ext>
                  </a:extLst>
                </a:gridCol>
              </a:tblGrid>
              <a:tr h="523034">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400" b="0" i="0">
                          <a:solidFill>
                            <a:schemeClr val="bg1"/>
                          </a:solidFill>
                          <a:latin typeface="PF Square Sans Pro" panose="02000506040000020004" pitchFamily="2" charset="0"/>
                        </a:rPr>
                        <a:t>BETTER ME - 3 ACTIONS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2599928"/>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2.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7704878"/>
                  </a:ext>
                </a:extLst>
              </a:tr>
            </a:tbl>
          </a:graphicData>
        </a:graphic>
      </p:graphicFrame>
      <p:graphicFrame>
        <p:nvGraphicFramePr>
          <p:cNvPr id="11" name="Table 10">
            <a:extLst>
              <a:ext uri="{FF2B5EF4-FFF2-40B4-BE49-F238E27FC236}">
                <a16:creationId xmlns:a16="http://schemas.microsoft.com/office/drawing/2014/main" id="{74848FCA-2647-4B31-B906-0C2B6BC3B83A}"/>
              </a:ext>
            </a:extLst>
          </p:cNvPr>
          <p:cNvGraphicFramePr>
            <a:graphicFrameLocks noGrp="1"/>
          </p:cNvGraphicFramePr>
          <p:nvPr/>
        </p:nvGraphicFramePr>
        <p:xfrm>
          <a:off x="5219585" y="853440"/>
          <a:ext cx="4697846" cy="5471885"/>
        </p:xfrm>
        <a:graphic>
          <a:graphicData uri="http://schemas.openxmlformats.org/drawingml/2006/table">
            <a:tbl>
              <a:tblPr firstRow="1" bandRow="1">
                <a:tableStyleId>{2D5ABB26-0587-4C30-8999-92F81FD0307C}</a:tableStyleId>
              </a:tblPr>
              <a:tblGrid>
                <a:gridCol w="4697846">
                  <a:extLst>
                    <a:ext uri="{9D8B030D-6E8A-4147-A177-3AD203B41FA5}">
                      <a16:colId xmlns:a16="http://schemas.microsoft.com/office/drawing/2014/main" val="239924796"/>
                    </a:ext>
                  </a:extLst>
                </a:gridCol>
              </a:tblGrid>
              <a:tr h="523034">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400" b="0" i="0">
                          <a:solidFill>
                            <a:schemeClr val="bg1"/>
                          </a:solidFill>
                          <a:latin typeface="PF Square Sans Pro" panose="02000506040000020004" pitchFamily="2" charset="0"/>
                        </a:rPr>
                        <a:t>BETTER COMPANY - 3 ACTIONS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2599928"/>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2.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3.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7704878"/>
                  </a:ext>
                </a:extLst>
              </a:tr>
            </a:tbl>
          </a:graphicData>
        </a:graphic>
      </p:graphicFrame>
      <p:sp>
        <p:nvSpPr>
          <p:cNvPr id="5" name="Rectangle 4">
            <a:extLst>
              <a:ext uri="{FF2B5EF4-FFF2-40B4-BE49-F238E27FC236}">
                <a16:creationId xmlns:a16="http://schemas.microsoft.com/office/drawing/2014/main" id="{FCB730E8-5349-4570-BFB4-BDB3B362D987}"/>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CEO </a:t>
            </a:r>
          </a:p>
        </p:txBody>
      </p:sp>
    </p:spTree>
    <p:extLst>
      <p:ext uri="{BB962C8B-B14F-4D97-AF65-F5344CB8AC3E}">
        <p14:creationId xmlns:p14="http://schemas.microsoft.com/office/powerpoint/2010/main" val="177948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lstStyle/>
          <a:p>
            <a:r>
              <a:rPr lang="en-GB" sz="2800" b="1" dirty="0">
                <a:latin typeface="+mj-lt"/>
              </a:rPr>
              <a:t>C</a:t>
            </a:r>
            <a:r>
              <a:rPr lang="en-BG" sz="2800" b="1" dirty="0">
                <a:latin typeface="+mj-lt"/>
              </a:rPr>
              <a:t>ASH PERFORMAN</a:t>
            </a:r>
            <a:r>
              <a:rPr lang="en-GB" sz="2800" b="1" dirty="0">
                <a:latin typeface="+mj-lt"/>
              </a:rPr>
              <a:t>C</a:t>
            </a:r>
            <a:r>
              <a:rPr lang="en-BG" sz="2800" b="1" dirty="0">
                <a:latin typeface="+mj-lt"/>
              </a:rPr>
              <a:t>E - OVERVIEW</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extLst>
              <p:ext uri="{D42A27DB-BD31-4B8C-83A1-F6EECF244321}">
                <p14:modId xmlns:p14="http://schemas.microsoft.com/office/powerpoint/2010/main" val="4187771453"/>
              </p:ext>
            </p:extLst>
          </p:nvPr>
        </p:nvGraphicFramePr>
        <p:xfrm>
          <a:off x="257175" y="819149"/>
          <a:ext cx="9620251" cy="6315071"/>
        </p:xfrm>
        <a:graphic>
          <a:graphicData uri="http://schemas.openxmlformats.org/drawingml/2006/table">
            <a:tbl>
              <a:tblPr firstRow="1" bandRow="1">
                <a:tableStyleId>{073A0DAA-6AF3-43AB-8588-CEC1D06C72B9}</a:tableStyleId>
              </a:tblPr>
              <a:tblGrid>
                <a:gridCol w="4796185">
                  <a:extLst>
                    <a:ext uri="{9D8B030D-6E8A-4147-A177-3AD203B41FA5}">
                      <a16:colId xmlns:a16="http://schemas.microsoft.com/office/drawing/2014/main" val="2423163376"/>
                    </a:ext>
                  </a:extLst>
                </a:gridCol>
                <a:gridCol w="1612961">
                  <a:extLst>
                    <a:ext uri="{9D8B030D-6E8A-4147-A177-3AD203B41FA5}">
                      <a16:colId xmlns:a16="http://schemas.microsoft.com/office/drawing/2014/main" val="1976845988"/>
                    </a:ext>
                  </a:extLst>
                </a:gridCol>
                <a:gridCol w="1605553">
                  <a:extLst>
                    <a:ext uri="{9D8B030D-6E8A-4147-A177-3AD203B41FA5}">
                      <a16:colId xmlns:a16="http://schemas.microsoft.com/office/drawing/2014/main" val="1727696317"/>
                    </a:ext>
                  </a:extLst>
                </a:gridCol>
                <a:gridCol w="1605552">
                  <a:extLst>
                    <a:ext uri="{9D8B030D-6E8A-4147-A177-3AD203B41FA5}">
                      <a16:colId xmlns:a16="http://schemas.microsoft.com/office/drawing/2014/main" val="1987971064"/>
                    </a:ext>
                  </a:extLst>
                </a:gridCol>
              </a:tblGrid>
              <a:tr h="681824">
                <a:tc>
                  <a:txBody>
                    <a:bodyPr/>
                    <a:lstStyle/>
                    <a:p>
                      <a:r>
                        <a:rPr lang="en-GB"/>
                        <a:t>Profitability</a:t>
                      </a:r>
                    </a:p>
                  </a:txBody>
                  <a:tcPr anchor="ctr"/>
                </a:tc>
                <a:tc>
                  <a:txBody>
                    <a:bodyPr/>
                    <a:lstStyle/>
                    <a:p>
                      <a:r>
                        <a:rPr lang="en-GB"/>
                        <a:t>Target</a:t>
                      </a:r>
                    </a:p>
                  </a:txBody>
                  <a:tcPr anchor="ctr"/>
                </a:tc>
                <a:tc>
                  <a:txBody>
                    <a:bodyPr/>
                    <a:lstStyle/>
                    <a:p>
                      <a:r>
                        <a:rPr lang="en-GB"/>
                        <a:t>Actual </a:t>
                      </a:r>
                    </a:p>
                  </a:txBody>
                  <a:tcPr anchor="ctr"/>
                </a:tc>
                <a:tc>
                  <a:txBody>
                    <a:bodyPr/>
                    <a:lstStyle/>
                    <a:p>
                      <a:r>
                        <a:rPr lang="en-GB"/>
                        <a:t>Gap</a:t>
                      </a:r>
                    </a:p>
                  </a:txBody>
                  <a:tcPr anchor="ctr"/>
                </a:tc>
                <a:extLst>
                  <a:ext uri="{0D108BD9-81ED-4DB2-BD59-A6C34878D82A}">
                    <a16:rowId xmlns:a16="http://schemas.microsoft.com/office/drawing/2014/main" val="2183894200"/>
                  </a:ext>
                </a:extLst>
              </a:tr>
              <a:tr h="473684">
                <a:tc>
                  <a:txBody>
                    <a:bodyPr/>
                    <a:lstStyle/>
                    <a:p>
                      <a:r>
                        <a:rPr lang="en-BG"/>
                        <a:t>Revenue</a:t>
                      </a:r>
                    </a:p>
                  </a:txBody>
                  <a:tcPr anchor="ctr"/>
                </a:tc>
                <a:tc>
                  <a:txBody>
                    <a:bodyPr/>
                    <a:lstStyle/>
                    <a:p>
                      <a:r>
                        <a:rPr lang="en-BG"/>
                        <a:t>130 000</a:t>
                      </a:r>
                    </a:p>
                  </a:txBody>
                  <a:tcPr anchor="ctr"/>
                </a:tc>
                <a:tc>
                  <a:txBody>
                    <a:bodyPr/>
                    <a:lstStyle/>
                    <a:p>
                      <a:r>
                        <a:rPr lang="en-BG"/>
                        <a:t>125 000</a:t>
                      </a:r>
                    </a:p>
                  </a:txBody>
                  <a:tcPr anchor="ctr"/>
                </a:tc>
                <a:tc>
                  <a:txBody>
                    <a:bodyPr/>
                    <a:lstStyle/>
                    <a:p>
                      <a:r>
                        <a:rPr lang="en-BG">
                          <a:solidFill>
                            <a:srgbClr val="C00000"/>
                          </a:solidFill>
                        </a:rPr>
                        <a:t>5 000</a:t>
                      </a:r>
                    </a:p>
                  </a:txBody>
                  <a:tcPr anchor="ctr"/>
                </a:tc>
                <a:extLst>
                  <a:ext uri="{0D108BD9-81ED-4DB2-BD59-A6C34878D82A}">
                    <a16:rowId xmlns:a16="http://schemas.microsoft.com/office/drawing/2014/main" val="918048996"/>
                  </a:ext>
                </a:extLst>
              </a:tr>
              <a:tr h="473684">
                <a:tc>
                  <a:txBody>
                    <a:bodyPr/>
                    <a:lstStyle/>
                    <a:p>
                      <a:r>
                        <a:rPr lang="en-BG"/>
                        <a:t>Gross Margin %</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3060788921"/>
                  </a:ext>
                </a:extLst>
              </a:tr>
              <a:tr h="473684">
                <a:tc>
                  <a:txBody>
                    <a:bodyPr/>
                    <a:lstStyle/>
                    <a:p>
                      <a:r>
                        <a:rPr lang="en-BG"/>
                        <a:t>Overheads %</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3650832423"/>
                  </a:ext>
                </a:extLst>
              </a:tr>
              <a:tr h="473684">
                <a:tc>
                  <a:txBody>
                    <a:bodyPr/>
                    <a:lstStyle/>
                    <a:p>
                      <a:r>
                        <a:rPr lang="en-BG"/>
                        <a:t>EBIT Margin %</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1831279765"/>
                  </a:ext>
                </a:extLst>
              </a:tr>
              <a:tr h="473684">
                <a:tc>
                  <a:txBody>
                    <a:bodyPr/>
                    <a:lstStyle/>
                    <a:p>
                      <a:r>
                        <a:rPr lang="en-BG"/>
                        <a:t>Net Profit</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276385012"/>
                  </a:ext>
                </a:extLst>
              </a:tr>
              <a:tr h="736452">
                <a:tc>
                  <a:txBody>
                    <a:bodyPr/>
                    <a:lstStyle/>
                    <a:p>
                      <a:r>
                        <a:rPr lang="en-BG"/>
                        <a:t>Net Profit Margin %</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3492847505"/>
                  </a:ext>
                </a:extLst>
              </a:tr>
              <a:tr h="473684">
                <a:tc>
                  <a:txBody>
                    <a:bodyPr/>
                    <a:lstStyle/>
                    <a:p>
                      <a:r>
                        <a:rPr lang="en-BG" b="1">
                          <a:solidFill>
                            <a:schemeClr val="bg1"/>
                          </a:solidFill>
                        </a:rPr>
                        <a:t>Working Capital</a:t>
                      </a:r>
                    </a:p>
                  </a:txBody>
                  <a:tcPr anchor="ctr">
                    <a:solidFill>
                      <a:schemeClr val="tx1"/>
                    </a:solidFill>
                  </a:tcPr>
                </a:tc>
                <a:tc>
                  <a:txBody>
                    <a:bodyPr/>
                    <a:lstStyle/>
                    <a:p>
                      <a:endParaRPr lang="en-BG">
                        <a:solidFill>
                          <a:schemeClr val="bg1"/>
                        </a:solidFill>
                      </a:endParaRPr>
                    </a:p>
                  </a:txBody>
                  <a:tcPr anchor="ctr">
                    <a:solidFill>
                      <a:schemeClr val="tx1"/>
                    </a:solidFill>
                  </a:tcPr>
                </a:tc>
                <a:tc>
                  <a:txBody>
                    <a:bodyPr/>
                    <a:lstStyle/>
                    <a:p>
                      <a:endParaRPr lang="en-BG">
                        <a:solidFill>
                          <a:schemeClr val="bg1"/>
                        </a:solidFill>
                      </a:endParaRPr>
                    </a:p>
                  </a:txBody>
                  <a:tcPr anchor="ctr">
                    <a:solidFill>
                      <a:schemeClr val="tx1"/>
                    </a:solidFill>
                  </a:tcPr>
                </a:tc>
                <a:tc>
                  <a:txBody>
                    <a:bodyPr/>
                    <a:lstStyle/>
                    <a:p>
                      <a:endParaRPr lang="en-BG">
                        <a:solidFill>
                          <a:schemeClr val="bg1"/>
                        </a:solidFill>
                      </a:endParaRPr>
                    </a:p>
                  </a:txBody>
                  <a:tcPr anchor="ctr">
                    <a:solidFill>
                      <a:schemeClr val="tx1"/>
                    </a:solidFill>
                  </a:tcPr>
                </a:tc>
                <a:extLst>
                  <a:ext uri="{0D108BD9-81ED-4DB2-BD59-A6C34878D82A}">
                    <a16:rowId xmlns:a16="http://schemas.microsoft.com/office/drawing/2014/main" val="2510715526"/>
                  </a:ext>
                </a:extLst>
              </a:tr>
              <a:tr h="581787">
                <a:tc>
                  <a:txBody>
                    <a:bodyPr/>
                    <a:lstStyle/>
                    <a:p>
                      <a:r>
                        <a:rPr lang="en-BG"/>
                        <a:t>Accounts Receivable Days</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1461038115"/>
                  </a:ext>
                </a:extLst>
              </a:tr>
              <a:tr h="736452">
                <a:tc>
                  <a:txBody>
                    <a:bodyPr/>
                    <a:lstStyle/>
                    <a:p>
                      <a:r>
                        <a:rPr lang="en-BG"/>
                        <a:t>Days Inventory outstanding/WIP</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115206060"/>
                  </a:ext>
                </a:extLst>
              </a:tr>
              <a:tr h="736452">
                <a:tc>
                  <a:txBody>
                    <a:bodyPr/>
                    <a:lstStyle/>
                    <a:p>
                      <a:r>
                        <a:rPr lang="en-BG"/>
                        <a:t>Accounts Payable Days</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3155668437"/>
                  </a:ext>
                </a:extLst>
              </a:tr>
            </a:tbl>
          </a:graphicData>
        </a:graphic>
      </p:graphicFrame>
      <p:sp>
        <p:nvSpPr>
          <p:cNvPr id="2" name="Rectangle 1">
            <a:extLst>
              <a:ext uri="{FF2B5EF4-FFF2-40B4-BE49-F238E27FC236}">
                <a16:creationId xmlns:a16="http://schemas.microsoft.com/office/drawing/2014/main" id="{0B356FD1-60B4-B0F5-03C1-D4A1C0543169}"/>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3365337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a:xfrm>
            <a:off x="89039" y="211686"/>
            <a:ext cx="8312011" cy="401639"/>
          </a:xfrm>
        </p:spPr>
        <p:txBody>
          <a:bodyPr anchor="b"/>
          <a:lstStyle/>
          <a:p>
            <a:r>
              <a:rPr lang="en-GB" sz="2800" b="1" dirty="0">
                <a:latin typeface="+mj-lt"/>
              </a:rPr>
              <a:t>C</a:t>
            </a:r>
            <a:r>
              <a:rPr lang="en-BG" sz="2800" b="1" dirty="0">
                <a:latin typeface="+mj-lt"/>
              </a:rPr>
              <a:t>ASH PERFORMAN</a:t>
            </a:r>
            <a:r>
              <a:rPr lang="en-GB" sz="2800" b="1" dirty="0">
                <a:latin typeface="+mj-lt"/>
              </a:rPr>
              <a:t>C</a:t>
            </a:r>
            <a:r>
              <a:rPr lang="en-BG" sz="2800" b="1" dirty="0">
                <a:latin typeface="+mj-lt"/>
              </a:rPr>
              <a:t>E - CHAPTER 1: PROFITABILITY</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nvGraphicFramePr>
        <p:xfrm>
          <a:off x="278295" y="670317"/>
          <a:ext cx="9713843" cy="3266684"/>
        </p:xfrm>
        <a:graphic>
          <a:graphicData uri="http://schemas.openxmlformats.org/drawingml/2006/table">
            <a:tbl>
              <a:tblPr firstRow="1" bandRow="1">
                <a:tableStyleId>{073A0DAA-6AF3-43AB-8588-CEC1D06C72B9}</a:tableStyleId>
              </a:tblPr>
              <a:tblGrid>
                <a:gridCol w="1746879">
                  <a:extLst>
                    <a:ext uri="{9D8B030D-6E8A-4147-A177-3AD203B41FA5}">
                      <a16:colId xmlns:a16="http://schemas.microsoft.com/office/drawing/2014/main" val="2423163376"/>
                    </a:ext>
                  </a:extLst>
                </a:gridCol>
                <a:gridCol w="1491068">
                  <a:extLst>
                    <a:ext uri="{9D8B030D-6E8A-4147-A177-3AD203B41FA5}">
                      <a16:colId xmlns:a16="http://schemas.microsoft.com/office/drawing/2014/main" val="1976845988"/>
                    </a:ext>
                  </a:extLst>
                </a:gridCol>
                <a:gridCol w="1618974">
                  <a:extLst>
                    <a:ext uri="{9D8B030D-6E8A-4147-A177-3AD203B41FA5}">
                      <a16:colId xmlns:a16="http://schemas.microsoft.com/office/drawing/2014/main" val="1727696317"/>
                    </a:ext>
                  </a:extLst>
                </a:gridCol>
                <a:gridCol w="1618974">
                  <a:extLst>
                    <a:ext uri="{9D8B030D-6E8A-4147-A177-3AD203B41FA5}">
                      <a16:colId xmlns:a16="http://schemas.microsoft.com/office/drawing/2014/main" val="1987971064"/>
                    </a:ext>
                  </a:extLst>
                </a:gridCol>
                <a:gridCol w="1618974">
                  <a:extLst>
                    <a:ext uri="{9D8B030D-6E8A-4147-A177-3AD203B41FA5}">
                      <a16:colId xmlns:a16="http://schemas.microsoft.com/office/drawing/2014/main" val="4098664882"/>
                    </a:ext>
                  </a:extLst>
                </a:gridCol>
                <a:gridCol w="1618974">
                  <a:extLst>
                    <a:ext uri="{9D8B030D-6E8A-4147-A177-3AD203B41FA5}">
                      <a16:colId xmlns:a16="http://schemas.microsoft.com/office/drawing/2014/main" val="1012078103"/>
                    </a:ext>
                  </a:extLst>
                </a:gridCol>
              </a:tblGrid>
              <a:tr h="526022">
                <a:tc>
                  <a:txBody>
                    <a:bodyPr/>
                    <a:lstStyle/>
                    <a:p>
                      <a:pPr algn="l"/>
                      <a:r>
                        <a:rPr lang="en-GB"/>
                        <a:t>Profitability</a:t>
                      </a:r>
                    </a:p>
                  </a:txBody>
                  <a:tcPr anchor="ctr"/>
                </a:tc>
                <a:tc>
                  <a:txBody>
                    <a:bodyPr/>
                    <a:lstStyle/>
                    <a:p>
                      <a:pPr algn="l"/>
                      <a:r>
                        <a:rPr lang="en-GB"/>
                        <a:t>Q1</a:t>
                      </a:r>
                    </a:p>
                  </a:txBody>
                  <a:tcPr anchor="ctr"/>
                </a:tc>
                <a:tc>
                  <a:txBody>
                    <a:bodyPr/>
                    <a:lstStyle/>
                    <a:p>
                      <a:pPr algn="l"/>
                      <a:r>
                        <a:rPr lang="en-GB"/>
                        <a:t>Q2</a:t>
                      </a:r>
                    </a:p>
                  </a:txBody>
                  <a:tcPr anchor="ctr"/>
                </a:tc>
                <a:tc>
                  <a:txBody>
                    <a:bodyPr/>
                    <a:lstStyle/>
                    <a:p>
                      <a:pPr algn="l"/>
                      <a:r>
                        <a:rPr lang="en-GB"/>
                        <a:t>Q3</a:t>
                      </a:r>
                    </a:p>
                  </a:txBody>
                  <a:tcPr anchor="ctr"/>
                </a:tc>
                <a:tc>
                  <a:txBody>
                    <a:bodyPr/>
                    <a:lstStyle/>
                    <a:p>
                      <a:pPr algn="l"/>
                      <a:r>
                        <a:rPr lang="en-GB"/>
                        <a:t>Q4</a:t>
                      </a:r>
                    </a:p>
                  </a:txBody>
                  <a:tcPr anchor="ctr"/>
                </a:tc>
                <a:tc>
                  <a:txBody>
                    <a:bodyPr/>
                    <a:lstStyle/>
                    <a:p>
                      <a:pPr algn="l"/>
                      <a:r>
                        <a:rPr lang="en-GB"/>
                        <a:t>Comments</a:t>
                      </a:r>
                    </a:p>
                  </a:txBody>
                  <a:tcPr anchor="ctr"/>
                </a:tc>
                <a:extLst>
                  <a:ext uri="{0D108BD9-81ED-4DB2-BD59-A6C34878D82A}">
                    <a16:rowId xmlns:a16="http://schemas.microsoft.com/office/drawing/2014/main" val="2183894200"/>
                  </a:ext>
                </a:extLst>
              </a:tr>
              <a:tr h="126978">
                <a:tc>
                  <a:txBody>
                    <a:bodyPr/>
                    <a:lstStyle/>
                    <a:p>
                      <a:pPr algn="l"/>
                      <a:r>
                        <a:rPr lang="en-BG"/>
                        <a:t>Revenue</a:t>
                      </a:r>
                    </a:p>
                  </a:txBody>
                  <a:tcPr anchor="ctr"/>
                </a:tc>
                <a:tc>
                  <a:txBody>
                    <a:bodyPr/>
                    <a:lstStyle/>
                    <a:p>
                      <a:pPr algn="l"/>
                      <a:r>
                        <a:rPr lang="en-BG"/>
                        <a:t>100 000</a:t>
                      </a:r>
                    </a:p>
                  </a:txBody>
                  <a:tcPr anchor="ctr"/>
                </a:tc>
                <a:tc>
                  <a:txBody>
                    <a:bodyPr/>
                    <a:lstStyle/>
                    <a:p>
                      <a:pPr algn="l"/>
                      <a:r>
                        <a:rPr lang="en-BG"/>
                        <a:t>120 000</a:t>
                      </a:r>
                    </a:p>
                  </a:txBody>
                  <a:tcPr anchor="ctr"/>
                </a:tc>
                <a:tc>
                  <a:txBody>
                    <a:bodyPr/>
                    <a:lstStyle/>
                    <a:p>
                      <a:pPr algn="l"/>
                      <a:r>
                        <a:rPr lang="en-BG"/>
                        <a:t>125 000</a:t>
                      </a:r>
                    </a:p>
                  </a:txBody>
                  <a:tcPr anchor="ctr"/>
                </a:tc>
                <a:tc>
                  <a:txBody>
                    <a:bodyPr/>
                    <a:lstStyle/>
                    <a:p>
                      <a:pPr algn="l"/>
                      <a:endParaRPr lang="en-BG"/>
                    </a:p>
                  </a:txBody>
                  <a:tcPr anchor="ctr"/>
                </a:tc>
                <a:tc>
                  <a:txBody>
                    <a:bodyPr/>
                    <a:lstStyle/>
                    <a:p>
                      <a:pPr algn="l"/>
                      <a:r>
                        <a:rPr lang="en-GB"/>
                        <a:t>N</a:t>
                      </a:r>
                      <a:r>
                        <a:rPr lang="en-BG"/>
                        <a:t>ew product launch </a:t>
                      </a:r>
                    </a:p>
                  </a:txBody>
                  <a:tcPr anchor="ctr"/>
                </a:tc>
                <a:extLst>
                  <a:ext uri="{0D108BD9-81ED-4DB2-BD59-A6C34878D82A}">
                    <a16:rowId xmlns:a16="http://schemas.microsoft.com/office/drawing/2014/main" val="918048996"/>
                  </a:ext>
                </a:extLst>
              </a:tr>
              <a:tr h="324707">
                <a:tc>
                  <a:txBody>
                    <a:bodyPr/>
                    <a:lstStyle/>
                    <a:p>
                      <a:pPr algn="l"/>
                      <a:r>
                        <a:rPr lang="en-BG"/>
                        <a:t>Gross Margin %</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060788921"/>
                  </a:ext>
                </a:extLst>
              </a:tr>
              <a:tr h="324707">
                <a:tc>
                  <a:txBody>
                    <a:bodyPr/>
                    <a:lstStyle/>
                    <a:p>
                      <a:pPr algn="l"/>
                      <a:r>
                        <a:rPr lang="en-BG"/>
                        <a:t>Overheads %</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650832423"/>
                  </a:ext>
                </a:extLst>
              </a:tr>
              <a:tr h="324707">
                <a:tc>
                  <a:txBody>
                    <a:bodyPr/>
                    <a:lstStyle/>
                    <a:p>
                      <a:pPr algn="l"/>
                      <a:r>
                        <a:rPr lang="en-BG"/>
                        <a:t>EBIT Margin %</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1831279765"/>
                  </a:ext>
                </a:extLst>
              </a:tr>
              <a:tr h="324707">
                <a:tc>
                  <a:txBody>
                    <a:bodyPr/>
                    <a:lstStyle/>
                    <a:p>
                      <a:pPr algn="l"/>
                      <a:r>
                        <a:rPr lang="en-BG"/>
                        <a:t>Net Profit</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2276385012"/>
                  </a:ext>
                </a:extLst>
              </a:tr>
              <a:tr h="568166">
                <a:tc>
                  <a:txBody>
                    <a:bodyPr/>
                    <a:lstStyle/>
                    <a:p>
                      <a:pPr algn="l"/>
                      <a:r>
                        <a:rPr lang="en-BG"/>
                        <a:t>Net Profit Margin %</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492847505"/>
                  </a:ext>
                </a:extLst>
              </a:tr>
            </a:tbl>
          </a:graphicData>
        </a:graphic>
      </p:graphicFrame>
      <p:graphicFrame>
        <p:nvGraphicFramePr>
          <p:cNvPr id="2" name="Chart 1">
            <a:extLst>
              <a:ext uri="{FF2B5EF4-FFF2-40B4-BE49-F238E27FC236}">
                <a16:creationId xmlns:a16="http://schemas.microsoft.com/office/drawing/2014/main" id="{3B085444-F565-6544-B88F-75FCEF197C6D}"/>
              </a:ext>
            </a:extLst>
          </p:cNvPr>
          <p:cNvGraphicFramePr/>
          <p:nvPr>
            <p:extLst>
              <p:ext uri="{D42A27DB-BD31-4B8C-83A1-F6EECF244321}">
                <p14:modId xmlns:p14="http://schemas.microsoft.com/office/powerpoint/2010/main" val="2583017353"/>
              </p:ext>
            </p:extLst>
          </p:nvPr>
        </p:nvGraphicFramePr>
        <p:xfrm>
          <a:off x="278295" y="4248150"/>
          <a:ext cx="9713843" cy="2917148"/>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90195391-AA36-4402-801F-921EB890D49B}"/>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1110952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nchor="b"/>
          <a:lstStyle/>
          <a:p>
            <a:r>
              <a:rPr lang="en-BG" sz="2800" b="1" dirty="0">
                <a:latin typeface="+mj-lt"/>
              </a:rPr>
              <a:t>CHAPTER 2: WORKING CAPITAL DAYS</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extLst>
              <p:ext uri="{D42A27DB-BD31-4B8C-83A1-F6EECF244321}">
                <p14:modId xmlns:p14="http://schemas.microsoft.com/office/powerpoint/2010/main" val="2527093992"/>
              </p:ext>
            </p:extLst>
          </p:nvPr>
        </p:nvGraphicFramePr>
        <p:xfrm>
          <a:off x="238539" y="808053"/>
          <a:ext cx="9753601" cy="3085833"/>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2423163376"/>
                    </a:ext>
                  </a:extLst>
                </a:gridCol>
                <a:gridCol w="1393411">
                  <a:extLst>
                    <a:ext uri="{9D8B030D-6E8A-4147-A177-3AD203B41FA5}">
                      <a16:colId xmlns:a16="http://schemas.microsoft.com/office/drawing/2014/main" val="1976845988"/>
                    </a:ext>
                  </a:extLst>
                </a:gridCol>
                <a:gridCol w="1314450">
                  <a:extLst>
                    <a:ext uri="{9D8B030D-6E8A-4147-A177-3AD203B41FA5}">
                      <a16:colId xmlns:a16="http://schemas.microsoft.com/office/drawing/2014/main" val="1727696317"/>
                    </a:ext>
                  </a:extLst>
                </a:gridCol>
                <a:gridCol w="1352550">
                  <a:extLst>
                    <a:ext uri="{9D8B030D-6E8A-4147-A177-3AD203B41FA5}">
                      <a16:colId xmlns:a16="http://schemas.microsoft.com/office/drawing/2014/main" val="1987971064"/>
                    </a:ext>
                  </a:extLst>
                </a:gridCol>
                <a:gridCol w="1295400">
                  <a:extLst>
                    <a:ext uri="{9D8B030D-6E8A-4147-A177-3AD203B41FA5}">
                      <a16:colId xmlns:a16="http://schemas.microsoft.com/office/drawing/2014/main" val="2263986654"/>
                    </a:ext>
                  </a:extLst>
                </a:gridCol>
                <a:gridCol w="2772190">
                  <a:extLst>
                    <a:ext uri="{9D8B030D-6E8A-4147-A177-3AD203B41FA5}">
                      <a16:colId xmlns:a16="http://schemas.microsoft.com/office/drawing/2014/main" val="1012078103"/>
                    </a:ext>
                  </a:extLst>
                </a:gridCol>
              </a:tblGrid>
              <a:tr h="589821">
                <a:tc>
                  <a:txBody>
                    <a:bodyPr/>
                    <a:lstStyle/>
                    <a:p>
                      <a:pPr algn="l"/>
                      <a:r>
                        <a:rPr lang="en-GB"/>
                        <a:t>Working capital</a:t>
                      </a:r>
                    </a:p>
                  </a:txBody>
                  <a:tcPr anchor="ctr"/>
                </a:tc>
                <a:tc>
                  <a:txBody>
                    <a:bodyPr/>
                    <a:lstStyle/>
                    <a:p>
                      <a:pPr algn="l"/>
                      <a:r>
                        <a:rPr lang="en-GB"/>
                        <a:t>Q1</a:t>
                      </a:r>
                    </a:p>
                  </a:txBody>
                  <a:tcPr anchor="ctr"/>
                </a:tc>
                <a:tc>
                  <a:txBody>
                    <a:bodyPr/>
                    <a:lstStyle/>
                    <a:p>
                      <a:pPr algn="l"/>
                      <a:r>
                        <a:rPr lang="en-GB"/>
                        <a:t>Q2</a:t>
                      </a:r>
                    </a:p>
                  </a:txBody>
                  <a:tcPr anchor="ctr"/>
                </a:tc>
                <a:tc>
                  <a:txBody>
                    <a:bodyPr/>
                    <a:lstStyle/>
                    <a:p>
                      <a:pPr algn="l"/>
                      <a:r>
                        <a:rPr lang="en-GB"/>
                        <a:t>Q3</a:t>
                      </a:r>
                    </a:p>
                  </a:txBody>
                  <a:tcPr anchor="ctr"/>
                </a:tc>
                <a:tc>
                  <a:txBody>
                    <a:bodyPr/>
                    <a:lstStyle/>
                    <a:p>
                      <a:pPr algn="l"/>
                      <a:r>
                        <a:rPr lang="en-GB"/>
                        <a:t>Q4</a:t>
                      </a:r>
                    </a:p>
                  </a:txBody>
                  <a:tcPr anchor="ctr"/>
                </a:tc>
                <a:tc>
                  <a:txBody>
                    <a:bodyPr/>
                    <a:lstStyle/>
                    <a:p>
                      <a:pPr algn="l"/>
                      <a:r>
                        <a:rPr lang="en-GB"/>
                        <a:t>Comments</a:t>
                      </a:r>
                    </a:p>
                  </a:txBody>
                  <a:tcPr anchor="ctr"/>
                </a:tc>
                <a:extLst>
                  <a:ext uri="{0D108BD9-81ED-4DB2-BD59-A6C34878D82A}">
                    <a16:rowId xmlns:a16="http://schemas.microsoft.com/office/drawing/2014/main" val="2183894200"/>
                  </a:ext>
                </a:extLst>
              </a:tr>
              <a:tr h="842560">
                <a:tc>
                  <a:txBody>
                    <a:bodyPr/>
                    <a:lstStyle/>
                    <a:p>
                      <a:pPr algn="l"/>
                      <a:r>
                        <a:rPr lang="en-BG" sz="1600"/>
                        <a:t>Accounts Receivable Days</a:t>
                      </a:r>
                    </a:p>
                  </a:txBody>
                  <a:tcPr anchor="ctr"/>
                </a:tc>
                <a:tc>
                  <a:txBody>
                    <a:bodyPr/>
                    <a:lstStyle/>
                    <a:p>
                      <a:pPr algn="l"/>
                      <a:r>
                        <a:rPr lang="en-BG"/>
                        <a:t>50</a:t>
                      </a:r>
                    </a:p>
                  </a:txBody>
                  <a:tcPr anchor="ctr"/>
                </a:tc>
                <a:tc>
                  <a:txBody>
                    <a:bodyPr/>
                    <a:lstStyle/>
                    <a:p>
                      <a:pPr algn="l"/>
                      <a:r>
                        <a:rPr lang="en-BG"/>
                        <a:t>49</a:t>
                      </a:r>
                    </a:p>
                  </a:txBody>
                  <a:tcPr anchor="ctr"/>
                </a:tc>
                <a:tc>
                  <a:txBody>
                    <a:bodyPr/>
                    <a:lstStyle/>
                    <a:p>
                      <a:pPr algn="l"/>
                      <a:r>
                        <a:rPr lang="en-BG"/>
                        <a:t>44</a:t>
                      </a:r>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918048996"/>
                  </a:ext>
                </a:extLst>
              </a:tr>
              <a:tr h="1014007">
                <a:tc>
                  <a:txBody>
                    <a:bodyPr/>
                    <a:lstStyle/>
                    <a:p>
                      <a:pPr algn="l"/>
                      <a:r>
                        <a:rPr lang="en-BG" sz="1600"/>
                        <a:t>Days Inventory outstanding/WIP</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060788921"/>
                  </a:ext>
                </a:extLst>
              </a:tr>
              <a:tr h="589821">
                <a:tc>
                  <a:txBody>
                    <a:bodyPr/>
                    <a:lstStyle/>
                    <a:p>
                      <a:pPr algn="l"/>
                      <a:r>
                        <a:rPr lang="en-BG" sz="1600"/>
                        <a:t>Accounts Payable Days</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650832423"/>
                  </a:ext>
                </a:extLst>
              </a:tr>
            </a:tbl>
          </a:graphicData>
        </a:graphic>
      </p:graphicFrame>
      <p:graphicFrame>
        <p:nvGraphicFramePr>
          <p:cNvPr id="10" name="Chart 9">
            <a:extLst>
              <a:ext uri="{FF2B5EF4-FFF2-40B4-BE49-F238E27FC236}">
                <a16:creationId xmlns:a16="http://schemas.microsoft.com/office/drawing/2014/main" id="{F5CC0A4B-4FA6-3B4E-A4CA-CE1993952397}"/>
              </a:ext>
            </a:extLst>
          </p:cNvPr>
          <p:cNvGraphicFramePr/>
          <p:nvPr>
            <p:extLst>
              <p:ext uri="{D42A27DB-BD31-4B8C-83A1-F6EECF244321}">
                <p14:modId xmlns:p14="http://schemas.microsoft.com/office/powerpoint/2010/main" val="2173514661"/>
              </p:ext>
            </p:extLst>
          </p:nvPr>
        </p:nvGraphicFramePr>
        <p:xfrm>
          <a:off x="238539" y="4167188"/>
          <a:ext cx="9753601" cy="3036209"/>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253AD5B3-7770-72FC-F3F6-3F8D0049816C}"/>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4080853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nchor="b"/>
          <a:lstStyle/>
          <a:p>
            <a:r>
              <a:rPr lang="en-BG" sz="2800" b="1" dirty="0">
                <a:latin typeface="+mj-lt"/>
              </a:rPr>
              <a:t>CHAPTER 3: OTHER CAPITAL</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extLst>
              <p:ext uri="{D42A27DB-BD31-4B8C-83A1-F6EECF244321}">
                <p14:modId xmlns:p14="http://schemas.microsoft.com/office/powerpoint/2010/main" val="3922102329"/>
              </p:ext>
            </p:extLst>
          </p:nvPr>
        </p:nvGraphicFramePr>
        <p:xfrm>
          <a:off x="266699" y="808053"/>
          <a:ext cx="9629774" cy="2901241"/>
        </p:xfrm>
        <a:graphic>
          <a:graphicData uri="http://schemas.openxmlformats.org/drawingml/2006/table">
            <a:tbl>
              <a:tblPr firstRow="1" bandRow="1">
                <a:tableStyleId>{073A0DAA-6AF3-43AB-8588-CEC1D06C72B9}</a:tableStyleId>
              </a:tblPr>
              <a:tblGrid>
                <a:gridCol w="1585963">
                  <a:extLst>
                    <a:ext uri="{9D8B030D-6E8A-4147-A177-3AD203B41FA5}">
                      <a16:colId xmlns:a16="http://schemas.microsoft.com/office/drawing/2014/main" val="2423163376"/>
                    </a:ext>
                  </a:extLst>
                </a:gridCol>
                <a:gridCol w="1585963">
                  <a:extLst>
                    <a:ext uri="{9D8B030D-6E8A-4147-A177-3AD203B41FA5}">
                      <a16:colId xmlns:a16="http://schemas.microsoft.com/office/drawing/2014/main" val="1976845988"/>
                    </a:ext>
                  </a:extLst>
                </a:gridCol>
                <a:gridCol w="1585963">
                  <a:extLst>
                    <a:ext uri="{9D8B030D-6E8A-4147-A177-3AD203B41FA5}">
                      <a16:colId xmlns:a16="http://schemas.microsoft.com/office/drawing/2014/main" val="1727696317"/>
                    </a:ext>
                  </a:extLst>
                </a:gridCol>
                <a:gridCol w="1471971">
                  <a:extLst>
                    <a:ext uri="{9D8B030D-6E8A-4147-A177-3AD203B41FA5}">
                      <a16:colId xmlns:a16="http://schemas.microsoft.com/office/drawing/2014/main" val="1987971064"/>
                    </a:ext>
                  </a:extLst>
                </a:gridCol>
                <a:gridCol w="1699957">
                  <a:extLst>
                    <a:ext uri="{9D8B030D-6E8A-4147-A177-3AD203B41FA5}">
                      <a16:colId xmlns:a16="http://schemas.microsoft.com/office/drawing/2014/main" val="2555504308"/>
                    </a:ext>
                  </a:extLst>
                </a:gridCol>
                <a:gridCol w="1699957">
                  <a:extLst>
                    <a:ext uri="{9D8B030D-6E8A-4147-A177-3AD203B41FA5}">
                      <a16:colId xmlns:a16="http://schemas.microsoft.com/office/drawing/2014/main" val="1012078103"/>
                    </a:ext>
                  </a:extLst>
                </a:gridCol>
              </a:tblGrid>
              <a:tr h="526022">
                <a:tc>
                  <a:txBody>
                    <a:bodyPr/>
                    <a:lstStyle/>
                    <a:p>
                      <a:r>
                        <a:rPr lang="en-GB"/>
                        <a:t>Other capital</a:t>
                      </a:r>
                    </a:p>
                  </a:txBody>
                  <a:tcPr anchor="ctr"/>
                </a:tc>
                <a:tc>
                  <a:txBody>
                    <a:bodyPr/>
                    <a:lstStyle/>
                    <a:p>
                      <a:r>
                        <a:rPr lang="en-GB"/>
                        <a:t>Q1</a:t>
                      </a:r>
                    </a:p>
                  </a:txBody>
                  <a:tcPr anchor="ctr"/>
                </a:tc>
                <a:tc>
                  <a:txBody>
                    <a:bodyPr/>
                    <a:lstStyle/>
                    <a:p>
                      <a:r>
                        <a:rPr lang="en-GB"/>
                        <a:t>Q2</a:t>
                      </a:r>
                    </a:p>
                  </a:txBody>
                  <a:tcPr anchor="ctr"/>
                </a:tc>
                <a:tc>
                  <a:txBody>
                    <a:bodyPr/>
                    <a:lstStyle/>
                    <a:p>
                      <a:r>
                        <a:rPr lang="en-GB"/>
                        <a:t>Q3</a:t>
                      </a:r>
                    </a:p>
                  </a:txBody>
                  <a:tcPr anchor="ctr"/>
                </a:tc>
                <a:tc>
                  <a:txBody>
                    <a:bodyPr/>
                    <a:lstStyle/>
                    <a:p>
                      <a:r>
                        <a:rPr lang="en-GB"/>
                        <a:t>Q4</a:t>
                      </a:r>
                    </a:p>
                  </a:txBody>
                  <a:tcPr anchor="ctr"/>
                </a:tc>
                <a:tc>
                  <a:txBody>
                    <a:bodyPr/>
                    <a:lstStyle/>
                    <a:p>
                      <a:r>
                        <a:rPr lang="en-GB"/>
                        <a:t>Comments</a:t>
                      </a:r>
                    </a:p>
                  </a:txBody>
                  <a:tcPr anchor="ctr"/>
                </a:tc>
                <a:extLst>
                  <a:ext uri="{0D108BD9-81ED-4DB2-BD59-A6C34878D82A}">
                    <a16:rowId xmlns:a16="http://schemas.microsoft.com/office/drawing/2014/main" val="2183894200"/>
                  </a:ext>
                </a:extLst>
              </a:tr>
              <a:tr h="324707">
                <a:tc>
                  <a:txBody>
                    <a:bodyPr/>
                    <a:lstStyle/>
                    <a:p>
                      <a:r>
                        <a:rPr lang="en-BG"/>
                        <a:t>Fixed Assets</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918048996"/>
                  </a:ext>
                </a:extLst>
              </a:tr>
              <a:tr h="324707">
                <a:tc>
                  <a:txBody>
                    <a:bodyPr/>
                    <a:lstStyle/>
                    <a:p>
                      <a:r>
                        <a:rPr lang="en-BG"/>
                        <a:t>Other Assets</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060788921"/>
                  </a:ext>
                </a:extLst>
              </a:tr>
              <a:tr h="324707">
                <a:tc>
                  <a:txBody>
                    <a:bodyPr/>
                    <a:lstStyle/>
                    <a:p>
                      <a:r>
                        <a:rPr lang="en-BG"/>
                        <a:t>Other Liabilities</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650832423"/>
                  </a:ext>
                </a:extLst>
              </a:tr>
              <a:tr h="324707">
                <a:tc>
                  <a:txBody>
                    <a:bodyPr/>
                    <a:lstStyle/>
                    <a:p>
                      <a:r>
                        <a:rPr lang="en-BG"/>
                        <a:t>Other Capital</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61062567"/>
                  </a:ext>
                </a:extLst>
              </a:tr>
              <a:tr h="324707">
                <a:tc>
                  <a:txBody>
                    <a:bodyPr/>
                    <a:lstStyle/>
                    <a:p>
                      <a:r>
                        <a:rPr lang="en-BG"/>
                        <a:t>Return on Capital</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1024028203"/>
                  </a:ext>
                </a:extLst>
              </a:tr>
            </a:tbl>
          </a:graphicData>
        </a:graphic>
      </p:graphicFrame>
      <p:graphicFrame>
        <p:nvGraphicFramePr>
          <p:cNvPr id="7" name="Chart 6">
            <a:extLst>
              <a:ext uri="{FF2B5EF4-FFF2-40B4-BE49-F238E27FC236}">
                <a16:creationId xmlns:a16="http://schemas.microsoft.com/office/drawing/2014/main" id="{E7A7AB9A-27B1-914C-B333-4365476AA19D}"/>
              </a:ext>
            </a:extLst>
          </p:cNvPr>
          <p:cNvGraphicFramePr/>
          <p:nvPr>
            <p:extLst>
              <p:ext uri="{D42A27DB-BD31-4B8C-83A1-F6EECF244321}">
                <p14:modId xmlns:p14="http://schemas.microsoft.com/office/powerpoint/2010/main" val="2663115402"/>
              </p:ext>
            </p:extLst>
          </p:nvPr>
        </p:nvGraphicFramePr>
        <p:xfrm>
          <a:off x="266699" y="4127559"/>
          <a:ext cx="9629773" cy="3036209"/>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EC7BEE49-3AC7-F1AD-B256-CA6BBF3DA9D8}"/>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3223607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nchor="b"/>
          <a:lstStyle/>
          <a:p>
            <a:r>
              <a:rPr lang="en-BG" sz="2800" b="1" dirty="0">
                <a:latin typeface="+mj-lt"/>
              </a:rPr>
              <a:t>CHAPTER 4: FUNDING</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extLst>
              <p:ext uri="{D42A27DB-BD31-4B8C-83A1-F6EECF244321}">
                <p14:modId xmlns:p14="http://schemas.microsoft.com/office/powerpoint/2010/main" val="1296913821"/>
              </p:ext>
            </p:extLst>
          </p:nvPr>
        </p:nvGraphicFramePr>
        <p:xfrm>
          <a:off x="219075" y="808053"/>
          <a:ext cx="9696450" cy="1987794"/>
        </p:xfrm>
        <a:graphic>
          <a:graphicData uri="http://schemas.openxmlformats.org/drawingml/2006/table">
            <a:tbl>
              <a:tblPr firstRow="1" bandRow="1">
                <a:tableStyleId>{073A0DAA-6AF3-43AB-8588-CEC1D06C72B9}</a:tableStyleId>
              </a:tblPr>
              <a:tblGrid>
                <a:gridCol w="1616075">
                  <a:extLst>
                    <a:ext uri="{9D8B030D-6E8A-4147-A177-3AD203B41FA5}">
                      <a16:colId xmlns:a16="http://schemas.microsoft.com/office/drawing/2014/main" val="2423163376"/>
                    </a:ext>
                  </a:extLst>
                </a:gridCol>
                <a:gridCol w="1616075">
                  <a:extLst>
                    <a:ext uri="{9D8B030D-6E8A-4147-A177-3AD203B41FA5}">
                      <a16:colId xmlns:a16="http://schemas.microsoft.com/office/drawing/2014/main" val="1976845988"/>
                    </a:ext>
                  </a:extLst>
                </a:gridCol>
                <a:gridCol w="1616075">
                  <a:extLst>
                    <a:ext uri="{9D8B030D-6E8A-4147-A177-3AD203B41FA5}">
                      <a16:colId xmlns:a16="http://schemas.microsoft.com/office/drawing/2014/main" val="1727696317"/>
                    </a:ext>
                  </a:extLst>
                </a:gridCol>
                <a:gridCol w="1616075">
                  <a:extLst>
                    <a:ext uri="{9D8B030D-6E8A-4147-A177-3AD203B41FA5}">
                      <a16:colId xmlns:a16="http://schemas.microsoft.com/office/drawing/2014/main" val="1987971064"/>
                    </a:ext>
                  </a:extLst>
                </a:gridCol>
                <a:gridCol w="1616075">
                  <a:extLst>
                    <a:ext uri="{9D8B030D-6E8A-4147-A177-3AD203B41FA5}">
                      <a16:colId xmlns:a16="http://schemas.microsoft.com/office/drawing/2014/main" val="1365335566"/>
                    </a:ext>
                  </a:extLst>
                </a:gridCol>
                <a:gridCol w="1616075">
                  <a:extLst>
                    <a:ext uri="{9D8B030D-6E8A-4147-A177-3AD203B41FA5}">
                      <a16:colId xmlns:a16="http://schemas.microsoft.com/office/drawing/2014/main" val="1012078103"/>
                    </a:ext>
                  </a:extLst>
                </a:gridCol>
              </a:tblGrid>
              <a:tr h="526022">
                <a:tc>
                  <a:txBody>
                    <a:bodyPr/>
                    <a:lstStyle/>
                    <a:p>
                      <a:r>
                        <a:rPr lang="en-GB"/>
                        <a:t>Funding</a:t>
                      </a:r>
                    </a:p>
                  </a:txBody>
                  <a:tcPr anchor="ctr"/>
                </a:tc>
                <a:tc>
                  <a:txBody>
                    <a:bodyPr/>
                    <a:lstStyle/>
                    <a:p>
                      <a:r>
                        <a:rPr lang="en-GB"/>
                        <a:t>Q1</a:t>
                      </a:r>
                    </a:p>
                  </a:txBody>
                  <a:tcPr anchor="ctr"/>
                </a:tc>
                <a:tc>
                  <a:txBody>
                    <a:bodyPr/>
                    <a:lstStyle/>
                    <a:p>
                      <a:r>
                        <a:rPr lang="en-GB"/>
                        <a:t>Q2</a:t>
                      </a:r>
                    </a:p>
                  </a:txBody>
                  <a:tcPr anchor="ctr"/>
                </a:tc>
                <a:tc>
                  <a:txBody>
                    <a:bodyPr/>
                    <a:lstStyle/>
                    <a:p>
                      <a:r>
                        <a:rPr lang="en-GB"/>
                        <a:t>Q3</a:t>
                      </a:r>
                    </a:p>
                  </a:txBody>
                  <a:tcPr anchor="ctr"/>
                </a:tc>
                <a:tc>
                  <a:txBody>
                    <a:bodyPr/>
                    <a:lstStyle/>
                    <a:p>
                      <a:r>
                        <a:rPr lang="en-GB"/>
                        <a:t>Q4</a:t>
                      </a:r>
                    </a:p>
                  </a:txBody>
                  <a:tcPr anchor="ctr"/>
                </a:tc>
                <a:tc>
                  <a:txBody>
                    <a:bodyPr/>
                    <a:lstStyle/>
                    <a:p>
                      <a:r>
                        <a:rPr lang="en-GB"/>
                        <a:t>Comments</a:t>
                      </a:r>
                    </a:p>
                  </a:txBody>
                  <a:tcPr anchor="ctr"/>
                </a:tc>
                <a:extLst>
                  <a:ext uri="{0D108BD9-81ED-4DB2-BD59-A6C34878D82A}">
                    <a16:rowId xmlns:a16="http://schemas.microsoft.com/office/drawing/2014/main" val="2183894200"/>
                  </a:ext>
                </a:extLst>
              </a:tr>
              <a:tr h="324707">
                <a:tc>
                  <a:txBody>
                    <a:bodyPr/>
                    <a:lstStyle/>
                    <a:p>
                      <a:r>
                        <a:rPr lang="en-BG"/>
                        <a:t>Cash</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918048996"/>
                  </a:ext>
                </a:extLst>
              </a:tr>
              <a:tr h="324707">
                <a:tc>
                  <a:txBody>
                    <a:bodyPr/>
                    <a:lstStyle/>
                    <a:p>
                      <a:r>
                        <a:rPr lang="en-BG"/>
                        <a:t>Total Debt</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060788921"/>
                  </a:ext>
                </a:extLst>
              </a:tr>
              <a:tr h="324707">
                <a:tc>
                  <a:txBody>
                    <a:bodyPr/>
                    <a:lstStyle/>
                    <a:p>
                      <a:r>
                        <a:rPr lang="en-BG"/>
                        <a:t>Equity</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650832423"/>
                  </a:ext>
                </a:extLst>
              </a:tr>
              <a:tr h="324707">
                <a:tc>
                  <a:txBody>
                    <a:bodyPr/>
                    <a:lstStyle/>
                    <a:p>
                      <a:r>
                        <a:rPr lang="en-BG"/>
                        <a:t>Total Funding</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61062567"/>
                  </a:ext>
                </a:extLst>
              </a:tr>
            </a:tbl>
          </a:graphicData>
        </a:graphic>
      </p:graphicFrame>
      <p:graphicFrame>
        <p:nvGraphicFramePr>
          <p:cNvPr id="8" name="Chart 7">
            <a:extLst>
              <a:ext uri="{FF2B5EF4-FFF2-40B4-BE49-F238E27FC236}">
                <a16:creationId xmlns:a16="http://schemas.microsoft.com/office/drawing/2014/main" id="{90D56D0A-E784-E94D-965A-C5C6718707C8}"/>
              </a:ext>
            </a:extLst>
          </p:cNvPr>
          <p:cNvGraphicFramePr/>
          <p:nvPr>
            <p:extLst>
              <p:ext uri="{D42A27DB-BD31-4B8C-83A1-F6EECF244321}">
                <p14:modId xmlns:p14="http://schemas.microsoft.com/office/powerpoint/2010/main" val="701520064"/>
              </p:ext>
            </p:extLst>
          </p:nvPr>
        </p:nvGraphicFramePr>
        <p:xfrm>
          <a:off x="219076" y="3623094"/>
          <a:ext cx="9696450" cy="3131703"/>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81833A62-0FD2-B09A-5A5C-6C24957EFD37}"/>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243421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nchor="b"/>
          <a:lstStyle/>
          <a:p>
            <a:r>
              <a:rPr lang="en-BG" sz="2800" b="1" dirty="0">
                <a:latin typeface="+mj-lt"/>
              </a:rPr>
              <a:t>POWER OF 1</a:t>
            </a:r>
          </a:p>
        </p:txBody>
      </p:sp>
      <p:graphicFrame>
        <p:nvGraphicFramePr>
          <p:cNvPr id="2" name="Table 5">
            <a:extLst>
              <a:ext uri="{FF2B5EF4-FFF2-40B4-BE49-F238E27FC236}">
                <a16:creationId xmlns:a16="http://schemas.microsoft.com/office/drawing/2014/main" id="{83E3DB4C-3484-C242-9336-8A80651FB283}"/>
              </a:ext>
            </a:extLst>
          </p:cNvPr>
          <p:cNvGraphicFramePr>
            <a:graphicFrameLocks noGrp="1"/>
          </p:cNvGraphicFramePr>
          <p:nvPr>
            <p:extLst>
              <p:ext uri="{D42A27DB-BD31-4B8C-83A1-F6EECF244321}">
                <p14:modId xmlns:p14="http://schemas.microsoft.com/office/powerpoint/2010/main" val="4084362504"/>
              </p:ext>
            </p:extLst>
          </p:nvPr>
        </p:nvGraphicFramePr>
        <p:xfrm>
          <a:off x="177800" y="732699"/>
          <a:ext cx="9778324" cy="6097452"/>
        </p:xfrm>
        <a:graphic>
          <a:graphicData uri="http://schemas.openxmlformats.org/drawingml/2006/table">
            <a:tbl>
              <a:tblPr firstRow="1" bandRow="1">
                <a:tableStyleId>{073A0DAA-6AF3-43AB-8588-CEC1D06C72B9}</a:tableStyleId>
              </a:tblPr>
              <a:tblGrid>
                <a:gridCol w="2444581">
                  <a:extLst>
                    <a:ext uri="{9D8B030D-6E8A-4147-A177-3AD203B41FA5}">
                      <a16:colId xmlns:a16="http://schemas.microsoft.com/office/drawing/2014/main" val="843349059"/>
                    </a:ext>
                  </a:extLst>
                </a:gridCol>
                <a:gridCol w="2444581">
                  <a:extLst>
                    <a:ext uri="{9D8B030D-6E8A-4147-A177-3AD203B41FA5}">
                      <a16:colId xmlns:a16="http://schemas.microsoft.com/office/drawing/2014/main" val="1722796168"/>
                    </a:ext>
                  </a:extLst>
                </a:gridCol>
                <a:gridCol w="2444581">
                  <a:extLst>
                    <a:ext uri="{9D8B030D-6E8A-4147-A177-3AD203B41FA5}">
                      <a16:colId xmlns:a16="http://schemas.microsoft.com/office/drawing/2014/main" val="61482642"/>
                    </a:ext>
                  </a:extLst>
                </a:gridCol>
                <a:gridCol w="2444581">
                  <a:extLst>
                    <a:ext uri="{9D8B030D-6E8A-4147-A177-3AD203B41FA5}">
                      <a16:colId xmlns:a16="http://schemas.microsoft.com/office/drawing/2014/main" val="580227060"/>
                    </a:ext>
                  </a:extLst>
                </a:gridCol>
              </a:tblGrid>
              <a:tr h="442916">
                <a:tc>
                  <a:txBody>
                    <a:bodyPr/>
                    <a:lstStyle/>
                    <a:p>
                      <a:r>
                        <a:rPr lang="en-BG"/>
                        <a:t>Power of 1</a:t>
                      </a:r>
                    </a:p>
                  </a:txBody>
                  <a:tcPr anchor="ctr"/>
                </a:tc>
                <a:tc>
                  <a:txBody>
                    <a:bodyPr/>
                    <a:lstStyle/>
                    <a:p>
                      <a:endParaRPr lang="en-BG"/>
                    </a:p>
                  </a:txBody>
                  <a:tcPr anchor="ctr"/>
                </a:tc>
                <a:tc>
                  <a:txBody>
                    <a:bodyPr/>
                    <a:lstStyle/>
                    <a:p>
                      <a:r>
                        <a:rPr lang="en-BG"/>
                        <a:t>Net Cash Flow</a:t>
                      </a:r>
                    </a:p>
                  </a:txBody>
                  <a:tcPr anchor="ctr"/>
                </a:tc>
                <a:tc>
                  <a:txBody>
                    <a:bodyPr/>
                    <a:lstStyle/>
                    <a:p>
                      <a:r>
                        <a:rPr lang="en-BG"/>
                        <a:t>EBIT $</a:t>
                      </a:r>
                    </a:p>
                  </a:txBody>
                  <a:tcPr anchor="ctr"/>
                </a:tc>
                <a:extLst>
                  <a:ext uri="{0D108BD9-81ED-4DB2-BD59-A6C34878D82A}">
                    <a16:rowId xmlns:a16="http://schemas.microsoft.com/office/drawing/2014/main" val="1065381240"/>
                  </a:ext>
                </a:extLst>
              </a:tr>
              <a:tr h="442916">
                <a:tc>
                  <a:txBody>
                    <a:bodyPr/>
                    <a:lstStyle/>
                    <a:p>
                      <a:r>
                        <a:rPr lang="en-BG"/>
                        <a:t>Your Current Position</a:t>
                      </a:r>
                    </a:p>
                  </a:txBody>
                  <a:tcPr anchor="ctr"/>
                </a:tc>
                <a:tc>
                  <a:txBody>
                    <a:bodyPr/>
                    <a:lstStyle/>
                    <a:p>
                      <a:endParaRPr lang="en-BG"/>
                    </a:p>
                  </a:txBody>
                  <a:tcPr anchor="ctr"/>
                </a:tc>
                <a:tc>
                  <a:txBody>
                    <a:bodyPr/>
                    <a:lstStyle/>
                    <a:p>
                      <a:r>
                        <a:rPr lang="en-BG"/>
                        <a:t>1,663,000</a:t>
                      </a:r>
                    </a:p>
                  </a:txBody>
                  <a:tcPr anchor="ctr"/>
                </a:tc>
                <a:tc>
                  <a:txBody>
                    <a:bodyPr/>
                    <a:lstStyle/>
                    <a:p>
                      <a:r>
                        <a:rPr lang="en-BG"/>
                        <a:t>810,000</a:t>
                      </a:r>
                    </a:p>
                  </a:txBody>
                  <a:tcPr anchor="ctr"/>
                </a:tc>
                <a:extLst>
                  <a:ext uri="{0D108BD9-81ED-4DB2-BD59-A6C34878D82A}">
                    <a16:rowId xmlns:a16="http://schemas.microsoft.com/office/drawing/2014/main" val="1117638336"/>
                  </a:ext>
                </a:extLst>
              </a:tr>
              <a:tr h="442916">
                <a:tc>
                  <a:txBody>
                    <a:bodyPr/>
                    <a:lstStyle/>
                    <a:p>
                      <a:r>
                        <a:rPr lang="en-BG">
                          <a:solidFill>
                            <a:schemeClr val="bg1"/>
                          </a:solidFill>
                        </a:rPr>
                        <a:t>Your Power of 1</a:t>
                      </a:r>
                    </a:p>
                  </a:txBody>
                  <a:tcPr anchor="ctr">
                    <a:solidFill>
                      <a:schemeClr val="tx1"/>
                    </a:solidFill>
                  </a:tcPr>
                </a:tc>
                <a:tc>
                  <a:txBody>
                    <a:bodyPr/>
                    <a:lstStyle/>
                    <a:p>
                      <a:endParaRPr lang="en-BG">
                        <a:solidFill>
                          <a:schemeClr val="bg1"/>
                        </a:solidFill>
                      </a:endParaRPr>
                    </a:p>
                  </a:txBody>
                  <a:tcPr anchor="ctr">
                    <a:solidFill>
                      <a:schemeClr val="tx1"/>
                    </a:solidFill>
                  </a:tcPr>
                </a:tc>
                <a:tc>
                  <a:txBody>
                    <a:bodyPr/>
                    <a:lstStyle/>
                    <a:p>
                      <a:r>
                        <a:rPr lang="en-BG">
                          <a:solidFill>
                            <a:schemeClr val="bg1"/>
                          </a:solidFill>
                        </a:rPr>
                        <a:t>Impact on Cash Flow $</a:t>
                      </a:r>
                    </a:p>
                  </a:txBody>
                  <a:tcPr anchor="ctr">
                    <a:solidFill>
                      <a:schemeClr val="tx1"/>
                    </a:solidFill>
                  </a:tcPr>
                </a:tc>
                <a:tc>
                  <a:txBody>
                    <a:bodyPr/>
                    <a:lstStyle/>
                    <a:p>
                      <a:r>
                        <a:rPr lang="en-BG">
                          <a:solidFill>
                            <a:schemeClr val="bg1"/>
                          </a:solidFill>
                        </a:rPr>
                        <a:t>Impact on EBIT $</a:t>
                      </a:r>
                    </a:p>
                  </a:txBody>
                  <a:tcPr anchor="ctr">
                    <a:solidFill>
                      <a:schemeClr val="tx1"/>
                    </a:solidFill>
                  </a:tcPr>
                </a:tc>
                <a:extLst>
                  <a:ext uri="{0D108BD9-81ED-4DB2-BD59-A6C34878D82A}">
                    <a16:rowId xmlns:a16="http://schemas.microsoft.com/office/drawing/2014/main" val="3567821690"/>
                  </a:ext>
                </a:extLst>
              </a:tr>
              <a:tr h="442916">
                <a:tc>
                  <a:txBody>
                    <a:bodyPr/>
                    <a:lstStyle/>
                    <a:p>
                      <a:r>
                        <a:rPr lang="en-BG"/>
                        <a:t>Price Increase %</a:t>
                      </a:r>
                    </a:p>
                  </a:txBody>
                  <a:tcPr anchor="ctr"/>
                </a:tc>
                <a:tc>
                  <a:txBody>
                    <a:bodyPr/>
                    <a:lstStyle/>
                    <a:p>
                      <a:r>
                        <a:rPr lang="en-BG"/>
                        <a:t>1%</a:t>
                      </a:r>
                    </a:p>
                  </a:txBody>
                  <a:tcPr anchor="ctr"/>
                </a:tc>
                <a:tc>
                  <a:txBody>
                    <a:bodyPr/>
                    <a:lstStyle/>
                    <a:p>
                      <a:r>
                        <a:rPr lang="en-BG"/>
                        <a:t>246,000</a:t>
                      </a:r>
                    </a:p>
                  </a:txBody>
                  <a:tcPr anchor="ctr"/>
                </a:tc>
                <a:tc>
                  <a:txBody>
                    <a:bodyPr/>
                    <a:lstStyle/>
                    <a:p>
                      <a:r>
                        <a:rPr lang="en-BG"/>
                        <a:t>324,000</a:t>
                      </a:r>
                    </a:p>
                  </a:txBody>
                  <a:tcPr anchor="ctr"/>
                </a:tc>
                <a:extLst>
                  <a:ext uri="{0D108BD9-81ED-4DB2-BD59-A6C34878D82A}">
                    <a16:rowId xmlns:a16="http://schemas.microsoft.com/office/drawing/2014/main" val="1991358810"/>
                  </a:ext>
                </a:extLst>
              </a:tr>
              <a:tr h="442916">
                <a:tc>
                  <a:txBody>
                    <a:bodyPr/>
                    <a:lstStyle/>
                    <a:p>
                      <a:r>
                        <a:rPr lang="en-BG"/>
                        <a:t>Revenue Growth %</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1376017191"/>
                  </a:ext>
                </a:extLst>
              </a:tr>
              <a:tr h="442916">
                <a:tc>
                  <a:txBody>
                    <a:bodyPr/>
                    <a:lstStyle/>
                    <a:p>
                      <a:r>
                        <a:rPr lang="en-BG"/>
                        <a:t>COGS Reduction %</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207639505"/>
                  </a:ext>
                </a:extLst>
              </a:tr>
              <a:tr h="585931">
                <a:tc>
                  <a:txBody>
                    <a:bodyPr/>
                    <a:lstStyle/>
                    <a:p>
                      <a:r>
                        <a:rPr lang="en-BG"/>
                        <a:t>Overheads Reduction %</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190720088"/>
                  </a:ext>
                </a:extLst>
              </a:tr>
              <a:tr h="442916">
                <a:tc>
                  <a:txBody>
                    <a:bodyPr/>
                    <a:lstStyle/>
                    <a:p>
                      <a:r>
                        <a:rPr lang="en-BG"/>
                        <a:t>Reduction in AR Days</a:t>
                      </a:r>
                    </a:p>
                  </a:txBody>
                  <a:tcPr anchor="ctr"/>
                </a:tc>
                <a:tc>
                  <a:txBody>
                    <a:bodyPr/>
                    <a:lstStyle/>
                    <a:p>
                      <a:r>
                        <a:rPr lang="en-BG"/>
                        <a:t>1 days</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472666378"/>
                  </a:ext>
                </a:extLst>
              </a:tr>
              <a:tr h="585931">
                <a:tc>
                  <a:txBody>
                    <a:bodyPr/>
                    <a:lstStyle/>
                    <a:p>
                      <a:r>
                        <a:rPr lang="en-BG"/>
                        <a:t>Reduction in Iventory Days</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 days</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472711622"/>
                  </a:ext>
                </a:extLst>
              </a:tr>
              <a:tr h="442916">
                <a:tc>
                  <a:txBody>
                    <a:bodyPr/>
                    <a:lstStyle/>
                    <a:p>
                      <a:r>
                        <a:rPr lang="en-BG"/>
                        <a:t>Increase in AP Days</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 days</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13535034"/>
                  </a:ext>
                </a:extLst>
              </a:tr>
              <a:tr h="442916">
                <a:tc>
                  <a:txBody>
                    <a:bodyPr/>
                    <a:lstStyle/>
                    <a:p>
                      <a:r>
                        <a:rPr lang="en-BG"/>
                        <a:t>Total Impact</a:t>
                      </a:r>
                    </a:p>
                  </a:txBody>
                  <a:tcPr anchor="ctr"/>
                </a:tc>
                <a:tc>
                  <a:txBody>
                    <a:bodyPr/>
                    <a:lstStyle/>
                    <a:p>
                      <a:endParaRPr lang="en-BG"/>
                    </a:p>
                  </a:txBody>
                  <a:tcPr anchor="ctr"/>
                </a:tc>
                <a:tc>
                  <a:txBody>
                    <a:bodyPr/>
                    <a:lstStyle/>
                    <a:p>
                      <a:r>
                        <a:rPr lang="en-BG"/>
                        <a:t>771,306</a:t>
                      </a:r>
                    </a:p>
                  </a:txBody>
                  <a:tcPr anchor="ctr"/>
                </a:tc>
                <a:tc>
                  <a:txBody>
                    <a:bodyPr/>
                    <a:lstStyle/>
                    <a:p>
                      <a:r>
                        <a:rPr lang="en-BG"/>
                        <a:t>716,040</a:t>
                      </a:r>
                    </a:p>
                  </a:txBody>
                  <a:tcPr anchor="ctr"/>
                </a:tc>
                <a:extLst>
                  <a:ext uri="{0D108BD9-81ED-4DB2-BD59-A6C34878D82A}">
                    <a16:rowId xmlns:a16="http://schemas.microsoft.com/office/drawing/2014/main" val="641242067"/>
                  </a:ext>
                </a:extLst>
              </a:tr>
              <a:tr h="442916">
                <a:tc>
                  <a:txBody>
                    <a:bodyPr/>
                    <a:lstStyle/>
                    <a:p>
                      <a:r>
                        <a:rPr lang="en-BG">
                          <a:solidFill>
                            <a:schemeClr val="bg1"/>
                          </a:solidFill>
                        </a:rPr>
                        <a:t>Your Power of 1</a:t>
                      </a:r>
                    </a:p>
                  </a:txBody>
                  <a:tcPr anchor="ctr">
                    <a:solidFill>
                      <a:schemeClr val="tx1"/>
                    </a:solidFill>
                  </a:tcPr>
                </a:tc>
                <a:tc>
                  <a:txBody>
                    <a:bodyPr/>
                    <a:lstStyle/>
                    <a:p>
                      <a:endParaRPr lang="en-BG">
                        <a:solidFill>
                          <a:schemeClr val="bg1"/>
                        </a:solidFill>
                      </a:endParaRPr>
                    </a:p>
                  </a:txBody>
                  <a:tcPr anchor="ctr">
                    <a:solidFill>
                      <a:schemeClr val="tx1"/>
                    </a:solidFill>
                  </a:tcPr>
                </a:tc>
                <a:tc>
                  <a:txBody>
                    <a:bodyPr/>
                    <a:lstStyle/>
                    <a:p>
                      <a:r>
                        <a:rPr lang="en-BG">
                          <a:solidFill>
                            <a:schemeClr val="bg1"/>
                          </a:solidFill>
                        </a:rPr>
                        <a:t>Net Cash Flow $</a:t>
                      </a:r>
                    </a:p>
                  </a:txBody>
                  <a:tcPr anchor="ctr">
                    <a:solidFill>
                      <a:schemeClr val="tx1"/>
                    </a:solidFill>
                  </a:tcPr>
                </a:tc>
                <a:tc>
                  <a:txBody>
                    <a:bodyPr/>
                    <a:lstStyle/>
                    <a:p>
                      <a:r>
                        <a:rPr lang="en-BG">
                          <a:solidFill>
                            <a:schemeClr val="bg1"/>
                          </a:solidFill>
                        </a:rPr>
                        <a:t>EBIT $</a:t>
                      </a:r>
                    </a:p>
                  </a:txBody>
                  <a:tcPr anchor="ctr">
                    <a:solidFill>
                      <a:schemeClr val="tx1"/>
                    </a:solidFill>
                  </a:tcPr>
                </a:tc>
                <a:extLst>
                  <a:ext uri="{0D108BD9-81ED-4DB2-BD59-A6C34878D82A}">
                    <a16:rowId xmlns:a16="http://schemas.microsoft.com/office/drawing/2014/main" val="2920493975"/>
                  </a:ext>
                </a:extLst>
              </a:tr>
              <a:tr h="442916">
                <a:tc>
                  <a:txBody>
                    <a:bodyPr/>
                    <a:lstStyle/>
                    <a:p>
                      <a:r>
                        <a:rPr lang="en-BG"/>
                        <a:t>Adjusted Position</a:t>
                      </a:r>
                    </a:p>
                  </a:txBody>
                  <a:tcPr anchor="ctr"/>
                </a:tc>
                <a:tc>
                  <a:txBody>
                    <a:bodyPr/>
                    <a:lstStyle/>
                    <a:p>
                      <a:endParaRPr lang="en-BG"/>
                    </a:p>
                  </a:txBody>
                  <a:tcPr anchor="ctr"/>
                </a:tc>
                <a:tc>
                  <a:txBody>
                    <a:bodyPr/>
                    <a:lstStyle/>
                    <a:p>
                      <a:r>
                        <a:rPr lang="en-BG"/>
                        <a:t>2,435,000</a:t>
                      </a:r>
                    </a:p>
                  </a:txBody>
                  <a:tcPr anchor="ctr"/>
                </a:tc>
                <a:tc>
                  <a:txBody>
                    <a:bodyPr/>
                    <a:lstStyle/>
                    <a:p>
                      <a:r>
                        <a:rPr lang="en-BG"/>
                        <a:t>1,524,040</a:t>
                      </a:r>
                    </a:p>
                  </a:txBody>
                  <a:tcPr anchor="ctr"/>
                </a:tc>
                <a:extLst>
                  <a:ext uri="{0D108BD9-81ED-4DB2-BD59-A6C34878D82A}">
                    <a16:rowId xmlns:a16="http://schemas.microsoft.com/office/drawing/2014/main" val="709445115"/>
                  </a:ext>
                </a:extLst>
              </a:tr>
            </a:tbl>
          </a:graphicData>
        </a:graphic>
      </p:graphicFrame>
      <p:sp>
        <p:nvSpPr>
          <p:cNvPr id="6" name="Rectangle 5">
            <a:extLst>
              <a:ext uri="{FF2B5EF4-FFF2-40B4-BE49-F238E27FC236}">
                <a16:creationId xmlns:a16="http://schemas.microsoft.com/office/drawing/2014/main" id="{66D5E9FF-E4BA-5C70-01E4-8AACAADA61AB}"/>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1221587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127591" y="192019"/>
            <a:ext cx="6413361" cy="401639"/>
          </a:xfrm>
        </p:spPr>
        <p:txBody>
          <a:bodyPr anchor="b"/>
          <a:lstStyle/>
          <a:p>
            <a:r>
              <a:rPr lang="en-US" sz="2800" b="1" dirty="0">
                <a:latin typeface="+mj-lt"/>
              </a:rPr>
              <a:t>PEOPLE REVIEW</a:t>
            </a:r>
            <a:endParaRPr lang="en-BG" sz="2800" b="1" dirty="0">
              <a:latin typeface="+mj-lt"/>
            </a:endParaRPr>
          </a:p>
        </p:txBody>
      </p:sp>
      <p:sp>
        <p:nvSpPr>
          <p:cNvPr id="4" name="B+">
            <a:extLst>
              <a:ext uri="{FF2B5EF4-FFF2-40B4-BE49-F238E27FC236}">
                <a16:creationId xmlns:a16="http://schemas.microsoft.com/office/drawing/2014/main" id="{6538D67A-7750-9C4F-ABBE-8E6846129B48}"/>
              </a:ext>
            </a:extLst>
          </p:cNvPr>
          <p:cNvSpPr/>
          <p:nvPr/>
        </p:nvSpPr>
        <p:spPr>
          <a:xfrm>
            <a:off x="948949" y="1176529"/>
            <a:ext cx="1676447" cy="850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chemeClr val="tx1"/>
                </a:solidFill>
              </a:rPr>
              <a:t>30% B+ players</a:t>
            </a:r>
            <a:endParaRPr kumimoji="0" lang="en-US" b="0" i="0" u="none" strike="noStrike" kern="1200" cap="none" spc="0" normalizeH="0" baseline="0" noProof="0">
              <a:ln>
                <a:noFill/>
              </a:ln>
              <a:solidFill>
                <a:schemeClr val="tx1"/>
              </a:solidFill>
              <a:effectLst/>
              <a:uLnTx/>
              <a:uFillTx/>
              <a:ea typeface="+mn-ea"/>
              <a:cs typeface="+mn-cs"/>
            </a:endParaRPr>
          </a:p>
        </p:txBody>
      </p:sp>
      <p:sp>
        <p:nvSpPr>
          <p:cNvPr id="5" name="C">
            <a:extLst>
              <a:ext uri="{FF2B5EF4-FFF2-40B4-BE49-F238E27FC236}">
                <a16:creationId xmlns:a16="http://schemas.microsoft.com/office/drawing/2014/main" id="{0D227235-8899-E248-9C2B-F8F42D96A737}"/>
              </a:ext>
            </a:extLst>
          </p:cNvPr>
          <p:cNvSpPr/>
          <p:nvPr/>
        </p:nvSpPr>
        <p:spPr>
          <a:xfrm>
            <a:off x="948949" y="2125171"/>
            <a:ext cx="1676447" cy="850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F0000"/>
                </a:solidFill>
                <a:effectLst/>
                <a:uLnTx/>
                <a:uFillTx/>
                <a:ea typeface="+mn-ea"/>
                <a:cs typeface="+mn-cs"/>
              </a:rPr>
              <a:t>20% C players </a:t>
            </a:r>
          </a:p>
        </p:txBody>
      </p:sp>
      <p:sp>
        <p:nvSpPr>
          <p:cNvPr id="6" name="B+C">
            <a:extLst>
              <a:ext uri="{FF2B5EF4-FFF2-40B4-BE49-F238E27FC236}">
                <a16:creationId xmlns:a16="http://schemas.microsoft.com/office/drawing/2014/main" id="{487ACD9E-D8FD-084D-9706-E6AC59675ABA}"/>
              </a:ext>
            </a:extLst>
          </p:cNvPr>
          <p:cNvSpPr/>
          <p:nvPr/>
        </p:nvSpPr>
        <p:spPr>
          <a:xfrm>
            <a:off x="2705914" y="2132135"/>
            <a:ext cx="1706162" cy="850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chemeClr val="tx1"/>
                </a:solidFill>
                <a:effectLst/>
                <a:uLnTx/>
                <a:uFillTx/>
                <a:ea typeface="+mn-ea"/>
                <a:cs typeface="+mn-cs"/>
              </a:rPr>
              <a:t>40%</a:t>
            </a:r>
            <a:r>
              <a:rPr kumimoji="0" lang="en-US" b="0" i="0" u="none" strike="noStrike" kern="1200" cap="none" spc="0" normalizeH="0" noProof="0">
                <a:ln>
                  <a:noFill/>
                </a:ln>
                <a:solidFill>
                  <a:schemeClr val="tx1"/>
                </a:solidFill>
                <a:effectLst/>
                <a:uLnTx/>
                <a:uFillTx/>
                <a:ea typeface="+mn-ea"/>
                <a:cs typeface="+mn-cs"/>
              </a:rPr>
              <a:t> B players</a:t>
            </a:r>
            <a:endParaRPr kumimoji="0" lang="en-US" b="0" i="0" u="none" strike="noStrike" kern="1200" cap="none" spc="0" normalizeH="0" baseline="0" noProof="0">
              <a:ln>
                <a:noFill/>
              </a:ln>
              <a:solidFill>
                <a:schemeClr val="tx1"/>
              </a:solidFill>
              <a:effectLst/>
              <a:uLnTx/>
              <a:uFillTx/>
              <a:ea typeface="+mn-ea"/>
              <a:cs typeface="+mn-cs"/>
            </a:endParaRPr>
          </a:p>
        </p:txBody>
      </p:sp>
      <p:cxnSp>
        <p:nvCxnSpPr>
          <p:cNvPr id="7" name="up">
            <a:extLst>
              <a:ext uri="{FF2B5EF4-FFF2-40B4-BE49-F238E27FC236}">
                <a16:creationId xmlns:a16="http://schemas.microsoft.com/office/drawing/2014/main" id="{57BDDE0D-2F70-5649-AE93-14FF98525C59}"/>
              </a:ext>
            </a:extLst>
          </p:cNvPr>
          <p:cNvCxnSpPr>
            <a:cxnSpLocks/>
          </p:cNvCxnSpPr>
          <p:nvPr/>
        </p:nvCxnSpPr>
        <p:spPr>
          <a:xfrm flipV="1">
            <a:off x="908963" y="854046"/>
            <a:ext cx="0" cy="2202385"/>
          </a:xfrm>
          <a:prstGeom prst="straightConnector1">
            <a:avLst/>
          </a:prstGeom>
          <a:ln w="57150">
            <a:solidFill>
              <a:srgbClr val="EEEDEE"/>
            </a:solidFill>
            <a:tailEnd type="triangle"/>
          </a:ln>
        </p:spPr>
        <p:style>
          <a:lnRef idx="1">
            <a:schemeClr val="accent1"/>
          </a:lnRef>
          <a:fillRef idx="0">
            <a:schemeClr val="accent1"/>
          </a:fillRef>
          <a:effectRef idx="0">
            <a:schemeClr val="accent1"/>
          </a:effectRef>
          <a:fontRef idx="minor">
            <a:schemeClr val="tx1"/>
          </a:fontRef>
        </p:style>
      </p:cxnSp>
      <p:sp>
        <p:nvSpPr>
          <p:cNvPr id="9" name="Values">
            <a:extLst>
              <a:ext uri="{FF2B5EF4-FFF2-40B4-BE49-F238E27FC236}">
                <a16:creationId xmlns:a16="http://schemas.microsoft.com/office/drawing/2014/main" id="{2FF89431-5384-B64B-A88A-A6D0297F0D20}"/>
              </a:ext>
            </a:extLst>
          </p:cNvPr>
          <p:cNvSpPr txBox="1"/>
          <p:nvPr/>
        </p:nvSpPr>
        <p:spPr>
          <a:xfrm rot="16200000">
            <a:off x="267248" y="1115441"/>
            <a:ext cx="772880" cy="33855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latin typeface="+mn-lt"/>
                <a:ea typeface="+mn-ea"/>
                <a:cs typeface="+mn-cs"/>
              </a:rPr>
              <a:t>Values</a:t>
            </a:r>
          </a:p>
        </p:txBody>
      </p:sp>
      <p:cxnSp>
        <p:nvCxnSpPr>
          <p:cNvPr id="10" name="right">
            <a:extLst>
              <a:ext uri="{FF2B5EF4-FFF2-40B4-BE49-F238E27FC236}">
                <a16:creationId xmlns:a16="http://schemas.microsoft.com/office/drawing/2014/main" id="{2240C990-92CB-8146-93F2-79D171D72DD5}"/>
              </a:ext>
            </a:extLst>
          </p:cNvPr>
          <p:cNvCxnSpPr>
            <a:cxnSpLocks/>
          </p:cNvCxnSpPr>
          <p:nvPr/>
        </p:nvCxnSpPr>
        <p:spPr>
          <a:xfrm>
            <a:off x="868977" y="3056431"/>
            <a:ext cx="3677623" cy="4351"/>
          </a:xfrm>
          <a:prstGeom prst="straightConnector1">
            <a:avLst/>
          </a:prstGeom>
          <a:ln w="57150">
            <a:solidFill>
              <a:srgbClr val="EEEDEE"/>
            </a:solidFill>
            <a:tailEnd type="triangle"/>
          </a:ln>
        </p:spPr>
        <p:style>
          <a:lnRef idx="1">
            <a:schemeClr val="accent1"/>
          </a:lnRef>
          <a:fillRef idx="0">
            <a:schemeClr val="accent1"/>
          </a:fillRef>
          <a:effectRef idx="0">
            <a:schemeClr val="accent1"/>
          </a:effectRef>
          <a:fontRef idx="minor">
            <a:schemeClr val="tx1"/>
          </a:fontRef>
        </p:style>
      </p:cxnSp>
      <p:sp>
        <p:nvSpPr>
          <p:cNvPr id="11" name="KPIs">
            <a:extLst>
              <a:ext uri="{FF2B5EF4-FFF2-40B4-BE49-F238E27FC236}">
                <a16:creationId xmlns:a16="http://schemas.microsoft.com/office/drawing/2014/main" id="{FD34ED66-8BBF-D84D-B986-BE41994C5AD8}"/>
              </a:ext>
            </a:extLst>
          </p:cNvPr>
          <p:cNvSpPr txBox="1"/>
          <p:nvPr/>
        </p:nvSpPr>
        <p:spPr>
          <a:xfrm>
            <a:off x="3445451" y="3130784"/>
            <a:ext cx="1582539" cy="33855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latin typeface="+mn-lt"/>
              </a:rPr>
              <a:t>Performance</a:t>
            </a:r>
            <a:endParaRPr kumimoji="0" lang="en-US" sz="1600" b="0" i="0" u="none" strike="noStrike" kern="1200" cap="none" spc="0" normalizeH="0" baseline="0" noProof="0">
              <a:ln>
                <a:noFill/>
              </a:ln>
              <a:effectLst/>
              <a:uLnTx/>
              <a:uFillTx/>
              <a:latin typeface="+mn-lt"/>
            </a:endParaRPr>
          </a:p>
        </p:txBody>
      </p:sp>
      <p:cxnSp>
        <p:nvCxnSpPr>
          <p:cNvPr id="12" name="up middle">
            <a:extLst>
              <a:ext uri="{FF2B5EF4-FFF2-40B4-BE49-F238E27FC236}">
                <a16:creationId xmlns:a16="http://schemas.microsoft.com/office/drawing/2014/main" id="{D24AB2C4-3CA5-C849-B9F4-8F1B1F54F023}"/>
              </a:ext>
            </a:extLst>
          </p:cNvPr>
          <p:cNvCxnSpPr>
            <a:cxnSpLocks/>
          </p:cNvCxnSpPr>
          <p:nvPr/>
        </p:nvCxnSpPr>
        <p:spPr>
          <a:xfrm>
            <a:off x="2664179" y="1187518"/>
            <a:ext cx="0" cy="1798911"/>
          </a:xfrm>
          <a:prstGeom prst="line">
            <a:avLst/>
          </a:prstGeom>
          <a:ln w="9525">
            <a:solidFill>
              <a:schemeClr val="bg2">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3" name="right middle">
            <a:extLst>
              <a:ext uri="{FF2B5EF4-FFF2-40B4-BE49-F238E27FC236}">
                <a16:creationId xmlns:a16="http://schemas.microsoft.com/office/drawing/2014/main" id="{88667E23-D98D-D64A-B7F7-8939A5A34F1E}"/>
              </a:ext>
            </a:extLst>
          </p:cNvPr>
          <p:cNvCxnSpPr>
            <a:cxnSpLocks/>
          </p:cNvCxnSpPr>
          <p:nvPr/>
        </p:nvCxnSpPr>
        <p:spPr>
          <a:xfrm flipH="1">
            <a:off x="908963" y="2070585"/>
            <a:ext cx="3544847" cy="0"/>
          </a:xfrm>
          <a:prstGeom prst="line">
            <a:avLst/>
          </a:prstGeom>
          <a:ln w="9525">
            <a:solidFill>
              <a:schemeClr val="bg2">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B+C">
            <a:extLst>
              <a:ext uri="{FF2B5EF4-FFF2-40B4-BE49-F238E27FC236}">
                <a16:creationId xmlns:a16="http://schemas.microsoft.com/office/drawing/2014/main" id="{8994A97E-FA54-604E-A701-4C0AB47AF452}"/>
              </a:ext>
            </a:extLst>
          </p:cNvPr>
          <p:cNvSpPr/>
          <p:nvPr/>
        </p:nvSpPr>
        <p:spPr>
          <a:xfrm>
            <a:off x="2705914" y="1176529"/>
            <a:ext cx="1706162" cy="850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chemeClr val="accent6"/>
                </a:solidFill>
              </a:rPr>
              <a:t>10% A players </a:t>
            </a:r>
            <a:endParaRPr kumimoji="0" lang="en-US" b="0" i="0" u="none" strike="noStrike" kern="1200" cap="none" spc="0" normalizeH="0" baseline="0" noProof="0">
              <a:ln>
                <a:noFill/>
              </a:ln>
              <a:solidFill>
                <a:schemeClr val="accent6"/>
              </a:solidFill>
              <a:effectLst/>
              <a:uLnTx/>
              <a:uFillTx/>
            </a:endParaRPr>
          </a:p>
        </p:txBody>
      </p:sp>
      <p:graphicFrame>
        <p:nvGraphicFramePr>
          <p:cNvPr id="35" name="Content Placeholder 4">
            <a:extLst>
              <a:ext uri="{FF2B5EF4-FFF2-40B4-BE49-F238E27FC236}">
                <a16:creationId xmlns:a16="http://schemas.microsoft.com/office/drawing/2014/main" id="{0AB6F318-497E-E840-8182-3507C6B250C2}"/>
              </a:ext>
            </a:extLst>
          </p:cNvPr>
          <p:cNvGraphicFramePr>
            <a:graphicFrameLocks/>
          </p:cNvGraphicFramePr>
          <p:nvPr>
            <p:extLst>
              <p:ext uri="{D42A27DB-BD31-4B8C-83A1-F6EECF244321}">
                <p14:modId xmlns:p14="http://schemas.microsoft.com/office/powerpoint/2010/main" val="638380388"/>
              </p:ext>
            </p:extLst>
          </p:nvPr>
        </p:nvGraphicFramePr>
        <p:xfrm>
          <a:off x="499799" y="3723443"/>
          <a:ext cx="9319115" cy="3373667"/>
        </p:xfrm>
        <a:graphic>
          <a:graphicData uri="http://schemas.openxmlformats.org/drawingml/2006/table">
            <a:tbl>
              <a:tblPr/>
              <a:tblGrid>
                <a:gridCol w="424391">
                  <a:extLst>
                    <a:ext uri="{9D8B030D-6E8A-4147-A177-3AD203B41FA5}">
                      <a16:colId xmlns:a16="http://schemas.microsoft.com/office/drawing/2014/main" val="20000"/>
                    </a:ext>
                  </a:extLst>
                </a:gridCol>
                <a:gridCol w="8894724">
                  <a:extLst>
                    <a:ext uri="{9D8B030D-6E8A-4147-A177-3AD203B41FA5}">
                      <a16:colId xmlns:a16="http://schemas.microsoft.com/office/drawing/2014/main" val="20001"/>
                    </a:ext>
                  </a:extLst>
                </a:gridCol>
              </a:tblGrid>
              <a:tr h="440867">
                <a:tc gridSpan="2">
                  <a:txBody>
                    <a:bodyPr/>
                    <a:lstStyle/>
                    <a:p>
                      <a:pPr algn="ctr" fontAlgn="b"/>
                      <a:r>
                        <a:rPr lang="en-US" sz="2400" b="0" i="0" u="none" strike="noStrike">
                          <a:solidFill>
                            <a:srgbClr val="FFFFFF"/>
                          </a:solidFill>
                          <a:effectLst/>
                          <a:latin typeface="PF Square Sans Pro" panose="02000506040000020004" pitchFamily="2" charset="0"/>
                        </a:rPr>
                        <a:t>NEXT STEPS</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extLst>
                  <a:ext uri="{0D108BD9-81ED-4DB2-BD59-A6C34878D82A}">
                    <a16:rowId xmlns:a16="http://schemas.microsoft.com/office/drawing/2014/main" val="10000"/>
                  </a:ext>
                </a:extLst>
              </a:tr>
              <a:tr h="977600">
                <a:tc>
                  <a:txBody>
                    <a:bodyPr/>
                    <a:lstStyle/>
                    <a:p>
                      <a:pPr algn="ctr" fontAlgn="b"/>
                      <a:r>
                        <a:rPr lang="en-US" sz="18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7600">
                <a:tc>
                  <a:txBody>
                    <a:bodyPr/>
                    <a:lstStyle/>
                    <a:p>
                      <a:pPr algn="ctr" fontAlgn="b"/>
                      <a:r>
                        <a:rPr lang="en-US" sz="18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8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977600">
                <a:tc>
                  <a:txBody>
                    <a:bodyPr/>
                    <a:lstStyle/>
                    <a:p>
                      <a:pPr algn="ctr" fontAlgn="b"/>
                      <a:r>
                        <a:rPr lang="en-US" sz="18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endParaRPr lang="en-US" sz="18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Rectangle 1">
            <a:extLst>
              <a:ext uri="{FF2B5EF4-FFF2-40B4-BE49-F238E27FC236}">
                <a16:creationId xmlns:a16="http://schemas.microsoft.com/office/drawing/2014/main" id="{1CFA6347-4CC4-4513-9D92-652C2438C564}"/>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HR</a:t>
            </a:r>
          </a:p>
        </p:txBody>
      </p:sp>
    </p:spTree>
    <p:extLst>
      <p:ext uri="{BB962C8B-B14F-4D97-AF65-F5344CB8AC3E}">
        <p14:creationId xmlns:p14="http://schemas.microsoft.com/office/powerpoint/2010/main" val="151231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p:bldP spid="11" grpId="0"/>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251458" y="224850"/>
            <a:ext cx="8737600" cy="395696"/>
          </a:xfrm>
        </p:spPr>
        <p:txBody>
          <a:bodyPr anchor="b"/>
          <a:lstStyle/>
          <a:p>
            <a:r>
              <a:rPr lang="en-US" sz="2800" b="1" dirty="0">
                <a:latin typeface="+mj-lt"/>
              </a:rPr>
              <a:t>My 2024 REVIEW </a:t>
            </a:r>
            <a:endParaRPr lang="en-BG" sz="2800" b="1" dirty="0">
              <a:latin typeface="+mj-lt"/>
            </a:endParaRPr>
          </a:p>
        </p:txBody>
      </p:sp>
      <p:graphicFrame>
        <p:nvGraphicFramePr>
          <p:cNvPr id="2" name="Table 1">
            <a:extLst>
              <a:ext uri="{FF2B5EF4-FFF2-40B4-BE49-F238E27FC236}">
                <a16:creationId xmlns:a16="http://schemas.microsoft.com/office/drawing/2014/main" id="{DDDA2BAC-3426-A155-46B9-2F9026C516AC}"/>
              </a:ext>
            </a:extLst>
          </p:cNvPr>
          <p:cNvGraphicFramePr>
            <a:graphicFrameLocks noGrp="1"/>
          </p:cNvGraphicFramePr>
          <p:nvPr>
            <p:extLst>
              <p:ext uri="{D42A27DB-BD31-4B8C-83A1-F6EECF244321}">
                <p14:modId xmlns:p14="http://schemas.microsoft.com/office/powerpoint/2010/main" val="3237916538"/>
              </p:ext>
            </p:extLst>
          </p:nvPr>
        </p:nvGraphicFramePr>
        <p:xfrm>
          <a:off x="248224" y="1061104"/>
          <a:ext cx="9707740" cy="5374020"/>
        </p:xfrm>
        <a:graphic>
          <a:graphicData uri="http://schemas.openxmlformats.org/drawingml/2006/table">
            <a:tbl>
              <a:tblPr firstRow="1" bandRow="1">
                <a:tableStyleId>{2D5ABB26-0587-4C30-8999-92F81FD0307C}</a:tableStyleId>
              </a:tblPr>
              <a:tblGrid>
                <a:gridCol w="6966123">
                  <a:extLst>
                    <a:ext uri="{9D8B030D-6E8A-4147-A177-3AD203B41FA5}">
                      <a16:colId xmlns:a16="http://schemas.microsoft.com/office/drawing/2014/main" val="239924796"/>
                    </a:ext>
                  </a:extLst>
                </a:gridCol>
                <a:gridCol w="1526241">
                  <a:extLst>
                    <a:ext uri="{9D8B030D-6E8A-4147-A177-3AD203B41FA5}">
                      <a16:colId xmlns:a16="http://schemas.microsoft.com/office/drawing/2014/main" val="1435361538"/>
                    </a:ext>
                  </a:extLst>
                </a:gridCol>
                <a:gridCol w="1215376">
                  <a:extLst>
                    <a:ext uri="{9D8B030D-6E8A-4147-A177-3AD203B41FA5}">
                      <a16:colId xmlns:a16="http://schemas.microsoft.com/office/drawing/2014/main" val="4008994198"/>
                    </a:ext>
                  </a:extLst>
                </a:gridCol>
              </a:tblGrid>
              <a:tr h="622300">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000" b="0" i="0">
                          <a:solidFill>
                            <a:schemeClr val="bg1"/>
                          </a:solidFill>
                          <a:latin typeface="PF Square Sans Pro" panose="02000506040000020004" pitchFamily="2" charset="0"/>
                        </a:rPr>
                        <a:t>DEPARTMENT PRIORITIES FOR 2024</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800" b="0" i="0">
                          <a:solidFill>
                            <a:schemeClr val="bg1"/>
                          </a:solidFill>
                          <a:latin typeface="PF Square Sans Pro" panose="02000506040000020004" pitchFamily="2" charset="0"/>
                        </a:rPr>
                        <a:t>KPI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PF Square Sans Pro" panose="02000506040000020004" pitchFamily="2" charset="0"/>
                        </a:rPr>
                        <a:t>PROGRESS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NOT 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342599928"/>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601760332"/>
                  </a:ext>
                </a:extLst>
              </a:tr>
              <a:tr h="710954">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012188083"/>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7149773"/>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7704878"/>
                  </a:ext>
                </a:extLst>
              </a:tr>
              <a:tr h="673461">
                <a:tc>
                  <a:txBody>
                    <a:bodyPr/>
                    <a:lstStyle/>
                    <a:p>
                      <a:pPr algn="l" fontAlgn="t"/>
                      <a:endParaRPr lang="en-GB" sz="16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179670620"/>
                  </a:ext>
                </a:extLst>
              </a:tr>
            </a:tbl>
          </a:graphicData>
        </a:graphic>
      </p:graphicFrame>
      <p:sp>
        <p:nvSpPr>
          <p:cNvPr id="14" name="Rectangle 13">
            <a:extLst>
              <a:ext uri="{FF2B5EF4-FFF2-40B4-BE49-F238E27FC236}">
                <a16:creationId xmlns:a16="http://schemas.microsoft.com/office/drawing/2014/main" id="{A233DDAF-431B-4D93-BEB1-687A176C5BB7}"/>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chemeClr val="tx1"/>
                </a:solidFill>
              </a:rPr>
              <a:t>Department </a:t>
            </a:r>
          </a:p>
        </p:txBody>
      </p:sp>
    </p:spTree>
    <p:extLst>
      <p:ext uri="{BB962C8B-B14F-4D97-AF65-F5344CB8AC3E}">
        <p14:creationId xmlns:p14="http://schemas.microsoft.com/office/powerpoint/2010/main" val="170955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4">
            <a:extLst>
              <a:ext uri="{FF2B5EF4-FFF2-40B4-BE49-F238E27FC236}">
                <a16:creationId xmlns:a16="http://schemas.microsoft.com/office/drawing/2014/main" id="{1DB38CAB-7494-4423-B1E5-F3FC7112848A}"/>
              </a:ext>
            </a:extLst>
          </p:cNvPr>
          <p:cNvGraphicFramePr>
            <a:graphicFrameLocks/>
          </p:cNvGraphicFramePr>
          <p:nvPr>
            <p:extLst>
              <p:ext uri="{D42A27DB-BD31-4B8C-83A1-F6EECF244321}">
                <p14:modId xmlns:p14="http://schemas.microsoft.com/office/powerpoint/2010/main" val="3810093094"/>
              </p:ext>
            </p:extLst>
          </p:nvPr>
        </p:nvGraphicFramePr>
        <p:xfrm>
          <a:off x="251458" y="3955145"/>
          <a:ext cx="9661798" cy="2784994"/>
        </p:xfrm>
        <a:graphic>
          <a:graphicData uri="http://schemas.openxmlformats.org/drawingml/2006/table">
            <a:tbl>
              <a:tblPr/>
              <a:tblGrid>
                <a:gridCol w="225126">
                  <a:extLst>
                    <a:ext uri="{9D8B030D-6E8A-4147-A177-3AD203B41FA5}">
                      <a16:colId xmlns:a16="http://schemas.microsoft.com/office/drawing/2014/main" val="20000"/>
                    </a:ext>
                  </a:extLst>
                </a:gridCol>
                <a:gridCol w="4501816">
                  <a:extLst>
                    <a:ext uri="{9D8B030D-6E8A-4147-A177-3AD203B41FA5}">
                      <a16:colId xmlns:a16="http://schemas.microsoft.com/office/drawing/2014/main" val="20001"/>
                    </a:ext>
                  </a:extLst>
                </a:gridCol>
                <a:gridCol w="4934856">
                  <a:extLst>
                    <a:ext uri="{9D8B030D-6E8A-4147-A177-3AD203B41FA5}">
                      <a16:colId xmlns:a16="http://schemas.microsoft.com/office/drawing/2014/main" val="3940864341"/>
                    </a:ext>
                  </a:extLst>
                </a:gridCol>
              </a:tblGrid>
              <a:tr h="439708">
                <a:tc gridSpan="2">
                  <a:txBody>
                    <a:bodyPr/>
                    <a:lstStyle/>
                    <a:p>
                      <a:pPr algn="ctr" fontAlgn="b"/>
                      <a:r>
                        <a:rPr lang="en-US" sz="2400" b="0" i="0" u="none" strike="noStrike">
                          <a:solidFill>
                            <a:srgbClr val="FFFFFF"/>
                          </a:solidFill>
                          <a:effectLst/>
                          <a:latin typeface="PF Square Sans Pro" panose="02000506040000020004" pitchFamily="2" charset="0"/>
                        </a:rPr>
                        <a:t>THE LOWS</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a:tc>
                <a:tc>
                  <a:txBody>
                    <a:bodyPr/>
                    <a:lstStyle/>
                    <a:p>
                      <a:pPr algn="ctr" fontAlgn="b"/>
                      <a:r>
                        <a:rPr lang="en-US" sz="2400" b="0" i="0" u="none" strike="noStrike">
                          <a:solidFill>
                            <a:srgbClr val="FFFFFF"/>
                          </a:solidFill>
                          <a:effectLst/>
                          <a:latin typeface="PF Square Sans Pro" panose="02000506040000020004" pitchFamily="2" charset="0"/>
                        </a:rPr>
                        <a:t>WHY </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81762">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81762">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81762">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251458" y="212658"/>
            <a:ext cx="8737600" cy="395696"/>
          </a:xfrm>
        </p:spPr>
        <p:txBody>
          <a:bodyPr anchor="b"/>
          <a:lstStyle/>
          <a:p>
            <a:r>
              <a:rPr lang="en-US" sz="2800" b="1" dirty="0">
                <a:latin typeface="+mj-lt"/>
              </a:rPr>
              <a:t>My 2024 REVIEW </a:t>
            </a:r>
            <a:endParaRPr lang="en-BG" sz="2800" b="1" dirty="0">
              <a:latin typeface="+mj-lt"/>
            </a:endParaRPr>
          </a:p>
        </p:txBody>
      </p:sp>
      <p:graphicFrame>
        <p:nvGraphicFramePr>
          <p:cNvPr id="8" name="Content Placeholder 4">
            <a:extLst>
              <a:ext uri="{FF2B5EF4-FFF2-40B4-BE49-F238E27FC236}">
                <a16:creationId xmlns:a16="http://schemas.microsoft.com/office/drawing/2014/main" id="{3474C476-EB19-7945-B16D-B51C6B222F3D}"/>
              </a:ext>
            </a:extLst>
          </p:cNvPr>
          <p:cNvGraphicFramePr>
            <a:graphicFrameLocks/>
          </p:cNvGraphicFramePr>
          <p:nvPr>
            <p:extLst>
              <p:ext uri="{D42A27DB-BD31-4B8C-83A1-F6EECF244321}">
                <p14:modId xmlns:p14="http://schemas.microsoft.com/office/powerpoint/2010/main" val="2825286565"/>
              </p:ext>
            </p:extLst>
          </p:nvPr>
        </p:nvGraphicFramePr>
        <p:xfrm>
          <a:off x="251458" y="822712"/>
          <a:ext cx="9661798" cy="2784994"/>
        </p:xfrm>
        <a:graphic>
          <a:graphicData uri="http://schemas.openxmlformats.org/drawingml/2006/table">
            <a:tbl>
              <a:tblPr/>
              <a:tblGrid>
                <a:gridCol w="225126">
                  <a:extLst>
                    <a:ext uri="{9D8B030D-6E8A-4147-A177-3AD203B41FA5}">
                      <a16:colId xmlns:a16="http://schemas.microsoft.com/office/drawing/2014/main" val="20000"/>
                    </a:ext>
                  </a:extLst>
                </a:gridCol>
                <a:gridCol w="4487302">
                  <a:extLst>
                    <a:ext uri="{9D8B030D-6E8A-4147-A177-3AD203B41FA5}">
                      <a16:colId xmlns:a16="http://schemas.microsoft.com/office/drawing/2014/main" val="20001"/>
                    </a:ext>
                  </a:extLst>
                </a:gridCol>
                <a:gridCol w="4949370">
                  <a:extLst>
                    <a:ext uri="{9D8B030D-6E8A-4147-A177-3AD203B41FA5}">
                      <a16:colId xmlns:a16="http://schemas.microsoft.com/office/drawing/2014/main" val="3940864341"/>
                    </a:ext>
                  </a:extLst>
                </a:gridCol>
              </a:tblGrid>
              <a:tr h="471583">
                <a:tc gridSpan="2">
                  <a:txBody>
                    <a:bodyPr/>
                    <a:lstStyle/>
                    <a:p>
                      <a:pPr algn="ctr" fontAlgn="b"/>
                      <a:r>
                        <a:rPr lang="en-US" sz="2400" b="0" i="0" u="none" strike="noStrike">
                          <a:solidFill>
                            <a:srgbClr val="FFFFFF"/>
                          </a:solidFill>
                          <a:effectLst/>
                          <a:latin typeface="PF Square Sans Pro" panose="02000506040000020004" pitchFamily="2" charset="0"/>
                        </a:rPr>
                        <a:t>THE HIGHS</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hMerge="1">
                  <a:txBody>
                    <a:bodyPr/>
                    <a:lstStyle/>
                    <a:p>
                      <a:endParaRPr lang="en-US"/>
                    </a:p>
                  </a:txBody>
                  <a:tcPr/>
                </a:tc>
                <a:tc>
                  <a:txBody>
                    <a:bodyPr/>
                    <a:lstStyle/>
                    <a:p>
                      <a:pPr algn="ctr" fontAlgn="b"/>
                      <a:r>
                        <a:rPr lang="en-US" sz="2400" b="0" i="0" u="none" strike="noStrike">
                          <a:solidFill>
                            <a:srgbClr val="FFFFFF"/>
                          </a:solidFill>
                          <a:effectLst/>
                          <a:latin typeface="PF Square Sans Pro" panose="02000506040000020004" pitchFamily="2" charset="0"/>
                        </a:rPr>
                        <a:t>WHY </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71137">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1137">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1137">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498E27B0-627C-4DF2-B33E-A8E7E33323C7}"/>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chemeClr val="tx1"/>
                </a:solidFill>
              </a:rPr>
              <a:t>Department </a:t>
            </a:r>
          </a:p>
        </p:txBody>
      </p:sp>
    </p:spTree>
    <p:extLst>
      <p:ext uri="{BB962C8B-B14F-4D97-AF65-F5344CB8AC3E}">
        <p14:creationId xmlns:p14="http://schemas.microsoft.com/office/powerpoint/2010/main" val="1470160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883061B-99A1-6D60-959C-5A2DF0277744}"/>
              </a:ext>
            </a:extLst>
          </p:cNvPr>
          <p:cNvGraphicFramePr>
            <a:graphicFrameLocks noGrp="1"/>
          </p:cNvGraphicFramePr>
          <p:nvPr>
            <p:extLst>
              <p:ext uri="{D42A27DB-BD31-4B8C-83A1-F6EECF244321}">
                <p14:modId xmlns:p14="http://schemas.microsoft.com/office/powerpoint/2010/main" val="2842508123"/>
              </p:ext>
            </p:extLst>
          </p:nvPr>
        </p:nvGraphicFramePr>
        <p:xfrm>
          <a:off x="321013" y="853440"/>
          <a:ext cx="4697846" cy="5471885"/>
        </p:xfrm>
        <a:graphic>
          <a:graphicData uri="http://schemas.openxmlformats.org/drawingml/2006/table">
            <a:tbl>
              <a:tblPr firstRow="1" bandRow="1">
                <a:tableStyleId>{2D5ABB26-0587-4C30-8999-92F81FD0307C}</a:tableStyleId>
              </a:tblPr>
              <a:tblGrid>
                <a:gridCol w="4697846">
                  <a:extLst>
                    <a:ext uri="{9D8B030D-6E8A-4147-A177-3AD203B41FA5}">
                      <a16:colId xmlns:a16="http://schemas.microsoft.com/office/drawing/2014/main" val="239924796"/>
                    </a:ext>
                  </a:extLst>
                </a:gridCol>
              </a:tblGrid>
              <a:tr h="523034">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400" b="0" i="0">
                          <a:solidFill>
                            <a:schemeClr val="bg1"/>
                          </a:solidFill>
                          <a:latin typeface="PF Square Sans Pro" panose="02000506040000020004" pitchFamily="2" charset="0"/>
                        </a:rPr>
                        <a:t>BETTER ME - 3 ACTIONS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2599928"/>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2.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7704878"/>
                  </a:ext>
                </a:extLst>
              </a:tr>
            </a:tbl>
          </a:graphicData>
        </a:graphic>
      </p:graphicFrame>
      <p:graphicFrame>
        <p:nvGraphicFramePr>
          <p:cNvPr id="4" name="Table 3">
            <a:extLst>
              <a:ext uri="{FF2B5EF4-FFF2-40B4-BE49-F238E27FC236}">
                <a16:creationId xmlns:a16="http://schemas.microsoft.com/office/drawing/2014/main" id="{416C09BA-2994-549F-CD2E-F164B90EE0BC}"/>
              </a:ext>
            </a:extLst>
          </p:cNvPr>
          <p:cNvGraphicFramePr>
            <a:graphicFrameLocks noGrp="1"/>
          </p:cNvGraphicFramePr>
          <p:nvPr>
            <p:extLst>
              <p:ext uri="{D42A27DB-BD31-4B8C-83A1-F6EECF244321}">
                <p14:modId xmlns:p14="http://schemas.microsoft.com/office/powerpoint/2010/main" val="494606002"/>
              </p:ext>
            </p:extLst>
          </p:nvPr>
        </p:nvGraphicFramePr>
        <p:xfrm>
          <a:off x="5219585" y="853440"/>
          <a:ext cx="4697846" cy="5471885"/>
        </p:xfrm>
        <a:graphic>
          <a:graphicData uri="http://schemas.openxmlformats.org/drawingml/2006/table">
            <a:tbl>
              <a:tblPr firstRow="1" bandRow="1">
                <a:tableStyleId>{2D5ABB26-0587-4C30-8999-92F81FD0307C}</a:tableStyleId>
              </a:tblPr>
              <a:tblGrid>
                <a:gridCol w="4697846">
                  <a:extLst>
                    <a:ext uri="{9D8B030D-6E8A-4147-A177-3AD203B41FA5}">
                      <a16:colId xmlns:a16="http://schemas.microsoft.com/office/drawing/2014/main" val="239924796"/>
                    </a:ext>
                  </a:extLst>
                </a:gridCol>
              </a:tblGrid>
              <a:tr h="523034">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400" b="0" i="0">
                          <a:solidFill>
                            <a:schemeClr val="bg1"/>
                          </a:solidFill>
                          <a:latin typeface="PF Square Sans Pro" panose="02000506040000020004" pitchFamily="2" charset="0"/>
                        </a:rPr>
                        <a:t>BETTER COMPANY - 3 ACTIONS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2599928"/>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2.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3.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7704878"/>
                  </a:ext>
                </a:extLst>
              </a:tr>
            </a:tbl>
          </a:graphicData>
        </a:graphic>
      </p:graphicFrame>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99671" y="186026"/>
            <a:ext cx="8665217" cy="401639"/>
          </a:xfrm>
        </p:spPr>
        <p:txBody>
          <a:bodyPr anchor="b"/>
          <a:lstStyle/>
          <a:p>
            <a:r>
              <a:rPr lang="en-US" sz="2800" b="1" dirty="0">
                <a:latin typeface="+mj-lt"/>
              </a:rPr>
              <a:t>IF I START THE YEAR AGAIN, I WOULD DO DIFFERENTLY </a:t>
            </a:r>
            <a:endParaRPr lang="en-BG" sz="2800" b="1" dirty="0">
              <a:latin typeface="+mj-lt"/>
            </a:endParaRPr>
          </a:p>
        </p:txBody>
      </p:sp>
      <p:sp>
        <p:nvSpPr>
          <p:cNvPr id="6" name="Rectangle 5">
            <a:extLst>
              <a:ext uri="{FF2B5EF4-FFF2-40B4-BE49-F238E27FC236}">
                <a16:creationId xmlns:a16="http://schemas.microsoft.com/office/drawing/2014/main" id="{1ED2A0D6-97C8-4E35-B332-FD487C95FC6A}"/>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chemeClr val="tx1"/>
                </a:solidFill>
              </a:rPr>
              <a:t>Department </a:t>
            </a:r>
          </a:p>
        </p:txBody>
      </p:sp>
    </p:spTree>
    <p:extLst>
      <p:ext uri="{BB962C8B-B14F-4D97-AF65-F5344CB8AC3E}">
        <p14:creationId xmlns:p14="http://schemas.microsoft.com/office/powerpoint/2010/main" val="1691125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79311" y="187562"/>
            <a:ext cx="6413361" cy="401639"/>
          </a:xfrm>
        </p:spPr>
        <p:txBody>
          <a:bodyPr anchor="b"/>
          <a:lstStyle/>
          <a:p>
            <a:r>
              <a:rPr lang="en-US" sz="2800" b="1" dirty="0">
                <a:latin typeface="+mj-lt"/>
              </a:rPr>
              <a:t>VALUES IN ACTION  </a:t>
            </a:r>
            <a:endParaRPr lang="en-BG" sz="2800" b="1" dirty="0">
              <a:latin typeface="+mj-lt"/>
            </a:endParaRPr>
          </a:p>
        </p:txBody>
      </p:sp>
      <p:graphicFrame>
        <p:nvGraphicFramePr>
          <p:cNvPr id="5" name="Table 4">
            <a:extLst>
              <a:ext uri="{FF2B5EF4-FFF2-40B4-BE49-F238E27FC236}">
                <a16:creationId xmlns:a16="http://schemas.microsoft.com/office/drawing/2014/main" id="{1AEF6A9A-A626-A444-908E-88D7CB2C40CD}"/>
              </a:ext>
            </a:extLst>
          </p:cNvPr>
          <p:cNvGraphicFramePr>
            <a:graphicFrameLocks noGrp="1"/>
          </p:cNvGraphicFramePr>
          <p:nvPr>
            <p:extLst>
              <p:ext uri="{D42A27DB-BD31-4B8C-83A1-F6EECF244321}">
                <p14:modId xmlns:p14="http://schemas.microsoft.com/office/powerpoint/2010/main" val="1590272907"/>
              </p:ext>
            </p:extLst>
          </p:nvPr>
        </p:nvGraphicFramePr>
        <p:xfrm>
          <a:off x="208927" y="937260"/>
          <a:ext cx="9733790" cy="5285384"/>
        </p:xfrm>
        <a:graphic>
          <a:graphicData uri="http://schemas.openxmlformats.org/drawingml/2006/table">
            <a:tbl>
              <a:tblPr/>
              <a:tblGrid>
                <a:gridCol w="9733790">
                  <a:extLst>
                    <a:ext uri="{9D8B030D-6E8A-4147-A177-3AD203B41FA5}">
                      <a16:colId xmlns:a16="http://schemas.microsoft.com/office/drawing/2014/main" val="3519267184"/>
                    </a:ext>
                  </a:extLst>
                </a:gridCol>
              </a:tblGrid>
              <a:tr h="498209">
                <a:tc>
                  <a:txBody>
                    <a:bodyPr/>
                    <a:lstStyle/>
                    <a:p>
                      <a:pPr algn="ctr"/>
                      <a:r>
                        <a:rPr lang="en-US" sz="2000" b="0" i="0" u="none" strike="noStrike" kern="1200">
                          <a:solidFill>
                            <a:srgbClr val="FFFFFF"/>
                          </a:solidFill>
                          <a:effectLst/>
                          <a:latin typeface="PF Square Sans Pro Medium" panose="02000500000000020004" pitchFamily="2" charset="0"/>
                          <a:ea typeface="+mn-ea"/>
                          <a:cs typeface="+mn-cs"/>
                        </a:rPr>
                        <a:t>THE STORY THAT BEST DESCRIBES OUR VALUES FROM LAST YEAR</a:t>
                      </a:r>
                      <a:endParaRPr lang="en-GB" sz="2000" b="0" i="0" u="none" strike="noStrike" kern="1200">
                        <a:solidFill>
                          <a:srgbClr val="FFFFFF"/>
                        </a:solidFill>
                        <a:effectLst/>
                        <a:latin typeface="PF Square Sans Pro Medium" panose="02000500000000020004" pitchFamily="2" charset="0"/>
                        <a:ea typeface="+mn-ea"/>
                        <a:cs typeface="+mn-cs"/>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solidFill>
                      <a:schemeClr val="tx1"/>
                    </a:solidFill>
                  </a:tcPr>
                </a:tc>
                <a:extLst>
                  <a:ext uri="{0D108BD9-81ED-4DB2-BD59-A6C34878D82A}">
                    <a16:rowId xmlns:a16="http://schemas.microsoft.com/office/drawing/2014/main" val="2370299470"/>
                  </a:ext>
                </a:extLst>
              </a:tr>
              <a:tr h="4787175">
                <a:tc>
                  <a:txBody>
                    <a:bodyPr/>
                    <a:lstStyle/>
                    <a:p>
                      <a:endParaRPr lang="en-BG"/>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108460"/>
                  </a:ext>
                </a:extLst>
              </a:tr>
            </a:tbl>
          </a:graphicData>
        </a:graphic>
      </p:graphicFrame>
      <p:sp>
        <p:nvSpPr>
          <p:cNvPr id="6" name="Rectangle 5">
            <a:extLst>
              <a:ext uri="{FF2B5EF4-FFF2-40B4-BE49-F238E27FC236}">
                <a16:creationId xmlns:a16="http://schemas.microsoft.com/office/drawing/2014/main" id="{A36F3EF7-1029-4C2B-BE17-9AA9ED92EEC4}"/>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chemeClr val="tx1"/>
                </a:solidFill>
              </a:rPr>
              <a:t>Department </a:t>
            </a:r>
          </a:p>
        </p:txBody>
      </p:sp>
    </p:spTree>
    <p:extLst>
      <p:ext uri="{BB962C8B-B14F-4D97-AF65-F5344CB8AC3E}">
        <p14:creationId xmlns:p14="http://schemas.microsoft.com/office/powerpoint/2010/main" val="3316536591"/>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2103</Words>
  <Application>Microsoft Macintosh PowerPoint</Application>
  <PresentationFormat>Custom</PresentationFormat>
  <Paragraphs>331</Paragraphs>
  <Slides>16</Slides>
  <Notes>16</Notes>
  <HiddenSlides>0</HiddenSlides>
  <MMClips>0</MMClips>
  <ScaleCrop>false</ScaleCrop>
  <HeadingPairs>
    <vt:vector size="6" baseType="variant">
      <vt:variant>
        <vt:lpstr>Fonts Used</vt:lpstr>
      </vt:variant>
      <vt:variant>
        <vt:i4>10</vt:i4>
      </vt:variant>
      <vt:variant>
        <vt:lpstr>Theme</vt:lpstr>
      </vt:variant>
      <vt:variant>
        <vt:i4>7</vt:i4>
      </vt:variant>
      <vt:variant>
        <vt:lpstr>Slide Titles</vt:lpstr>
      </vt:variant>
      <vt:variant>
        <vt:i4>16</vt:i4>
      </vt:variant>
    </vt:vector>
  </HeadingPairs>
  <TitlesOfParts>
    <vt:vector size="33" baseType="lpstr">
      <vt:lpstr>-webkit-standard</vt:lpstr>
      <vt:lpstr>Arial</vt:lpstr>
      <vt:lpstr>Calibri</vt:lpstr>
      <vt:lpstr>Corbel</vt:lpstr>
      <vt:lpstr>Monument Grotesk Mono</vt:lpstr>
      <vt:lpstr>PF Square Sans Pro</vt:lpstr>
      <vt:lpstr>PF Square Sans Pro Light</vt:lpstr>
      <vt:lpstr>PF Square Sans Pro Medium</vt:lpstr>
      <vt:lpstr>Plaak 3 Trial Regular</vt:lpstr>
      <vt:lpstr>Riforma LL</vt:lpstr>
      <vt:lpstr>1_Custom Design</vt:lpstr>
      <vt:lpstr>SOLIDS</vt:lpstr>
      <vt:lpstr>5_Custom Design</vt:lpstr>
      <vt:lpstr>4_Custom Design</vt:lpstr>
      <vt:lpstr>1_SOLIDS</vt:lpstr>
      <vt:lpstr>3_Custom Design</vt:lpstr>
      <vt:lpstr>6_Custom Design</vt:lpstr>
      <vt:lpstr>PowerPoint Presentation</vt:lpstr>
      <vt:lpstr>EXECUTIVE SUMMARY FOR LAST YEAR </vt:lpstr>
      <vt:lpstr>COMPANY PERFORMANCE REVIEW LAST YEAR</vt:lpstr>
      <vt:lpstr>WHAT IS NEW IN THE INDUSTRY SINCE LAST YEAR</vt:lpstr>
      <vt:lpstr>IF I START THE YEAR AGAIN, I WOULD DO DIFFERENTLY </vt:lpstr>
      <vt:lpstr>CASH PERFORMANCE - OVERVIEW</vt:lpstr>
      <vt:lpstr>CASH PERFORMANCE - CHAPTER 1: PROFITABILITY</vt:lpstr>
      <vt:lpstr>CHAPTER 2: WORKING CAPITAL DAYS</vt:lpstr>
      <vt:lpstr>CHAPTER 3: OTHER CAPITAL</vt:lpstr>
      <vt:lpstr>CHAPTER 4: FUNDING</vt:lpstr>
      <vt:lpstr>POWER OF 1</vt:lpstr>
      <vt:lpstr>PEOPLE REVIEW</vt:lpstr>
      <vt:lpstr>My 2024 REVIEW </vt:lpstr>
      <vt:lpstr>My 2024 REVIEW </vt:lpstr>
      <vt:lpstr>IF I START THE YEAR AGAIN, I WOULD DO DIFFERENTLY </vt:lpstr>
      <vt:lpstr>VALUES IN ACTION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 Nankova</dc:creator>
  <cp:lastModifiedBy>Nikol Nankova</cp:lastModifiedBy>
  <cp:revision>7</cp:revision>
  <dcterms:created xsi:type="dcterms:W3CDTF">2020-07-31T11:00:29Z</dcterms:created>
  <dcterms:modified xsi:type="dcterms:W3CDTF">2024-12-06T09:51:49Z</dcterms:modified>
</cp:coreProperties>
</file>