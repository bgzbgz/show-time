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1"/>
  </p:notesMasterIdLst>
  <p:handoutMasterIdLst>
    <p:handoutMasterId r:id="rId12"/>
  </p:handoutMasterIdLst>
  <p:sldIdLst>
    <p:sldId id="2463" r:id="rId4"/>
    <p:sldId id="2487" r:id="rId5"/>
    <p:sldId id="2486" r:id="rId6"/>
    <p:sldId id="2435" r:id="rId7"/>
    <p:sldId id="2489" r:id="rId8"/>
    <p:sldId id="2491" r:id="rId9"/>
    <p:sldId id="2485" r:id="rId10"/>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48E59-AF21-A81A-53B8-A2BFD7223030}" v="1125" dt="2025-05-15T12:03:34.0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19"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d8163fcc-b7a2-4879-8dc8-6db2ed262757::" providerId="AD" clId="Web-{09B48E59-AF21-A81A-53B8-A2BFD7223030}"/>
    <pc:docChg chg="modSld">
      <pc:chgData name="Guest User" userId="S::urn:spo:tenantanon#d8163fcc-b7a2-4879-8dc8-6db2ed262757::" providerId="AD" clId="Web-{09B48E59-AF21-A81A-53B8-A2BFD7223030}" dt="2025-05-15T12:02:48.841" v="1119"/>
      <pc:docMkLst>
        <pc:docMk/>
      </pc:docMkLst>
      <pc:sldChg chg="modSp">
        <pc:chgData name="Guest User" userId="S::urn:spo:tenantanon#d8163fcc-b7a2-4879-8dc8-6db2ed262757::" providerId="AD" clId="Web-{09B48E59-AF21-A81A-53B8-A2BFD7223030}" dt="2025-05-15T12:02:48.841" v="1119"/>
        <pc:sldMkLst>
          <pc:docMk/>
          <pc:sldMk cId="3110103477" sldId="2463"/>
        </pc:sldMkLst>
        <pc:graphicFrameChg chg="mod modGraphic">
          <ac:chgData name="Guest User" userId="S::urn:spo:tenantanon#d8163fcc-b7a2-4879-8dc8-6db2ed262757::" providerId="AD" clId="Web-{09B48E59-AF21-A81A-53B8-A2BFD7223030}" dt="2025-05-15T12:02:48.841" v="1119"/>
          <ac:graphicFrameMkLst>
            <pc:docMk/>
            <pc:sldMk cId="3110103477" sldId="2463"/>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5/15/2025</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5/15/2025</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400"/>
              </a:spcAft>
            </a:pPr>
            <a:r>
              <a:rPr lang="en-US" sz="2800" kern="1400" spc="-50">
                <a:effectLst/>
                <a:latin typeface="Aptos Display" panose="020B0004020202020204" pitchFamily="34" charset="0"/>
                <a:ea typeface="Times New Roman" panose="02020603050405020304" pitchFamily="18" charset="0"/>
                <a:cs typeface="Times New Roman" panose="02020603050405020304" pitchFamily="18" charset="0"/>
              </a:rPr>
              <a:t>FAST TRACK BIG ROCK DISCUSSION TOOL</a:t>
            </a:r>
            <a:endParaRPr lang="en-BG" sz="2800" kern="1400" spc="-50">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100" kern="100">
                <a:effectLst/>
                <a:latin typeface="Aptos" panose="020B0004020202020204" pitchFamily="34" charset="0"/>
                <a:ea typeface="Aptos" panose="020B0004020202020204" pitchFamily="34" charset="0"/>
                <a:cs typeface="Times New Roman" panose="02020603050405020304" pitchFamily="18" charset="0"/>
              </a:rPr>
              <a:t> </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kern="100">
                <a:effectLst/>
                <a:latin typeface="Aptos" panose="020B0004020202020204" pitchFamily="34" charset="0"/>
                <a:ea typeface="Aptos" panose="020B0004020202020204" pitchFamily="34" charset="0"/>
                <a:cs typeface="Times New Roman" panose="02020603050405020304" pitchFamily="18" charset="0"/>
              </a:rPr>
              <a:t>To analyze and solve critical issues (“big rocks”) in 30 minutes with maximum efficiency, leveraging </a:t>
            </a:r>
            <a:r>
              <a:rPr lang="en-US" sz="1100" b="1" kern="100">
                <a:effectLst/>
                <a:latin typeface="Aptos" panose="020B0004020202020204" pitchFamily="34" charset="0"/>
                <a:ea typeface="Aptos" panose="020B0004020202020204" pitchFamily="34" charset="0"/>
                <a:cs typeface="Times New Roman" panose="02020603050405020304" pitchFamily="18" charset="0"/>
              </a:rPr>
              <a:t>Elon Musk’s first principles of thinking</a:t>
            </a:r>
            <a:r>
              <a:rPr lang="en-US" sz="1100" kern="100">
                <a:effectLst/>
                <a:latin typeface="Aptos" panose="020B0004020202020204" pitchFamily="34" charset="0"/>
                <a:ea typeface="Aptos" panose="020B0004020202020204" pitchFamily="34" charset="0"/>
                <a:cs typeface="Times New Roman" panose="02020603050405020304" pitchFamily="18" charset="0"/>
              </a:rPr>
              <a:t>, </a:t>
            </a:r>
            <a:r>
              <a:rPr lang="en-US" sz="1100" b="1" kern="100">
                <a:effectLst/>
                <a:latin typeface="Aptos" panose="020B0004020202020204" pitchFamily="34" charset="0"/>
                <a:ea typeface="Aptos" panose="020B0004020202020204" pitchFamily="34" charset="0"/>
                <a:cs typeface="Times New Roman" panose="02020603050405020304" pitchFamily="18" charset="0"/>
              </a:rPr>
              <a:t>Theory of Constraints</a:t>
            </a:r>
            <a:r>
              <a:rPr lang="en-US" sz="1100" kern="100">
                <a:effectLst/>
                <a:latin typeface="Aptos" panose="020B0004020202020204" pitchFamily="34" charset="0"/>
                <a:ea typeface="Aptos" panose="020B0004020202020204" pitchFamily="34" charset="0"/>
                <a:cs typeface="Times New Roman" panose="02020603050405020304" pitchFamily="18" charset="0"/>
              </a:rPr>
              <a:t>, </a:t>
            </a:r>
            <a:r>
              <a:rPr lang="en-US" sz="1100" b="1" kern="100">
                <a:effectLst/>
                <a:latin typeface="Aptos" panose="020B0004020202020204" pitchFamily="34" charset="0"/>
                <a:ea typeface="Aptos" panose="020B0004020202020204" pitchFamily="34" charset="0"/>
                <a:cs typeface="Times New Roman" panose="02020603050405020304" pitchFamily="18" charset="0"/>
              </a:rPr>
              <a:t>80/20 </a:t>
            </a:r>
            <a:r>
              <a:rPr lang="en-US" sz="1100" kern="100">
                <a:effectLst/>
                <a:latin typeface="Aptos" panose="020B0004020202020204" pitchFamily="34" charset="0"/>
                <a:ea typeface="Aptos" panose="020B0004020202020204" pitchFamily="34" charset="0"/>
                <a:cs typeface="Times New Roman" panose="02020603050405020304" pitchFamily="18" charset="0"/>
              </a:rPr>
              <a:t>, </a:t>
            </a:r>
            <a:r>
              <a:rPr lang="en-US" sz="1100" b="1" kern="100">
                <a:effectLst/>
                <a:latin typeface="Aptos" panose="020B0004020202020204" pitchFamily="34" charset="0"/>
                <a:ea typeface="Aptos" panose="020B0004020202020204" pitchFamily="34" charset="0"/>
                <a:cs typeface="Times New Roman" panose="02020603050405020304" pitchFamily="18" charset="0"/>
              </a:rPr>
              <a:t>simplicity</a:t>
            </a:r>
            <a:r>
              <a:rPr lang="en-US" sz="1100" kern="100">
                <a:effectLst/>
                <a:latin typeface="Aptos" panose="020B0004020202020204" pitchFamily="34" charset="0"/>
                <a:ea typeface="Aptos" panose="020B0004020202020204" pitchFamily="34" charset="0"/>
                <a:cs typeface="Times New Roman" panose="02020603050405020304" pitchFamily="18" charset="0"/>
              </a:rPr>
              <a:t>, and the </a:t>
            </a:r>
            <a:r>
              <a:rPr lang="en-US" sz="1100" b="1" kern="100">
                <a:effectLst/>
                <a:latin typeface="Aptos" panose="020B0004020202020204" pitchFamily="34" charset="0"/>
                <a:ea typeface="Aptos" panose="020B0004020202020204" pitchFamily="34" charset="0"/>
                <a:cs typeface="Times New Roman" panose="02020603050405020304" pitchFamily="18" charset="0"/>
              </a:rPr>
              <a:t>Law of Subtraction</a:t>
            </a:r>
            <a:r>
              <a:rPr lang="en-US" sz="1100" kern="100">
                <a:effectLst/>
                <a:latin typeface="Aptos" panose="020B0004020202020204" pitchFamily="34" charset="0"/>
                <a:ea typeface="Aptos" panose="020B0004020202020204" pitchFamily="34" charset="0"/>
                <a:cs typeface="Times New Roman" panose="02020603050405020304" pitchFamily="18" charset="0"/>
              </a:rPr>
              <a:t>. </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kern="100">
                <a:effectLst/>
                <a:latin typeface="Aptos" panose="020B0004020202020204" pitchFamily="34" charset="0"/>
                <a:ea typeface="Aptos" panose="020B0004020202020204" pitchFamily="34" charset="0"/>
                <a:cs typeface="Times New Roman" panose="02020603050405020304" pitchFamily="18" charset="0"/>
              </a:rPr>
              <a:t>The goal is to strip problems to their core, identify bottlenecks, and focus only on high-impact actions.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Bef>
                <a:spcPts val="800"/>
              </a:spcBef>
              <a:spcAft>
                <a:spcPts val="400"/>
              </a:spcAft>
            </a:pPr>
            <a:r>
              <a:rPr lang="en-US"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1: Clarify the Core Problem (5 Minutes)</a:t>
            </a:r>
            <a:endParaRPr lang="en-BG"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07000"/>
              </a:lnSpc>
              <a:spcBef>
                <a:spcPts val="800"/>
              </a:spcBef>
              <a:spcAft>
                <a:spcPts val="400"/>
              </a:spcAft>
            </a:pPr>
            <a:r>
              <a:rPr lang="en-US"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A crystal clear, razor-sharp problem statement.</a:t>
            </a:r>
            <a:endParaRPr lang="en-BG"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is the issue at its most basic level?</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If we had to explain this problem to a 10-year-old, how would we phrase it?</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Why is this issue the most important thing to address now?</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measurable outcome defines success?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Avoid:</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Vagueness:</a:t>
            </a:r>
            <a:r>
              <a:rPr lang="en-US" sz="1100" kern="100">
                <a:effectLst/>
                <a:latin typeface="Aptos" panose="020B0004020202020204" pitchFamily="34" charset="0"/>
                <a:ea typeface="Aptos" panose="020B0004020202020204" pitchFamily="34" charset="0"/>
                <a:cs typeface="Times New Roman" panose="02020603050405020304" pitchFamily="18" charset="0"/>
              </a:rPr>
              <a:t> Overcomplicating the problem or using broad definitions.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Scope Creep:</a:t>
            </a:r>
            <a:r>
              <a:rPr lang="en-US" sz="1100" kern="100">
                <a:effectLst/>
                <a:latin typeface="Aptos" panose="020B0004020202020204" pitchFamily="34" charset="0"/>
                <a:ea typeface="Aptos" panose="020B0004020202020204" pitchFamily="34" charset="0"/>
                <a:cs typeface="Times New Roman" panose="02020603050405020304" pitchFamily="18" charset="0"/>
              </a:rPr>
              <a:t> Adding unrelated topics to the discussion.</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Premature Solutions:</a:t>
            </a:r>
            <a:r>
              <a:rPr lang="en-US" sz="1100" kern="100">
                <a:effectLst/>
                <a:latin typeface="Aptos" panose="020B0004020202020204" pitchFamily="34" charset="0"/>
                <a:ea typeface="Aptos" panose="020B0004020202020204" pitchFamily="34" charset="0"/>
                <a:cs typeface="Times New Roman" panose="02020603050405020304" pitchFamily="18" charset="0"/>
              </a:rPr>
              <a:t> Discussing fixes before understanding the problem.</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Bef>
                <a:spcPts val="800"/>
              </a:spcBef>
              <a:spcAft>
                <a:spcPts val="400"/>
              </a:spcAft>
            </a:pPr>
            <a:endParaRPr lang="en-US"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A5FFE-734E-2935-CAB1-4B659CBB1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0D9A4-3935-89F3-2B03-369F0BE852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C05970-F22A-CB2F-F3D9-8EF587AB2976}"/>
              </a:ext>
            </a:extLst>
          </p:cNvPr>
          <p:cNvSpPr>
            <a:spLocks noGrp="1"/>
          </p:cNvSpPr>
          <p:nvPr>
            <p:ph type="body" idx="1"/>
          </p:nvPr>
        </p:nvSpPr>
        <p:spPr/>
        <p:txBody>
          <a:bodyPr/>
          <a:lstStyle/>
          <a:p>
            <a:pPr>
              <a:lnSpc>
                <a:spcPct val="107000"/>
              </a:lnSpc>
              <a:spcBef>
                <a:spcPts val="800"/>
              </a:spcBef>
              <a:spcAft>
                <a:spcPts val="400"/>
              </a:spcAft>
            </a:pPr>
            <a:r>
              <a:rPr lang="en-US"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2: Deconstruct the Problem (5 Minutes)</a:t>
            </a:r>
            <a:endParaRPr lang="en-BG"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07000"/>
              </a:lnSpc>
              <a:spcBef>
                <a:spcPts val="800"/>
              </a:spcBef>
              <a:spcAft>
                <a:spcPts val="400"/>
              </a:spcAft>
            </a:pPr>
            <a:r>
              <a:rPr lang="en-US"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A </a:t>
            </a:r>
            <a:r>
              <a:rPr lang="en-US" sz="1400" b="1" kern="100" err="1">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prioritised</a:t>
            </a:r>
            <a:r>
              <a:rPr lang="en-US"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 breakdown of the problem’s core constraints and elements.</a:t>
            </a:r>
            <a:endParaRPr lang="en-BG"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100" kern="100">
                <a:effectLst/>
                <a:latin typeface="Aptos" panose="020B0004020202020204" pitchFamily="34" charset="0"/>
                <a:ea typeface="Aptos" panose="020B0004020202020204" pitchFamily="34" charset="0"/>
                <a:cs typeface="Times New Roman" panose="02020603050405020304" pitchFamily="18" charset="0"/>
              </a:rPr>
              <a:t> </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Action 1:  First Principles Thinking</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do we know to be absolutely true about this problem?</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are the foundational facts we can build upon?</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If we ignored conventional approaches, how would we approach this from scratch?</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Are we making any assumptions that we haven’t validated?</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Action 2: Theory of Constraints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is the single biggest bottleneck preventing progress?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Which part of the process or system is slowing everything else down?</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If we addressed this one constraint, how much of the problem would improve?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Is this constraint internal (within our control) or external (outside our control)?</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Action 3: Law of Subtraction</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can we remove or stop doing that would simplify the problem?</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Are there unnecessary steps, processes, or elements adding complexity?</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would this problem look like if we started with a clean slate?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kern="100">
                <a:effectLst/>
                <a:latin typeface="Aptos" panose="020B0004020202020204" pitchFamily="34" charset="0"/>
                <a:ea typeface="Aptos" panose="020B0004020202020204" pitchFamily="34" charset="0"/>
                <a:cs typeface="Times New Roman" panose="02020603050405020304" pitchFamily="18" charset="0"/>
              </a:rPr>
              <a:t> </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Avoid:</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Overcomplication:</a:t>
            </a:r>
            <a:r>
              <a:rPr lang="en-US" sz="1100" kern="100">
                <a:effectLst/>
                <a:latin typeface="Aptos" panose="020B0004020202020204" pitchFamily="34" charset="0"/>
                <a:ea typeface="Aptos" panose="020B0004020202020204" pitchFamily="34" charset="0"/>
                <a:cs typeface="Times New Roman" panose="02020603050405020304" pitchFamily="18" charset="0"/>
              </a:rPr>
              <a:t> Getting lost in irrelevant details.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Assumption Bias:</a:t>
            </a:r>
            <a:r>
              <a:rPr lang="en-US" sz="1100" kern="100">
                <a:effectLst/>
                <a:latin typeface="Aptos" panose="020B0004020202020204" pitchFamily="34" charset="0"/>
                <a:ea typeface="Aptos" panose="020B0004020202020204" pitchFamily="34" charset="0"/>
                <a:cs typeface="Times New Roman" panose="02020603050405020304" pitchFamily="18" charset="0"/>
              </a:rPr>
              <a:t> Failing to challenge deeply held beliefs.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Distraction:</a:t>
            </a:r>
            <a:r>
              <a:rPr lang="en-US" sz="1100" kern="100">
                <a:effectLst/>
                <a:latin typeface="Aptos" panose="020B0004020202020204" pitchFamily="34" charset="0"/>
                <a:ea typeface="Aptos" panose="020B0004020202020204" pitchFamily="34" charset="0"/>
                <a:cs typeface="Times New Roman" panose="02020603050405020304" pitchFamily="18" charset="0"/>
              </a:rPr>
              <a:t> Allowing the discussion to shift from constraints to minor issues.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endParaRPr lang="en-US" b="0"/>
          </a:p>
        </p:txBody>
      </p:sp>
      <p:sp>
        <p:nvSpPr>
          <p:cNvPr id="4" name="Slide Number Placeholder 3">
            <a:extLst>
              <a:ext uri="{FF2B5EF4-FFF2-40B4-BE49-F238E27FC236}">
                <a16:creationId xmlns:a16="http://schemas.microsoft.com/office/drawing/2014/main" id="{F78C9964-1E0F-2F96-111C-49EA4E1F2512}"/>
              </a:ext>
            </a:extLst>
          </p:cNvPr>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452831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9C6BC-ECE8-ABD7-09DB-2A9DF9AC4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11A27-551C-9783-A4D4-762C673287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7FEFE7-C234-983A-666E-ACEF5D739C33}"/>
              </a:ext>
            </a:extLst>
          </p:cNvPr>
          <p:cNvSpPr>
            <a:spLocks noGrp="1"/>
          </p:cNvSpPr>
          <p:nvPr>
            <p:ph type="body" idx="1"/>
          </p:nvPr>
        </p:nvSpPr>
        <p:spPr/>
        <p:txBody>
          <a:bodyPr/>
          <a:lstStyle/>
          <a:p>
            <a:pPr>
              <a:lnSpc>
                <a:spcPct val="107000"/>
              </a:lnSpc>
              <a:spcBef>
                <a:spcPts val="800"/>
              </a:spcBef>
              <a:spcAft>
                <a:spcPts val="400"/>
              </a:spcAft>
            </a:pPr>
            <a:r>
              <a:rPr lang="en-US"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3: Identify the Root Cause(s) (10 Minutes)</a:t>
            </a:r>
            <a:endParaRPr lang="en-BG"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07000"/>
              </a:lnSpc>
              <a:spcBef>
                <a:spcPts val="800"/>
              </a:spcBef>
              <a:spcAft>
                <a:spcPts val="400"/>
              </a:spcAft>
            </a:pPr>
            <a:r>
              <a:rPr lang="en-US"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A concise statement of the root cause(s).</a:t>
            </a:r>
            <a:endParaRPr lang="en-BG"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100" kern="100">
                <a:effectLst/>
                <a:latin typeface="Aptos" panose="020B0004020202020204" pitchFamily="34" charset="0"/>
                <a:ea typeface="Aptos" panose="020B0004020202020204" pitchFamily="34" charset="0"/>
                <a:cs typeface="Times New Roman" panose="02020603050405020304" pitchFamily="18" charset="0"/>
              </a:rPr>
              <a:t> </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Action 1: the 5 Whys Technique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Why does this issue exist? (Repeat “Why?” for each response.)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directly caused this issue to occur?</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systemic or recurring factor might be driving this problem?</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If this cause were eliminated, would the problem still exist?</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Action 2: 80/20 </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Which 20% of factors are driving 80% of this issue’s impact?</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Are there recurring themes or patterns that explain most of the problem?</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kern="100">
                <a:effectLst/>
                <a:latin typeface="Aptos" panose="020B0004020202020204" pitchFamily="34" charset="0"/>
                <a:ea typeface="Aptos" panose="020B0004020202020204" pitchFamily="34" charset="0"/>
                <a:cs typeface="Times New Roman" panose="02020603050405020304" pitchFamily="18" charset="0"/>
              </a:rPr>
              <a:t> </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kern="100">
                <a:effectLst/>
                <a:latin typeface="Aptos" panose="020B0004020202020204" pitchFamily="34" charset="0"/>
                <a:ea typeface="Aptos" panose="020B0004020202020204" pitchFamily="34" charset="0"/>
                <a:cs typeface="Times New Roman" panose="02020603050405020304" pitchFamily="18" charset="0"/>
              </a:rPr>
              <a:t> </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Avoid:</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Shallow Analysis:</a:t>
            </a:r>
            <a:r>
              <a:rPr lang="en-US" sz="1100" kern="100">
                <a:effectLst/>
                <a:latin typeface="Aptos" panose="020B0004020202020204" pitchFamily="34" charset="0"/>
                <a:ea typeface="Aptos" panose="020B0004020202020204" pitchFamily="34" charset="0"/>
                <a:cs typeface="Times New Roman" panose="02020603050405020304" pitchFamily="18" charset="0"/>
              </a:rPr>
              <a:t> Addressing symptoms rather than the root cause.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Groupthink:</a:t>
            </a:r>
            <a:r>
              <a:rPr lang="en-US" sz="1100" kern="100">
                <a:effectLst/>
                <a:latin typeface="Aptos" panose="020B0004020202020204" pitchFamily="34" charset="0"/>
                <a:ea typeface="Aptos" panose="020B0004020202020204" pitchFamily="34" charset="0"/>
                <a:cs typeface="Times New Roman" panose="02020603050405020304" pitchFamily="18" charset="0"/>
              </a:rPr>
              <a:t> Letting dominant voices lead without challenge.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Data Neglect:</a:t>
            </a:r>
            <a:r>
              <a:rPr lang="en-US" sz="1100" kern="100">
                <a:effectLst/>
                <a:latin typeface="Aptos" panose="020B0004020202020204" pitchFamily="34" charset="0"/>
                <a:ea typeface="Aptos" panose="020B0004020202020204" pitchFamily="34" charset="0"/>
                <a:cs typeface="Times New Roman" panose="02020603050405020304" pitchFamily="18" charset="0"/>
              </a:rPr>
              <a:t> Ignoring evidence that contradicts initial assumptions.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Bef>
                <a:spcPts val="800"/>
              </a:spcBef>
              <a:spcAft>
                <a:spcPts val="400"/>
              </a:spcAft>
            </a:pPr>
            <a:r>
              <a:rPr lang="en-US"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a:t>
            </a:r>
            <a:endParaRPr lang="en-BG"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endParaRPr lang="en-US" b="0"/>
          </a:p>
        </p:txBody>
      </p:sp>
      <p:sp>
        <p:nvSpPr>
          <p:cNvPr id="4" name="Slide Number Placeholder 3">
            <a:extLst>
              <a:ext uri="{FF2B5EF4-FFF2-40B4-BE49-F238E27FC236}">
                <a16:creationId xmlns:a16="http://schemas.microsoft.com/office/drawing/2014/main" id="{BB419E89-B9CE-24E4-3324-A2606ABA6BBF}"/>
              </a:ext>
            </a:extLst>
          </p:cNvPr>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628743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Bef>
                <a:spcPts val="800"/>
              </a:spcBef>
              <a:spcAft>
                <a:spcPts val="400"/>
              </a:spcAft>
            </a:pPr>
            <a:r>
              <a:rPr lang="en-US" sz="18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3: Identify the Root Cause(s) (10 Minutes)</a:t>
            </a:r>
            <a:endParaRPr lang="en-BG" sz="18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07000"/>
              </a:lnSpc>
              <a:spcBef>
                <a:spcPts val="800"/>
              </a:spcBef>
              <a:spcAft>
                <a:spcPts val="400"/>
              </a:spcAft>
            </a:pPr>
            <a:r>
              <a:rPr lang="en-US" sz="16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A concise statement of the root cause(s).</a:t>
            </a:r>
            <a:endParaRPr lang="en-BG" sz="16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200" kern="100">
                <a:effectLst/>
                <a:latin typeface="Aptos" panose="020B0004020202020204" pitchFamily="34" charset="0"/>
                <a:ea typeface="Aptos" panose="020B0004020202020204" pitchFamily="34" charset="0"/>
                <a:cs typeface="Times New Roman" panose="02020603050405020304" pitchFamily="18" charset="0"/>
              </a:rPr>
              <a:t> </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200" b="1" kern="100">
                <a:effectLst/>
                <a:latin typeface="Aptos" panose="020B0004020202020204" pitchFamily="34" charset="0"/>
                <a:ea typeface="Aptos" panose="020B0004020202020204" pitchFamily="34" charset="0"/>
                <a:cs typeface="Times New Roman" panose="02020603050405020304" pitchFamily="18" charset="0"/>
              </a:rPr>
              <a:t>Action 1: the 5 Whys Technique</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200" kern="100">
                <a:effectLst/>
                <a:latin typeface="Aptos" panose="020B0004020202020204" pitchFamily="34" charset="0"/>
                <a:ea typeface="Aptos" panose="020B0004020202020204" pitchFamily="34" charset="0"/>
                <a:cs typeface="Times New Roman" panose="02020603050405020304" pitchFamily="18" charset="0"/>
              </a:rPr>
              <a:t>Why does this issue exist? (Repeat “Why?” for each response.)</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200" kern="100">
                <a:effectLst/>
                <a:latin typeface="Aptos" panose="020B0004020202020204" pitchFamily="34" charset="0"/>
                <a:ea typeface="Aptos" panose="020B0004020202020204" pitchFamily="34" charset="0"/>
                <a:cs typeface="Times New Roman" panose="02020603050405020304" pitchFamily="18" charset="0"/>
              </a:rPr>
              <a:t>What directly caused this issue to occur?</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200" kern="100">
                <a:effectLst/>
                <a:latin typeface="Aptos" panose="020B0004020202020204" pitchFamily="34" charset="0"/>
                <a:ea typeface="Aptos" panose="020B0004020202020204" pitchFamily="34" charset="0"/>
                <a:cs typeface="Times New Roman" panose="02020603050405020304" pitchFamily="18" charset="0"/>
              </a:rPr>
              <a:t>What systemic or recurring factor might be driving this problem?</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Arial" panose="020B0604020202020204" pitchFamily="34" charset="0"/>
              <a:buChar char="•"/>
              <a:tabLst>
                <a:tab pos="457200" algn="l"/>
              </a:tabLst>
            </a:pPr>
            <a:r>
              <a:rPr lang="en-US" sz="1200" kern="100">
                <a:effectLst/>
                <a:latin typeface="Aptos" panose="020B0004020202020204" pitchFamily="34" charset="0"/>
                <a:ea typeface="Aptos" panose="020B0004020202020204" pitchFamily="34" charset="0"/>
                <a:cs typeface="Times New Roman" panose="02020603050405020304" pitchFamily="18" charset="0"/>
              </a:rPr>
              <a:t>If this cause were eliminated, would the problem still exist?</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200" b="1" kern="100">
                <a:effectLst/>
                <a:latin typeface="Aptos" panose="020B0004020202020204" pitchFamily="34" charset="0"/>
                <a:ea typeface="Aptos" panose="020B0004020202020204" pitchFamily="34" charset="0"/>
                <a:cs typeface="Times New Roman" panose="02020603050405020304" pitchFamily="18" charset="0"/>
              </a:rPr>
              <a:t>Action 2: 80/20 </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200" kern="100">
                <a:effectLst/>
                <a:latin typeface="Aptos" panose="020B0004020202020204" pitchFamily="34" charset="0"/>
                <a:ea typeface="Aptos" panose="020B0004020202020204" pitchFamily="34" charset="0"/>
                <a:cs typeface="Times New Roman" panose="02020603050405020304" pitchFamily="18" charset="0"/>
              </a:rPr>
              <a:t>Which 20% of factors are driving 80% of this issue’s impact?</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200" kern="100">
                <a:effectLst/>
                <a:latin typeface="Aptos" panose="020B0004020202020204" pitchFamily="34" charset="0"/>
                <a:ea typeface="Aptos" panose="020B0004020202020204" pitchFamily="34" charset="0"/>
                <a:cs typeface="Times New Roman" panose="02020603050405020304" pitchFamily="18" charset="0"/>
              </a:rPr>
              <a:t>Are there recurring themes or patterns that explain most of the problem?</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200" kern="100">
                <a:effectLst/>
                <a:latin typeface="Aptos" panose="020B0004020202020204" pitchFamily="34" charset="0"/>
                <a:ea typeface="Aptos" panose="020B0004020202020204" pitchFamily="34" charset="0"/>
                <a:cs typeface="Times New Roman" panose="02020603050405020304" pitchFamily="18" charset="0"/>
              </a:rPr>
              <a:t> </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200" b="1" kern="100">
                <a:effectLst/>
                <a:latin typeface="Aptos" panose="020B0004020202020204" pitchFamily="34" charset="0"/>
                <a:ea typeface="Aptos" panose="020B0004020202020204" pitchFamily="34" charset="0"/>
                <a:cs typeface="Times New Roman" panose="02020603050405020304" pitchFamily="18" charset="0"/>
              </a:rPr>
              <a:t>Avoid:</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200" b="1" kern="100">
                <a:effectLst/>
                <a:latin typeface="Aptos" panose="020B0004020202020204" pitchFamily="34" charset="0"/>
                <a:ea typeface="Aptos" panose="020B0004020202020204" pitchFamily="34" charset="0"/>
                <a:cs typeface="Times New Roman" panose="02020603050405020304" pitchFamily="18" charset="0"/>
              </a:rPr>
              <a:t>Shallow Analysis:</a:t>
            </a:r>
            <a:r>
              <a:rPr lang="en-US" sz="1200" kern="100">
                <a:effectLst/>
                <a:latin typeface="Aptos" panose="020B0004020202020204" pitchFamily="34" charset="0"/>
                <a:ea typeface="Aptos" panose="020B0004020202020204" pitchFamily="34" charset="0"/>
                <a:cs typeface="Times New Roman" panose="02020603050405020304" pitchFamily="18" charset="0"/>
              </a:rPr>
              <a:t> Addressing symptoms rather than the root cause.</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200" b="1" kern="100">
                <a:effectLst/>
                <a:latin typeface="Aptos" panose="020B0004020202020204" pitchFamily="34" charset="0"/>
                <a:ea typeface="Aptos" panose="020B0004020202020204" pitchFamily="34" charset="0"/>
                <a:cs typeface="Times New Roman" panose="02020603050405020304" pitchFamily="18" charset="0"/>
              </a:rPr>
              <a:t>Groupthink:</a:t>
            </a:r>
            <a:r>
              <a:rPr lang="en-US" sz="1200" kern="100">
                <a:effectLst/>
                <a:latin typeface="Aptos" panose="020B0004020202020204" pitchFamily="34" charset="0"/>
                <a:ea typeface="Aptos" panose="020B0004020202020204" pitchFamily="34" charset="0"/>
                <a:cs typeface="Times New Roman" panose="02020603050405020304" pitchFamily="18" charset="0"/>
              </a:rPr>
              <a:t> Letting dominant voices lead without challenge.</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200" b="1" kern="100">
                <a:effectLst/>
                <a:latin typeface="Aptos" panose="020B0004020202020204" pitchFamily="34" charset="0"/>
                <a:ea typeface="Aptos" panose="020B0004020202020204" pitchFamily="34" charset="0"/>
                <a:cs typeface="Times New Roman" panose="02020603050405020304" pitchFamily="18" charset="0"/>
              </a:rPr>
              <a:t>Data Neglect:</a:t>
            </a:r>
            <a:r>
              <a:rPr lang="en-US" sz="1200" kern="100">
                <a:effectLst/>
                <a:latin typeface="Aptos" panose="020B0004020202020204" pitchFamily="34" charset="0"/>
                <a:ea typeface="Aptos" panose="020B0004020202020204" pitchFamily="34" charset="0"/>
                <a:cs typeface="Times New Roman" panose="02020603050405020304" pitchFamily="18" charset="0"/>
              </a:rPr>
              <a:t> Ignoring evidence that contradicts initial assumptions.</a:t>
            </a:r>
            <a:endParaRPr lang="en-BG" sz="12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Bef>
                <a:spcPts val="800"/>
              </a:spcBef>
              <a:spcAft>
                <a:spcPts val="400"/>
              </a:spcAft>
            </a:pPr>
            <a:r>
              <a:rPr lang="en-US" sz="18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a:t>
            </a:r>
            <a:endParaRPr lang="en-BG" sz="18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endParaRPr lang="en-US" b="0"/>
          </a:p>
          <a:p>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4</a:t>
            </a:fld>
            <a:endParaRPr lang="en-US"/>
          </a:p>
        </p:txBody>
      </p:sp>
    </p:spTree>
    <p:extLst>
      <p:ext uri="{BB962C8B-B14F-4D97-AF65-F5344CB8AC3E}">
        <p14:creationId xmlns:p14="http://schemas.microsoft.com/office/powerpoint/2010/main" val="3116001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E42BE-98E2-6084-6A4D-F207B40182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332B2-45C6-FFA7-8272-1D441F73D9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B741D-4D5B-997D-4815-F280EAD3022A}"/>
              </a:ext>
            </a:extLst>
          </p:cNvPr>
          <p:cNvSpPr>
            <a:spLocks noGrp="1"/>
          </p:cNvSpPr>
          <p:nvPr>
            <p:ph type="body" idx="1"/>
          </p:nvPr>
        </p:nvSpPr>
        <p:spPr/>
        <p:txBody>
          <a:bodyPr/>
          <a:lstStyle/>
          <a:p>
            <a:pPr>
              <a:lnSpc>
                <a:spcPct val="107000"/>
              </a:lnSpc>
              <a:spcBef>
                <a:spcPts val="800"/>
              </a:spcBef>
              <a:spcAft>
                <a:spcPts val="400"/>
              </a:spcAft>
            </a:pPr>
            <a:r>
              <a:rPr lang="en-US"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4: Generate High-Impact Solutions (7 Minutes)</a:t>
            </a:r>
            <a:endParaRPr lang="en-BG"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07000"/>
              </a:lnSpc>
              <a:spcBef>
                <a:spcPts val="800"/>
              </a:spcBef>
              <a:spcAft>
                <a:spcPts val="400"/>
              </a:spcAft>
            </a:pPr>
            <a:r>
              <a:rPr lang="en-US"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A shortlist of 2-3 prioritized, actionable solutions</a:t>
            </a:r>
            <a:endParaRPr lang="en-BG"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100" kern="100">
                <a:effectLst/>
                <a:latin typeface="Aptos" panose="020B0004020202020204" pitchFamily="34" charset="0"/>
                <a:ea typeface="Aptos" panose="020B0004020202020204" pitchFamily="34" charset="0"/>
                <a:cs typeface="Times New Roman" panose="02020603050405020304" pitchFamily="18" charset="0"/>
              </a:rPr>
              <a:t> </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brainstorm solutions that directly address the bottleneck or root cause(s).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apply impact/easy.</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Law of Subtraction</a:t>
            </a:r>
            <a:r>
              <a:rPr lang="en-US" sz="1100" kern="100">
                <a:effectLst/>
                <a:latin typeface="Aptos" panose="020B0004020202020204" pitchFamily="34" charset="0"/>
                <a:ea typeface="Aptos" panose="020B0004020202020204" pitchFamily="34" charset="0"/>
                <a:cs typeface="Times New Roman" panose="02020603050405020304" pitchFamily="18" charset="0"/>
              </a:rPr>
              <a:t>: Eliminate unnecessary steps in proposed solutions.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steps or actions can we remove to make the solution simpler and more direct?</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Are there unnecessary features, processes, or steps in our proposed solutions?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is the minimum viable solution that still effectively addresses the root cause?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How can we design the solution to require fewer resources or dependencies?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rabicPeriod" startAt="4"/>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Confirm the solution </a:t>
            </a:r>
            <a:r>
              <a:rPr lang="en-US" sz="1100" b="1" kern="100">
                <a:effectLst/>
                <a:latin typeface="Aptos" panose="020B0004020202020204" pitchFamily="34" charset="0"/>
                <a:ea typeface="Aptos" panose="020B0004020202020204" pitchFamily="34" charset="0"/>
                <a:cs typeface="Times New Roman" panose="02020603050405020304" pitchFamily="18" charset="0"/>
              </a:rPr>
              <a:t>can b</a:t>
            </a:r>
            <a:r>
              <a:rPr lang="en-US" sz="1100" kern="100">
                <a:effectLst/>
                <a:latin typeface="Aptos" panose="020B0004020202020204" pitchFamily="34" charset="0"/>
                <a:ea typeface="Aptos" panose="020B0004020202020204" pitchFamily="34" charset="0"/>
                <a:cs typeface="Times New Roman" panose="02020603050405020304" pitchFamily="18" charset="0"/>
              </a:rPr>
              <a:t>e implemented with existing resources.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Can this solution be implemented immediately with the resources we have?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is the cost (time, money, effort) of implementing this solution, and does the expected impact justify it?</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Do we have the skills, tools, or capacity needed to execute this solution?</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Are there any quick wins or low-hanging fruit we can tackle right now?</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Avoid:</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Overloading:</a:t>
            </a:r>
            <a:r>
              <a:rPr lang="en-US" sz="1100" kern="100">
                <a:effectLst/>
                <a:latin typeface="Aptos" panose="020B0004020202020204" pitchFamily="34" charset="0"/>
                <a:ea typeface="Aptos" panose="020B0004020202020204" pitchFamily="34" charset="0"/>
                <a:cs typeface="Times New Roman" panose="02020603050405020304" pitchFamily="18" charset="0"/>
              </a:rPr>
              <a:t> Proposing too many solutions, leading to indecision.</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Overengineering:</a:t>
            </a:r>
            <a:r>
              <a:rPr lang="en-US" sz="1100" kern="100">
                <a:effectLst/>
                <a:latin typeface="Aptos" panose="020B0004020202020204" pitchFamily="34" charset="0"/>
                <a:ea typeface="Aptos" panose="020B0004020202020204" pitchFamily="34" charset="0"/>
                <a:cs typeface="Times New Roman" panose="02020603050405020304" pitchFamily="18" charset="0"/>
              </a:rPr>
              <a:t> Creating overly complex or resource-intensive ideas.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Ignoring Constraints:</a:t>
            </a:r>
            <a:r>
              <a:rPr lang="en-US" sz="1100" kern="100">
                <a:effectLst/>
                <a:latin typeface="Aptos" panose="020B0004020202020204" pitchFamily="34" charset="0"/>
                <a:ea typeface="Aptos" panose="020B0004020202020204" pitchFamily="34" charset="0"/>
                <a:cs typeface="Times New Roman" panose="02020603050405020304" pitchFamily="18" charset="0"/>
              </a:rPr>
              <a:t> Suggesting solutions that don’t address the bottleneck.</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DDB8C52-D97D-0DE5-4E45-53E901BD0C14}"/>
              </a:ext>
            </a:extLst>
          </p:cNvPr>
          <p:cNvSpPr>
            <a:spLocks noGrp="1"/>
          </p:cNvSpPr>
          <p:nvPr>
            <p:ph type="sldNum" sz="quarter" idx="5"/>
          </p:nvPr>
        </p:nvSpPr>
        <p:spPr/>
        <p:txBody>
          <a:bodyPr/>
          <a:lstStyle/>
          <a:p>
            <a:pPr>
              <a:defRPr/>
            </a:pPr>
            <a:fld id="{D1F6A1A1-8B93-49C9-AFC7-D0DF50B75203}" type="slidenum">
              <a:rPr lang="en-US" smtClean="0"/>
              <a:pPr>
                <a:defRPr/>
              </a:pPr>
              <a:t>5</a:t>
            </a:fld>
            <a:endParaRPr lang="en-US"/>
          </a:p>
        </p:txBody>
      </p:sp>
    </p:spTree>
    <p:extLst>
      <p:ext uri="{BB962C8B-B14F-4D97-AF65-F5344CB8AC3E}">
        <p14:creationId xmlns:p14="http://schemas.microsoft.com/office/powerpoint/2010/main" val="3375107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02D6B-7F53-02B2-9CC2-7C1B3490BB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45679-D4F8-81B6-1157-21D554150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9AF9BF-2E89-F104-AE42-3114C422F37F}"/>
              </a:ext>
            </a:extLst>
          </p:cNvPr>
          <p:cNvSpPr>
            <a:spLocks noGrp="1"/>
          </p:cNvSpPr>
          <p:nvPr>
            <p:ph type="body" idx="1"/>
          </p:nvPr>
        </p:nvSpPr>
        <p:spPr/>
        <p:txBody>
          <a:bodyPr/>
          <a:lstStyle/>
          <a:p>
            <a:pPr>
              <a:lnSpc>
                <a:spcPct val="107000"/>
              </a:lnSpc>
              <a:spcBef>
                <a:spcPts val="800"/>
              </a:spcBef>
              <a:spcAft>
                <a:spcPts val="400"/>
              </a:spcAft>
            </a:pPr>
            <a:r>
              <a:rPr lang="en-US"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4: Generate High-Impact Solutions (7 Minutes)</a:t>
            </a:r>
            <a:endParaRPr lang="en-BG"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07000"/>
              </a:lnSpc>
              <a:spcBef>
                <a:spcPts val="800"/>
              </a:spcBef>
              <a:spcAft>
                <a:spcPts val="400"/>
              </a:spcAft>
            </a:pPr>
            <a:r>
              <a:rPr lang="en-US"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rPr>
              <a:t>A shortlist of 2-3 prioritized, actionable solutions</a:t>
            </a:r>
            <a:endParaRPr lang="en-BG" sz="1400" b="1" kern="100">
              <a:solidFill>
                <a:srgbClr val="0F4761"/>
              </a:solidFill>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100" kern="100">
                <a:effectLst/>
                <a:latin typeface="Aptos" panose="020B0004020202020204" pitchFamily="34" charset="0"/>
                <a:ea typeface="Aptos" panose="020B0004020202020204" pitchFamily="34" charset="0"/>
                <a:cs typeface="Times New Roman" panose="02020603050405020304" pitchFamily="18" charset="0"/>
              </a:rPr>
              <a:t> </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brainstorm solutions that directly address the bottleneck or root cause(s).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apply impact/easy.</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Law of Subtraction</a:t>
            </a:r>
            <a:r>
              <a:rPr lang="en-US" sz="1100" kern="100">
                <a:effectLst/>
                <a:latin typeface="Aptos" panose="020B0004020202020204" pitchFamily="34" charset="0"/>
                <a:ea typeface="Aptos" panose="020B0004020202020204" pitchFamily="34" charset="0"/>
                <a:cs typeface="Times New Roman" panose="02020603050405020304" pitchFamily="18" charset="0"/>
              </a:rPr>
              <a:t>: Eliminate unnecessary steps in proposed solutions.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steps or actions can we remove to make the solution simpler and more direct?</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Are there unnecessary features, processes, or steps in our proposed solutions?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is the minimum viable solution that still effectively addresses the root cause?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How can we design the solution to require fewer resources or dependencies?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rabicPeriod" startAt="4"/>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Confirm the solution </a:t>
            </a:r>
            <a:r>
              <a:rPr lang="en-US" sz="1100" b="1" kern="100">
                <a:effectLst/>
                <a:latin typeface="Aptos" panose="020B0004020202020204" pitchFamily="34" charset="0"/>
                <a:ea typeface="Aptos" panose="020B0004020202020204" pitchFamily="34" charset="0"/>
                <a:cs typeface="Times New Roman" panose="02020603050405020304" pitchFamily="18" charset="0"/>
              </a:rPr>
              <a:t>can b</a:t>
            </a:r>
            <a:r>
              <a:rPr lang="en-US" sz="1100" kern="100">
                <a:effectLst/>
                <a:latin typeface="Aptos" panose="020B0004020202020204" pitchFamily="34" charset="0"/>
                <a:ea typeface="Aptos" panose="020B0004020202020204" pitchFamily="34" charset="0"/>
                <a:cs typeface="Times New Roman" panose="02020603050405020304" pitchFamily="18" charset="0"/>
              </a:rPr>
              <a:t>e implemented with existing resources.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Can this solution be implemented immediately with the resources we have?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What is the cost (time, money, effort) of implementing this solution, and does the expected impact justify it?</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Do we have the skills, tools, or capacity needed to execute this solution?</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1143000" lvl="2" indent="-228600">
              <a:lnSpc>
                <a:spcPct val="107000"/>
              </a:lnSpc>
              <a:spcAft>
                <a:spcPts val="800"/>
              </a:spcAft>
              <a:buSzPts val="1000"/>
              <a:buFont typeface="Wingdings" pitchFamily="2" charset="2"/>
              <a:buChar char=""/>
              <a:tabLst>
                <a:tab pos="13716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Are there any quick wins or low-hanging fruit we can tackle right now?</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Avoid:</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Overloading:</a:t>
            </a:r>
            <a:r>
              <a:rPr lang="en-US" sz="1100" kern="100">
                <a:effectLst/>
                <a:latin typeface="Aptos" panose="020B0004020202020204" pitchFamily="34" charset="0"/>
                <a:ea typeface="Aptos" panose="020B0004020202020204" pitchFamily="34" charset="0"/>
                <a:cs typeface="Times New Roman" panose="02020603050405020304" pitchFamily="18" charset="0"/>
              </a:rPr>
              <a:t> Proposing too many solutions, leading to indecision.</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Overengineering:</a:t>
            </a:r>
            <a:r>
              <a:rPr lang="en-US" sz="1100" kern="100">
                <a:effectLst/>
                <a:latin typeface="Aptos" panose="020B0004020202020204" pitchFamily="34" charset="0"/>
                <a:ea typeface="Aptos" panose="020B0004020202020204" pitchFamily="34" charset="0"/>
                <a:cs typeface="Times New Roman" panose="02020603050405020304" pitchFamily="18" charset="0"/>
              </a:rPr>
              <a:t> Creating overly complex or resource-intensive ideas.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Ignoring Constraints:</a:t>
            </a:r>
            <a:r>
              <a:rPr lang="en-US" sz="1100" kern="100">
                <a:effectLst/>
                <a:latin typeface="Aptos" panose="020B0004020202020204" pitchFamily="34" charset="0"/>
                <a:ea typeface="Aptos" panose="020B0004020202020204" pitchFamily="34" charset="0"/>
                <a:cs typeface="Times New Roman" panose="02020603050405020304" pitchFamily="18" charset="0"/>
              </a:rPr>
              <a:t> Suggesting solutions that don’t address the bottleneck.</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86C7A94-BB7E-CA8F-77BD-EA839F87AAF0}"/>
              </a:ext>
            </a:extLst>
          </p:cNvPr>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6</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93840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F0988-0AFD-5572-E7C0-B006A6066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EE328-4986-2812-726A-9E48C8E5E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57E2F-6151-6B53-2D9C-54088B6CA16C}"/>
              </a:ext>
            </a:extLst>
          </p:cNvPr>
          <p:cNvSpPr>
            <a:spLocks noGrp="1"/>
          </p:cNvSpPr>
          <p:nvPr>
            <p:ph type="body" idx="1"/>
          </p:nvPr>
        </p:nvSpPr>
        <p:spPr/>
        <p:txBody>
          <a:bodyPr/>
          <a:lstStyle/>
          <a:p>
            <a:pPr>
              <a:lnSpc>
                <a:spcPct val="107000"/>
              </a:lnSpc>
              <a:spcBef>
                <a:spcPts val="800"/>
              </a:spcBef>
              <a:spcAft>
                <a:spcPts val="400"/>
              </a:spcAft>
            </a:pPr>
            <a:r>
              <a:rPr lang="en-US"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Step 5: WWW</a:t>
            </a:r>
            <a:endParaRPr lang="en-BG" sz="1600" b="1" kern="10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Identify the top three next steps.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Assign responsibility for each action.</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Font typeface="+mj-lt"/>
              <a:buAutoNum type="arabicPeriod"/>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Define KPIs  and set a follow-up timeline.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endParaRPr lang="en-US" sz="1100" b="1" kern="10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spcAft>
                <a:spcPts val="800"/>
              </a:spcAft>
            </a:pPr>
            <a:r>
              <a:rPr lang="en-US" sz="1100" b="1" kern="100">
                <a:effectLst/>
                <a:latin typeface="Aptos" panose="020B0004020202020204" pitchFamily="34" charset="0"/>
                <a:ea typeface="Aptos" panose="020B0004020202020204" pitchFamily="34" charset="0"/>
                <a:cs typeface="Times New Roman" panose="02020603050405020304" pitchFamily="18" charset="0"/>
              </a:rPr>
              <a:t>Avoid:</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Ambiguity:</a:t>
            </a:r>
            <a:r>
              <a:rPr lang="en-US" sz="1100" kern="100">
                <a:effectLst/>
                <a:latin typeface="Aptos" panose="020B0004020202020204" pitchFamily="34" charset="0"/>
                <a:ea typeface="Aptos" panose="020B0004020202020204" pitchFamily="34" charset="0"/>
                <a:cs typeface="Times New Roman" panose="02020603050405020304" pitchFamily="18" charset="0"/>
              </a:rPr>
              <a:t> Leaving next steps undefined or vague.</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Lack of Ownership:</a:t>
            </a:r>
            <a:r>
              <a:rPr lang="en-US" sz="1100" kern="100">
                <a:effectLst/>
                <a:latin typeface="Aptos" panose="020B0004020202020204" pitchFamily="34" charset="0"/>
                <a:ea typeface="Aptos" panose="020B0004020202020204" pitchFamily="34" charset="0"/>
                <a:cs typeface="Times New Roman" panose="02020603050405020304" pitchFamily="18" charset="0"/>
              </a:rPr>
              <a:t> Failing to assign clear responsibilities.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SzPts val="1000"/>
              <a:buFont typeface="Symbol" pitchFamily="2" charset="2"/>
              <a:buChar char=""/>
              <a:tabLst>
                <a:tab pos="457200" algn="l"/>
              </a:tabLst>
            </a:pPr>
            <a:r>
              <a:rPr lang="en-US" sz="1100" b="1" kern="100">
                <a:effectLst/>
                <a:latin typeface="Aptos" panose="020B0004020202020204" pitchFamily="34" charset="0"/>
                <a:ea typeface="Aptos" panose="020B0004020202020204" pitchFamily="34" charset="0"/>
                <a:cs typeface="Times New Roman" panose="02020603050405020304" pitchFamily="18" charset="0"/>
              </a:rPr>
              <a:t>No Follow-Up:</a:t>
            </a:r>
            <a:r>
              <a:rPr lang="en-US" sz="1100" kern="100">
                <a:effectLst/>
                <a:latin typeface="Aptos" panose="020B0004020202020204" pitchFamily="34" charset="0"/>
                <a:ea typeface="Aptos" panose="020B0004020202020204" pitchFamily="34" charset="0"/>
                <a:cs typeface="Times New Roman" panose="02020603050405020304" pitchFamily="18" charset="0"/>
              </a:rPr>
              <a:t> Neglecting to review progress in future meetings.</a:t>
            </a:r>
            <a:endParaRPr lang="en-BG" sz="1100" kern="100">
              <a:effectLst/>
              <a:latin typeface="Aptos" panose="020B0004020202020204" pitchFamily="34" charset="0"/>
              <a:ea typeface="Aptos" panose="020B0004020202020204" pitchFamily="34" charset="0"/>
              <a:cs typeface="Times New Roman" panose="02020603050405020304" pitchFamily="18" charset="0"/>
            </a:endParaRPr>
          </a:p>
          <a:p>
            <a:endParaRPr lang="en-US" b="0"/>
          </a:p>
        </p:txBody>
      </p:sp>
      <p:sp>
        <p:nvSpPr>
          <p:cNvPr id="4" name="Slide Number Placeholder 3">
            <a:extLst>
              <a:ext uri="{FF2B5EF4-FFF2-40B4-BE49-F238E27FC236}">
                <a16:creationId xmlns:a16="http://schemas.microsoft.com/office/drawing/2014/main" id="{60C50CD5-F916-8EA8-8B67-7A7C561D62A8}"/>
              </a:ext>
            </a:extLst>
          </p:cNvPr>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7</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728098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338804870"/>
              </p:ext>
            </p:extLst>
          </p:nvPr>
        </p:nvGraphicFramePr>
        <p:xfrm>
          <a:off x="276084" y="729013"/>
          <a:ext cx="9649794" cy="6445510"/>
        </p:xfrm>
        <a:graphic>
          <a:graphicData uri="http://schemas.openxmlformats.org/drawingml/2006/table">
            <a:tbl>
              <a:tblPr firstRow="1" bandRow="1">
                <a:tableStyleId>{2D5ABB26-0587-4C30-8999-92F81FD0307C}</a:tableStyleId>
              </a:tblPr>
              <a:tblGrid>
                <a:gridCol w="2127482">
                  <a:extLst>
                    <a:ext uri="{9D8B030D-6E8A-4147-A177-3AD203B41FA5}">
                      <a16:colId xmlns:a16="http://schemas.microsoft.com/office/drawing/2014/main" val="3308902235"/>
                    </a:ext>
                  </a:extLst>
                </a:gridCol>
                <a:gridCol w="7522312">
                  <a:extLst>
                    <a:ext uri="{9D8B030D-6E8A-4147-A177-3AD203B41FA5}">
                      <a16:colId xmlns:a16="http://schemas.microsoft.com/office/drawing/2014/main" val="3313590318"/>
                    </a:ext>
                  </a:extLst>
                </a:gridCol>
              </a:tblGrid>
              <a:tr h="471743">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1" i="0">
                          <a:solidFill>
                            <a:schemeClr val="bg1"/>
                          </a:solidFill>
                          <a:latin typeface="Arial"/>
                          <a:ea typeface="Riforma LL" panose="020B0504020101020102" pitchFamily="34" charset="77"/>
                          <a:cs typeface="Arial"/>
                        </a:rPr>
                        <a:t>GUIDING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21833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latin typeface="Arial"/>
                          <a:ea typeface="Riforma LL" panose="020B0504020101020102" pitchFamily="34" charset="77"/>
                          <a:cs typeface="Arial"/>
                        </a:rPr>
                        <a:t>1.  What is the issue at its most basic level?</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r>
                        <a:rPr lang="en-US" sz="1400" b="0" i="0" u="none" strike="noStrike" noProof="0">
                          <a:latin typeface="Calibri"/>
                          <a:cs typeface="Calibri"/>
                        </a:rPr>
                        <a:t>The BMW Service Advisors can not deliver good services to our customers.</a:t>
                      </a:r>
                      <a:endParaRPr lang="en-US" sz="1400" b="0" i="0" u="none" strike="noStrike" noProof="0">
                        <a:latin typeface="Calibri" panose="020F0502020204030204" pitchFamily="34" charset="0"/>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176854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latin typeface="Arial"/>
                          <a:ea typeface="Riforma LL" panose="020B0504020101020102" pitchFamily="34" charset="77"/>
                          <a:cs typeface="Arial"/>
                        </a:rPr>
                        <a:t>2. If we had to explain this problem to a 10-year-old, how would we phrase it?</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latinLnBrk="0" hangingPunct="1">
                        <a:lnSpc>
                          <a:spcPct val="100000"/>
                        </a:lnSpc>
                        <a:spcBef>
                          <a:spcPts val="0"/>
                        </a:spcBef>
                        <a:spcAft>
                          <a:spcPts val="0"/>
                        </a:spcAft>
                        <a:buNone/>
                      </a:pPr>
                      <a:r>
                        <a:rPr lang="en-US" sz="1400" b="0" i="0" u="none" strike="noStrike" kern="1200" noProof="0">
                          <a:solidFill>
                            <a:schemeClr val="tx1"/>
                          </a:solidFill>
                          <a:latin typeface="Calibri"/>
                          <a:ea typeface="+mn-ea"/>
                          <a:cs typeface="Calibri"/>
                        </a:rPr>
                        <a:t>The customer does not get a timely call about the status and delivery time of his car, does not get a recall when due parts arrive, does not get a call back to check if all is ok within 48 hours of the car delivery, is not well explained the quote and invoice he gets, does not get his car on the </a:t>
                      </a:r>
                      <a:r>
                        <a:rPr lang="en-US" sz="1400" b="0" i="0" u="none" strike="noStrike" kern="1200" noProof="0" err="1">
                          <a:solidFill>
                            <a:schemeClr val="tx1"/>
                          </a:solidFill>
                          <a:latin typeface="Calibri"/>
                          <a:ea typeface="+mn-ea"/>
                          <a:cs typeface="Calibri"/>
                        </a:rPr>
                        <a:t>promissed</a:t>
                      </a:r>
                      <a:r>
                        <a:rPr lang="en-US" sz="1400" b="0" i="0" u="none" strike="noStrike" kern="1200" noProof="0">
                          <a:solidFill>
                            <a:schemeClr val="tx1"/>
                          </a:solidFill>
                          <a:latin typeface="Calibri"/>
                          <a:ea typeface="+mn-ea"/>
                          <a:cs typeface="Calibri"/>
                        </a:rPr>
                        <a:t> delivery time.</a:t>
                      </a:r>
                      <a:endParaRPr lang="en-US" sz="1400" b="0" i="0" u="none" strike="noStrike" kern="1200" noProof="0">
                        <a:solidFill>
                          <a:schemeClr val="tx1"/>
                        </a:solidFill>
                        <a:latin typeface="Calibri" panose="020F0502020204030204" pitchFamily="34" charset="0"/>
                        <a:ea typeface="+mn-ea"/>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5863688"/>
                  </a:ext>
                </a:extLst>
              </a:tr>
              <a:tr h="149344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latin typeface="Arial"/>
                          <a:ea typeface="Riforma LL" panose="020B0504020101020102" pitchFamily="34" charset="77"/>
                          <a:cs typeface="Arial"/>
                        </a:rPr>
                        <a:t>3. Why is this issue the most important thing to address now?</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u="none" strike="noStrike" kern="1200" noProof="0">
                          <a:solidFill>
                            <a:schemeClr val="tx1"/>
                          </a:solidFill>
                          <a:latin typeface="Calibri"/>
                          <a:ea typeface="+mn-ea"/>
                          <a:cs typeface="Calibri"/>
                        </a:rPr>
                        <a:t>Customers are not happy about the AFS services, it is damaging the brand and company image and negatively affecting the sales of new cars.</a:t>
                      </a:r>
                      <a:endParaRPr lang="en-US" sz="1400" b="0" i="0" u="none" strike="noStrike" kern="1200" noProof="0">
                        <a:solidFill>
                          <a:schemeClr val="tx1"/>
                        </a:solidFill>
                        <a:latin typeface="Calibri" panose="020F0502020204030204" pitchFamily="34" charset="0"/>
                        <a:ea typeface="+mn-ea"/>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5844164"/>
                  </a:ext>
                </a:extLst>
              </a:tr>
              <a:tr h="149344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latin typeface="Arial"/>
                          <a:ea typeface="Riforma LL" panose="020B0504020101020102" pitchFamily="34" charset="77"/>
                          <a:cs typeface="Arial"/>
                        </a:rPr>
                        <a:t>4. </a:t>
                      </a:r>
                      <a:r>
                        <a:rPr lang="en-US" sz="1400" b="0" i="0">
                          <a:latin typeface="Arial" panose="020B0604020202020204" pitchFamily="34" charset="0"/>
                          <a:ea typeface="Riforma LL" panose="020B0504020101020102" pitchFamily="34" charset="77"/>
                          <a:cs typeface="Arial" panose="020B0604020202020204" pitchFamily="34" charset="0"/>
                        </a:rPr>
                        <a:t>What measurable outcome defines success?</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u="none" strike="noStrike" kern="1200" noProof="0">
                          <a:solidFill>
                            <a:schemeClr val="tx1"/>
                          </a:solidFill>
                          <a:latin typeface="Calibri"/>
                          <a:ea typeface="+mn-ea"/>
                          <a:cs typeface="Calibri"/>
                        </a:rPr>
                        <a:t>No or hardly any customer complaints + a NPS above 70% for AFS.</a:t>
                      </a:r>
                      <a:endParaRPr lang="en-US" sz="1400" b="0" i="0" u="none" strike="noStrike" kern="1200" noProof="0">
                        <a:solidFill>
                          <a:schemeClr val="tx1"/>
                        </a:solidFill>
                        <a:latin typeface="Calibri" panose="020F0502020204030204" pitchFamily="34" charset="0"/>
                        <a:ea typeface="+mn-ea"/>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2377547"/>
                  </a:ext>
                </a:extLst>
              </a:tr>
            </a:tbl>
          </a:graphicData>
        </a:graphic>
      </p:graphicFrame>
      <p:sp>
        <p:nvSpPr>
          <p:cNvPr id="2" name="Title 1">
            <a:extLst>
              <a:ext uri="{FF2B5EF4-FFF2-40B4-BE49-F238E27FC236}">
                <a16:creationId xmlns:a16="http://schemas.microsoft.com/office/drawing/2014/main" id="{D7DC5A5E-3CBA-EF6B-9638-1BD99EA4C494}"/>
              </a:ext>
            </a:extLst>
          </p:cNvPr>
          <p:cNvSpPr>
            <a:spLocks noGrp="1"/>
          </p:cNvSpPr>
          <p:nvPr>
            <p:ph type="title"/>
          </p:nvPr>
        </p:nvSpPr>
        <p:spPr/>
        <p:txBody>
          <a:bodyPr/>
          <a:lstStyle/>
          <a:p>
            <a:r>
              <a:rPr lang="en-US" sz="3600" b="0">
                <a:latin typeface="Plaak 3 Trial Regular" panose="02000000000000000000" pitchFamily="2" charset="0"/>
              </a:rPr>
              <a:t>Step 1: Clarify the Core Problem </a:t>
            </a:r>
            <a:endParaRPr lang="en-BG" sz="3600" b="0">
              <a:latin typeface="Plaak 3 Trial Regular" panose="02000000000000000000" pitchFamily="2" charset="0"/>
            </a:endParaRPr>
          </a:p>
        </p:txBody>
      </p:sp>
    </p:spTree>
    <p:extLst>
      <p:ext uri="{BB962C8B-B14F-4D97-AF65-F5344CB8AC3E}">
        <p14:creationId xmlns:p14="http://schemas.microsoft.com/office/powerpoint/2010/main" val="3110103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CEB8D-AFDC-B62A-A0AC-A678D057C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551C2-35D2-A0DE-0E06-B25937130344}"/>
              </a:ext>
            </a:extLst>
          </p:cNvPr>
          <p:cNvSpPr>
            <a:spLocks noGrp="1"/>
          </p:cNvSpPr>
          <p:nvPr>
            <p:ph type="title"/>
          </p:nvPr>
        </p:nvSpPr>
        <p:spPr/>
        <p:txBody>
          <a:bodyPr anchor="b"/>
          <a:lstStyle/>
          <a:p>
            <a:r>
              <a:rPr lang="en-US" sz="3600" b="0">
                <a:latin typeface="Plaak 3 Trial Regular" panose="02000000000000000000" pitchFamily="2" charset="0"/>
              </a:rPr>
              <a:t>Step 2: Deconstruct the Problem </a:t>
            </a:r>
            <a:endParaRPr lang="en-BG" sz="3600" b="0">
              <a:latin typeface="Plaak 3 Trial Regular" panose="02000000000000000000" pitchFamily="2" charset="0"/>
            </a:endParaRPr>
          </a:p>
        </p:txBody>
      </p:sp>
      <p:graphicFrame>
        <p:nvGraphicFramePr>
          <p:cNvPr id="3" name="Table 2">
            <a:extLst>
              <a:ext uri="{FF2B5EF4-FFF2-40B4-BE49-F238E27FC236}">
                <a16:creationId xmlns:a16="http://schemas.microsoft.com/office/drawing/2014/main" id="{6575FC12-5363-EC00-AE61-D41F0127842C}"/>
              </a:ext>
            </a:extLst>
          </p:cNvPr>
          <p:cNvGraphicFramePr>
            <a:graphicFrameLocks noGrp="1"/>
          </p:cNvGraphicFramePr>
          <p:nvPr>
            <p:extLst>
              <p:ext uri="{D42A27DB-BD31-4B8C-83A1-F6EECF244321}">
                <p14:modId xmlns:p14="http://schemas.microsoft.com/office/powerpoint/2010/main" val="2530575743"/>
              </p:ext>
            </p:extLst>
          </p:nvPr>
        </p:nvGraphicFramePr>
        <p:xfrm>
          <a:off x="130175" y="771613"/>
          <a:ext cx="9814834" cy="6577041"/>
        </p:xfrm>
        <a:graphic>
          <a:graphicData uri="http://schemas.openxmlformats.org/drawingml/2006/table">
            <a:tbl>
              <a:tblPr firstRow="1" bandRow="1">
                <a:tableStyleId>{2D5ABB26-0587-4C30-8999-92F81FD0307C}</a:tableStyleId>
              </a:tblPr>
              <a:tblGrid>
                <a:gridCol w="3292963">
                  <a:extLst>
                    <a:ext uri="{9D8B030D-6E8A-4147-A177-3AD203B41FA5}">
                      <a16:colId xmlns:a16="http://schemas.microsoft.com/office/drawing/2014/main" val="3308902235"/>
                    </a:ext>
                  </a:extLst>
                </a:gridCol>
                <a:gridCol w="3335193">
                  <a:extLst>
                    <a:ext uri="{9D8B030D-6E8A-4147-A177-3AD203B41FA5}">
                      <a16:colId xmlns:a16="http://schemas.microsoft.com/office/drawing/2014/main" val="1174125584"/>
                    </a:ext>
                  </a:extLst>
                </a:gridCol>
                <a:gridCol w="3186678">
                  <a:extLst>
                    <a:ext uri="{9D8B030D-6E8A-4147-A177-3AD203B41FA5}">
                      <a16:colId xmlns:a16="http://schemas.microsoft.com/office/drawing/2014/main" val="2156595074"/>
                    </a:ext>
                  </a:extLst>
                </a:gridCol>
              </a:tblGrid>
              <a:tr h="47103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panose="020B0604020202020204" pitchFamily="34" charset="0"/>
                          <a:ea typeface="Riforma LL" panose="020B0504020101020102" pitchFamily="34" charset="77"/>
                          <a:cs typeface="Arial" panose="020B0604020202020204" pitchFamily="34" charset="0"/>
                        </a:rPr>
                        <a:t>1: First Principles Thinking</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panose="020B0604020202020204" pitchFamily="34" charset="0"/>
                          <a:ea typeface="Riforma LL" panose="020B0504020101020102" pitchFamily="34" charset="77"/>
                          <a:cs typeface="Arial" panose="020B0604020202020204" pitchFamily="34" charset="0"/>
                        </a:rPr>
                        <a:t>2: Theory of Constraints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panose="020B0604020202020204" pitchFamily="34" charset="0"/>
                          <a:ea typeface="Riforma LL" panose="020B0504020101020102" pitchFamily="34" charset="77"/>
                          <a:cs typeface="Arial" panose="020B0604020202020204" pitchFamily="34" charset="0"/>
                        </a:rPr>
                        <a:t>3: Law of Subtraction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50878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ptos" panose="020B0004020202020204" pitchFamily="34" charset="0"/>
                          <a:ea typeface="+mn-ea"/>
                          <a:cs typeface="+mn-cs"/>
                        </a:rPr>
                        <a:t>What do we know to be absolutely true about this problem?</a:t>
                      </a:r>
                      <a:endParaRPr lang="en-BG" sz="1200" kern="1200">
                        <a:solidFill>
                          <a:schemeClr val="tx1"/>
                        </a:solidFill>
                        <a:effectLst/>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lvl="0" algn="l">
                        <a:lnSpc>
                          <a:spcPct val="100000"/>
                        </a:lnSpc>
                        <a:spcBef>
                          <a:spcPts val="0"/>
                        </a:spcBef>
                        <a:spcAft>
                          <a:spcPts val="0"/>
                        </a:spcAft>
                        <a:buNone/>
                      </a:pPr>
                      <a:r>
                        <a:rPr lang="en-US" sz="1200" b="0" i="0" kern="1200" noProof="0">
                          <a:solidFill>
                            <a:schemeClr val="tx1"/>
                          </a:solidFill>
                          <a:latin typeface="Aptos" panose="020B0004020202020204" pitchFamily="34" charset="0"/>
                        </a:rPr>
                        <a:t>What is the single biggest bottleneck preventing progress?</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GB" sz="1200">
                          <a:latin typeface="Aptos" panose="020B0004020202020204" pitchFamily="34" charset="0"/>
                        </a:rPr>
                        <a:t>What can we remove or stop doing that would simplify the problem?</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14847072"/>
                  </a:ext>
                </a:extLst>
              </a:tr>
              <a:tr h="1248598">
                <a:tc>
                  <a:txBody>
                    <a:bodyPr/>
                    <a:lstStyle/>
                    <a:p>
                      <a:endParaRPr lang="en-US" sz="1200" b="0" i="0" kern="1200">
                        <a:solidFill>
                          <a:schemeClr val="tx1"/>
                        </a:solidFill>
                        <a:latin typeface="Aptos" panose="020B0004020202020204" pitchFamily="34" charset="0"/>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endParaRPr lang="en-US" sz="1200" b="0" i="0" kern="1200" noProof="0">
                        <a:solidFill>
                          <a:schemeClr val="tx1"/>
                        </a:solidFill>
                        <a:latin typeface="Aptos" panose="020B0004020202020204" pitchFamily="34" charset="0"/>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sz="1200">
                        <a:latin typeface="Aptos" panose="020B0004020202020204" pitchFamily="34" charset="0"/>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1459937"/>
                  </a:ext>
                </a:extLst>
              </a:tr>
              <a:tr h="50816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ptos" panose="020B0004020202020204" pitchFamily="34" charset="0"/>
                          <a:ea typeface="+mn-ea"/>
                          <a:cs typeface="+mn-cs"/>
                        </a:rPr>
                        <a:t>What are the foundational facts we can build upon?</a:t>
                      </a:r>
                      <a:endParaRPr lang="en-BG" sz="1200" kern="1200">
                        <a:solidFill>
                          <a:schemeClr val="tx1"/>
                        </a:solidFill>
                        <a:effectLst/>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kern="1200" noProof="0">
                          <a:solidFill>
                            <a:schemeClr val="tx1"/>
                          </a:solidFill>
                          <a:latin typeface="Aptos" panose="020B0004020202020204" pitchFamily="34" charset="0"/>
                        </a:rPr>
                        <a:t>Which part of the process or system is slowing everything else down?</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a:latin typeface="Aptos" panose="020B0004020202020204" pitchFamily="34" charset="0"/>
                        </a:rPr>
                        <a:t>Are there unnecessary steps, processes, or elements adding complexity?</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18749878"/>
                  </a:ext>
                </a:extLst>
              </a:tr>
              <a:tr h="1112166">
                <a:tc>
                  <a:txBody>
                    <a:bodyPr/>
                    <a:lstStyle/>
                    <a:p>
                      <a:endParaRPr lang="en-US" sz="1200" b="0" i="0" kern="1200">
                        <a:solidFill>
                          <a:schemeClr val="tx1"/>
                        </a:solidFill>
                        <a:latin typeface="Aptos" panose="020B0004020202020204" pitchFamily="34" charset="0"/>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endParaRPr lang="en-US" sz="1200" b="0" i="0" kern="1200" noProof="0">
                        <a:solidFill>
                          <a:schemeClr val="tx1"/>
                        </a:solidFill>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sz="1200">
                        <a:latin typeface="Aptos" panose="020B0004020202020204" pitchFamily="34" charset="0"/>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5863688"/>
                  </a:ext>
                </a:extLst>
              </a:tr>
              <a:tr h="50878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ptos" panose="020B0004020202020204" pitchFamily="34" charset="0"/>
                          <a:ea typeface="+mn-ea"/>
                          <a:cs typeface="+mn-cs"/>
                        </a:rPr>
                        <a:t>If we ignored conventional approaches, how would we approach this from scratch?</a:t>
                      </a:r>
                      <a:endParaRPr lang="en-BG" sz="1200" kern="1200">
                        <a:solidFill>
                          <a:schemeClr val="tx1"/>
                        </a:solidFill>
                        <a:effectLst/>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kern="1200" noProof="0">
                          <a:solidFill>
                            <a:schemeClr val="tx1"/>
                          </a:solidFill>
                          <a:latin typeface="Aptos" panose="020B0004020202020204" pitchFamily="34" charset="0"/>
                        </a:rPr>
                        <a:t>If we addressed this one constraint, how much of the problem would improve?</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sz="1200">
                          <a:latin typeface="Aptos" panose="020B0004020202020204" pitchFamily="34" charset="0"/>
                        </a:rPr>
                        <a:t>W</a:t>
                      </a:r>
                      <a:r>
                        <a:rPr lang="en-GB" sz="1200">
                          <a:latin typeface="Aptos" panose="020B0004020202020204" pitchFamily="34" charset="0"/>
                        </a:rPr>
                        <a:t>hat would this problem look like if we started with a clean slate?</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65844164"/>
                  </a:ext>
                </a:extLst>
              </a:tr>
              <a:tr h="895009">
                <a:tc>
                  <a:txBody>
                    <a:bodyPr/>
                    <a:lstStyle/>
                    <a:p>
                      <a:endParaRPr lang="en-US" sz="1200" b="0" i="0" kern="1200">
                        <a:solidFill>
                          <a:schemeClr val="tx1"/>
                        </a:solidFill>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endParaRPr lang="en-US" sz="1200" b="0" i="0" kern="1200" noProof="0">
                        <a:solidFill>
                          <a:schemeClr val="tx1"/>
                        </a:solidFill>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sz="1200">
                        <a:latin typeface="Aptos" panose="020B0004020202020204" pitchFamily="34" charset="0"/>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7113386"/>
                  </a:ext>
                </a:extLst>
              </a:tr>
              <a:tr h="508786">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Aptos" panose="020B0004020202020204" pitchFamily="34" charset="0"/>
                          <a:ea typeface="+mn-ea"/>
                          <a:cs typeface="+mn-cs"/>
                        </a:rPr>
                        <a:t>Are we making any assumptions that we haven’t validated </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kern="1200" noProof="0">
                          <a:solidFill>
                            <a:schemeClr val="tx1"/>
                          </a:solidFill>
                          <a:latin typeface="Aptos" panose="020B0004020202020204" pitchFamily="34" charset="0"/>
                        </a:rPr>
                        <a:t>Is this constraint internal (within our control) or external (outside our control)?</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GB" sz="1200">
                        <a:latin typeface="Aptos" panose="020B0004020202020204" pitchFamily="34" charset="0"/>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9620564"/>
                  </a:ext>
                </a:extLst>
              </a:tr>
              <a:tr h="631277">
                <a:tc>
                  <a:txBody>
                    <a:bodyPr/>
                    <a:lstStyle/>
                    <a:p>
                      <a:endParaRPr lang="en-US" sz="1200" b="0" i="0" kern="1200">
                        <a:solidFill>
                          <a:schemeClr val="tx1"/>
                        </a:solidFill>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endParaRPr lang="en-US" sz="1200" b="0" i="0" kern="1200" noProof="0">
                        <a:solidFill>
                          <a:schemeClr val="tx1"/>
                        </a:solidFill>
                        <a:latin typeface="Aptos" panose="020B0004020202020204" pitchFamily="34" charset="0"/>
                        <a:ea typeface="+mn-ea"/>
                        <a:cs typeface="+mn-cs"/>
                      </a:endParaRPr>
                    </a:p>
                    <a:p>
                      <a:pPr lvl="0">
                        <a:buNone/>
                      </a:pPr>
                      <a:endParaRPr lang="en-US" sz="1200" b="0" i="0" kern="1200" noProof="0">
                        <a:solidFill>
                          <a:schemeClr val="tx1"/>
                        </a:solidFill>
                        <a:latin typeface="Aptos" panose="020B0004020202020204" pitchFamily="34" charset="0"/>
                        <a:ea typeface="+mn-ea"/>
                        <a:cs typeface="+mn-cs"/>
                      </a:endParaRPr>
                    </a:p>
                    <a:p>
                      <a:pPr lvl="0">
                        <a:buNone/>
                      </a:pPr>
                      <a:endParaRPr lang="en-US" sz="1200" b="0" i="0" kern="1200" noProof="0">
                        <a:solidFill>
                          <a:schemeClr val="tx1"/>
                        </a:solidFill>
                        <a:latin typeface="Aptos" panose="020B0004020202020204" pitchFamily="34" charset="0"/>
                        <a:ea typeface="+mn-ea"/>
                        <a:cs typeface="+mn-cs"/>
                      </a:endParaRPr>
                    </a:p>
                    <a:p>
                      <a:pPr lvl="0">
                        <a:buNone/>
                      </a:pPr>
                      <a:endParaRPr lang="en-US" sz="1200" b="0" i="0" kern="1200" noProof="0">
                        <a:solidFill>
                          <a:schemeClr val="tx1"/>
                        </a:solidFill>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BG" sz="1200">
                        <a:latin typeface="Aptos" panose="020B0004020202020204" pitchFamily="34" charset="0"/>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5656046"/>
                  </a:ext>
                </a:extLst>
              </a:tr>
            </a:tbl>
          </a:graphicData>
        </a:graphic>
      </p:graphicFrame>
    </p:spTree>
    <p:extLst>
      <p:ext uri="{BB962C8B-B14F-4D97-AF65-F5344CB8AC3E}">
        <p14:creationId xmlns:p14="http://schemas.microsoft.com/office/powerpoint/2010/main" val="2546238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3D4AA-ECAF-4463-A9FD-971FEF579F02}"/>
            </a:ext>
          </a:extLst>
        </p:cNvPr>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0EA66BFF-1861-CE2C-1EE9-C15F6A109E70}"/>
              </a:ext>
            </a:extLst>
          </p:cNvPr>
          <p:cNvGraphicFramePr>
            <a:graphicFrameLocks noGrp="1"/>
          </p:cNvGraphicFramePr>
          <p:nvPr>
            <p:extLst>
              <p:ext uri="{D42A27DB-BD31-4B8C-83A1-F6EECF244321}">
                <p14:modId xmlns:p14="http://schemas.microsoft.com/office/powerpoint/2010/main" val="2542664662"/>
              </p:ext>
            </p:extLst>
          </p:nvPr>
        </p:nvGraphicFramePr>
        <p:xfrm>
          <a:off x="276084" y="729013"/>
          <a:ext cx="9649794" cy="6398619"/>
        </p:xfrm>
        <a:graphic>
          <a:graphicData uri="http://schemas.openxmlformats.org/drawingml/2006/table">
            <a:tbl>
              <a:tblPr firstRow="1" bandRow="1">
                <a:tableStyleId>{2D5ABB26-0587-4C30-8999-92F81FD0307C}</a:tableStyleId>
              </a:tblPr>
              <a:tblGrid>
                <a:gridCol w="2127482">
                  <a:extLst>
                    <a:ext uri="{9D8B030D-6E8A-4147-A177-3AD203B41FA5}">
                      <a16:colId xmlns:a16="http://schemas.microsoft.com/office/drawing/2014/main" val="3308902235"/>
                    </a:ext>
                  </a:extLst>
                </a:gridCol>
                <a:gridCol w="7522312">
                  <a:extLst>
                    <a:ext uri="{9D8B030D-6E8A-4147-A177-3AD203B41FA5}">
                      <a16:colId xmlns:a16="http://schemas.microsoft.com/office/drawing/2014/main" val="3313590318"/>
                    </a:ext>
                  </a:extLst>
                </a:gridCol>
              </a:tblGrid>
              <a:tr h="484139">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1" i="0">
                          <a:solidFill>
                            <a:schemeClr val="bg1"/>
                          </a:solidFill>
                          <a:latin typeface="Arial"/>
                          <a:ea typeface="Riforma LL" panose="020B0504020101020102" pitchFamily="34" charset="77"/>
                          <a:cs typeface="Arial"/>
                        </a:rPr>
                        <a:t>The rood causes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18289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latin typeface="Arial"/>
                          <a:ea typeface="Riforma LL" panose="020B0504020101020102" pitchFamily="34" charset="77"/>
                          <a:cs typeface="Arial"/>
                        </a:rPr>
                        <a:t>1. Why 1? </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pPr>
                      <a:endParaRPr lang="en-US" sz="1400" b="0" i="0" u="none" strike="noStrike" kern="1200" noProof="0">
                        <a:solidFill>
                          <a:schemeClr val="tx1"/>
                        </a:solidFill>
                        <a:latin typeface="Calibri" panose="020F0502020204030204" pitchFamily="34" charset="0"/>
                        <a:ea typeface="+mn-ea"/>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5844164"/>
                  </a:ext>
                </a:extLst>
              </a:tr>
              <a:tr h="118289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latin typeface="Arial"/>
                          <a:ea typeface="Riforma LL" panose="020B0504020101020102" pitchFamily="34" charset="77"/>
                          <a:cs typeface="Arial"/>
                        </a:rPr>
                        <a:t>2. Why 2?</a:t>
                      </a: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pPr>
                      <a:endParaRPr lang="en-US" sz="1400" b="0" i="0" u="none" strike="noStrike" kern="1200" noProof="0">
                        <a:solidFill>
                          <a:schemeClr val="tx1"/>
                        </a:solidFill>
                        <a:latin typeface="Calibri" panose="020F0502020204030204" pitchFamily="34" charset="0"/>
                        <a:ea typeface="+mn-ea"/>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2377547"/>
                  </a:ext>
                </a:extLst>
              </a:tr>
              <a:tr h="118289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latin typeface="Arial"/>
                          <a:ea typeface="Riforma LL" panose="020B0504020101020102" pitchFamily="34" charset="77"/>
                          <a:cs typeface="Arial"/>
                        </a:rPr>
                        <a:t>3. Why 3?</a:t>
                      </a:r>
                      <a:endParaRPr lang="en-US" sz="14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endParaRPr lang="en-US" sz="1400" b="0" i="0" u="none" strike="noStrike" noProof="0">
                        <a:latin typeface="Calibri" panose="020F0502020204030204" pitchFamily="34" charset="0"/>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5437399"/>
                  </a:ext>
                </a:extLst>
              </a:tr>
              <a:tr h="118289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latin typeface="Arial" panose="020B0604020202020204" pitchFamily="34" charset="0"/>
                          <a:ea typeface="Riforma LL" panose="020B0504020101020102" pitchFamily="34" charset="77"/>
                          <a:cs typeface="Arial" panose="020B0604020202020204" pitchFamily="34" charset="0"/>
                        </a:rPr>
                        <a:t>4. Why 4?</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endParaRPr lang="en-US" sz="1400" b="0" i="0" u="none" strike="noStrike" noProof="0">
                        <a:latin typeface="Calibri" panose="020F0502020204030204" pitchFamily="34" charset="0"/>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292884"/>
                  </a:ext>
                </a:extLst>
              </a:tr>
              <a:tr h="118289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latin typeface="Arial" panose="020B0604020202020204" pitchFamily="34" charset="0"/>
                          <a:ea typeface="Riforma LL" panose="020B0504020101020102" pitchFamily="34" charset="77"/>
                          <a:cs typeface="Arial" panose="020B0604020202020204" pitchFamily="34" charset="0"/>
                        </a:rPr>
                        <a:t>5. Why 5? </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latin typeface="Arial" panose="020B0604020202020204" pitchFamily="34" charset="0"/>
                          <a:ea typeface="Riforma LL" panose="020B0504020101020102" pitchFamily="34" charset="77"/>
                          <a:cs typeface="Arial" panose="020B0604020202020204" pitchFamily="34" charset="0"/>
                        </a:rPr>
                        <a:t>The root cause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tc>
                  <a:txBody>
                    <a:bodyPr/>
                    <a:lstStyle/>
                    <a:p>
                      <a:pPr marL="0" marR="0" lvl="0" indent="0" algn="l">
                        <a:lnSpc>
                          <a:spcPct val="100000"/>
                        </a:lnSpc>
                        <a:spcBef>
                          <a:spcPts val="0"/>
                        </a:spcBef>
                        <a:spcAft>
                          <a:spcPts val="0"/>
                        </a:spcAft>
                        <a:buNone/>
                      </a:pPr>
                      <a:endParaRPr lang="en-US" sz="1400" b="0" i="0" u="none" strike="noStrike" noProof="0">
                        <a:latin typeface="Calibri" panose="020F0502020204030204" pitchFamily="34" charset="0"/>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748908449"/>
                  </a:ext>
                </a:extLst>
              </a:tr>
            </a:tbl>
          </a:graphicData>
        </a:graphic>
      </p:graphicFrame>
      <p:sp>
        <p:nvSpPr>
          <p:cNvPr id="2" name="Title 1">
            <a:extLst>
              <a:ext uri="{FF2B5EF4-FFF2-40B4-BE49-F238E27FC236}">
                <a16:creationId xmlns:a16="http://schemas.microsoft.com/office/drawing/2014/main" id="{38A7AD69-01DA-F657-6F2F-676C4981F55A}"/>
              </a:ext>
            </a:extLst>
          </p:cNvPr>
          <p:cNvSpPr>
            <a:spLocks noGrp="1"/>
          </p:cNvSpPr>
          <p:nvPr>
            <p:ph type="title"/>
          </p:nvPr>
        </p:nvSpPr>
        <p:spPr/>
        <p:txBody>
          <a:bodyPr/>
          <a:lstStyle/>
          <a:p>
            <a:r>
              <a:rPr lang="en-US" sz="3600" b="0">
                <a:latin typeface="Plaak 3 Trial Regular" panose="02000000000000000000" pitchFamily="2" charset="0"/>
              </a:rPr>
              <a:t>Step 3: Identify the Root Cause - part 1</a:t>
            </a:r>
            <a:endParaRPr lang="en-BG" sz="3600" b="0">
              <a:latin typeface="Plaak 3 Trial Regular" panose="02000000000000000000" pitchFamily="2" charset="0"/>
            </a:endParaRPr>
          </a:p>
        </p:txBody>
      </p:sp>
    </p:spTree>
    <p:extLst>
      <p:ext uri="{BB962C8B-B14F-4D97-AF65-F5344CB8AC3E}">
        <p14:creationId xmlns:p14="http://schemas.microsoft.com/office/powerpoint/2010/main" val="3970546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871DD4D-FAF2-D54E-A599-1D9E19903E47}"/>
              </a:ext>
            </a:extLst>
          </p:cNvPr>
          <p:cNvSpPr/>
          <p:nvPr/>
        </p:nvSpPr>
        <p:spPr>
          <a:xfrm>
            <a:off x="7403098" y="3356745"/>
            <a:ext cx="2426233" cy="1093658"/>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latin typeface="Arial" panose="020B0604020202020204" pitchFamily="34" charset="0"/>
                <a:ea typeface="Riforma LL" panose="020B0504020101020102" pitchFamily="34" charset="77"/>
                <a:cs typeface="Arial" panose="020B0604020202020204" pitchFamily="34" charset="0"/>
              </a:rPr>
              <a:t>3. </a:t>
            </a:r>
          </a:p>
        </p:txBody>
      </p:sp>
      <p:sp>
        <p:nvSpPr>
          <p:cNvPr id="9" name="Rectangle 8">
            <a:extLst>
              <a:ext uri="{FF2B5EF4-FFF2-40B4-BE49-F238E27FC236}">
                <a16:creationId xmlns:a16="http://schemas.microsoft.com/office/drawing/2014/main" id="{6F69FC6D-5058-344E-BED6-E0D6CFB060B7}"/>
              </a:ext>
            </a:extLst>
          </p:cNvPr>
          <p:cNvSpPr/>
          <p:nvPr/>
        </p:nvSpPr>
        <p:spPr>
          <a:xfrm>
            <a:off x="7415640" y="958160"/>
            <a:ext cx="2434876" cy="1093658"/>
          </a:xfrm>
          <a:prstGeom prst="rect">
            <a:avLst/>
          </a:prstGeom>
          <a:solidFill>
            <a:srgbClr val="FFF469"/>
          </a:solidFill>
          <a:ln w="285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1. Top issue </a:t>
            </a:r>
          </a:p>
        </p:txBody>
      </p:sp>
      <p:sp>
        <p:nvSpPr>
          <p:cNvPr id="10" name="Rectangle 9">
            <a:extLst>
              <a:ext uri="{FF2B5EF4-FFF2-40B4-BE49-F238E27FC236}">
                <a16:creationId xmlns:a16="http://schemas.microsoft.com/office/drawing/2014/main" id="{397B328B-1E05-6E4A-8BBC-74FD66D23DA8}"/>
              </a:ext>
            </a:extLst>
          </p:cNvPr>
          <p:cNvSpPr/>
          <p:nvPr/>
        </p:nvSpPr>
        <p:spPr>
          <a:xfrm>
            <a:off x="7403098" y="2164513"/>
            <a:ext cx="2426236" cy="1093654"/>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latin typeface="Arial" panose="020B0604020202020204" pitchFamily="34" charset="0"/>
                <a:ea typeface="Riforma LL" panose="020B0504020101020102" pitchFamily="34" charset="77"/>
                <a:cs typeface="Arial" panose="020B0604020202020204" pitchFamily="34" charset="0"/>
              </a:rPr>
              <a:t>2. </a:t>
            </a:r>
          </a:p>
        </p:txBody>
      </p:sp>
      <p:cxnSp>
        <p:nvCxnSpPr>
          <p:cNvPr id="11" name="Straight Arrow Connector 10">
            <a:extLst>
              <a:ext uri="{FF2B5EF4-FFF2-40B4-BE49-F238E27FC236}">
                <a16:creationId xmlns:a16="http://schemas.microsoft.com/office/drawing/2014/main" id="{ECF4504D-B68C-A549-9148-11EBB8E8136F}"/>
              </a:ext>
            </a:extLst>
          </p:cNvPr>
          <p:cNvCxnSpPr>
            <a:cxnSpLocks/>
          </p:cNvCxnSpPr>
          <p:nvPr/>
        </p:nvCxnSpPr>
        <p:spPr>
          <a:xfrm flipV="1">
            <a:off x="3415751" y="4552005"/>
            <a:ext cx="3783835" cy="1"/>
          </a:xfrm>
          <a:prstGeom prst="straightConnector1">
            <a:avLst/>
          </a:prstGeom>
          <a:ln>
            <a:solidFill>
              <a:srgbClr val="3D233B"/>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1584B1B-903B-BB4A-A47A-B0EC7AB15495}"/>
              </a:ext>
            </a:extLst>
          </p:cNvPr>
          <p:cNvCxnSpPr>
            <a:cxnSpLocks/>
          </p:cNvCxnSpPr>
          <p:nvPr/>
        </p:nvCxnSpPr>
        <p:spPr>
          <a:xfrm flipV="1">
            <a:off x="3415773" y="847900"/>
            <a:ext cx="0" cy="3704105"/>
          </a:xfrm>
          <a:prstGeom prst="straightConnector1">
            <a:avLst/>
          </a:prstGeom>
          <a:ln>
            <a:solidFill>
              <a:srgbClr val="3D233B"/>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5E6DBF2-8158-AC46-B350-75BDCB6367BC}"/>
              </a:ext>
            </a:extLst>
          </p:cNvPr>
          <p:cNvCxnSpPr>
            <a:cxnSpLocks/>
          </p:cNvCxnSpPr>
          <p:nvPr/>
        </p:nvCxnSpPr>
        <p:spPr>
          <a:xfrm>
            <a:off x="5276993" y="1066887"/>
            <a:ext cx="4722" cy="330775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25B562A-DB73-2B4C-BD4E-4C254CD7AC09}"/>
              </a:ext>
            </a:extLst>
          </p:cNvPr>
          <p:cNvCxnSpPr>
            <a:cxnSpLocks/>
          </p:cNvCxnSpPr>
          <p:nvPr/>
        </p:nvCxnSpPr>
        <p:spPr>
          <a:xfrm flipH="1">
            <a:off x="3782157" y="2681352"/>
            <a:ext cx="2927098" cy="0"/>
          </a:xfrm>
          <a:prstGeom prst="line">
            <a:avLst/>
          </a:prstGeom>
          <a:ln>
            <a:solidFill>
              <a:srgbClr val="3D233B"/>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DDD1047-A24C-7042-BB5E-7AA9295F5801}"/>
              </a:ext>
            </a:extLst>
          </p:cNvPr>
          <p:cNvSpPr txBox="1"/>
          <p:nvPr/>
        </p:nvSpPr>
        <p:spPr>
          <a:xfrm>
            <a:off x="4662114" y="4605195"/>
            <a:ext cx="1167184" cy="338554"/>
          </a:xfrm>
          <a:prstGeom prst="rect">
            <a:avLst/>
          </a:prstGeom>
          <a:noFill/>
        </p:spPr>
        <p:txBody>
          <a:bodyPr wrap="square" rtlCol="0">
            <a:spAutoFit/>
          </a:bodyPr>
          <a:lstStyle/>
          <a:p>
            <a:pPr algn="ctr"/>
            <a:r>
              <a:rPr lang="en-US" sz="160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Impact </a:t>
            </a:r>
          </a:p>
        </p:txBody>
      </p:sp>
      <p:sp>
        <p:nvSpPr>
          <p:cNvPr id="16" name="TextBox 15">
            <a:extLst>
              <a:ext uri="{FF2B5EF4-FFF2-40B4-BE49-F238E27FC236}">
                <a16:creationId xmlns:a16="http://schemas.microsoft.com/office/drawing/2014/main" id="{DE7864DC-7561-FF46-9A3F-5F2D8C4D1E3B}"/>
              </a:ext>
            </a:extLst>
          </p:cNvPr>
          <p:cNvSpPr txBox="1"/>
          <p:nvPr/>
        </p:nvSpPr>
        <p:spPr>
          <a:xfrm rot="16200000">
            <a:off x="2649326" y="2530674"/>
            <a:ext cx="1167579" cy="338554"/>
          </a:xfrm>
          <a:prstGeom prst="rect">
            <a:avLst/>
          </a:prstGeom>
          <a:noFill/>
        </p:spPr>
        <p:txBody>
          <a:bodyPr wrap="square" rtlCol="0">
            <a:spAutoFit/>
          </a:bodyPr>
          <a:lstStyle/>
          <a:p>
            <a:pPr algn="ctr"/>
            <a:r>
              <a:rPr lang="en-US" sz="160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Easy</a:t>
            </a:r>
          </a:p>
        </p:txBody>
      </p:sp>
      <p:graphicFrame>
        <p:nvGraphicFramePr>
          <p:cNvPr id="17" name="Table 16">
            <a:extLst>
              <a:ext uri="{FF2B5EF4-FFF2-40B4-BE49-F238E27FC236}">
                <a16:creationId xmlns:a16="http://schemas.microsoft.com/office/drawing/2014/main" id="{147148F6-8B47-5149-BAE7-21FD3F250CA9}"/>
              </a:ext>
            </a:extLst>
          </p:cNvPr>
          <p:cNvGraphicFramePr>
            <a:graphicFrameLocks noGrp="1"/>
          </p:cNvGraphicFramePr>
          <p:nvPr>
            <p:extLst>
              <p:ext uri="{D42A27DB-BD31-4B8C-83A1-F6EECF244321}">
                <p14:modId xmlns:p14="http://schemas.microsoft.com/office/powerpoint/2010/main" val="122425980"/>
              </p:ext>
            </p:extLst>
          </p:nvPr>
        </p:nvGraphicFramePr>
        <p:xfrm>
          <a:off x="297381" y="796777"/>
          <a:ext cx="2766458" cy="6281000"/>
        </p:xfrm>
        <a:graphic>
          <a:graphicData uri="http://schemas.openxmlformats.org/drawingml/2006/table">
            <a:tbl>
              <a:tblPr>
                <a:tableStyleId>{F5AB1C69-6EDB-4FF4-983F-18BD219EF322}</a:tableStyleId>
              </a:tblPr>
              <a:tblGrid>
                <a:gridCol w="2766458">
                  <a:extLst>
                    <a:ext uri="{9D8B030D-6E8A-4147-A177-3AD203B41FA5}">
                      <a16:colId xmlns:a16="http://schemas.microsoft.com/office/drawing/2014/main" val="2283365220"/>
                    </a:ext>
                  </a:extLst>
                </a:gridCol>
              </a:tblGrid>
              <a:tr h="323947">
                <a:tc>
                  <a:txBody>
                    <a:bodyPr/>
                    <a:lstStyle/>
                    <a:p>
                      <a:r>
                        <a:rPr lang="en-US" sz="1200" b="1" i="0">
                          <a:solidFill>
                            <a:schemeClr val="bg1"/>
                          </a:solidFill>
                          <a:effectLst/>
                          <a:latin typeface="Arial" panose="020B0604020202020204" pitchFamily="34" charset="0"/>
                        </a:rPr>
                        <a:t>Which 20% of factors are driving 80% of this issue’s impact</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99555"/>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3816231"/>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975148"/>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9729189"/>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8798083"/>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1817227"/>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3101800"/>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6133117"/>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6797651"/>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3127331"/>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4051154"/>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7356369"/>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7955757"/>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20709"/>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5964555"/>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036407"/>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6813073"/>
                  </a:ext>
                </a:extLst>
              </a:tr>
            </a:tbl>
          </a:graphicData>
        </a:graphic>
      </p:graphicFrame>
      <p:sp>
        <p:nvSpPr>
          <p:cNvPr id="33" name="Rectangle 32">
            <a:extLst>
              <a:ext uri="{FF2B5EF4-FFF2-40B4-BE49-F238E27FC236}">
                <a16:creationId xmlns:a16="http://schemas.microsoft.com/office/drawing/2014/main" id="{31797F7F-B0A5-914F-A762-535932DE93EC}"/>
              </a:ext>
            </a:extLst>
          </p:cNvPr>
          <p:cNvSpPr/>
          <p:nvPr/>
        </p:nvSpPr>
        <p:spPr>
          <a:xfrm>
            <a:off x="5344318" y="950440"/>
            <a:ext cx="1670801" cy="1627814"/>
          </a:xfrm>
          <a:prstGeom prst="rect">
            <a:avLst/>
          </a:prstGeom>
          <a:solidFill>
            <a:srgbClr val="FFF469"/>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a:latin typeface="Arial" panose="020B0604020202020204" pitchFamily="34" charset="0"/>
            </a:endParaRPr>
          </a:p>
        </p:txBody>
      </p:sp>
      <p:sp>
        <p:nvSpPr>
          <p:cNvPr id="34" name="Rectangle 33">
            <a:extLst>
              <a:ext uri="{FF2B5EF4-FFF2-40B4-BE49-F238E27FC236}">
                <a16:creationId xmlns:a16="http://schemas.microsoft.com/office/drawing/2014/main" id="{18C62EA1-7807-4C4E-95B8-C079DF5A2A65}"/>
              </a:ext>
            </a:extLst>
          </p:cNvPr>
          <p:cNvSpPr/>
          <p:nvPr/>
        </p:nvSpPr>
        <p:spPr>
          <a:xfrm>
            <a:off x="5344318" y="2772232"/>
            <a:ext cx="1670801" cy="162781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a:latin typeface="Arial" panose="020B0604020202020204" pitchFamily="34" charset="0"/>
            </a:endParaRPr>
          </a:p>
        </p:txBody>
      </p:sp>
      <p:sp>
        <p:nvSpPr>
          <p:cNvPr id="35" name="Rectangle 34">
            <a:extLst>
              <a:ext uri="{FF2B5EF4-FFF2-40B4-BE49-F238E27FC236}">
                <a16:creationId xmlns:a16="http://schemas.microsoft.com/office/drawing/2014/main" id="{245E5F84-EEEF-1241-85B4-310D4A7B566B}"/>
              </a:ext>
            </a:extLst>
          </p:cNvPr>
          <p:cNvSpPr/>
          <p:nvPr/>
        </p:nvSpPr>
        <p:spPr>
          <a:xfrm>
            <a:off x="3548312" y="958750"/>
            <a:ext cx="1670801" cy="162781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a:latin typeface="Arial" panose="020B0604020202020204" pitchFamily="34" charset="0"/>
            </a:endParaRPr>
          </a:p>
        </p:txBody>
      </p:sp>
      <p:sp>
        <p:nvSpPr>
          <p:cNvPr id="36" name="Rectangle 35">
            <a:extLst>
              <a:ext uri="{FF2B5EF4-FFF2-40B4-BE49-F238E27FC236}">
                <a16:creationId xmlns:a16="http://schemas.microsoft.com/office/drawing/2014/main" id="{74773181-4887-1341-B793-B6A2A79DFFAF}"/>
              </a:ext>
            </a:extLst>
          </p:cNvPr>
          <p:cNvSpPr/>
          <p:nvPr/>
        </p:nvSpPr>
        <p:spPr>
          <a:xfrm>
            <a:off x="3594030" y="2772232"/>
            <a:ext cx="1625084" cy="162781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a:latin typeface="Arial" panose="020B0604020202020204" pitchFamily="34" charset="0"/>
            </a:endParaRPr>
          </a:p>
        </p:txBody>
      </p:sp>
      <p:sp>
        <p:nvSpPr>
          <p:cNvPr id="3" name="Title 1">
            <a:extLst>
              <a:ext uri="{FF2B5EF4-FFF2-40B4-BE49-F238E27FC236}">
                <a16:creationId xmlns:a16="http://schemas.microsoft.com/office/drawing/2014/main" id="{CBDC415E-15E7-35E3-B7BF-B5159B8A9463}"/>
              </a:ext>
            </a:extLst>
          </p:cNvPr>
          <p:cNvSpPr>
            <a:spLocks noGrp="1"/>
          </p:cNvSpPr>
          <p:nvPr>
            <p:ph type="title"/>
          </p:nvPr>
        </p:nvSpPr>
        <p:spPr>
          <a:xfrm>
            <a:off x="89039" y="211686"/>
            <a:ext cx="8563123" cy="401639"/>
          </a:xfrm>
        </p:spPr>
        <p:txBody>
          <a:bodyPr/>
          <a:lstStyle/>
          <a:p>
            <a:r>
              <a:rPr lang="en-US" sz="3600" b="0">
                <a:latin typeface="Plaak 3 Trial Regular" panose="02000000000000000000" pitchFamily="2" charset="0"/>
              </a:rPr>
              <a:t>Step 3: identify the root cause - part 2 </a:t>
            </a:r>
            <a:endParaRPr lang="en-BG" sz="3600" b="0">
              <a:latin typeface="Plaak 3 Trial Regular" panose="02000000000000000000" pitchFamily="2" charset="0"/>
            </a:endParaRPr>
          </a:p>
        </p:txBody>
      </p:sp>
    </p:spTree>
    <p:extLst>
      <p:ext uri="{BB962C8B-B14F-4D97-AF65-F5344CB8AC3E}">
        <p14:creationId xmlns:p14="http://schemas.microsoft.com/office/powerpoint/2010/main" val="1079745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7AE18-E0EF-7CB8-2C82-1851FC13CB8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3FC0B35-2135-C00C-51DB-059D1D48BFA2}"/>
              </a:ext>
            </a:extLst>
          </p:cNvPr>
          <p:cNvSpPr/>
          <p:nvPr/>
        </p:nvSpPr>
        <p:spPr>
          <a:xfrm>
            <a:off x="7403098" y="3356745"/>
            <a:ext cx="2426233" cy="1093658"/>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latin typeface="Arial" panose="020B0604020202020204" pitchFamily="34" charset="0"/>
                <a:ea typeface="Riforma LL" panose="020B0504020101020102" pitchFamily="34" charset="77"/>
                <a:cs typeface="Arial" panose="020B0604020202020204" pitchFamily="34" charset="0"/>
              </a:rPr>
              <a:t>3. </a:t>
            </a:r>
          </a:p>
        </p:txBody>
      </p:sp>
      <p:sp>
        <p:nvSpPr>
          <p:cNvPr id="9" name="Rectangle 8">
            <a:extLst>
              <a:ext uri="{FF2B5EF4-FFF2-40B4-BE49-F238E27FC236}">
                <a16:creationId xmlns:a16="http://schemas.microsoft.com/office/drawing/2014/main" id="{B1CAB9BE-3EC9-ECE5-F2AA-587981398472}"/>
              </a:ext>
            </a:extLst>
          </p:cNvPr>
          <p:cNvSpPr/>
          <p:nvPr/>
        </p:nvSpPr>
        <p:spPr>
          <a:xfrm>
            <a:off x="7415640" y="958160"/>
            <a:ext cx="2434876" cy="1093658"/>
          </a:xfrm>
          <a:prstGeom prst="rect">
            <a:avLst/>
          </a:prstGeom>
          <a:solidFill>
            <a:srgbClr val="FFF469"/>
          </a:solidFill>
          <a:ln w="285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1. Top solution </a:t>
            </a:r>
          </a:p>
        </p:txBody>
      </p:sp>
      <p:sp>
        <p:nvSpPr>
          <p:cNvPr id="10" name="Rectangle 9">
            <a:extLst>
              <a:ext uri="{FF2B5EF4-FFF2-40B4-BE49-F238E27FC236}">
                <a16:creationId xmlns:a16="http://schemas.microsoft.com/office/drawing/2014/main" id="{27F2CBE3-2CE0-BB61-7049-CC8133FDEDFD}"/>
              </a:ext>
            </a:extLst>
          </p:cNvPr>
          <p:cNvSpPr/>
          <p:nvPr/>
        </p:nvSpPr>
        <p:spPr>
          <a:xfrm>
            <a:off x="7403098" y="2164513"/>
            <a:ext cx="2426236" cy="1093654"/>
          </a:xfrm>
          <a:prstGeom prst="rect">
            <a:avLst/>
          </a:prstGeom>
          <a:noFill/>
          <a:ln w="3175">
            <a:solidFill>
              <a:srgbClr val="3D23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latin typeface="Arial" panose="020B0604020202020204" pitchFamily="34" charset="0"/>
                <a:ea typeface="Riforma LL" panose="020B0504020101020102" pitchFamily="34" charset="77"/>
                <a:cs typeface="Arial" panose="020B0604020202020204" pitchFamily="34" charset="0"/>
              </a:rPr>
              <a:t>2. </a:t>
            </a:r>
          </a:p>
        </p:txBody>
      </p:sp>
      <p:cxnSp>
        <p:nvCxnSpPr>
          <p:cNvPr id="11" name="Straight Arrow Connector 10">
            <a:extLst>
              <a:ext uri="{FF2B5EF4-FFF2-40B4-BE49-F238E27FC236}">
                <a16:creationId xmlns:a16="http://schemas.microsoft.com/office/drawing/2014/main" id="{A9E31C6D-5DD0-2833-4906-51439DDAC3CD}"/>
              </a:ext>
            </a:extLst>
          </p:cNvPr>
          <p:cNvCxnSpPr>
            <a:cxnSpLocks/>
          </p:cNvCxnSpPr>
          <p:nvPr/>
        </p:nvCxnSpPr>
        <p:spPr>
          <a:xfrm flipV="1">
            <a:off x="3415751" y="4552005"/>
            <a:ext cx="3783835" cy="1"/>
          </a:xfrm>
          <a:prstGeom prst="straightConnector1">
            <a:avLst/>
          </a:prstGeom>
          <a:ln>
            <a:solidFill>
              <a:srgbClr val="3D233B"/>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224F132-8CDE-D96A-875F-1FA0A0F794E0}"/>
              </a:ext>
            </a:extLst>
          </p:cNvPr>
          <p:cNvCxnSpPr>
            <a:cxnSpLocks/>
          </p:cNvCxnSpPr>
          <p:nvPr/>
        </p:nvCxnSpPr>
        <p:spPr>
          <a:xfrm flipV="1">
            <a:off x="3415773" y="847900"/>
            <a:ext cx="0" cy="3704105"/>
          </a:xfrm>
          <a:prstGeom prst="straightConnector1">
            <a:avLst/>
          </a:prstGeom>
          <a:ln>
            <a:solidFill>
              <a:srgbClr val="3D233B"/>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E8660D5-02B3-A922-9400-AC2054829609}"/>
              </a:ext>
            </a:extLst>
          </p:cNvPr>
          <p:cNvCxnSpPr>
            <a:cxnSpLocks/>
          </p:cNvCxnSpPr>
          <p:nvPr/>
        </p:nvCxnSpPr>
        <p:spPr>
          <a:xfrm>
            <a:off x="5276993" y="1066887"/>
            <a:ext cx="4722" cy="330775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3CC543-C69A-2170-BF23-6DE232211FA7}"/>
              </a:ext>
            </a:extLst>
          </p:cNvPr>
          <p:cNvCxnSpPr>
            <a:cxnSpLocks/>
          </p:cNvCxnSpPr>
          <p:nvPr/>
        </p:nvCxnSpPr>
        <p:spPr>
          <a:xfrm flipH="1">
            <a:off x="3782157" y="2681352"/>
            <a:ext cx="2927098" cy="0"/>
          </a:xfrm>
          <a:prstGeom prst="line">
            <a:avLst/>
          </a:prstGeom>
          <a:ln>
            <a:solidFill>
              <a:srgbClr val="3D233B"/>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1F1D268-1AA4-58E4-AC99-FC95BE1C3DBA}"/>
              </a:ext>
            </a:extLst>
          </p:cNvPr>
          <p:cNvSpPr txBox="1"/>
          <p:nvPr/>
        </p:nvSpPr>
        <p:spPr>
          <a:xfrm>
            <a:off x="4662114" y="4605195"/>
            <a:ext cx="1167184" cy="338554"/>
          </a:xfrm>
          <a:prstGeom prst="rect">
            <a:avLst/>
          </a:prstGeom>
          <a:noFill/>
        </p:spPr>
        <p:txBody>
          <a:bodyPr wrap="square" rtlCol="0">
            <a:spAutoFit/>
          </a:bodyPr>
          <a:lstStyle/>
          <a:p>
            <a:pPr algn="ctr"/>
            <a:r>
              <a:rPr lang="en-US" sz="160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Impact </a:t>
            </a:r>
          </a:p>
        </p:txBody>
      </p:sp>
      <p:sp>
        <p:nvSpPr>
          <p:cNvPr id="16" name="TextBox 15">
            <a:extLst>
              <a:ext uri="{FF2B5EF4-FFF2-40B4-BE49-F238E27FC236}">
                <a16:creationId xmlns:a16="http://schemas.microsoft.com/office/drawing/2014/main" id="{4BBE3717-C655-0990-F3C8-13F7148CCDF1}"/>
              </a:ext>
            </a:extLst>
          </p:cNvPr>
          <p:cNvSpPr txBox="1"/>
          <p:nvPr/>
        </p:nvSpPr>
        <p:spPr>
          <a:xfrm rot="16200000">
            <a:off x="2649326" y="2530674"/>
            <a:ext cx="1167579" cy="338554"/>
          </a:xfrm>
          <a:prstGeom prst="rect">
            <a:avLst/>
          </a:prstGeom>
          <a:noFill/>
        </p:spPr>
        <p:txBody>
          <a:bodyPr wrap="square" rtlCol="0">
            <a:spAutoFit/>
          </a:bodyPr>
          <a:lstStyle/>
          <a:p>
            <a:pPr algn="ctr"/>
            <a:r>
              <a:rPr lang="en-US" sz="1600">
                <a:solidFill>
                  <a:schemeClr val="bg2">
                    <a:lumMod val="10000"/>
                  </a:schemeClr>
                </a:solidFill>
                <a:latin typeface="Arial" panose="020B0604020202020204" pitchFamily="34" charset="0"/>
                <a:ea typeface="Riforma LL" panose="020B0504020101020102" pitchFamily="34" charset="77"/>
                <a:cs typeface="Arial" panose="020B0604020202020204" pitchFamily="34" charset="0"/>
              </a:rPr>
              <a:t>Easy</a:t>
            </a:r>
          </a:p>
        </p:txBody>
      </p:sp>
      <p:graphicFrame>
        <p:nvGraphicFramePr>
          <p:cNvPr id="17" name="Table 16">
            <a:extLst>
              <a:ext uri="{FF2B5EF4-FFF2-40B4-BE49-F238E27FC236}">
                <a16:creationId xmlns:a16="http://schemas.microsoft.com/office/drawing/2014/main" id="{17FAB16E-4EC0-94E0-3214-5054197B28E2}"/>
              </a:ext>
            </a:extLst>
          </p:cNvPr>
          <p:cNvGraphicFramePr>
            <a:graphicFrameLocks noGrp="1"/>
          </p:cNvGraphicFramePr>
          <p:nvPr>
            <p:extLst>
              <p:ext uri="{D42A27DB-BD31-4B8C-83A1-F6EECF244321}">
                <p14:modId xmlns:p14="http://schemas.microsoft.com/office/powerpoint/2010/main" val="2432129428"/>
              </p:ext>
            </p:extLst>
          </p:nvPr>
        </p:nvGraphicFramePr>
        <p:xfrm>
          <a:off x="297381" y="796777"/>
          <a:ext cx="2766458" cy="6281000"/>
        </p:xfrm>
        <a:graphic>
          <a:graphicData uri="http://schemas.openxmlformats.org/drawingml/2006/table">
            <a:tbl>
              <a:tblPr>
                <a:tableStyleId>{F5AB1C69-6EDB-4FF4-983F-18BD219EF322}</a:tableStyleId>
              </a:tblPr>
              <a:tblGrid>
                <a:gridCol w="2766458">
                  <a:extLst>
                    <a:ext uri="{9D8B030D-6E8A-4147-A177-3AD203B41FA5}">
                      <a16:colId xmlns:a16="http://schemas.microsoft.com/office/drawing/2014/main" val="2283365220"/>
                    </a:ext>
                  </a:extLst>
                </a:gridCol>
              </a:tblGrid>
              <a:tr h="323947">
                <a:tc>
                  <a:txBody>
                    <a:bodyPr/>
                    <a:lstStyle/>
                    <a:p>
                      <a:r>
                        <a:rPr lang="en-US" sz="1200" b="1" i="0">
                          <a:solidFill>
                            <a:schemeClr val="bg1"/>
                          </a:solidFill>
                          <a:effectLst/>
                          <a:latin typeface="Arial" panose="020B0604020202020204" pitchFamily="34" charset="0"/>
                        </a:rPr>
                        <a:t>Solutions that directly address the bottleneck or root cause(s).</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99555"/>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3816231"/>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975148"/>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9729189"/>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8798083"/>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1817227"/>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3101800"/>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6133117"/>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6797651"/>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3127331"/>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4051154"/>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7356369"/>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7955757"/>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20709"/>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5964555"/>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036407"/>
                  </a:ext>
                </a:extLst>
              </a:tr>
              <a:tr h="323947">
                <a:tc>
                  <a:txBody>
                    <a:bodyPr/>
                    <a:lstStyle/>
                    <a:p>
                      <a:endParaRPr lang="en-US" sz="1200" b="0" i="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6813073"/>
                  </a:ext>
                </a:extLst>
              </a:tr>
            </a:tbl>
          </a:graphicData>
        </a:graphic>
      </p:graphicFrame>
      <p:sp>
        <p:nvSpPr>
          <p:cNvPr id="33" name="Rectangle 32">
            <a:extLst>
              <a:ext uri="{FF2B5EF4-FFF2-40B4-BE49-F238E27FC236}">
                <a16:creationId xmlns:a16="http://schemas.microsoft.com/office/drawing/2014/main" id="{E87AB274-37E3-122B-2E76-CA5CF9494F6E}"/>
              </a:ext>
            </a:extLst>
          </p:cNvPr>
          <p:cNvSpPr/>
          <p:nvPr/>
        </p:nvSpPr>
        <p:spPr>
          <a:xfrm>
            <a:off x="5344318" y="950440"/>
            <a:ext cx="1670801" cy="1627814"/>
          </a:xfrm>
          <a:prstGeom prst="rect">
            <a:avLst/>
          </a:prstGeom>
          <a:solidFill>
            <a:srgbClr val="FFF469"/>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a:latin typeface="Arial" panose="020B0604020202020204" pitchFamily="34" charset="0"/>
            </a:endParaRPr>
          </a:p>
        </p:txBody>
      </p:sp>
      <p:sp>
        <p:nvSpPr>
          <p:cNvPr id="34" name="Rectangle 33">
            <a:extLst>
              <a:ext uri="{FF2B5EF4-FFF2-40B4-BE49-F238E27FC236}">
                <a16:creationId xmlns:a16="http://schemas.microsoft.com/office/drawing/2014/main" id="{BA7B6EA4-C2F0-6AFE-90A1-E3D42353D4DC}"/>
              </a:ext>
            </a:extLst>
          </p:cNvPr>
          <p:cNvSpPr/>
          <p:nvPr/>
        </p:nvSpPr>
        <p:spPr>
          <a:xfrm>
            <a:off x="5344318" y="2772232"/>
            <a:ext cx="1670801" cy="162781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a:latin typeface="Arial" panose="020B0604020202020204" pitchFamily="34" charset="0"/>
            </a:endParaRPr>
          </a:p>
        </p:txBody>
      </p:sp>
      <p:sp>
        <p:nvSpPr>
          <p:cNvPr id="35" name="Rectangle 34">
            <a:extLst>
              <a:ext uri="{FF2B5EF4-FFF2-40B4-BE49-F238E27FC236}">
                <a16:creationId xmlns:a16="http://schemas.microsoft.com/office/drawing/2014/main" id="{1F0E17AC-0E57-3222-6902-232EC79CA7EC}"/>
              </a:ext>
            </a:extLst>
          </p:cNvPr>
          <p:cNvSpPr/>
          <p:nvPr/>
        </p:nvSpPr>
        <p:spPr>
          <a:xfrm>
            <a:off x="3548312" y="958750"/>
            <a:ext cx="1670801" cy="162781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a:latin typeface="Arial" panose="020B0604020202020204" pitchFamily="34" charset="0"/>
            </a:endParaRPr>
          </a:p>
        </p:txBody>
      </p:sp>
      <p:sp>
        <p:nvSpPr>
          <p:cNvPr id="36" name="Rectangle 35">
            <a:extLst>
              <a:ext uri="{FF2B5EF4-FFF2-40B4-BE49-F238E27FC236}">
                <a16:creationId xmlns:a16="http://schemas.microsoft.com/office/drawing/2014/main" id="{62B26C7A-0E89-73BE-80DE-ED2E5FC7F60A}"/>
              </a:ext>
            </a:extLst>
          </p:cNvPr>
          <p:cNvSpPr/>
          <p:nvPr/>
        </p:nvSpPr>
        <p:spPr>
          <a:xfrm>
            <a:off x="3594030" y="2772232"/>
            <a:ext cx="1625084" cy="1627814"/>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G" sz="1200">
              <a:latin typeface="Arial" panose="020B0604020202020204" pitchFamily="34" charset="0"/>
            </a:endParaRPr>
          </a:p>
        </p:txBody>
      </p:sp>
      <p:sp>
        <p:nvSpPr>
          <p:cNvPr id="3" name="Title 1">
            <a:extLst>
              <a:ext uri="{FF2B5EF4-FFF2-40B4-BE49-F238E27FC236}">
                <a16:creationId xmlns:a16="http://schemas.microsoft.com/office/drawing/2014/main" id="{F84F406A-7E57-F892-3FA1-5197FE71A4ED}"/>
              </a:ext>
            </a:extLst>
          </p:cNvPr>
          <p:cNvSpPr>
            <a:spLocks noGrp="1"/>
          </p:cNvSpPr>
          <p:nvPr>
            <p:ph type="title"/>
          </p:nvPr>
        </p:nvSpPr>
        <p:spPr>
          <a:xfrm>
            <a:off x="89039" y="211686"/>
            <a:ext cx="8463385" cy="401639"/>
          </a:xfrm>
        </p:spPr>
        <p:txBody>
          <a:bodyPr/>
          <a:lstStyle/>
          <a:p>
            <a:r>
              <a:rPr lang="en-US" sz="3600" b="0">
                <a:latin typeface="Plaak 3 Trial Regular" panose="02000000000000000000" pitchFamily="2" charset="0"/>
              </a:rPr>
              <a:t>Step 4: Generate High-Impact Solutions - part 1 </a:t>
            </a:r>
            <a:endParaRPr lang="en-BG" sz="3600" b="0">
              <a:latin typeface="Plaak 3 Trial Regular" panose="02000000000000000000" pitchFamily="2" charset="0"/>
            </a:endParaRPr>
          </a:p>
        </p:txBody>
      </p:sp>
    </p:spTree>
    <p:extLst>
      <p:ext uri="{BB962C8B-B14F-4D97-AF65-F5344CB8AC3E}">
        <p14:creationId xmlns:p14="http://schemas.microsoft.com/office/powerpoint/2010/main" val="2732238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3E1E9-20E5-2EBD-D3E8-F87484A2F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BAB63-D780-F413-7E88-26B1347F9596}"/>
              </a:ext>
            </a:extLst>
          </p:cNvPr>
          <p:cNvSpPr>
            <a:spLocks noGrp="1"/>
          </p:cNvSpPr>
          <p:nvPr>
            <p:ph type="title"/>
          </p:nvPr>
        </p:nvSpPr>
        <p:spPr>
          <a:xfrm>
            <a:off x="89039" y="211686"/>
            <a:ext cx="7867606" cy="401639"/>
          </a:xfrm>
        </p:spPr>
        <p:txBody>
          <a:bodyPr anchor="b"/>
          <a:lstStyle/>
          <a:p>
            <a:r>
              <a:rPr lang="en-US" sz="3600" b="0">
                <a:latin typeface="Plaak 3 Trial Regular" panose="02000000000000000000" pitchFamily="2" charset="0"/>
              </a:rPr>
              <a:t>Step 4: Generate High-Impact Solutions - part 2</a:t>
            </a:r>
            <a:endParaRPr lang="en-BG" sz="3600" b="0">
              <a:latin typeface="Plaak 3 Trial Regular" panose="02000000000000000000" pitchFamily="2" charset="0"/>
            </a:endParaRPr>
          </a:p>
        </p:txBody>
      </p:sp>
      <p:graphicFrame>
        <p:nvGraphicFramePr>
          <p:cNvPr id="3" name="Table 2">
            <a:extLst>
              <a:ext uri="{FF2B5EF4-FFF2-40B4-BE49-F238E27FC236}">
                <a16:creationId xmlns:a16="http://schemas.microsoft.com/office/drawing/2014/main" id="{9ACBFCC0-4D26-EDB2-69BD-642EDA76A580}"/>
              </a:ext>
            </a:extLst>
          </p:cNvPr>
          <p:cNvGraphicFramePr>
            <a:graphicFrameLocks noGrp="1"/>
          </p:cNvGraphicFramePr>
          <p:nvPr>
            <p:extLst>
              <p:ext uri="{D42A27DB-BD31-4B8C-83A1-F6EECF244321}">
                <p14:modId xmlns:p14="http://schemas.microsoft.com/office/powerpoint/2010/main" val="905907800"/>
              </p:ext>
            </p:extLst>
          </p:nvPr>
        </p:nvGraphicFramePr>
        <p:xfrm>
          <a:off x="130174" y="771613"/>
          <a:ext cx="9709861" cy="6624168"/>
        </p:xfrm>
        <a:graphic>
          <a:graphicData uri="http://schemas.openxmlformats.org/drawingml/2006/table">
            <a:tbl>
              <a:tblPr firstRow="1" bandRow="1">
                <a:tableStyleId>{2D5ABB26-0587-4C30-8999-92F81FD0307C}</a:tableStyleId>
              </a:tblPr>
              <a:tblGrid>
                <a:gridCol w="4823998">
                  <a:extLst>
                    <a:ext uri="{9D8B030D-6E8A-4147-A177-3AD203B41FA5}">
                      <a16:colId xmlns:a16="http://schemas.microsoft.com/office/drawing/2014/main" val="3308902235"/>
                    </a:ext>
                  </a:extLst>
                </a:gridCol>
                <a:gridCol w="4885863">
                  <a:extLst>
                    <a:ext uri="{9D8B030D-6E8A-4147-A177-3AD203B41FA5}">
                      <a16:colId xmlns:a16="http://schemas.microsoft.com/office/drawing/2014/main" val="1174125584"/>
                    </a:ext>
                  </a:extLst>
                </a:gridCol>
              </a:tblGrid>
              <a:tr h="47103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panose="020B0604020202020204" pitchFamily="34" charset="0"/>
                          <a:ea typeface="Riforma LL" panose="020B0504020101020102" pitchFamily="34" charset="77"/>
                          <a:cs typeface="Arial" panose="020B0604020202020204" pitchFamily="34" charset="0"/>
                        </a:rPr>
                        <a:t>Law of Subtraction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panose="020B0604020202020204" pitchFamily="34" charset="0"/>
                          <a:ea typeface="Riforma LL" panose="020B0504020101020102" pitchFamily="34" charset="77"/>
                          <a:cs typeface="Arial" panose="020B0604020202020204" pitchFamily="34" charset="0"/>
                        </a:rPr>
                        <a:t>Confirm the solution can be implemented with existing resources.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50878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ptos" panose="020B0004020202020204" pitchFamily="34" charset="0"/>
                          <a:ea typeface="+mn-ea"/>
                          <a:cs typeface="+mn-cs"/>
                        </a:rPr>
                        <a:t>What steps or actions can we remove to make the solution simpler and more direct?</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lvl="0" algn="l">
                        <a:lnSpc>
                          <a:spcPct val="100000"/>
                        </a:lnSpc>
                        <a:spcBef>
                          <a:spcPts val="0"/>
                        </a:spcBef>
                        <a:spcAft>
                          <a:spcPts val="0"/>
                        </a:spcAft>
                        <a:buNone/>
                      </a:pPr>
                      <a:r>
                        <a:rPr lang="en-US" sz="1200" b="0" i="0" kern="1200" noProof="0">
                          <a:solidFill>
                            <a:schemeClr val="tx1"/>
                          </a:solidFill>
                          <a:latin typeface="Aptos" panose="020B0004020202020204" pitchFamily="34" charset="0"/>
                        </a:rPr>
                        <a:t>Can this solution be implemented immediately with the resources we have?</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14847072"/>
                  </a:ext>
                </a:extLst>
              </a:tr>
              <a:tr h="1248598">
                <a:tc>
                  <a:txBody>
                    <a:bodyPr/>
                    <a:lstStyle/>
                    <a:p>
                      <a:endParaRPr lang="en-US" sz="1200" b="0" i="0" kern="1200">
                        <a:solidFill>
                          <a:schemeClr val="tx1"/>
                        </a:solidFill>
                        <a:latin typeface="Aptos" panose="020B0004020202020204" pitchFamily="34" charset="0"/>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buNone/>
                      </a:pPr>
                      <a:endParaRPr lang="en-US" sz="1200" b="0" i="0" kern="1200" noProof="0">
                        <a:solidFill>
                          <a:schemeClr val="tx1"/>
                        </a:solidFill>
                        <a:latin typeface="Aptos" panose="020B0004020202020204" pitchFamily="34" charset="0"/>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1459937"/>
                  </a:ext>
                </a:extLst>
              </a:tr>
              <a:tr h="50816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ptos" panose="020B0004020202020204" pitchFamily="34" charset="0"/>
                          <a:ea typeface="+mn-ea"/>
                          <a:cs typeface="+mn-cs"/>
                        </a:rPr>
                        <a:t>Are there unnecessary features, processes, or steps in our proposed solutions?</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kern="1200" noProof="0">
                          <a:solidFill>
                            <a:schemeClr val="tx1"/>
                          </a:solidFill>
                          <a:latin typeface="Aptos" panose="020B0004020202020204" pitchFamily="34" charset="0"/>
                        </a:rPr>
                        <a:t>What is the cost (time, money, effort) of implementing this solution, and does the expected impact justify it?</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318749878"/>
                  </a:ext>
                </a:extLst>
              </a:tr>
              <a:tr h="1112166">
                <a:tc>
                  <a:txBody>
                    <a:bodyPr/>
                    <a:lstStyle/>
                    <a:p>
                      <a:endParaRPr lang="en-US" sz="1200" b="0" i="0" kern="1200">
                        <a:solidFill>
                          <a:schemeClr val="tx1"/>
                        </a:solidFill>
                        <a:latin typeface="Aptos" panose="020B0004020202020204" pitchFamily="34" charset="0"/>
                        <a:ea typeface="Riforma LL" panose="020B0504020101020102" pitchFamily="34" charset="77"/>
                        <a:cs typeface="Riforma LL" panose="020B0504020101020102" pitchFamily="34" charset="77"/>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endParaRPr lang="en-US" sz="1200" b="0" i="0" kern="1200" noProof="0">
                        <a:solidFill>
                          <a:schemeClr val="tx1"/>
                        </a:solidFill>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5863688"/>
                  </a:ext>
                </a:extLst>
              </a:tr>
              <a:tr h="50878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ptos" panose="020B0004020202020204" pitchFamily="34" charset="0"/>
                          <a:ea typeface="+mn-ea"/>
                          <a:cs typeface="+mn-cs"/>
                        </a:rPr>
                        <a:t>What is the minimum viable solution that still effectively addresses the root cause?</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kern="1200" noProof="0">
                          <a:solidFill>
                            <a:schemeClr val="tx1"/>
                          </a:solidFill>
                          <a:latin typeface="Aptos" panose="020B0004020202020204" pitchFamily="34" charset="0"/>
                        </a:rPr>
                        <a:t>Do we have the skills, tools, or capacity needed to execute this solution?</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265844164"/>
                  </a:ext>
                </a:extLst>
              </a:tr>
              <a:tr h="895009">
                <a:tc>
                  <a:txBody>
                    <a:bodyPr/>
                    <a:lstStyle/>
                    <a:p>
                      <a:endParaRPr lang="en-US" sz="1200" b="0" i="0" kern="1200">
                        <a:solidFill>
                          <a:schemeClr val="tx1"/>
                        </a:solidFill>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endParaRPr lang="en-US" sz="1200" b="0" i="0" kern="1200" noProof="0">
                        <a:solidFill>
                          <a:schemeClr val="tx1"/>
                        </a:solidFill>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7113386"/>
                  </a:ext>
                </a:extLst>
              </a:tr>
              <a:tr h="508786">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Aptos" panose="020B0004020202020204" pitchFamily="34" charset="0"/>
                          <a:ea typeface="+mn-ea"/>
                          <a:cs typeface="+mn-cs"/>
                        </a:rPr>
                        <a:t>How can we design the solution to require fewer resources or dependencies?</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kern="1200" noProof="0">
                          <a:solidFill>
                            <a:schemeClr val="tx1"/>
                          </a:solidFill>
                          <a:latin typeface="Aptos" panose="020B0004020202020204" pitchFamily="34" charset="0"/>
                        </a:rPr>
                        <a:t>Are there any quick wins or low-hanging fruit we can tackle right now?</a:t>
                      </a: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69620564"/>
                  </a:ext>
                </a:extLst>
              </a:tr>
              <a:tr h="631277">
                <a:tc>
                  <a:txBody>
                    <a:bodyPr/>
                    <a:lstStyle/>
                    <a:p>
                      <a:endParaRPr lang="en-US" sz="1200" b="0" i="0" kern="1200">
                        <a:solidFill>
                          <a:schemeClr val="tx1"/>
                        </a:solidFill>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endParaRPr lang="en-US" sz="1200" b="0" i="0" kern="1200" noProof="0">
                        <a:solidFill>
                          <a:schemeClr val="tx1"/>
                        </a:solidFill>
                        <a:latin typeface="Aptos" panose="020B0004020202020204" pitchFamily="34" charset="0"/>
                        <a:ea typeface="+mn-ea"/>
                        <a:cs typeface="+mn-cs"/>
                      </a:endParaRPr>
                    </a:p>
                    <a:p>
                      <a:pPr lvl="0">
                        <a:buNone/>
                      </a:pPr>
                      <a:endParaRPr lang="en-US" sz="1200" b="0" i="0" kern="1200" noProof="0">
                        <a:solidFill>
                          <a:schemeClr val="tx1"/>
                        </a:solidFill>
                        <a:latin typeface="Aptos" panose="020B0004020202020204" pitchFamily="34" charset="0"/>
                        <a:ea typeface="+mn-ea"/>
                        <a:cs typeface="+mn-cs"/>
                      </a:endParaRPr>
                    </a:p>
                    <a:p>
                      <a:pPr lvl="0">
                        <a:buNone/>
                      </a:pPr>
                      <a:endParaRPr lang="en-US" sz="1200" b="0" i="0" kern="1200" noProof="0">
                        <a:solidFill>
                          <a:schemeClr val="tx1"/>
                        </a:solidFill>
                        <a:latin typeface="Aptos" panose="020B0004020202020204" pitchFamily="34" charset="0"/>
                        <a:ea typeface="+mn-ea"/>
                        <a:cs typeface="+mn-cs"/>
                      </a:endParaRPr>
                    </a:p>
                    <a:p>
                      <a:pPr lvl="0">
                        <a:buNone/>
                      </a:pPr>
                      <a:endParaRPr lang="en-US" sz="1200" b="0" i="0" kern="1200" noProof="0">
                        <a:solidFill>
                          <a:schemeClr val="tx1"/>
                        </a:solidFill>
                        <a:latin typeface="Aptos" panose="020B0004020202020204" pitchFamily="34" charset="0"/>
                        <a:ea typeface="+mn-ea"/>
                        <a:cs typeface="+mn-cs"/>
                      </a:endParaRPr>
                    </a:p>
                  </a:txBody>
                  <a:tcPr marL="84193" marR="84193" marT="42097" marB="42097"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5656046"/>
                  </a:ext>
                </a:extLst>
              </a:tr>
            </a:tbl>
          </a:graphicData>
        </a:graphic>
      </p:graphicFrame>
    </p:spTree>
    <p:extLst>
      <p:ext uri="{BB962C8B-B14F-4D97-AF65-F5344CB8AC3E}">
        <p14:creationId xmlns:p14="http://schemas.microsoft.com/office/powerpoint/2010/main" val="3489980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E6635-FBBA-4A9E-1250-1EEBEAB895DA}"/>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B211364-2CCE-0B45-6ECC-51116A0116FA}"/>
              </a:ext>
            </a:extLst>
          </p:cNvPr>
          <p:cNvGraphicFramePr>
            <a:graphicFrameLocks noGrp="1"/>
          </p:cNvGraphicFramePr>
          <p:nvPr>
            <p:extLst>
              <p:ext uri="{D42A27DB-BD31-4B8C-83A1-F6EECF244321}">
                <p14:modId xmlns:p14="http://schemas.microsoft.com/office/powerpoint/2010/main" val="4021401922"/>
              </p:ext>
            </p:extLst>
          </p:nvPr>
        </p:nvGraphicFramePr>
        <p:xfrm>
          <a:off x="197707" y="707528"/>
          <a:ext cx="9740772" cy="6643635"/>
        </p:xfrm>
        <a:graphic>
          <a:graphicData uri="http://schemas.openxmlformats.org/drawingml/2006/table">
            <a:tbl>
              <a:tblPr firstRow="1" bandRow="1">
                <a:tableStyleId>{2D5ABB26-0587-4C30-8999-92F81FD0307C}</a:tableStyleId>
              </a:tblPr>
              <a:tblGrid>
                <a:gridCol w="3246924">
                  <a:extLst>
                    <a:ext uri="{9D8B030D-6E8A-4147-A177-3AD203B41FA5}">
                      <a16:colId xmlns:a16="http://schemas.microsoft.com/office/drawing/2014/main" val="3313590318"/>
                    </a:ext>
                  </a:extLst>
                </a:gridCol>
                <a:gridCol w="3246924">
                  <a:extLst>
                    <a:ext uri="{9D8B030D-6E8A-4147-A177-3AD203B41FA5}">
                      <a16:colId xmlns:a16="http://schemas.microsoft.com/office/drawing/2014/main" val="2037221690"/>
                    </a:ext>
                  </a:extLst>
                </a:gridCol>
                <a:gridCol w="3246924">
                  <a:extLst>
                    <a:ext uri="{9D8B030D-6E8A-4147-A177-3AD203B41FA5}">
                      <a16:colId xmlns:a16="http://schemas.microsoft.com/office/drawing/2014/main" val="1141431981"/>
                    </a:ext>
                  </a:extLst>
                </a:gridCol>
              </a:tblGrid>
              <a:tr h="306771">
                <a:tc>
                  <a:txBody>
                    <a:bodyPr/>
                    <a:lstStyle/>
                    <a:p>
                      <a:r>
                        <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rPr>
                        <a:t>Action steps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rPr>
                        <a:t>Who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rPr>
                        <a:t>When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553444230"/>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0355713"/>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7831091"/>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191955"/>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0776221"/>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9489280"/>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850026"/>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9745525"/>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0169912"/>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2949818"/>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532393"/>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1499567"/>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8239439"/>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0605932"/>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6548402"/>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6958448"/>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5433600"/>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446656"/>
                  </a:ext>
                </a:extLst>
              </a:tr>
              <a:tr h="352048">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b="0" i="0">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2079225"/>
                  </a:ext>
                </a:extLst>
              </a:tr>
            </a:tbl>
          </a:graphicData>
        </a:graphic>
      </p:graphicFrame>
      <p:sp>
        <p:nvSpPr>
          <p:cNvPr id="2" name="Title 1">
            <a:extLst>
              <a:ext uri="{FF2B5EF4-FFF2-40B4-BE49-F238E27FC236}">
                <a16:creationId xmlns:a16="http://schemas.microsoft.com/office/drawing/2014/main" id="{24AEC63B-0041-9442-6CD4-8267F6231374}"/>
              </a:ext>
            </a:extLst>
          </p:cNvPr>
          <p:cNvSpPr>
            <a:spLocks noGrp="1"/>
          </p:cNvSpPr>
          <p:nvPr>
            <p:ph type="title"/>
          </p:nvPr>
        </p:nvSpPr>
        <p:spPr>
          <a:xfrm>
            <a:off x="89039" y="211686"/>
            <a:ext cx="6413361" cy="401639"/>
          </a:xfrm>
        </p:spPr>
        <p:txBody>
          <a:bodyPr/>
          <a:lstStyle/>
          <a:p>
            <a:r>
              <a:rPr lang="en-US" sz="3600" b="0">
                <a:latin typeface="Plaak 3 Trial Regular" panose="02000000000000000000" pitchFamily="2" charset="0"/>
              </a:rPr>
              <a:t>Step 5: www</a:t>
            </a:r>
            <a:endParaRPr lang="en-BG" sz="3600" b="0">
              <a:latin typeface="Plaak 3 Trial Regular" panose="02000000000000000000" pitchFamily="2" charset="0"/>
            </a:endParaRPr>
          </a:p>
        </p:txBody>
      </p:sp>
    </p:spTree>
    <p:extLst>
      <p:ext uri="{BB962C8B-B14F-4D97-AF65-F5344CB8AC3E}">
        <p14:creationId xmlns:p14="http://schemas.microsoft.com/office/powerpoint/2010/main" val="4258972767"/>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7</Slides>
  <Notes>7</Notes>
  <HiddenSlides>0</HiddenSlides>
  <ScaleCrop>false</ScaleCrop>
  <HeadingPairs>
    <vt:vector size="4" baseType="variant">
      <vt:variant>
        <vt:lpstr>Theme</vt:lpstr>
      </vt:variant>
      <vt:variant>
        <vt:i4>3</vt:i4>
      </vt:variant>
      <vt:variant>
        <vt:lpstr>Slide Titles</vt:lpstr>
      </vt:variant>
      <vt:variant>
        <vt:i4>7</vt:i4>
      </vt:variant>
    </vt:vector>
  </HeadingPairs>
  <TitlesOfParts>
    <vt:vector size="10" baseType="lpstr">
      <vt:lpstr>4_Custom Design</vt:lpstr>
      <vt:lpstr>5_Custom Design</vt:lpstr>
      <vt:lpstr>SOLIDS</vt:lpstr>
      <vt:lpstr>Step 1: Clarify the Core Problem </vt:lpstr>
      <vt:lpstr>Step 2: Deconstruct the Problem </vt:lpstr>
      <vt:lpstr>Step 3: Identify the Root Cause - part 1</vt:lpstr>
      <vt:lpstr>Step 3: identify the root cause - part 2 </vt:lpstr>
      <vt:lpstr>Step 4: Generate High-Impact Solutions - part 1 </vt:lpstr>
      <vt:lpstr>Step 4: Generate High-Impact Solutions - part 2</vt:lpstr>
      <vt:lpstr>Step 5: www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revision>1</cp:revision>
  <cp:lastPrinted>2020-02-28T13:07:06Z</cp:lastPrinted>
  <dcterms:created xsi:type="dcterms:W3CDTF">2019-08-22T09:52:59Z</dcterms:created>
  <dcterms:modified xsi:type="dcterms:W3CDTF">2025-05-15T12:03:35Z</dcterms:modified>
</cp:coreProperties>
</file>