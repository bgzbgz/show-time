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10"/>
  </p:notesMasterIdLst>
  <p:handoutMasterIdLst>
    <p:handoutMasterId r:id="rId11"/>
  </p:handoutMasterIdLst>
  <p:sldIdLst>
    <p:sldId id="2480" r:id="rId4"/>
    <p:sldId id="2482" r:id="rId5"/>
    <p:sldId id="2479" r:id="rId6"/>
    <p:sldId id="2468" r:id="rId7"/>
    <p:sldId id="2416" r:id="rId8"/>
    <p:sldId id="2433" r:id="rId9"/>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12" autoAdjust="0"/>
    <p:restoredTop sz="93205" autoAdjust="0"/>
  </p:normalViewPr>
  <p:slideViewPr>
    <p:cSldViewPr snapToGrid="0">
      <p:cViewPr varScale="1">
        <p:scale>
          <a:sx n="176" d="100"/>
          <a:sy n="176" d="100"/>
        </p:scale>
        <p:origin x="3312"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10/24/24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10/24/24</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F146-2110-AB8B-0D19-8F7E3E7A5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F3270-BE1B-232B-C48D-3A9C6FA06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AFD257-D018-CF84-E5B9-40B016A9B77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13C5A2E9-012F-D4B5-FA3D-DB19ABFAEBCA}"/>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06497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2088D-5384-BB6D-F1C4-B14424CAC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8B710-5A23-7697-129D-B15B405C9E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A02FF-3C87-0D31-85E3-44E8E9981C0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B0F6896-92F5-F673-A1B2-70409418CEAA}"/>
              </a:ext>
            </a:extLst>
          </p:cNvPr>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47260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Identify your good and bad behaviors related to SLEEP. Set goals to work on the things you want to improve. Identify the ONE most important habit that will help you to achieve your goals and break it down into actionable steps. </a:t>
            </a:r>
          </a:p>
          <a:p>
            <a:pPr eaLnBrk="1" hangingPunct="1">
              <a:spcBef>
                <a:spcPts val="0"/>
              </a:spcBef>
              <a:defRPr/>
            </a:pPr>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a:p>
            <a:pPr eaLnBrk="1" hangingPunct="1">
              <a:spcBef>
                <a:spcPts val="0"/>
              </a:spcBef>
              <a:defRPr/>
            </a:pPr>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20480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defTabSz="914126"/>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Identify your good and bad behaviors related to sports. Set goals to work on the things you want to improve. Identify the ONE most important habit that will help you to achieve your movement goals and break it down into actionable steps.</a:t>
            </a:r>
          </a:p>
          <a:p>
            <a:pPr algn="just" defTabSz="914126"/>
            <a:endPar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endParaRPr>
          </a:p>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11078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Identify what events in your life you can control and what you can not. We should make deliberate efforts to channel and direct our thinking where it matters and stop spending time, energy, and thoughts on topics that don’t matter.</a:t>
            </a:r>
          </a:p>
          <a:p>
            <a:endParaRPr lang="en-US" b="0" dirty="0"/>
          </a:p>
        </p:txBody>
      </p:sp>
      <p:sp>
        <p:nvSpPr>
          <p:cNvPr id="4" name="Slide Number Placeholder 3"/>
          <p:cNvSpPr>
            <a:spLocks noGrp="1"/>
          </p:cNvSpPr>
          <p:nvPr>
            <p:ph type="sldNum" sz="quarter" idx="5"/>
          </p:nvPr>
        </p:nvSpPr>
        <p:spPr/>
        <p:txBody>
          <a:bodyPr/>
          <a:lstStyle/>
          <a:p>
            <a:pPr defTabSz="925464">
              <a:defRPr/>
            </a:pPr>
            <a:fld id="{D1F6A1A1-8B93-49C9-AFC7-D0DF50B75203}" type="slidenum">
              <a:rPr lang="en-US">
                <a:solidFill>
                  <a:prstClr val="black"/>
                </a:solidFill>
              </a:rPr>
              <a:pPr defTabSz="925464">
                <a:defRPr/>
              </a:pPr>
              <a:t>5</a:t>
            </a:fld>
            <a:endParaRPr lang="en-US">
              <a:solidFill>
                <a:prstClr val="black"/>
              </a:solidFill>
            </a:endParaRPr>
          </a:p>
        </p:txBody>
      </p:sp>
    </p:spTree>
    <p:extLst>
      <p:ext uri="{BB962C8B-B14F-4D97-AF65-F5344CB8AC3E}">
        <p14:creationId xmlns:p14="http://schemas.microsoft.com/office/powerpoint/2010/main" val="661864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solidFill>
                  <a:prstClr val="black"/>
                </a:solidFill>
                <a:latin typeface="Arial" panose="020B0604020202020204" pitchFamily="34" charset="0"/>
                <a:ea typeface="Riforma LL" panose="020B0504020101020102" pitchFamily="34" charset="77"/>
                <a:cs typeface="Arial" panose="020B0604020202020204" pitchFamily="34" charset="0"/>
              </a:rPr>
              <a:t>List the most important (good and bad) events that have happened to you over the past week. How did you react to them? Look back and try to become aware of the reason behind your actions, e.g., love or frustration. Would you have reacted differently if you were aware of these before?</a:t>
            </a:r>
          </a:p>
          <a:p>
            <a:endParaRPr lang="en-BG" dirty="0"/>
          </a:p>
        </p:txBody>
      </p:sp>
      <p:sp>
        <p:nvSpPr>
          <p:cNvPr id="4" name="Slide Number Placeholder 3"/>
          <p:cNvSpPr>
            <a:spLocks noGrp="1"/>
          </p:cNvSpPr>
          <p:nvPr>
            <p:ph type="sldNum" sz="quarter" idx="5"/>
          </p:nvPr>
        </p:nvSpPr>
        <p:spPr/>
        <p:txBody>
          <a:bodyPr/>
          <a:lstStyle/>
          <a:p>
            <a:pPr>
              <a:defRPr/>
            </a:pPr>
            <a:fld id="{D1F6A1A1-8B93-49C9-AFC7-D0DF50B75203}" type="slidenum">
              <a:rPr lang="en-US" smtClean="0"/>
              <a:pPr>
                <a:defRPr/>
              </a:pPr>
              <a:t>6</a:t>
            </a:fld>
            <a:endParaRPr lang="en-US" dirty="0"/>
          </a:p>
        </p:txBody>
      </p:sp>
    </p:spTree>
    <p:extLst>
      <p:ext uri="{BB962C8B-B14F-4D97-AF65-F5344CB8AC3E}">
        <p14:creationId xmlns:p14="http://schemas.microsoft.com/office/powerpoint/2010/main" val="1435886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B4D9A-5BE0-CCF6-4FBB-27329A8F879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ED262AE-BF40-762C-2EFC-1553C9872286}"/>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7257" y="-14062"/>
            <a:ext cx="5217886" cy="565271"/>
          </a:xfrm>
          <a:prstGeom prst="rect">
            <a:avLst/>
          </a:prstGeom>
        </p:spPr>
      </p:pic>
      <p:pic>
        <p:nvPicPr>
          <p:cNvPr id="8" name="Picture 7">
            <a:extLst>
              <a:ext uri="{FF2B5EF4-FFF2-40B4-BE49-F238E27FC236}">
                <a16:creationId xmlns:a16="http://schemas.microsoft.com/office/drawing/2014/main" id="{20F4A07B-A3E6-B058-F7D1-35F5F026FBC8}"/>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62832" t="14056"/>
          <a:stretch/>
        </p:blipFill>
        <p:spPr>
          <a:xfrm>
            <a:off x="6377049" y="74686"/>
            <a:ext cx="3772322" cy="456658"/>
          </a:xfrm>
          <a:prstGeom prst="rect">
            <a:avLst/>
          </a:prstGeom>
        </p:spPr>
      </p:pic>
      <p:graphicFrame>
        <p:nvGraphicFramePr>
          <p:cNvPr id="14" name="Table 13">
            <a:extLst>
              <a:ext uri="{FF2B5EF4-FFF2-40B4-BE49-F238E27FC236}">
                <a16:creationId xmlns:a16="http://schemas.microsoft.com/office/drawing/2014/main" id="{6766DD1D-F644-4358-24FC-56A17D0514BF}"/>
              </a:ext>
            </a:extLst>
          </p:cNvPr>
          <p:cNvGraphicFramePr>
            <a:graphicFrameLocks noGrp="1"/>
          </p:cNvGraphicFramePr>
          <p:nvPr/>
        </p:nvGraphicFramePr>
        <p:xfrm>
          <a:off x="228943" y="664029"/>
          <a:ext cx="2828582" cy="3111023"/>
        </p:xfrm>
        <a:graphic>
          <a:graphicData uri="http://schemas.openxmlformats.org/drawingml/2006/table">
            <a:tbl>
              <a:tblPr>
                <a:tableStyleId>{F5AB1C69-6EDB-4FF4-983F-18BD219EF322}</a:tableStyleId>
              </a:tblPr>
              <a:tblGrid>
                <a:gridCol w="2828582">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r>
                        <a:rPr lang="en-GB" sz="1200" dirty="0"/>
                        <a:t>List the positive </a:t>
                      </a:r>
                      <a:r>
                        <a:rPr lang="en-GB" sz="1200" dirty="0" err="1"/>
                        <a:t>behaviors</a:t>
                      </a:r>
                      <a:r>
                        <a:rPr lang="en-GB" sz="1200" dirty="0"/>
                        <a:t> and strategies you currently practice (e.g., "I drink plenty of water," "I eat vegetables with every meal").</a:t>
                      </a:r>
                      <a:r>
                        <a:rPr lang="en-GB" sz="1200" b="1" dirty="0"/>
                        <a:t> </a:t>
                      </a:r>
                    </a:p>
                    <a:p>
                      <a:endParaRPr lang="en-GB" sz="1200" b="1" dirty="0"/>
                    </a:p>
                    <a:p>
                      <a:r>
                        <a:rPr lang="en-GB" sz="1200" dirty="0"/>
                        <a:t>Write down why improving your nutrition is important to you (e.g., "To increase my energy levels," "To improve long-term health").</a:t>
                      </a:r>
                      <a:endParaRPr lang="en-US" sz="1200" dirty="0">
                        <a:effectLst/>
                      </a:endParaRPr>
                    </a:p>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5" name="Table 14">
            <a:extLst>
              <a:ext uri="{FF2B5EF4-FFF2-40B4-BE49-F238E27FC236}">
                <a16:creationId xmlns:a16="http://schemas.microsoft.com/office/drawing/2014/main" id="{29F305A3-14AC-1E3C-644A-FF5D4828ACB6}"/>
              </a:ext>
            </a:extLst>
          </p:cNvPr>
          <p:cNvGraphicFramePr>
            <a:graphicFrameLocks noGrp="1"/>
          </p:cNvGraphicFramePr>
          <p:nvPr/>
        </p:nvGraphicFramePr>
        <p:xfrm>
          <a:off x="3177089" y="664029"/>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NOT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r>
                        <a:rPr lang="en-GB" sz="1200" dirty="0"/>
                        <a:t>Identify the </a:t>
                      </a:r>
                      <a:r>
                        <a:rPr lang="en-GB" sz="1200" dirty="0" err="1"/>
                        <a:t>behaviors</a:t>
                      </a:r>
                      <a:r>
                        <a:rPr lang="en-GB" sz="1200" dirty="0"/>
                        <a:t> you need to improve (e.g., "I eat too much sugar," "I skip breakfast").</a:t>
                      </a:r>
                    </a:p>
                    <a:p>
                      <a:endParaRPr lang="en-GB" sz="1200" dirty="0"/>
                    </a:p>
                    <a:p>
                      <a:r>
                        <a:rPr lang="en-GB" sz="1200" dirty="0"/>
                        <a:t>Note down any situations, emotions, or environments that trigger these unhealthy habits (e.g., "Stressful workdays lead to snacking").</a:t>
                      </a:r>
                      <a:endParaRPr lang="en-US" sz="1200" dirty="0">
                        <a:effectLst/>
                      </a:endParaRPr>
                    </a:p>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6" name="Table 15">
            <a:extLst>
              <a:ext uri="{FF2B5EF4-FFF2-40B4-BE49-F238E27FC236}">
                <a16:creationId xmlns:a16="http://schemas.microsoft.com/office/drawing/2014/main" id="{655F6F54-B729-E74C-764A-FB53EBC1E2DE}"/>
              </a:ext>
            </a:extLst>
          </p:cNvPr>
          <p:cNvGraphicFramePr>
            <a:graphicFrameLocks noGrp="1"/>
          </p:cNvGraphicFramePr>
          <p:nvPr/>
        </p:nvGraphicFramePr>
        <p:xfrm>
          <a:off x="6639459" y="670402"/>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My Goals</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r>
                        <a:rPr lang="en-GB" sz="1200" dirty="0"/>
                        <a:t>List your specific, measurable nutrition goals (e.g., "Cut down sugar intake to less than 25g per day," "Have a balanced breakfast every morning").</a:t>
                      </a:r>
                    </a:p>
                    <a:p>
                      <a:endParaRPr lang="en-GB" sz="1200" b="1" dirty="0"/>
                    </a:p>
                    <a:p>
                      <a:r>
                        <a:rPr lang="en-GB" sz="1200" dirty="0"/>
                        <a:t>Define how you will measure success (e.g., "Track daily sugar intake," "Weekly check-in on breakfast habits").</a:t>
                      </a:r>
                      <a:endParaRPr lang="en-US" sz="1200" dirty="0">
                        <a:effectLst/>
                      </a:endParaRPr>
                    </a:p>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7" name="Table 16">
            <a:extLst>
              <a:ext uri="{FF2B5EF4-FFF2-40B4-BE49-F238E27FC236}">
                <a16:creationId xmlns:a16="http://schemas.microsoft.com/office/drawing/2014/main" id="{8136BCCB-B1B9-0D9E-520A-C0E9643FBE41}"/>
              </a:ext>
            </a:extLst>
          </p:cNvPr>
          <p:cNvGraphicFramePr>
            <a:graphicFrameLocks noGrp="1"/>
          </p:cNvGraphicFramePr>
          <p:nvPr>
            <p:extLst>
              <p:ext uri="{D42A27DB-BD31-4B8C-83A1-F6EECF244321}">
                <p14:modId xmlns:p14="http://schemas.microsoft.com/office/powerpoint/2010/main" val="4199856725"/>
              </p:ext>
            </p:extLst>
          </p:nvPr>
        </p:nvGraphicFramePr>
        <p:xfrm>
          <a:off x="243567" y="3912052"/>
          <a:ext cx="9738698" cy="3370487"/>
        </p:xfrm>
        <a:graphic>
          <a:graphicData uri="http://schemas.openxmlformats.org/drawingml/2006/table">
            <a:tbl>
              <a:tblPr>
                <a:tableStyleId>{F5AB1C69-6EDB-4FF4-983F-18BD219EF322}</a:tableStyleId>
              </a:tblPr>
              <a:tblGrid>
                <a:gridCol w="1465490">
                  <a:extLst>
                    <a:ext uri="{9D8B030D-6E8A-4147-A177-3AD203B41FA5}">
                      <a16:colId xmlns:a16="http://schemas.microsoft.com/office/drawing/2014/main" val="2283365220"/>
                    </a:ext>
                  </a:extLst>
                </a:gridCol>
                <a:gridCol w="8273208">
                  <a:extLst>
                    <a:ext uri="{9D8B030D-6E8A-4147-A177-3AD203B41FA5}">
                      <a16:colId xmlns:a16="http://schemas.microsoft.com/office/drawing/2014/main" val="72905577"/>
                    </a:ext>
                  </a:extLst>
                </a:gridCol>
              </a:tblGrid>
              <a:tr h="350252">
                <a:tc gridSpan="2">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Action plan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sz="12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04047">
                <a:tc>
                  <a:txBody>
                    <a:bodyPr/>
                    <a:lstStyle/>
                    <a:p>
                      <a:r>
                        <a:rPr lang="en-GB" sz="1100" b="1" dirty="0">
                          <a:latin typeface="Arial" panose="020B0604020202020204" pitchFamily="34" charset="0"/>
                          <a:cs typeface="Arial" panose="020B0604020202020204" pitchFamily="34" charset="0"/>
                        </a:rPr>
                        <a:t>ONE KEY HABIT TO DEVELOP</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dirty="0">
                          <a:latin typeface="Arial" panose="020B0604020202020204" pitchFamily="34" charset="0"/>
                          <a:cs typeface="Arial" panose="020B0604020202020204" pitchFamily="34" charset="0"/>
                        </a:rPr>
                        <a:t>For example, Consistently prepare and eat balanced meals.</a:t>
                      </a:r>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04047">
                <a:tc>
                  <a:txBody>
                    <a:bodyPr/>
                    <a:lstStyle/>
                    <a:p>
                      <a:r>
                        <a:rPr lang="en-GB" sz="1100" b="1" dirty="0">
                          <a:latin typeface="Arial" panose="020B0604020202020204" pitchFamily="34" charset="0"/>
                          <a:cs typeface="Arial" panose="020B0604020202020204" pitchFamily="34" charset="0"/>
                        </a:rPr>
                        <a:t>TRIGGER/</a:t>
                      </a:r>
                    </a:p>
                    <a:p>
                      <a:r>
                        <a:rPr lang="en-GB" sz="1100" b="1" dirty="0">
                          <a:latin typeface="Arial" panose="020B0604020202020204" pitchFamily="34" charset="0"/>
                          <a:cs typeface="Arial" panose="020B0604020202020204" pitchFamily="34" charset="0"/>
                        </a:rPr>
                        <a:t>REMINDER</a:t>
                      </a:r>
                      <a:endParaRPr lang="en-US" sz="1100" b="1"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r>
                        <a:rPr lang="en-GB" sz="1200" dirty="0">
                          <a:latin typeface="Arial" panose="020B0604020202020204" pitchFamily="34" charset="0"/>
                          <a:cs typeface="Arial" panose="020B0604020202020204" pitchFamily="34" charset="0"/>
                        </a:rPr>
                        <a:t>Identify what will remind you to perform this habit, e.g., Set a daily reminder to prepare meals.</a:t>
                      </a:r>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255586"/>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ROUTINE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r>
                        <a:rPr lang="en-GB" sz="1200" dirty="0">
                          <a:latin typeface="Arial" panose="020B0604020202020204" pitchFamily="34" charset="0"/>
                          <a:cs typeface="Arial" panose="020B0604020202020204" pitchFamily="34" charset="0"/>
                        </a:rPr>
                        <a:t>Clearly define the steps you'll take, e.g., Plan and prep meals every Sunday and Wednesday.</a:t>
                      </a:r>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267064"/>
                  </a:ext>
                </a:extLst>
              </a:tr>
              <a:tr h="604047">
                <a:tc>
                  <a:txBody>
                    <a:bodyPr/>
                    <a:lstStyle/>
                    <a:p>
                      <a:r>
                        <a:rPr lang="en-GB" sz="1100" b="1" dirty="0">
                          <a:latin typeface="Arial" panose="020B0604020202020204" pitchFamily="34" charset="0"/>
                          <a:cs typeface="Arial" panose="020B0604020202020204" pitchFamily="34" charset="0"/>
                        </a:rPr>
                        <a:t>REWARD</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r>
                        <a:rPr lang="en-GB" sz="1200" dirty="0">
                          <a:latin typeface="Arial" panose="020B0604020202020204" pitchFamily="34" charset="0"/>
                          <a:cs typeface="Arial" panose="020B0604020202020204" pitchFamily="34" charset="0"/>
                        </a:rPr>
                        <a:t>Decide on a small reward for successfully sticking to the habit</a:t>
                      </a:r>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800391"/>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ACCOUNTABILITY PARTNER</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r>
                        <a:rPr lang="en-GB" sz="1200" dirty="0">
                          <a:latin typeface="Arial" panose="020B0604020202020204" pitchFamily="34" charset="0"/>
                          <a:cs typeface="Arial" panose="020B0604020202020204" pitchFamily="34" charset="0"/>
                        </a:rPr>
                        <a:t>Who will you check in with regarding your progress? (e.g., "Text a friend at the end of each week").</a:t>
                      </a:r>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6270796"/>
                  </a:ext>
                </a:extLst>
              </a:tr>
            </a:tbl>
          </a:graphicData>
        </a:graphic>
      </p:graphicFrame>
    </p:spTree>
    <p:extLst>
      <p:ext uri="{BB962C8B-B14F-4D97-AF65-F5344CB8AC3E}">
        <p14:creationId xmlns:p14="http://schemas.microsoft.com/office/powerpoint/2010/main" val="23347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1D5E9-3826-EB3C-ED21-883F9A7BD01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1A2D23B-C5F9-29BB-278A-2CB9B5DB05FC}"/>
              </a:ext>
            </a:extLst>
          </p:cNvPr>
          <p:cNvPicPr>
            <a:picLocks noGrp="1" noRo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r="27704"/>
          <a:stretch/>
        </p:blipFill>
        <p:spPr>
          <a:xfrm>
            <a:off x="-7257" y="-14062"/>
            <a:ext cx="3772322" cy="565271"/>
          </a:xfrm>
          <a:prstGeom prst="rect">
            <a:avLst/>
          </a:prstGeom>
        </p:spPr>
      </p:pic>
      <p:graphicFrame>
        <p:nvGraphicFramePr>
          <p:cNvPr id="14" name="Table 13">
            <a:extLst>
              <a:ext uri="{FF2B5EF4-FFF2-40B4-BE49-F238E27FC236}">
                <a16:creationId xmlns:a16="http://schemas.microsoft.com/office/drawing/2014/main" id="{763F09DD-3304-9DE7-7C39-BF5CB4432789}"/>
              </a:ext>
            </a:extLst>
          </p:cNvPr>
          <p:cNvGraphicFramePr>
            <a:graphicFrameLocks noGrp="1"/>
          </p:cNvGraphicFramePr>
          <p:nvPr>
            <p:extLst>
              <p:ext uri="{D42A27DB-BD31-4B8C-83A1-F6EECF244321}">
                <p14:modId xmlns:p14="http://schemas.microsoft.com/office/powerpoint/2010/main" val="3908542662"/>
              </p:ext>
            </p:extLst>
          </p:nvPr>
        </p:nvGraphicFramePr>
        <p:xfrm>
          <a:off x="228943" y="664029"/>
          <a:ext cx="2828582" cy="3111023"/>
        </p:xfrm>
        <a:graphic>
          <a:graphicData uri="http://schemas.openxmlformats.org/drawingml/2006/table">
            <a:tbl>
              <a:tblPr>
                <a:tableStyleId>{F5AB1C69-6EDB-4FF4-983F-18BD219EF322}</a:tableStyleId>
              </a:tblPr>
              <a:tblGrid>
                <a:gridCol w="2828582">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5" name="Table 14">
            <a:extLst>
              <a:ext uri="{FF2B5EF4-FFF2-40B4-BE49-F238E27FC236}">
                <a16:creationId xmlns:a16="http://schemas.microsoft.com/office/drawing/2014/main" id="{4CE996D9-C180-72CE-913B-5F7824060ED9}"/>
              </a:ext>
            </a:extLst>
          </p:cNvPr>
          <p:cNvGraphicFramePr>
            <a:graphicFrameLocks noGrp="1"/>
          </p:cNvGraphicFramePr>
          <p:nvPr>
            <p:extLst>
              <p:ext uri="{D42A27DB-BD31-4B8C-83A1-F6EECF244321}">
                <p14:modId xmlns:p14="http://schemas.microsoft.com/office/powerpoint/2010/main" val="3119097759"/>
              </p:ext>
            </p:extLst>
          </p:nvPr>
        </p:nvGraphicFramePr>
        <p:xfrm>
          <a:off x="3177089" y="664029"/>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NOT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6" name="Table 15">
            <a:extLst>
              <a:ext uri="{FF2B5EF4-FFF2-40B4-BE49-F238E27FC236}">
                <a16:creationId xmlns:a16="http://schemas.microsoft.com/office/drawing/2014/main" id="{3228D6BD-7F99-DB24-32D3-94D4F202CA05}"/>
              </a:ext>
            </a:extLst>
          </p:cNvPr>
          <p:cNvGraphicFramePr>
            <a:graphicFrameLocks noGrp="1"/>
          </p:cNvGraphicFramePr>
          <p:nvPr>
            <p:extLst>
              <p:ext uri="{D42A27DB-BD31-4B8C-83A1-F6EECF244321}">
                <p14:modId xmlns:p14="http://schemas.microsoft.com/office/powerpoint/2010/main" val="3267801855"/>
              </p:ext>
            </p:extLst>
          </p:nvPr>
        </p:nvGraphicFramePr>
        <p:xfrm>
          <a:off x="6639459" y="670402"/>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My Goals</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7" name="Table 16">
            <a:extLst>
              <a:ext uri="{FF2B5EF4-FFF2-40B4-BE49-F238E27FC236}">
                <a16:creationId xmlns:a16="http://schemas.microsoft.com/office/drawing/2014/main" id="{8DC80060-EDF1-7248-D395-671EB31E74E4}"/>
              </a:ext>
            </a:extLst>
          </p:cNvPr>
          <p:cNvGraphicFramePr>
            <a:graphicFrameLocks noGrp="1"/>
          </p:cNvGraphicFramePr>
          <p:nvPr>
            <p:extLst>
              <p:ext uri="{D42A27DB-BD31-4B8C-83A1-F6EECF244321}">
                <p14:modId xmlns:p14="http://schemas.microsoft.com/office/powerpoint/2010/main" val="3734836052"/>
              </p:ext>
            </p:extLst>
          </p:nvPr>
        </p:nvGraphicFramePr>
        <p:xfrm>
          <a:off x="243567" y="3912052"/>
          <a:ext cx="9738698" cy="3370487"/>
        </p:xfrm>
        <a:graphic>
          <a:graphicData uri="http://schemas.openxmlformats.org/drawingml/2006/table">
            <a:tbl>
              <a:tblPr>
                <a:tableStyleId>{F5AB1C69-6EDB-4FF4-983F-18BD219EF322}</a:tableStyleId>
              </a:tblPr>
              <a:tblGrid>
                <a:gridCol w="1465490">
                  <a:extLst>
                    <a:ext uri="{9D8B030D-6E8A-4147-A177-3AD203B41FA5}">
                      <a16:colId xmlns:a16="http://schemas.microsoft.com/office/drawing/2014/main" val="2283365220"/>
                    </a:ext>
                  </a:extLst>
                </a:gridCol>
                <a:gridCol w="8273208">
                  <a:extLst>
                    <a:ext uri="{9D8B030D-6E8A-4147-A177-3AD203B41FA5}">
                      <a16:colId xmlns:a16="http://schemas.microsoft.com/office/drawing/2014/main" val="72905577"/>
                    </a:ext>
                  </a:extLst>
                </a:gridCol>
              </a:tblGrid>
              <a:tr h="350252">
                <a:tc gridSpan="2">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Action plan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sz="12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04047">
                <a:tc>
                  <a:txBody>
                    <a:bodyPr/>
                    <a:lstStyle/>
                    <a:p>
                      <a:r>
                        <a:rPr lang="en-GB" sz="1100" b="1" dirty="0">
                          <a:latin typeface="Arial" panose="020B0604020202020204" pitchFamily="34" charset="0"/>
                          <a:cs typeface="Arial" panose="020B0604020202020204" pitchFamily="34" charset="0"/>
                        </a:rPr>
                        <a:t>ONE KEY HABIT TO DEVELOP</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04047">
                <a:tc>
                  <a:txBody>
                    <a:bodyPr/>
                    <a:lstStyle/>
                    <a:p>
                      <a:r>
                        <a:rPr lang="en-GB" sz="1100" b="1" dirty="0">
                          <a:latin typeface="Arial" panose="020B0604020202020204" pitchFamily="34" charset="0"/>
                          <a:cs typeface="Arial" panose="020B0604020202020204" pitchFamily="34" charset="0"/>
                        </a:rPr>
                        <a:t>TRIGGER/</a:t>
                      </a:r>
                    </a:p>
                    <a:p>
                      <a:r>
                        <a:rPr lang="en-GB" sz="1100" b="1" dirty="0">
                          <a:latin typeface="Arial" panose="020B0604020202020204" pitchFamily="34" charset="0"/>
                          <a:cs typeface="Arial" panose="020B0604020202020204" pitchFamily="34" charset="0"/>
                        </a:rPr>
                        <a:t>REMINDER</a:t>
                      </a:r>
                      <a:endParaRPr lang="en-US" sz="1100" b="1"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255586"/>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ROUTINE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267064"/>
                  </a:ext>
                </a:extLst>
              </a:tr>
              <a:tr h="604047">
                <a:tc>
                  <a:txBody>
                    <a:bodyPr/>
                    <a:lstStyle/>
                    <a:p>
                      <a:r>
                        <a:rPr lang="en-GB" sz="1100" b="1" dirty="0">
                          <a:latin typeface="Arial" panose="020B0604020202020204" pitchFamily="34" charset="0"/>
                          <a:cs typeface="Arial" panose="020B0604020202020204" pitchFamily="34" charset="0"/>
                        </a:rPr>
                        <a:t>REWARD</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800391"/>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ACCOUNTABILITY PARTNER</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6270796"/>
                  </a:ext>
                </a:extLst>
              </a:tr>
            </a:tbl>
          </a:graphicData>
        </a:graphic>
      </p:graphicFrame>
      <p:pic>
        <p:nvPicPr>
          <p:cNvPr id="2" name="Picture 1">
            <a:extLst>
              <a:ext uri="{FF2B5EF4-FFF2-40B4-BE49-F238E27FC236}">
                <a16:creationId xmlns:a16="http://schemas.microsoft.com/office/drawing/2014/main" id="{CA672887-284E-3104-DAAB-61788BD08FEB}"/>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62832" t="14056"/>
          <a:stretch/>
        </p:blipFill>
        <p:spPr>
          <a:xfrm>
            <a:off x="6377049" y="74686"/>
            <a:ext cx="3772322" cy="456658"/>
          </a:xfrm>
          <a:prstGeom prst="rect">
            <a:avLst/>
          </a:prstGeom>
        </p:spPr>
      </p:pic>
    </p:spTree>
    <p:extLst>
      <p:ext uri="{BB962C8B-B14F-4D97-AF65-F5344CB8AC3E}">
        <p14:creationId xmlns:p14="http://schemas.microsoft.com/office/powerpoint/2010/main" val="4191077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text on a white background&#10;&#10;Description automatically generated">
            <a:extLst>
              <a:ext uri="{FF2B5EF4-FFF2-40B4-BE49-F238E27FC236}">
                <a16:creationId xmlns:a16="http://schemas.microsoft.com/office/drawing/2014/main" id="{22D827CF-A286-E0D9-781C-39DC4EB8D4A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14514" y="-16544"/>
            <a:ext cx="3955143" cy="561893"/>
          </a:xfrm>
          <a:prstGeom prst="rect">
            <a:avLst/>
          </a:prstGeom>
        </p:spPr>
      </p:pic>
      <p:graphicFrame>
        <p:nvGraphicFramePr>
          <p:cNvPr id="10" name="Table 9">
            <a:extLst>
              <a:ext uri="{FF2B5EF4-FFF2-40B4-BE49-F238E27FC236}">
                <a16:creationId xmlns:a16="http://schemas.microsoft.com/office/drawing/2014/main" id="{35DF9E69-E3F5-6ED9-0C73-684E2EF271A3}"/>
              </a:ext>
            </a:extLst>
          </p:cNvPr>
          <p:cNvGraphicFramePr>
            <a:graphicFrameLocks noGrp="1"/>
          </p:cNvGraphicFramePr>
          <p:nvPr>
            <p:extLst>
              <p:ext uri="{D42A27DB-BD31-4B8C-83A1-F6EECF244321}">
                <p14:modId xmlns:p14="http://schemas.microsoft.com/office/powerpoint/2010/main" val="1570511688"/>
              </p:ext>
            </p:extLst>
          </p:nvPr>
        </p:nvGraphicFramePr>
        <p:xfrm>
          <a:off x="228943" y="664029"/>
          <a:ext cx="2828582" cy="3111023"/>
        </p:xfrm>
        <a:graphic>
          <a:graphicData uri="http://schemas.openxmlformats.org/drawingml/2006/table">
            <a:tbl>
              <a:tblPr>
                <a:tableStyleId>{F5AB1C69-6EDB-4FF4-983F-18BD219EF322}</a:tableStyleId>
              </a:tblPr>
              <a:tblGrid>
                <a:gridCol w="2828582">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1" name="Table 10">
            <a:extLst>
              <a:ext uri="{FF2B5EF4-FFF2-40B4-BE49-F238E27FC236}">
                <a16:creationId xmlns:a16="http://schemas.microsoft.com/office/drawing/2014/main" id="{C9EB8520-AC64-E6E3-D2C4-9424E1A3C8C3}"/>
              </a:ext>
            </a:extLst>
          </p:cNvPr>
          <p:cNvGraphicFramePr>
            <a:graphicFrameLocks noGrp="1"/>
          </p:cNvGraphicFramePr>
          <p:nvPr>
            <p:extLst>
              <p:ext uri="{D42A27DB-BD31-4B8C-83A1-F6EECF244321}">
                <p14:modId xmlns:p14="http://schemas.microsoft.com/office/powerpoint/2010/main" val="1512668590"/>
              </p:ext>
            </p:extLst>
          </p:nvPr>
        </p:nvGraphicFramePr>
        <p:xfrm>
          <a:off x="3177089" y="664029"/>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NOT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2" name="Table 11">
            <a:extLst>
              <a:ext uri="{FF2B5EF4-FFF2-40B4-BE49-F238E27FC236}">
                <a16:creationId xmlns:a16="http://schemas.microsoft.com/office/drawing/2014/main" id="{AD56D4FB-0A72-C985-8A96-8190A7F4D0C3}"/>
              </a:ext>
            </a:extLst>
          </p:cNvPr>
          <p:cNvGraphicFramePr>
            <a:graphicFrameLocks noGrp="1"/>
          </p:cNvGraphicFramePr>
          <p:nvPr>
            <p:extLst>
              <p:ext uri="{D42A27DB-BD31-4B8C-83A1-F6EECF244321}">
                <p14:modId xmlns:p14="http://schemas.microsoft.com/office/powerpoint/2010/main" val="180176950"/>
              </p:ext>
            </p:extLst>
          </p:nvPr>
        </p:nvGraphicFramePr>
        <p:xfrm>
          <a:off x="6639459" y="670402"/>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My Goals</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3" name="Table 12">
            <a:extLst>
              <a:ext uri="{FF2B5EF4-FFF2-40B4-BE49-F238E27FC236}">
                <a16:creationId xmlns:a16="http://schemas.microsoft.com/office/drawing/2014/main" id="{A734A49B-821B-3E1F-929B-A873EA388799}"/>
              </a:ext>
            </a:extLst>
          </p:cNvPr>
          <p:cNvGraphicFramePr>
            <a:graphicFrameLocks noGrp="1"/>
          </p:cNvGraphicFramePr>
          <p:nvPr>
            <p:extLst>
              <p:ext uri="{D42A27DB-BD31-4B8C-83A1-F6EECF244321}">
                <p14:modId xmlns:p14="http://schemas.microsoft.com/office/powerpoint/2010/main" val="1390390935"/>
              </p:ext>
            </p:extLst>
          </p:nvPr>
        </p:nvGraphicFramePr>
        <p:xfrm>
          <a:off x="243567" y="3912052"/>
          <a:ext cx="9738698" cy="3370487"/>
        </p:xfrm>
        <a:graphic>
          <a:graphicData uri="http://schemas.openxmlformats.org/drawingml/2006/table">
            <a:tbl>
              <a:tblPr>
                <a:tableStyleId>{F5AB1C69-6EDB-4FF4-983F-18BD219EF322}</a:tableStyleId>
              </a:tblPr>
              <a:tblGrid>
                <a:gridCol w="1465490">
                  <a:extLst>
                    <a:ext uri="{9D8B030D-6E8A-4147-A177-3AD203B41FA5}">
                      <a16:colId xmlns:a16="http://schemas.microsoft.com/office/drawing/2014/main" val="2283365220"/>
                    </a:ext>
                  </a:extLst>
                </a:gridCol>
                <a:gridCol w="8273208">
                  <a:extLst>
                    <a:ext uri="{9D8B030D-6E8A-4147-A177-3AD203B41FA5}">
                      <a16:colId xmlns:a16="http://schemas.microsoft.com/office/drawing/2014/main" val="72905577"/>
                    </a:ext>
                  </a:extLst>
                </a:gridCol>
              </a:tblGrid>
              <a:tr h="350252">
                <a:tc gridSpan="2">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Action plan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sz="12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04047">
                <a:tc>
                  <a:txBody>
                    <a:bodyPr/>
                    <a:lstStyle/>
                    <a:p>
                      <a:r>
                        <a:rPr lang="en-GB" sz="1100" b="1" dirty="0">
                          <a:latin typeface="Arial" panose="020B0604020202020204" pitchFamily="34" charset="0"/>
                          <a:cs typeface="Arial" panose="020B0604020202020204" pitchFamily="34" charset="0"/>
                        </a:rPr>
                        <a:t>ONE KEY HABIT TO DEVELOP</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04047">
                <a:tc>
                  <a:txBody>
                    <a:bodyPr/>
                    <a:lstStyle/>
                    <a:p>
                      <a:r>
                        <a:rPr lang="en-GB" sz="1100" b="1" dirty="0">
                          <a:latin typeface="Arial" panose="020B0604020202020204" pitchFamily="34" charset="0"/>
                          <a:cs typeface="Arial" panose="020B0604020202020204" pitchFamily="34" charset="0"/>
                        </a:rPr>
                        <a:t>TRIGGER/</a:t>
                      </a:r>
                    </a:p>
                    <a:p>
                      <a:r>
                        <a:rPr lang="en-GB" sz="1100" b="1" dirty="0">
                          <a:latin typeface="Arial" panose="020B0604020202020204" pitchFamily="34" charset="0"/>
                          <a:cs typeface="Arial" panose="020B0604020202020204" pitchFamily="34" charset="0"/>
                        </a:rPr>
                        <a:t>REMINDER</a:t>
                      </a:r>
                      <a:endParaRPr lang="en-US" sz="1100" b="1"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255586"/>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ROUTINE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267064"/>
                  </a:ext>
                </a:extLst>
              </a:tr>
              <a:tr h="604047">
                <a:tc>
                  <a:txBody>
                    <a:bodyPr/>
                    <a:lstStyle/>
                    <a:p>
                      <a:r>
                        <a:rPr lang="en-GB" sz="1100" b="1" dirty="0">
                          <a:latin typeface="Arial" panose="020B0604020202020204" pitchFamily="34" charset="0"/>
                          <a:cs typeface="Arial" panose="020B0604020202020204" pitchFamily="34" charset="0"/>
                        </a:rPr>
                        <a:t>REWARD</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800391"/>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ACCOUNTABILITY PARTNER</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6270796"/>
                  </a:ext>
                </a:extLst>
              </a:tr>
            </a:tbl>
          </a:graphicData>
        </a:graphic>
      </p:graphicFrame>
      <p:pic>
        <p:nvPicPr>
          <p:cNvPr id="4" name="Picture 3">
            <a:extLst>
              <a:ext uri="{FF2B5EF4-FFF2-40B4-BE49-F238E27FC236}">
                <a16:creationId xmlns:a16="http://schemas.microsoft.com/office/drawing/2014/main" id="{9194B684-9B28-EC38-C3F2-73E76C8DF4D5}"/>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62832" t="14056"/>
          <a:stretch/>
        </p:blipFill>
        <p:spPr>
          <a:xfrm>
            <a:off x="6377049" y="74686"/>
            <a:ext cx="3772322" cy="456658"/>
          </a:xfrm>
          <a:prstGeom prst="rect">
            <a:avLst/>
          </a:prstGeom>
        </p:spPr>
      </p:pic>
    </p:spTree>
    <p:extLst>
      <p:ext uri="{BB962C8B-B14F-4D97-AF65-F5344CB8AC3E}">
        <p14:creationId xmlns:p14="http://schemas.microsoft.com/office/powerpoint/2010/main" val="3953344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ack text on a white background&#10;&#10;Description automatically generated">
            <a:extLst>
              <a:ext uri="{FF2B5EF4-FFF2-40B4-BE49-F238E27FC236}">
                <a16:creationId xmlns:a16="http://schemas.microsoft.com/office/drawing/2014/main" id="{163621D6-70E3-85C6-6FB8-689A16FFA23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3846286" cy="544353"/>
          </a:xfrm>
          <a:prstGeom prst="rect">
            <a:avLst/>
          </a:prstGeom>
        </p:spPr>
      </p:pic>
      <p:graphicFrame>
        <p:nvGraphicFramePr>
          <p:cNvPr id="10" name="Table 9">
            <a:extLst>
              <a:ext uri="{FF2B5EF4-FFF2-40B4-BE49-F238E27FC236}">
                <a16:creationId xmlns:a16="http://schemas.microsoft.com/office/drawing/2014/main" id="{E5896F4D-EBFD-18BF-8356-6A251BEFF1D0}"/>
              </a:ext>
            </a:extLst>
          </p:cNvPr>
          <p:cNvGraphicFramePr>
            <a:graphicFrameLocks noGrp="1"/>
          </p:cNvGraphicFramePr>
          <p:nvPr>
            <p:extLst>
              <p:ext uri="{D42A27DB-BD31-4B8C-83A1-F6EECF244321}">
                <p14:modId xmlns:p14="http://schemas.microsoft.com/office/powerpoint/2010/main" val="3169793895"/>
              </p:ext>
            </p:extLst>
          </p:nvPr>
        </p:nvGraphicFramePr>
        <p:xfrm>
          <a:off x="228943" y="664029"/>
          <a:ext cx="2828582" cy="3111023"/>
        </p:xfrm>
        <a:graphic>
          <a:graphicData uri="http://schemas.openxmlformats.org/drawingml/2006/table">
            <a:tbl>
              <a:tblPr>
                <a:tableStyleId>{F5AB1C69-6EDB-4FF4-983F-18BD219EF322}</a:tableStyleId>
              </a:tblPr>
              <a:tblGrid>
                <a:gridCol w="2828582">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1" name="Table 10">
            <a:extLst>
              <a:ext uri="{FF2B5EF4-FFF2-40B4-BE49-F238E27FC236}">
                <a16:creationId xmlns:a16="http://schemas.microsoft.com/office/drawing/2014/main" id="{A05A2DDB-3C37-297A-F3C0-C41D6DA954B8}"/>
              </a:ext>
            </a:extLst>
          </p:cNvPr>
          <p:cNvGraphicFramePr>
            <a:graphicFrameLocks noGrp="1"/>
          </p:cNvGraphicFramePr>
          <p:nvPr>
            <p:extLst>
              <p:ext uri="{D42A27DB-BD31-4B8C-83A1-F6EECF244321}">
                <p14:modId xmlns:p14="http://schemas.microsoft.com/office/powerpoint/2010/main" val="2317212118"/>
              </p:ext>
            </p:extLst>
          </p:nvPr>
        </p:nvGraphicFramePr>
        <p:xfrm>
          <a:off x="3177089" y="664029"/>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What I do NOT do  well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2" name="Table 11">
            <a:extLst>
              <a:ext uri="{FF2B5EF4-FFF2-40B4-BE49-F238E27FC236}">
                <a16:creationId xmlns:a16="http://schemas.microsoft.com/office/drawing/2014/main" id="{B8384354-26CD-1CB3-00CA-3E60D526133F}"/>
              </a:ext>
            </a:extLst>
          </p:cNvPr>
          <p:cNvGraphicFramePr>
            <a:graphicFrameLocks noGrp="1"/>
          </p:cNvGraphicFramePr>
          <p:nvPr>
            <p:extLst>
              <p:ext uri="{D42A27DB-BD31-4B8C-83A1-F6EECF244321}">
                <p14:modId xmlns:p14="http://schemas.microsoft.com/office/powerpoint/2010/main" val="807666880"/>
              </p:ext>
            </p:extLst>
          </p:nvPr>
        </p:nvGraphicFramePr>
        <p:xfrm>
          <a:off x="6639459" y="670402"/>
          <a:ext cx="3342806" cy="3111023"/>
        </p:xfrm>
        <a:graphic>
          <a:graphicData uri="http://schemas.openxmlformats.org/drawingml/2006/table">
            <a:tbl>
              <a:tblPr>
                <a:tableStyleId>{F5AB1C69-6EDB-4FF4-983F-18BD219EF322}</a:tableStyleId>
              </a:tblPr>
              <a:tblGrid>
                <a:gridCol w="3342806">
                  <a:extLst>
                    <a:ext uri="{9D8B030D-6E8A-4147-A177-3AD203B41FA5}">
                      <a16:colId xmlns:a16="http://schemas.microsoft.com/office/drawing/2014/main" val="2283365220"/>
                    </a:ext>
                  </a:extLst>
                </a:gridCol>
              </a:tblGrid>
              <a:tr h="360703">
                <a:tc>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My Goals</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2750320">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bl>
          </a:graphicData>
        </a:graphic>
      </p:graphicFrame>
      <p:graphicFrame>
        <p:nvGraphicFramePr>
          <p:cNvPr id="13" name="Table 12">
            <a:extLst>
              <a:ext uri="{FF2B5EF4-FFF2-40B4-BE49-F238E27FC236}">
                <a16:creationId xmlns:a16="http://schemas.microsoft.com/office/drawing/2014/main" id="{1E920DDC-092F-B25B-874E-874B7B001EB3}"/>
              </a:ext>
            </a:extLst>
          </p:cNvPr>
          <p:cNvGraphicFramePr>
            <a:graphicFrameLocks noGrp="1"/>
          </p:cNvGraphicFramePr>
          <p:nvPr>
            <p:extLst>
              <p:ext uri="{D42A27DB-BD31-4B8C-83A1-F6EECF244321}">
                <p14:modId xmlns:p14="http://schemas.microsoft.com/office/powerpoint/2010/main" val="949895692"/>
              </p:ext>
            </p:extLst>
          </p:nvPr>
        </p:nvGraphicFramePr>
        <p:xfrm>
          <a:off x="243567" y="3912052"/>
          <a:ext cx="9738698" cy="3370487"/>
        </p:xfrm>
        <a:graphic>
          <a:graphicData uri="http://schemas.openxmlformats.org/drawingml/2006/table">
            <a:tbl>
              <a:tblPr>
                <a:tableStyleId>{F5AB1C69-6EDB-4FF4-983F-18BD219EF322}</a:tableStyleId>
              </a:tblPr>
              <a:tblGrid>
                <a:gridCol w="1465490">
                  <a:extLst>
                    <a:ext uri="{9D8B030D-6E8A-4147-A177-3AD203B41FA5}">
                      <a16:colId xmlns:a16="http://schemas.microsoft.com/office/drawing/2014/main" val="2283365220"/>
                    </a:ext>
                  </a:extLst>
                </a:gridCol>
                <a:gridCol w="8273208">
                  <a:extLst>
                    <a:ext uri="{9D8B030D-6E8A-4147-A177-3AD203B41FA5}">
                      <a16:colId xmlns:a16="http://schemas.microsoft.com/office/drawing/2014/main" val="72905577"/>
                    </a:ext>
                  </a:extLst>
                </a:gridCol>
              </a:tblGrid>
              <a:tr h="350252">
                <a:tc gridSpan="2">
                  <a:txBody>
                    <a:bodyPr/>
                    <a:lstStyle/>
                    <a:p>
                      <a:r>
                        <a:rPr lang="en-US" sz="14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rPr>
                        <a:t>Action plan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hMerge="1">
                  <a:txBody>
                    <a:bodyPr/>
                    <a:lstStyle/>
                    <a:p>
                      <a:endParaRPr lang="en-US" sz="1200" b="0" i="0" dirty="0">
                        <a:solidFill>
                          <a:schemeClr val="bg1"/>
                        </a:solidFill>
                        <a:effectLst/>
                        <a:latin typeface="Arial" panose="020B0604020202020204" pitchFamily="34" charset="0"/>
                        <a:ea typeface="Riforma LL" panose="020B0504020101020102" pitchFamily="34" charset="77"/>
                        <a:cs typeface="Arial" panose="020B0604020202020204" pitchFamily="34" charset="0"/>
                      </a:endParaRPr>
                    </a:p>
                  </a:txBody>
                  <a:tcPr marL="84193" marR="84193" marT="42097" marB="4209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04047">
                <a:tc>
                  <a:txBody>
                    <a:bodyPr/>
                    <a:lstStyle/>
                    <a:p>
                      <a:r>
                        <a:rPr lang="en-GB" sz="1100" b="1" dirty="0">
                          <a:latin typeface="Arial" panose="020B0604020202020204" pitchFamily="34" charset="0"/>
                          <a:cs typeface="Arial" panose="020B0604020202020204" pitchFamily="34" charset="0"/>
                        </a:rPr>
                        <a:t>ONE KEY HABIT TO DEVELOP</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04047">
                <a:tc>
                  <a:txBody>
                    <a:bodyPr/>
                    <a:lstStyle/>
                    <a:p>
                      <a:r>
                        <a:rPr lang="en-GB" sz="1100" b="1" dirty="0">
                          <a:latin typeface="Arial" panose="020B0604020202020204" pitchFamily="34" charset="0"/>
                          <a:cs typeface="Arial" panose="020B0604020202020204" pitchFamily="34" charset="0"/>
                        </a:rPr>
                        <a:t>TRIGGER/</a:t>
                      </a:r>
                    </a:p>
                    <a:p>
                      <a:r>
                        <a:rPr lang="en-GB" sz="1100" b="1" dirty="0">
                          <a:latin typeface="Arial" panose="020B0604020202020204" pitchFamily="34" charset="0"/>
                          <a:cs typeface="Arial" panose="020B0604020202020204" pitchFamily="34" charset="0"/>
                        </a:rPr>
                        <a:t>REMINDER</a:t>
                      </a:r>
                      <a:endParaRPr lang="en-US" sz="1100" b="1"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1255586"/>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ROUTINE</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0267064"/>
                  </a:ext>
                </a:extLst>
              </a:tr>
              <a:tr h="604047">
                <a:tc>
                  <a:txBody>
                    <a:bodyPr/>
                    <a:lstStyle/>
                    <a:p>
                      <a:r>
                        <a:rPr lang="en-GB" sz="1100" b="1" dirty="0">
                          <a:latin typeface="Arial" panose="020B0604020202020204" pitchFamily="34" charset="0"/>
                          <a:cs typeface="Arial" panose="020B0604020202020204" pitchFamily="34" charset="0"/>
                        </a:rPr>
                        <a:t>REWARD</a:t>
                      </a:r>
                      <a:endParaRPr lang="en-US" sz="11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800391"/>
                  </a:ext>
                </a:extLst>
              </a:tr>
              <a:tr h="604047">
                <a:tc>
                  <a:txBody>
                    <a:bodyPr/>
                    <a:lstStyle/>
                    <a:p>
                      <a:pPr marL="0" marR="0" indent="0" algn="l" defTabSz="913760" rtl="0" eaLnBrk="1" fontAlgn="auto" latinLnBrk="0" hangingPunct="1">
                        <a:lnSpc>
                          <a:spcPct val="100000"/>
                        </a:lnSpc>
                        <a:spcBef>
                          <a:spcPts val="0"/>
                        </a:spcBef>
                        <a:spcAft>
                          <a:spcPts val="0"/>
                        </a:spcAft>
                        <a:buClrTx/>
                        <a:buSzTx/>
                        <a:buFontTx/>
                        <a:buNone/>
                        <a:tabLst/>
                        <a:defRPr/>
                      </a:pPr>
                      <a:r>
                        <a:rPr lang="en-US" sz="1100" b="1" dirty="0">
                          <a:effectLst/>
                          <a:latin typeface="Arial" panose="020B0604020202020204" pitchFamily="34" charset="0"/>
                          <a:cs typeface="Arial" panose="020B0604020202020204" pitchFamily="34" charset="0"/>
                        </a:rPr>
                        <a:t>ACCOUNTABILITY PARTNER</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469"/>
                    </a:solidFill>
                  </a:tcPr>
                </a:tc>
                <a:tc>
                  <a:txBody>
                    <a:bodyPr/>
                    <a:lstStyle/>
                    <a:p>
                      <a:endParaRPr lang="en-US" sz="1200" dirty="0">
                        <a:effectLst/>
                        <a:latin typeface="Arial" panose="020B0604020202020204" pitchFamily="34" charset="0"/>
                        <a:cs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6270796"/>
                  </a:ext>
                </a:extLst>
              </a:tr>
            </a:tbl>
          </a:graphicData>
        </a:graphic>
      </p:graphicFrame>
      <p:pic>
        <p:nvPicPr>
          <p:cNvPr id="4" name="Picture 3">
            <a:extLst>
              <a:ext uri="{FF2B5EF4-FFF2-40B4-BE49-F238E27FC236}">
                <a16:creationId xmlns:a16="http://schemas.microsoft.com/office/drawing/2014/main" id="{7E050ED7-2A7B-C0BA-64A6-A960F10C88FD}"/>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62832" t="14056"/>
          <a:stretch/>
        </p:blipFill>
        <p:spPr>
          <a:xfrm>
            <a:off x="6377049" y="74686"/>
            <a:ext cx="3772322" cy="456658"/>
          </a:xfrm>
          <a:prstGeom prst="rect">
            <a:avLst/>
          </a:prstGeom>
        </p:spPr>
      </p:pic>
    </p:spTree>
    <p:extLst>
      <p:ext uri="{BB962C8B-B14F-4D97-AF65-F5344CB8AC3E}">
        <p14:creationId xmlns:p14="http://schemas.microsoft.com/office/powerpoint/2010/main" val="325664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FD33875-1408-0B1C-803F-65C292E5894F}"/>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9213" y="32671"/>
            <a:ext cx="6437111" cy="540687"/>
          </a:xfrm>
          <a:prstGeom prst="rect">
            <a:avLst/>
          </a:prstGeom>
        </p:spPr>
      </p:pic>
      <p:pic>
        <p:nvPicPr>
          <p:cNvPr id="4" name="Picture 3">
            <a:extLst>
              <a:ext uri="{FF2B5EF4-FFF2-40B4-BE49-F238E27FC236}">
                <a16:creationId xmlns:a16="http://schemas.microsoft.com/office/drawing/2014/main" id="{720C7F18-268B-0600-22A2-2BC59A4750D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62832" t="14056"/>
          <a:stretch/>
        </p:blipFill>
        <p:spPr>
          <a:xfrm>
            <a:off x="6377049" y="74686"/>
            <a:ext cx="3772322" cy="456658"/>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04000285"/>
              </p:ext>
            </p:extLst>
          </p:nvPr>
        </p:nvGraphicFramePr>
        <p:xfrm>
          <a:off x="194861" y="757270"/>
          <a:ext cx="2402565" cy="6593893"/>
        </p:xfrm>
        <a:graphic>
          <a:graphicData uri="http://schemas.openxmlformats.org/drawingml/2006/table">
            <a:tbl>
              <a:tblPr firstRow="1" bandRow="1">
                <a:tableStyleId>{2D5ABB26-0587-4C30-8999-92F81FD0307C}</a:tableStyleId>
              </a:tblPr>
              <a:tblGrid>
                <a:gridCol w="2402565">
                  <a:extLst>
                    <a:ext uri="{9D8B030D-6E8A-4147-A177-3AD203B41FA5}">
                      <a16:colId xmlns:a16="http://schemas.microsoft.com/office/drawing/2014/main" val="505842758"/>
                    </a:ext>
                  </a:extLst>
                </a:gridCol>
              </a:tblGrid>
              <a:tr h="462025">
                <a:tc>
                  <a:txBody>
                    <a:bodyPr/>
                    <a:lstStyle/>
                    <a:p>
                      <a:pPr marL="0" marR="0" lvl="0" indent="0" algn="l" defTabSz="91376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sym typeface="PF Square Sans Pro Light"/>
                        </a:rPr>
                        <a:t>What matters to me</a:t>
                      </a:r>
                    </a:p>
                    <a:p>
                      <a:pPr marL="0" marR="0" lvl="0" indent="0" algn="l" defTabSz="91376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sym typeface="PF Square Sans Pro Light"/>
                        </a:rPr>
                        <a:t>that I CAN control</a:t>
                      </a:r>
                      <a:endPar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71274364"/>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935714"/>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1813657"/>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1875672"/>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298163"/>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6016793"/>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865086"/>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476644"/>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0238146"/>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7460190"/>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0740702"/>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544552"/>
                  </a:ext>
                </a:extLst>
              </a:tr>
              <a:tr h="510989">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4172187"/>
                  </a:ext>
                </a:extLst>
              </a:tr>
            </a:tbl>
          </a:graphicData>
        </a:graphic>
      </p:graphicFrame>
      <p:graphicFrame>
        <p:nvGraphicFramePr>
          <p:cNvPr id="113" name="Table 112"/>
          <p:cNvGraphicFramePr>
            <a:graphicFrameLocks noGrp="1"/>
          </p:cNvGraphicFramePr>
          <p:nvPr>
            <p:extLst>
              <p:ext uri="{D42A27DB-BD31-4B8C-83A1-F6EECF244321}">
                <p14:modId xmlns:p14="http://schemas.microsoft.com/office/powerpoint/2010/main" val="2343326611"/>
              </p:ext>
            </p:extLst>
          </p:nvPr>
        </p:nvGraphicFramePr>
        <p:xfrm>
          <a:off x="5241639" y="5335911"/>
          <a:ext cx="4750301" cy="2015250"/>
        </p:xfrm>
        <a:graphic>
          <a:graphicData uri="http://schemas.openxmlformats.org/drawingml/2006/table">
            <a:tbl>
              <a:tblPr firstRow="1" bandRow="1">
                <a:tableStyleId>{2D5ABB26-0587-4C30-8999-92F81FD0307C}</a:tableStyleId>
              </a:tblPr>
              <a:tblGrid>
                <a:gridCol w="4750301">
                  <a:extLst>
                    <a:ext uri="{9D8B030D-6E8A-4147-A177-3AD203B41FA5}">
                      <a16:colId xmlns:a16="http://schemas.microsoft.com/office/drawing/2014/main" val="505842758"/>
                    </a:ext>
                  </a:extLst>
                </a:gridCol>
              </a:tblGrid>
              <a:tr h="399818">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Do more</a:t>
                      </a:r>
                    </a:p>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Which of the three things I’m going to do more as of today?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532446157"/>
                  </a:ext>
                </a:extLst>
              </a:tr>
              <a:tr h="524430">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1.</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0153192"/>
                  </a:ext>
                </a:extLst>
              </a:tr>
              <a:tr h="524430">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34218"/>
                  </a:ext>
                </a:extLst>
              </a:tr>
              <a:tr h="524430">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3.</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2051424"/>
                  </a:ext>
                </a:extLst>
              </a:tr>
            </a:tbl>
          </a:graphicData>
        </a:graphic>
      </p:graphicFrame>
      <p:graphicFrame>
        <p:nvGraphicFramePr>
          <p:cNvPr id="34" name="Table 33"/>
          <p:cNvGraphicFramePr>
            <a:graphicFrameLocks noGrp="1"/>
          </p:cNvGraphicFramePr>
          <p:nvPr>
            <p:extLst>
              <p:ext uri="{D42A27DB-BD31-4B8C-83A1-F6EECF244321}">
                <p14:modId xmlns:p14="http://schemas.microsoft.com/office/powerpoint/2010/main" val="3945623226"/>
              </p:ext>
            </p:extLst>
          </p:nvPr>
        </p:nvGraphicFramePr>
        <p:xfrm>
          <a:off x="2680374" y="766933"/>
          <a:ext cx="2448952" cy="6584228"/>
        </p:xfrm>
        <a:graphic>
          <a:graphicData uri="http://schemas.openxmlformats.org/drawingml/2006/table">
            <a:tbl>
              <a:tblPr firstRow="1" bandRow="1">
                <a:tableStyleId>{2D5ABB26-0587-4C30-8999-92F81FD0307C}</a:tableStyleId>
              </a:tblPr>
              <a:tblGrid>
                <a:gridCol w="2448952">
                  <a:extLst>
                    <a:ext uri="{9D8B030D-6E8A-4147-A177-3AD203B41FA5}">
                      <a16:colId xmlns:a16="http://schemas.microsoft.com/office/drawing/2014/main" val="505842758"/>
                    </a:ext>
                  </a:extLst>
                </a:gridCol>
              </a:tblGrid>
              <a:tr h="461348">
                <a:tc>
                  <a:txBody>
                    <a:bodyPr/>
                    <a:lstStyle/>
                    <a:p>
                      <a:pPr marL="0" marR="0" lvl="0" indent="0" algn="l" defTabSz="91376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sym typeface="PF Square Sans Pro Light"/>
                        </a:rPr>
                        <a:t>What matters to me</a:t>
                      </a:r>
                    </a:p>
                    <a:p>
                      <a:pPr marL="0" marR="0" lvl="0" indent="0" algn="l" defTabSz="91376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sym typeface="PF Square Sans Pro Light"/>
                        </a:rPr>
                        <a:t>and I DO NOT control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2271274364"/>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9935714"/>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1813657"/>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1875672"/>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4298163"/>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6016793"/>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865086"/>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3476644"/>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0740702"/>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367825"/>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6911299"/>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5116304"/>
                  </a:ext>
                </a:extLst>
              </a:tr>
              <a:tr h="510240">
                <a:tc>
                  <a:txBody>
                    <a:bodyPr/>
                    <a:lstStyle/>
                    <a:p>
                      <a:endParaRPr lang="en-US" sz="1200" b="0" i="0" dirty="0">
                        <a:latin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3258748"/>
                  </a:ext>
                </a:extLst>
              </a:tr>
            </a:tbl>
          </a:graphicData>
        </a:graphic>
      </p:graphicFrame>
      <p:graphicFrame>
        <p:nvGraphicFramePr>
          <p:cNvPr id="35" name="Table 34"/>
          <p:cNvGraphicFramePr>
            <a:graphicFrameLocks noGrp="1"/>
          </p:cNvGraphicFramePr>
          <p:nvPr>
            <p:extLst>
              <p:ext uri="{D42A27DB-BD31-4B8C-83A1-F6EECF244321}">
                <p14:modId xmlns:p14="http://schemas.microsoft.com/office/powerpoint/2010/main" val="2593595659"/>
              </p:ext>
            </p:extLst>
          </p:nvPr>
        </p:nvGraphicFramePr>
        <p:xfrm>
          <a:off x="5241639" y="3061829"/>
          <a:ext cx="4733238" cy="2158929"/>
        </p:xfrm>
        <a:graphic>
          <a:graphicData uri="http://schemas.openxmlformats.org/drawingml/2006/table">
            <a:tbl>
              <a:tblPr firstRow="1" bandRow="1">
                <a:tableStyleId>{2D5ABB26-0587-4C30-8999-92F81FD0307C}</a:tableStyleId>
              </a:tblPr>
              <a:tblGrid>
                <a:gridCol w="4733238">
                  <a:extLst>
                    <a:ext uri="{9D8B030D-6E8A-4147-A177-3AD203B41FA5}">
                      <a16:colId xmlns:a16="http://schemas.microsoft.com/office/drawing/2014/main" val="505842758"/>
                    </a:ext>
                  </a:extLst>
                </a:gridCol>
              </a:tblGrid>
              <a:tr h="471132">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Do less</a:t>
                      </a:r>
                    </a:p>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bg1"/>
                          </a:solidFill>
                          <a:effectLst/>
                          <a:uLnTx/>
                          <a:uFillTx/>
                          <a:latin typeface="Arial" panose="020B0604020202020204" pitchFamily="34" charset="0"/>
                          <a:ea typeface="Riforma LL" panose="020B0504020101020102" pitchFamily="34" charset="0"/>
                          <a:cs typeface="Arial" panose="020B0604020202020204" pitchFamily="34" charset="0"/>
                        </a:rPr>
                        <a:t>Which of the three things am I going to do less today?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532446157"/>
                  </a:ext>
                </a:extLst>
              </a:tr>
              <a:tr h="5625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1.</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0153192"/>
                  </a:ext>
                </a:extLst>
              </a:tr>
              <a:tr h="5625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34218"/>
                  </a:ext>
                </a:extLst>
              </a:tr>
              <a:tr h="5625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3.</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2051424"/>
                  </a:ext>
                </a:extLst>
              </a:tr>
            </a:tbl>
          </a:graphicData>
        </a:graphic>
      </p:graphicFrame>
      <p:graphicFrame>
        <p:nvGraphicFramePr>
          <p:cNvPr id="36" name="Table 35"/>
          <p:cNvGraphicFramePr>
            <a:graphicFrameLocks noGrp="1"/>
          </p:cNvGraphicFramePr>
          <p:nvPr>
            <p:extLst>
              <p:ext uri="{D42A27DB-BD31-4B8C-83A1-F6EECF244321}">
                <p14:modId xmlns:p14="http://schemas.microsoft.com/office/powerpoint/2010/main" val="3779183490"/>
              </p:ext>
            </p:extLst>
          </p:nvPr>
        </p:nvGraphicFramePr>
        <p:xfrm>
          <a:off x="5241639" y="757271"/>
          <a:ext cx="4733238" cy="2160612"/>
        </p:xfrm>
        <a:graphic>
          <a:graphicData uri="http://schemas.openxmlformats.org/drawingml/2006/table">
            <a:tbl>
              <a:tblPr firstRow="1" bandRow="1">
                <a:tableStyleId>{2D5ABB26-0587-4C30-8999-92F81FD0307C}</a:tableStyleId>
              </a:tblPr>
              <a:tblGrid>
                <a:gridCol w="4733238">
                  <a:extLst>
                    <a:ext uri="{9D8B030D-6E8A-4147-A177-3AD203B41FA5}">
                      <a16:colId xmlns:a16="http://schemas.microsoft.com/office/drawing/2014/main" val="505842758"/>
                    </a:ext>
                  </a:extLst>
                </a:gridCol>
              </a:tblGrid>
              <a:tr h="472815">
                <a:tc>
                  <a:txBody>
                    <a:bodyPr/>
                    <a:lstStyle/>
                    <a:p>
                      <a:r>
                        <a:rPr lang="en-US" sz="1200" b="0" i="0" dirty="0">
                          <a:solidFill>
                            <a:schemeClr val="bg1"/>
                          </a:solidFill>
                          <a:latin typeface="Arial" panose="020B0604020202020204" pitchFamily="34" charset="0"/>
                          <a:ea typeface="Riforma LL" panose="020B0504020101020102" pitchFamily="34" charset="0"/>
                          <a:cs typeface="Arial" panose="020B0604020202020204" pitchFamily="34" charset="0"/>
                        </a:rPr>
                        <a:t>Stop</a:t>
                      </a:r>
                    </a:p>
                    <a:p>
                      <a:r>
                        <a:rPr lang="en-US" sz="1100" b="0" i="0" dirty="0">
                          <a:solidFill>
                            <a:schemeClr val="bg1"/>
                          </a:solidFill>
                          <a:latin typeface="Arial" panose="020B0604020202020204" pitchFamily="34" charset="0"/>
                          <a:ea typeface="Riforma LL" panose="020B0504020101020102" pitchFamily="34" charset="0"/>
                          <a:cs typeface="Arial" panose="020B0604020202020204" pitchFamily="34" charset="0"/>
                        </a:rPr>
                        <a:t>Which</a:t>
                      </a:r>
                      <a:r>
                        <a:rPr lang="en-US" sz="1100" b="0" i="0" baseline="0" dirty="0">
                          <a:solidFill>
                            <a:schemeClr val="bg1"/>
                          </a:solidFill>
                          <a:latin typeface="Arial" panose="020B0604020202020204" pitchFamily="34" charset="0"/>
                          <a:ea typeface="Riforma LL" panose="020B0504020101020102" pitchFamily="34" charset="0"/>
                          <a:cs typeface="Arial" panose="020B0604020202020204" pitchFamily="34" charset="0"/>
                        </a:rPr>
                        <a:t> of the three things will I stop doing as of today?</a:t>
                      </a:r>
                      <a:endParaRPr lang="en-US" sz="1100" b="0" i="0" dirty="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532446157"/>
                  </a:ext>
                </a:extLst>
              </a:tr>
              <a:tr h="5625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1.</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0153192"/>
                  </a:ext>
                </a:extLst>
              </a:tr>
              <a:tr h="5625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2.</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9434218"/>
                  </a:ext>
                </a:extLst>
              </a:tr>
              <a:tr h="562599">
                <a:tc>
                  <a:txBody>
                    <a:bodyPr/>
                    <a:lstStyle/>
                    <a:p>
                      <a:r>
                        <a:rPr lang="en-US" sz="1200" b="0" i="0" dirty="0">
                          <a:latin typeface="Arial" panose="020B0604020202020204" pitchFamily="34" charset="0"/>
                          <a:ea typeface="Riforma LL" panose="020B0504020101020102" pitchFamily="34" charset="0"/>
                          <a:cs typeface="Arial" panose="020B0604020202020204" pitchFamily="34" charset="0"/>
                        </a:rPr>
                        <a:t>3.</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2051424"/>
                  </a:ext>
                </a:extLst>
              </a:tr>
            </a:tbl>
          </a:graphicData>
        </a:graphic>
      </p:graphicFrame>
    </p:spTree>
    <p:extLst>
      <p:ext uri="{BB962C8B-B14F-4D97-AF65-F5344CB8AC3E}">
        <p14:creationId xmlns:p14="http://schemas.microsoft.com/office/powerpoint/2010/main" val="426664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811C56A-F432-FE28-239A-B31A61447157}"/>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46237" y="60172"/>
            <a:ext cx="6522291" cy="521203"/>
          </a:xfrm>
          <a:prstGeom prst="rect">
            <a:avLst/>
          </a:prstGeom>
        </p:spPr>
      </p:pic>
      <p:pic>
        <p:nvPicPr>
          <p:cNvPr id="7" name="Picture 6">
            <a:extLst>
              <a:ext uri="{FF2B5EF4-FFF2-40B4-BE49-F238E27FC236}">
                <a16:creationId xmlns:a16="http://schemas.microsoft.com/office/drawing/2014/main" id="{4DB4C9A9-E62B-D56E-AF50-0B56EC1FCECD}"/>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l="62832" t="14056"/>
          <a:stretch/>
        </p:blipFill>
        <p:spPr>
          <a:xfrm>
            <a:off x="6377049" y="74686"/>
            <a:ext cx="3772322" cy="456658"/>
          </a:xfrm>
          <a:prstGeom prst="rect">
            <a:avLst/>
          </a:prstGeom>
        </p:spPr>
      </p:pic>
      <p:graphicFrame>
        <p:nvGraphicFramePr>
          <p:cNvPr id="6" name="Table 5">
            <a:extLst>
              <a:ext uri="{FF2B5EF4-FFF2-40B4-BE49-F238E27FC236}">
                <a16:creationId xmlns:a16="http://schemas.microsoft.com/office/drawing/2014/main" id="{3251FB55-7D1D-7848-83B7-158934D0C26F}"/>
              </a:ext>
            </a:extLst>
          </p:cNvPr>
          <p:cNvGraphicFramePr>
            <a:graphicFrameLocks noGrp="1"/>
          </p:cNvGraphicFramePr>
          <p:nvPr>
            <p:extLst>
              <p:ext uri="{D42A27DB-BD31-4B8C-83A1-F6EECF244321}">
                <p14:modId xmlns:p14="http://schemas.microsoft.com/office/powerpoint/2010/main" val="174855327"/>
              </p:ext>
            </p:extLst>
          </p:nvPr>
        </p:nvGraphicFramePr>
        <p:xfrm>
          <a:off x="306680" y="809603"/>
          <a:ext cx="2283158" cy="6506229"/>
        </p:xfrm>
        <a:graphic>
          <a:graphicData uri="http://schemas.openxmlformats.org/drawingml/2006/table">
            <a:tbl>
              <a:tblPr>
                <a:tableStyleId>{F5AB1C69-6EDB-4FF4-983F-18BD219EF322}</a:tableStyleId>
              </a:tblPr>
              <a:tblGrid>
                <a:gridCol w="2283158">
                  <a:extLst>
                    <a:ext uri="{9D8B030D-6E8A-4147-A177-3AD203B41FA5}">
                      <a16:colId xmlns:a16="http://schemas.microsoft.com/office/drawing/2014/main" val="2283365220"/>
                    </a:ext>
                  </a:extLst>
                </a:gridCol>
              </a:tblGrid>
              <a:tr h="385203">
                <a:tc>
                  <a:txBody>
                    <a:bodyPr/>
                    <a:lstStyle/>
                    <a:p>
                      <a:r>
                        <a:rPr lang="en-US" sz="1200" dirty="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An event that happens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6292218"/>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59399555"/>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83816231"/>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5975148"/>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9729189"/>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4165823"/>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8956419"/>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1704967"/>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56939805"/>
                  </a:ext>
                </a:extLst>
              </a:tr>
            </a:tbl>
          </a:graphicData>
        </a:graphic>
      </p:graphicFrame>
      <p:graphicFrame>
        <p:nvGraphicFramePr>
          <p:cNvPr id="8" name="Table 7">
            <a:extLst>
              <a:ext uri="{FF2B5EF4-FFF2-40B4-BE49-F238E27FC236}">
                <a16:creationId xmlns:a16="http://schemas.microsoft.com/office/drawing/2014/main" id="{3A90F925-61F4-BE45-8DBD-A529F4BBFC1C}"/>
              </a:ext>
            </a:extLst>
          </p:cNvPr>
          <p:cNvGraphicFramePr>
            <a:graphicFrameLocks noGrp="1"/>
          </p:cNvGraphicFramePr>
          <p:nvPr>
            <p:extLst>
              <p:ext uri="{D42A27DB-BD31-4B8C-83A1-F6EECF244321}">
                <p14:modId xmlns:p14="http://schemas.microsoft.com/office/powerpoint/2010/main" val="4232679473"/>
              </p:ext>
            </p:extLst>
          </p:nvPr>
        </p:nvGraphicFramePr>
        <p:xfrm>
          <a:off x="2716069" y="809603"/>
          <a:ext cx="4510163" cy="6506229"/>
        </p:xfrm>
        <a:graphic>
          <a:graphicData uri="http://schemas.openxmlformats.org/drawingml/2006/table">
            <a:tbl>
              <a:tblPr>
                <a:tableStyleId>{F5AB1C69-6EDB-4FF4-983F-18BD219EF322}</a:tableStyleId>
              </a:tblPr>
              <a:tblGrid>
                <a:gridCol w="4510163">
                  <a:extLst>
                    <a:ext uri="{9D8B030D-6E8A-4147-A177-3AD203B41FA5}">
                      <a16:colId xmlns:a16="http://schemas.microsoft.com/office/drawing/2014/main" val="2283365220"/>
                    </a:ext>
                  </a:extLst>
                </a:gridCol>
              </a:tblGrid>
              <a:tr h="38520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dirty="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The GAP – my feelings and thoughts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3816231"/>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975148"/>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729189"/>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4165823"/>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0234019"/>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8629403"/>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939805"/>
                  </a:ext>
                </a:extLst>
              </a:tr>
            </a:tbl>
          </a:graphicData>
        </a:graphic>
      </p:graphicFrame>
      <p:graphicFrame>
        <p:nvGraphicFramePr>
          <p:cNvPr id="14" name="Table 13">
            <a:extLst>
              <a:ext uri="{FF2B5EF4-FFF2-40B4-BE49-F238E27FC236}">
                <a16:creationId xmlns:a16="http://schemas.microsoft.com/office/drawing/2014/main" id="{4CF236B9-4B70-1F48-AB82-CCAFBA46B494}"/>
              </a:ext>
            </a:extLst>
          </p:cNvPr>
          <p:cNvGraphicFramePr>
            <a:graphicFrameLocks noGrp="1"/>
          </p:cNvGraphicFramePr>
          <p:nvPr>
            <p:extLst>
              <p:ext uri="{D42A27DB-BD31-4B8C-83A1-F6EECF244321}">
                <p14:modId xmlns:p14="http://schemas.microsoft.com/office/powerpoint/2010/main" val="637535261"/>
              </p:ext>
            </p:extLst>
          </p:nvPr>
        </p:nvGraphicFramePr>
        <p:xfrm>
          <a:off x="7301498" y="809603"/>
          <a:ext cx="2384820" cy="6496396"/>
        </p:xfrm>
        <a:graphic>
          <a:graphicData uri="http://schemas.openxmlformats.org/drawingml/2006/table">
            <a:tbl>
              <a:tblPr>
                <a:tableStyleId>{F5AB1C69-6EDB-4FF4-983F-18BD219EF322}</a:tableStyleId>
              </a:tblPr>
              <a:tblGrid>
                <a:gridCol w="2384820">
                  <a:extLst>
                    <a:ext uri="{9D8B030D-6E8A-4147-A177-3AD203B41FA5}">
                      <a16:colId xmlns:a16="http://schemas.microsoft.com/office/drawing/2014/main" val="2283365220"/>
                    </a:ext>
                  </a:extLst>
                </a:gridCol>
              </a:tblGrid>
              <a:tr h="375370">
                <a:tc>
                  <a:txBody>
                    <a:bodyPr/>
                    <a:lstStyle/>
                    <a:p>
                      <a:r>
                        <a:rPr lang="en-US" sz="1200" dirty="0">
                          <a:solidFill>
                            <a:schemeClr val="bg1"/>
                          </a:solidFill>
                          <a:latin typeface="Arial" panose="020B0604020202020204" pitchFamily="34" charset="0"/>
                          <a:ea typeface="Riforma LL" panose="020B0504020101020102" pitchFamily="34" charset="77"/>
                          <a:cs typeface="Arial" panose="020B0604020202020204" pitchFamily="34" charset="0"/>
                          <a:sym typeface="PF Square Sans Pro"/>
                        </a:rPr>
                        <a:t>My response </a:t>
                      </a: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2084447"/>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292218"/>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9399555"/>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3816231"/>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5975148"/>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729189"/>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4165823"/>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2502644"/>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8339176"/>
                  </a:ext>
                </a:extLst>
              </a:tr>
              <a:tr h="680114">
                <a:tc>
                  <a:txBody>
                    <a:bodyPr/>
                    <a:lstStyle/>
                    <a:p>
                      <a:endParaRPr lang="en-US" sz="1200" b="0" i="0" dirty="0">
                        <a:effectLst/>
                        <a:latin typeface="Arial" panose="020B0604020202020204" pitchFamily="34" charset="0"/>
                      </a:endParaRPr>
                    </a:p>
                  </a:txBody>
                  <a:tcPr marL="84193" marR="84193" marT="42097" marB="42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6939805"/>
                  </a:ext>
                </a:extLst>
              </a:tr>
            </a:tbl>
          </a:graphicData>
        </a:graphic>
      </p:graphicFrame>
    </p:spTree>
    <p:extLst>
      <p:ext uri="{BB962C8B-B14F-4D97-AF65-F5344CB8AC3E}">
        <p14:creationId xmlns:p14="http://schemas.microsoft.com/office/powerpoint/2010/main" val="980535801"/>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11942</TotalTime>
  <Words>650</Words>
  <Application>Microsoft Macintosh PowerPoint</Application>
  <PresentationFormat>Custom</PresentationFormat>
  <Paragraphs>87</Paragraphs>
  <Slides>6</Slides>
  <Notes>6</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6</vt:i4>
      </vt:variant>
    </vt:vector>
  </HeadingPairs>
  <TitlesOfParts>
    <vt:vector size="13" baseType="lpstr">
      <vt:lpstr>Arial</vt:lpstr>
      <vt:lpstr>Arial Black</vt:lpstr>
      <vt:lpstr>Calibri</vt:lpstr>
      <vt:lpstr>PF Square Sans Pro Light</vt:lpstr>
      <vt:lpstr>4_Custom Design</vt:lpstr>
      <vt:lpstr>5_Custom Design</vt:lpstr>
      <vt:lpstr>SOLIDS</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737</cp:revision>
  <cp:lastPrinted>2020-02-28T13:07:06Z</cp:lastPrinted>
  <dcterms:created xsi:type="dcterms:W3CDTF">2019-08-22T09:52:59Z</dcterms:created>
  <dcterms:modified xsi:type="dcterms:W3CDTF">2024-10-24T13:19:51Z</dcterms:modified>
</cp:coreProperties>
</file>