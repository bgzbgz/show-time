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79" r:id="rId4"/>
    <p:sldId id="2580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84247" autoAdjust="0"/>
  </p:normalViewPr>
  <p:slideViewPr>
    <p:cSldViewPr snapToGrid="0">
      <p:cViewPr>
        <p:scale>
          <a:sx n="154" d="100"/>
          <a:sy n="154" d="100"/>
        </p:scale>
        <p:origin x="704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2ff2f5cffd310568697878df024a165e17ce29799cafe7ca875e479a063cf8fc::" providerId="AD" clId="Web-{078F11F3-9557-FC30-AA48-8B8EC4DF9AC5}"/>
    <pc:docChg chg="modSld">
      <pc:chgData name="Guest User" userId="S::urn:spo:anon#2ff2f5cffd310568697878df024a165e17ce29799cafe7ca875e479a063cf8fc::" providerId="AD" clId="Web-{078F11F3-9557-FC30-AA48-8B8EC4DF9AC5}" dt="2024-11-28T15:37:37.094" v="222"/>
      <pc:docMkLst>
        <pc:docMk/>
      </pc:docMkLst>
      <pc:sldChg chg="addSp delSp modSp">
        <pc:chgData name="Guest User" userId="S::urn:spo:anon#2ff2f5cffd310568697878df024a165e17ce29799cafe7ca875e479a063cf8fc::" providerId="AD" clId="Web-{078F11F3-9557-FC30-AA48-8B8EC4DF9AC5}" dt="2024-11-28T15:37:37.094" v="222"/>
        <pc:sldMkLst>
          <pc:docMk/>
          <pc:sldMk cId="2480704689" sldId="2579"/>
        </pc:sldMkLst>
        <pc:graphicFrameChg chg="mod modGraphic">
          <ac:chgData name="Guest User" userId="S::urn:spo:anon#2ff2f5cffd310568697878df024a165e17ce29799cafe7ca875e479a063cf8fc::" providerId="AD" clId="Web-{078F11F3-9557-FC30-AA48-8B8EC4DF9AC5}" dt="2024-11-28T15:28:25.030" v="83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add del mod">
          <ac:chgData name="Guest User" userId="S::urn:spo:anon#2ff2f5cffd310568697878df024a165e17ce29799cafe7ca875e479a063cf8fc::" providerId="AD" clId="Web-{078F11F3-9557-FC30-AA48-8B8EC4DF9AC5}" dt="2024-11-28T15:29:04.171" v="87"/>
          <ac:graphicFrameMkLst>
            <pc:docMk/>
            <pc:sldMk cId="2480704689" sldId="2579"/>
            <ac:graphicFrameMk id="4" creationId="{820DD894-1D0E-BD2D-3E1A-C4FEDD913844}"/>
          </ac:graphicFrameMkLst>
        </pc:graphicFrameChg>
        <pc:graphicFrameChg chg="add del">
          <ac:chgData name="Guest User" userId="S::urn:spo:anon#2ff2f5cffd310568697878df024a165e17ce29799cafe7ca875e479a063cf8fc::" providerId="AD" clId="Web-{078F11F3-9557-FC30-AA48-8B8EC4DF9AC5}" dt="2024-11-28T15:29:56.110" v="90"/>
          <ac:graphicFrameMkLst>
            <pc:docMk/>
            <pc:sldMk cId="2480704689" sldId="2579"/>
            <ac:graphicFrameMk id="5" creationId="{6299D935-5D86-5BBC-DFB2-D1461E84A089}"/>
          </ac:graphicFrameMkLst>
        </pc:graphicFrameChg>
        <pc:graphicFrameChg chg="add del mod">
          <ac:chgData name="Guest User" userId="S::urn:spo:anon#2ff2f5cffd310568697878df024a165e17ce29799cafe7ca875e479a063cf8fc::" providerId="AD" clId="Web-{078F11F3-9557-FC30-AA48-8B8EC4DF9AC5}" dt="2024-11-28T15:29:33.610" v="89"/>
          <ac:graphicFrameMkLst>
            <pc:docMk/>
            <pc:sldMk cId="2480704689" sldId="2579"/>
            <ac:graphicFrameMk id="8" creationId="{8ED6DA5D-E046-B989-55B3-EB84F99B963A}"/>
          </ac:graphicFrameMkLst>
        </pc:graphicFrameChg>
        <pc:graphicFrameChg chg="add del mod modGraphic">
          <ac:chgData name="Guest User" userId="S::urn:spo:anon#2ff2f5cffd310568697878df024a165e17ce29799cafe7ca875e479a063cf8fc::" providerId="AD" clId="Web-{078F11F3-9557-FC30-AA48-8B8EC4DF9AC5}" dt="2024-11-28T15:35:59.497" v="214"/>
          <ac:graphicFrameMkLst>
            <pc:docMk/>
            <pc:sldMk cId="2480704689" sldId="2579"/>
            <ac:graphicFrameMk id="12" creationId="{787C58A2-545B-6B67-99EE-29A54F2C4B2A}"/>
          </ac:graphicFrameMkLst>
        </pc:graphicFrameChg>
        <pc:graphicFrameChg chg="add del mod">
          <ac:chgData name="Guest User" userId="S::urn:spo:anon#2ff2f5cffd310568697878df024a165e17ce29799cafe7ca875e479a063cf8fc::" providerId="AD" clId="Web-{078F11F3-9557-FC30-AA48-8B8EC4DF9AC5}" dt="2024-11-28T15:36:26.388" v="216"/>
          <ac:graphicFrameMkLst>
            <pc:docMk/>
            <pc:sldMk cId="2480704689" sldId="2579"/>
            <ac:graphicFrameMk id="14" creationId="{B1826450-749D-A608-0F5F-94A5C74FB845}"/>
          </ac:graphicFrameMkLst>
        </pc:graphicFrameChg>
        <pc:graphicFrameChg chg="add mod modGraphic">
          <ac:chgData name="Guest User" userId="S::urn:spo:anon#2ff2f5cffd310568697878df024a165e17ce29799cafe7ca875e479a063cf8fc::" providerId="AD" clId="Web-{078F11F3-9557-FC30-AA48-8B8EC4DF9AC5}" dt="2024-11-28T15:37:37.094" v="222"/>
          <ac:graphicFrameMkLst>
            <pc:docMk/>
            <pc:sldMk cId="2480704689" sldId="2579"/>
            <ac:graphicFrameMk id="16" creationId="{607F1AE8-FFDA-86EF-0517-ED1B24AF3EA2}"/>
          </ac:graphicFrameMkLst>
        </pc:graphicFrameChg>
      </pc:sldChg>
    </pc:docChg>
  </pc:docChgLst>
  <pc:docChgLst>
    <pc:chgData name="Guest User" userId="S::urn:spo:anon#bf96f97f4a3af9b3bbc051f8e29ee95eec6e6b7350c79b39966c2e13e42670b1::" providerId="AD" clId="Web-{4654DB7E-1FCB-6B5D-8F0F-551E380D5F58}"/>
    <pc:docChg chg="modSld">
      <pc:chgData name="Guest User" userId="S::urn:spo:anon#bf96f97f4a3af9b3bbc051f8e29ee95eec6e6b7350c79b39966c2e13e42670b1::" providerId="AD" clId="Web-{4654DB7E-1FCB-6B5D-8F0F-551E380D5F58}" dt="2024-11-17T08:44:12.612" v="0" actId="20577"/>
      <pc:docMkLst>
        <pc:docMk/>
      </pc:docMkLst>
      <pc:sldChg chg="modSp">
        <pc:chgData name="Guest User" userId="S::urn:spo:anon#bf96f97f4a3af9b3bbc051f8e29ee95eec6e6b7350c79b39966c2e13e42670b1::" providerId="AD" clId="Web-{4654DB7E-1FCB-6B5D-8F0F-551E380D5F58}" dt="2024-11-17T08:44:12.612" v="0" actId="20577"/>
        <pc:sldMkLst>
          <pc:docMk/>
          <pc:sldMk cId="3672773253" sldId="2580"/>
        </pc:sldMkLst>
        <pc:spChg chg="mod">
          <ac:chgData name="Guest User" userId="S::urn:spo:anon#bf96f97f4a3af9b3bbc051f8e29ee95eec6e6b7350c79b39966c2e13e42670b1::" providerId="AD" clId="Web-{4654DB7E-1FCB-6B5D-8F0F-551E380D5F58}" dt="2024-11-17T08:44:12.612" v="0" actId="20577"/>
          <ac:spMkLst>
            <pc:docMk/>
            <pc:sldMk cId="3672773253" sldId="2580"/>
            <ac:spMk id="5" creationId="{96B9C02F-72EF-AEC2-118E-6458357948F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12/1/2024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12/1/2024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870387"/>
              </p:ext>
            </p:extLst>
          </p:nvPr>
        </p:nvGraphicFramePr>
        <p:xfrm>
          <a:off x="202238" y="691156"/>
          <a:ext cx="9707740" cy="3741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Lack of Dedicated Focus Time (Deep Work): 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PF Square Sans Pro Light"/>
                        </a:rPr>
                        <a:t>Board members need a clearer time structure, with at least 3 hours per week allocated to uninterrupted deep work sessions.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64666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Optimizing Meeting Agendas: Too many meetings consume significant time without delivering maximum value. A reduction and better organization are required.</a:t>
                      </a:r>
                      <a:endParaRPr lang="en-GB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Clear </a:t>
                      </a:r>
                      <a:r>
                        <a:rPr lang="en-GB" sz="1200" b="0" i="0" u="none" strike="noStrike" noProof="0" err="1">
                          <a:solidFill>
                            <a:schemeClr val="tx1"/>
                          </a:solidFill>
                          <a:effectLst/>
                        </a:rPr>
                        <a:t>Prioritization:There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 is a critical need for better-defined and aligned priorities at both individual and team levels.</a:t>
                      </a:r>
                      <a:endParaRPr lang="en-GB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83142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Key Challenges in Teams: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2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Frequent interruptions and addressing multiple topics simultaneously.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Incorrect estimation of the time required for various activities.</a:t>
                      </a:r>
                      <a:endParaRPr lang="en-GB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Lack of Follow-Up and Urgency:</a:t>
                      </a:r>
                      <a:r>
                        <a:rPr lang="en-GB" sz="1200" b="1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GB" sz="12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Insufficient follow-up within direct teams, combined with excessive meetings, reduces efficiency and limits time for strategic tasks.</a:t>
                      </a:r>
                      <a:endParaRPr lang="en-GB" dirty="0"/>
                    </a:p>
                    <a:p>
                      <a:pPr lvl="0" algn="l">
                        <a:buNone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926AB7C-F747-7D73-C10D-47FAB6A953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3" b="11619"/>
          <a:stretch/>
        </p:blipFill>
        <p:spPr>
          <a:xfrm>
            <a:off x="71116" y="58188"/>
            <a:ext cx="7535028" cy="481811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07F1AE8-FFDA-86EF-0517-ED1B24AF3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869756"/>
              </p:ext>
            </p:extLst>
          </p:nvPr>
        </p:nvGraphicFramePr>
        <p:xfrm>
          <a:off x="168325" y="4588222"/>
          <a:ext cx="9627123" cy="2838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8724">
                  <a:extLst>
                    <a:ext uri="{9D8B030D-6E8A-4147-A177-3AD203B41FA5}">
                      <a16:colId xmlns:a16="http://schemas.microsoft.com/office/drawing/2014/main" val="1457663836"/>
                    </a:ext>
                  </a:extLst>
                </a:gridCol>
                <a:gridCol w="1585189">
                  <a:extLst>
                    <a:ext uri="{9D8B030D-6E8A-4147-A177-3AD203B41FA5}">
                      <a16:colId xmlns:a16="http://schemas.microsoft.com/office/drawing/2014/main" val="3577724870"/>
                    </a:ext>
                  </a:extLst>
                </a:gridCol>
                <a:gridCol w="1353210">
                  <a:extLst>
                    <a:ext uri="{9D8B030D-6E8A-4147-A177-3AD203B41FA5}">
                      <a16:colId xmlns:a16="http://schemas.microsoft.com/office/drawing/2014/main" val="3004195426"/>
                    </a:ext>
                  </a:extLst>
                </a:gridCol>
              </a:tblGrid>
              <a:tr h="458343"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/>
                      <a:r>
                        <a:rPr lang="en-US" sz="1600" b="0" i="0" kern="120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Improvement ideas</a:t>
                      </a:r>
                      <a:endParaRPr lang="en-US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/>
                      <a:r>
                        <a:rPr lang="en-US" sz="1600" b="0" i="0" kern="120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Who</a:t>
                      </a:r>
                      <a:endParaRPr lang="en-US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/>
                      <a:r>
                        <a:rPr lang="en-US" sz="1600" b="0" i="0" kern="120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When</a:t>
                      </a:r>
                      <a:endParaRPr lang="en-US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190370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lang="en-GB" sz="1200" b="0" i="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Riforma LL" panose="020B0504020101020102"/>
                          <a:cs typeface="Calibri"/>
                        </a:rPr>
                        <a:t>Implement as for the next week in the teams  the first two templates: Focus: empty brain &amp;impact/easy</a:t>
                      </a:r>
                      <a:endParaRPr lang="en-GB" dirty="0">
                        <a:effectLst/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lang="en-GB" sz="1200" b="0" i="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Riforma LL" panose="020B0504020101020102"/>
                          <a:cs typeface="Calibri"/>
                        </a:rPr>
                        <a:t>All</a:t>
                      </a:r>
                      <a:endParaRPr lang="en-GB" dirty="0">
                        <a:effectLst/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lang="en-GB" sz="1200" b="0" i="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Riforma LL" panose="020B0504020101020102"/>
                          <a:cs typeface="Calibri"/>
                        </a:rPr>
                        <a:t>02 dec 2024</a:t>
                      </a:r>
                      <a:endParaRPr lang="en-GB" dirty="0">
                        <a:effectLst/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74101"/>
                  </a:ext>
                </a:extLst>
              </a:tr>
              <a:tr h="386842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lang="en-GB" sz="1200" b="0" i="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Riforma LL" panose="020B0504020101020102"/>
                          <a:cs typeface="Calibri"/>
                        </a:rPr>
                        <a:t>Communicate in the teams but use when and if needed Time &amp; Motion excel, if the priority tool  is not working</a:t>
                      </a:r>
                      <a:endParaRPr lang="en-GB" dirty="0">
                        <a:effectLst/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lang="en-GB" sz="1200" b="0" i="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Riforma LL" panose="020B0504020101020102"/>
                          <a:cs typeface="Calibri"/>
                        </a:rPr>
                        <a:t>All</a:t>
                      </a:r>
                      <a:endParaRPr lang="en-GB" dirty="0">
                        <a:effectLst/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lang="en-GB" sz="1200" b="0" i="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Riforma LL" panose="020B0504020101020102"/>
                          <a:cs typeface="Calibri"/>
                        </a:rPr>
                        <a:t>When needed</a:t>
                      </a:r>
                      <a:endParaRPr lang="en-GB" dirty="0">
                        <a:effectLst/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130867"/>
                  </a:ext>
                </a:extLst>
              </a:tr>
              <a:tr h="541528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lang="en-GB" sz="1200" b="0" i="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Riforma LL" panose="020B0504020101020102"/>
                          <a:cs typeface="Calibri"/>
                        </a:rPr>
                        <a:t>Prepare a message to be send in the HQ  - Ways of working/ How can we can work more effective  pill – with 5 recommendations.  This message should be also included in the Induction program as a “home rule”.</a:t>
                      </a:r>
                      <a:endParaRPr lang="en-GB" dirty="0">
                        <a:effectLst/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lang="en-GB" sz="1200" b="0" i="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Riforma LL" panose="020B0504020101020102"/>
                          <a:cs typeface="Calibri"/>
                        </a:rPr>
                        <a:t>Andreia</a:t>
                      </a:r>
                      <a:endParaRPr lang="en-GB" dirty="0">
                        <a:effectLst/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lang="en-GB" sz="1200" b="0" i="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Riforma LL" panose="020B0504020101020102"/>
                          <a:cs typeface="Calibri"/>
                        </a:rPr>
                        <a:t>06 December 2024</a:t>
                      </a:r>
                      <a:endParaRPr lang="en-GB" dirty="0">
                        <a:effectLst/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418941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272361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465404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724811"/>
                  </a:ext>
                </a:extLst>
              </a:tr>
              <a:tr h="290322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746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EF0B5FF-9776-086E-A39D-C3B59CEBD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6" y="-76801"/>
            <a:ext cx="7535028" cy="69788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6A0A600-7063-DB75-7589-CF57071B4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0C536D-409D-5EA5-4E51-46795ADAF4B1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3D6C66-5282-671C-02F0-7970C444B07B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B9C02F-72EF-AEC2-118E-64583579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40" y="211686"/>
            <a:ext cx="9664560" cy="401639"/>
          </a:xfrm>
        </p:spPr>
        <p:txBody>
          <a:bodyPr lIns="91440" tIns="45720" rIns="91440" bIns="45720" anchor="b"/>
          <a:lstStyle/>
          <a:p>
            <a:r>
              <a:rPr lang="en-GB" sz="3200" b="0" dirty="0">
                <a:latin typeface="Plaak 3 Trial Regular"/>
              </a:rPr>
              <a:t>Individual and team focus and productivity </a:t>
            </a:r>
            <a:r>
              <a:rPr lang="en-GB" sz="3200" b="0" dirty="0" err="1">
                <a:latin typeface="Plaak 3 Trial Regular"/>
              </a:rPr>
              <a:t>dynaics</a:t>
            </a:r>
            <a:endParaRPr lang="en-BG" sz="3200" b="0" dirty="0" err="1">
              <a:latin typeface="Plaak 3 Trial Regular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A2DA79-8C2C-1A9D-CF6B-5B6A946E25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7939BF-EB18-1200-17C8-96F0BB7736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72773253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10874</TotalTime>
  <Words>21</Words>
  <Application>Microsoft Office PowerPoint</Application>
  <PresentationFormat>По избор</PresentationFormat>
  <Paragraphs>6</Paragraphs>
  <Slides>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3</vt:i4>
      </vt:variant>
      <vt:variant>
        <vt:lpstr>Заглавия на слайдовете</vt:lpstr>
      </vt:variant>
      <vt:variant>
        <vt:i4>2</vt:i4>
      </vt:variant>
    </vt:vector>
  </HeadingPairs>
  <TitlesOfParts>
    <vt:vector size="5" baseType="lpstr">
      <vt:lpstr>4_Custom Design</vt:lpstr>
      <vt:lpstr>5_Custom Design</vt:lpstr>
      <vt:lpstr>SOLIDS</vt:lpstr>
      <vt:lpstr>Презентация на PowerPoint</vt:lpstr>
      <vt:lpstr>Individual and team focus and productivity dynaics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821</cp:revision>
  <cp:lastPrinted>2020-02-28T13:07:06Z</cp:lastPrinted>
  <dcterms:created xsi:type="dcterms:W3CDTF">2019-08-22T09:52:59Z</dcterms:created>
  <dcterms:modified xsi:type="dcterms:W3CDTF">2024-12-02T07:30:10Z</dcterms:modified>
</cp:coreProperties>
</file>