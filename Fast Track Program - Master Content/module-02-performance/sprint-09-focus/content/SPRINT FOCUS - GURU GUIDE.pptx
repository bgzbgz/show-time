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5" r:id="rId1"/>
    <p:sldMasterId id="2147483666" r:id="rId2"/>
    <p:sldMasterId id="2147483673" r:id="rId3"/>
  </p:sldMasterIdLst>
  <p:notesMasterIdLst>
    <p:notesMasterId r:id="rId7"/>
  </p:notesMasterIdLst>
  <p:handoutMasterIdLst>
    <p:handoutMasterId r:id="rId8"/>
  </p:handoutMasterIdLst>
  <p:sldIdLst>
    <p:sldId id="625" r:id="rId4"/>
    <p:sldId id="650" r:id="rId5"/>
    <p:sldId id="384" r:id="rId6"/>
  </p:sldIdLst>
  <p:sldSz cx="6858000" cy="9906000" type="A4"/>
  <p:notesSz cx="7315200" cy="9601200"/>
  <p:embeddedFontLst>
    <p:embeddedFont>
      <p:font typeface="Monument Grotesk Mono" panose="02010504030000020004" pitchFamily="2" charset="0"/>
      <p:regular r:id="rId9"/>
    </p:embeddedFont>
    <p:embeddedFont>
      <p:font typeface="MonumentGrotesk-Mono" panose="02010504030000020004" pitchFamily="2" charset="0"/>
      <p:regular r:id="rId10"/>
    </p:embeddedFont>
    <p:embeddedFont>
      <p:font typeface="Plaak 3 Trial Regular" panose="02000000000000000000" pitchFamily="2" charset="0"/>
      <p:bold r:id="rId11"/>
    </p:embeddedFont>
    <p:embeddedFont>
      <p:font typeface="Plaak3Trial-43-Bold" panose="02000000000000000000" pitchFamily="2" charset="0"/>
      <p:bold r:id="rId12"/>
    </p:embeddedFont>
    <p:embeddedFont>
      <p:font typeface="Riforma LL" panose="020B0504020101020102" pitchFamily="34" charset="77"/>
      <p:regular r:id="rId13"/>
    </p:embeddedFont>
  </p:embeddedFontLst>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a Stoyanova" initials="YS" lastIdx="3" clrIdx="0">
    <p:extLst>
      <p:ext uri="{19B8F6BF-5375-455C-9EA6-DF929625EA0E}">
        <p15:presenceInfo xmlns:p15="http://schemas.microsoft.com/office/powerpoint/2012/main" userId="fc8e5911812096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FFF469"/>
    <a:srgbClr val="00582D"/>
    <a:srgbClr val="A20100"/>
    <a:srgbClr val="C00000"/>
    <a:srgbClr val="548235"/>
    <a:srgbClr val="A20200"/>
    <a:srgbClr val="BF9000"/>
    <a:srgbClr val="D7A21D"/>
    <a:srgbClr val="8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7" autoAdjust="0"/>
    <p:restoredTop sz="95903"/>
  </p:normalViewPr>
  <p:slideViewPr>
    <p:cSldViewPr snapToGrid="0">
      <p:cViewPr>
        <p:scale>
          <a:sx n="166" d="100"/>
          <a:sy n="166" d="100"/>
        </p:scale>
        <p:origin x="1704" y="328"/>
      </p:cViewPr>
      <p:guideLst/>
    </p:cSldViewPr>
  </p:slideViewPr>
  <p:notesTextViewPr>
    <p:cViewPr>
      <p:scale>
        <a:sx n="1" d="1"/>
        <a:sy n="1" d="1"/>
      </p:scale>
      <p:origin x="0" y="0"/>
    </p:cViewPr>
  </p:notesTextViewPr>
  <p:sorterViewPr>
    <p:cViewPr>
      <p:scale>
        <a:sx n="1" d="1"/>
        <a:sy n="1" d="1"/>
      </p:scale>
      <p:origin x="0" y="0"/>
    </p:cViewPr>
  </p:sorterViewPr>
  <p:notesViewPr>
    <p:cSldViewPr snapToGrid="0">
      <p:cViewPr varScale="1">
        <p:scale>
          <a:sx n="88" d="100"/>
          <a:sy n="88" d="100"/>
        </p:scale>
        <p:origin x="296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font" Target="fonts/font3.fntdata"/><Relationship Id="rId5" Type="http://schemas.openxmlformats.org/officeDocument/2006/relationships/slide" Target="slides/slide2.xml"/><Relationship Id="rId15" Type="http://schemas.openxmlformats.org/officeDocument/2006/relationships/commentAuthors" Target="commentAuthors.xml"/><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font" Target="fonts/font1.fntdata"/><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088C1345-A2A6-4D11-BDE0-E058081ED8CA}" type="datetimeFigureOut">
              <a:rPr lang="en-US" smtClean="0"/>
              <a:t>11/15/24</a:t>
            </a:fld>
            <a:endParaRPr lang="en-US" dirty="0"/>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3272A2CD-9876-40E1-BBE3-8EE1DE0C556B}" type="slidenum">
              <a:rPr lang="en-US" smtClean="0"/>
              <a:t>‹#›</a:t>
            </a:fld>
            <a:endParaRPr lang="en-US" dirty="0"/>
          </a:p>
        </p:txBody>
      </p:sp>
    </p:spTree>
    <p:extLst>
      <p:ext uri="{BB962C8B-B14F-4D97-AF65-F5344CB8AC3E}">
        <p14:creationId xmlns:p14="http://schemas.microsoft.com/office/powerpoint/2010/main" val="15599891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7870C1C-DBCF-424F-AA99-58B43FA2B41C}" type="datetimeFigureOut">
              <a:rPr lang="en-US" smtClean="0"/>
              <a:t>11/15/24</a:t>
            </a:fld>
            <a:endParaRPr lang="en-US" dirty="0"/>
          </a:p>
        </p:txBody>
      </p:sp>
      <p:sp>
        <p:nvSpPr>
          <p:cNvPr id="4" name="Slide Image Placeholder 3"/>
          <p:cNvSpPr>
            <a:spLocks noGrp="1" noRot="1" noChangeAspect="1"/>
          </p:cNvSpPr>
          <p:nvPr>
            <p:ph type="sldImg" idx="2"/>
          </p:nvPr>
        </p:nvSpPr>
        <p:spPr>
          <a:xfrm>
            <a:off x="2535238" y="1200150"/>
            <a:ext cx="2244725"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5298323-809A-4F9F-92DE-CBB614E4595B}" type="slidenum">
              <a:rPr lang="en-US" smtClean="0"/>
              <a:t>‹#›</a:t>
            </a:fld>
            <a:endParaRPr lang="en-US" dirty="0"/>
          </a:p>
        </p:txBody>
      </p:sp>
    </p:spTree>
    <p:extLst>
      <p:ext uri="{BB962C8B-B14F-4D97-AF65-F5344CB8AC3E}">
        <p14:creationId xmlns:p14="http://schemas.microsoft.com/office/powerpoint/2010/main" val="68604564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6940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8087035"/>
      </p:ext>
    </p:extLst>
  </p:cSld>
  <p:clrMapOvr>
    <a:masterClrMapping/>
  </p:clrMapOvr>
  <p:extLst>
    <p:ext uri="{DCECCB84-F9BA-43D5-87BE-67443E8EF086}">
      <p15:sldGuideLst xmlns:p15="http://schemas.microsoft.com/office/powerpoint/2012/main">
        <p15:guide id="1" orient="horz" pos="6078" userDrawn="1">
          <p15:clr>
            <a:srgbClr val="FBAE40"/>
          </p15:clr>
        </p15:guide>
        <p15:guide id="2" orient="horz" pos="156" userDrawn="1">
          <p15:clr>
            <a:srgbClr val="FBAE40"/>
          </p15:clr>
        </p15:guide>
        <p15:guide id="4" pos="2016" userDrawn="1">
          <p15:clr>
            <a:srgbClr val="FBAE40"/>
          </p15:clr>
        </p15:guide>
        <p15:guide id="5" pos="4160" userDrawn="1">
          <p15:clr>
            <a:srgbClr val="FBAE40"/>
          </p15:clr>
        </p15:guide>
        <p15:guide id="6" pos="3876" userDrawn="1">
          <p15:clr>
            <a:srgbClr val="FBAE40"/>
          </p15:clr>
        </p15:guide>
        <p15:guide id="7" pos="159" userDrawn="1">
          <p15:clr>
            <a:srgbClr val="FBAE40"/>
          </p15:clr>
        </p15:guide>
        <p15:guide id="8" orient="horz" pos="586" userDrawn="1">
          <p15:clr>
            <a:srgbClr val="FBAE40"/>
          </p15:clr>
        </p15:guide>
        <p15:guide id="9" orient="horz" pos="2461" userDrawn="1">
          <p15:clr>
            <a:srgbClr val="FBAE40"/>
          </p15:clr>
        </p15:guide>
        <p15:guide id="10" orient="horz" pos="2311" userDrawn="1">
          <p15:clr>
            <a:srgbClr val="FBAE40"/>
          </p15:clr>
        </p15:guide>
        <p15:guide id="11" orient="horz" pos="4197" userDrawn="1">
          <p15:clr>
            <a:srgbClr val="FBAE40"/>
          </p15:clr>
        </p15:guide>
        <p15:guide id="12" orient="horz" pos="4345" userDrawn="1">
          <p15:clr>
            <a:srgbClr val="FBAE40"/>
          </p15:clr>
        </p15:guide>
        <p15:guide id="13" pos="1937" userDrawn="1">
          <p15:clr>
            <a:srgbClr val="FBAE40"/>
          </p15:clr>
        </p15:guide>
        <p15:guide id="14" pos="210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rgbClr val="B2B2B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30759795"/>
      </p:ext>
    </p:extLst>
  </p:cSld>
  <p:clrMapOvr>
    <a:masterClrMapping/>
  </p:clrMapOvr>
  <p:extLst>
    <p:ext uri="{DCECCB84-F9BA-43D5-87BE-67443E8EF086}">
      <p15:sldGuideLst xmlns:p15="http://schemas.microsoft.com/office/powerpoint/2012/main">
        <p15:guide id="1" orient="horz" pos="6078" userDrawn="1">
          <p15:clr>
            <a:srgbClr val="FBAE40"/>
          </p15:clr>
        </p15:guide>
        <p15:guide id="2" orient="horz" pos="156" userDrawn="1">
          <p15:clr>
            <a:srgbClr val="FBAE40"/>
          </p15:clr>
        </p15:guide>
        <p15:guide id="4" pos="2016" userDrawn="1">
          <p15:clr>
            <a:srgbClr val="FBAE40"/>
          </p15:clr>
        </p15:guide>
        <p15:guide id="5" pos="4160" userDrawn="1">
          <p15:clr>
            <a:srgbClr val="FBAE40"/>
          </p15:clr>
        </p15:guide>
        <p15:guide id="6" pos="3876" userDrawn="1">
          <p15:clr>
            <a:srgbClr val="FBAE40"/>
          </p15:clr>
        </p15:guide>
        <p15:guide id="7" pos="159" userDrawn="1">
          <p15:clr>
            <a:srgbClr val="FBAE40"/>
          </p15:clr>
        </p15:guide>
        <p15:guide id="8" orient="horz" pos="586" userDrawn="1">
          <p15:clr>
            <a:srgbClr val="FBAE40"/>
          </p15:clr>
        </p15:guide>
        <p15:guide id="9" orient="horz" pos="2461" userDrawn="1">
          <p15:clr>
            <a:srgbClr val="FBAE40"/>
          </p15:clr>
        </p15:guide>
        <p15:guide id="10" orient="horz" pos="2311" userDrawn="1">
          <p15:clr>
            <a:srgbClr val="FBAE40"/>
          </p15:clr>
        </p15:guide>
        <p15:guide id="11" orient="horz" pos="4197" userDrawn="1">
          <p15:clr>
            <a:srgbClr val="FBAE40"/>
          </p15:clr>
        </p15:guide>
        <p15:guide id="12" orient="horz" pos="4345" userDrawn="1">
          <p15:clr>
            <a:srgbClr val="FBAE40"/>
          </p15:clr>
        </p15:guide>
        <p15:guide id="13" pos="1937" userDrawn="1">
          <p15:clr>
            <a:srgbClr val="FBAE40"/>
          </p15:clr>
        </p15:guide>
        <p15:guide id="14" pos="210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79"/>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26850880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6819215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C1E3C102-28F4-55C1-2550-37787607E5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68819" y="218687"/>
            <a:ext cx="326362" cy="362563"/>
          </a:xfrm>
          <a:prstGeom prst="rect">
            <a:avLst/>
          </a:prstGeom>
        </p:spPr>
      </p:pic>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0" y="697356"/>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697356"/>
            <a:ext cx="0" cy="92086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11DB68B7-7FEF-4BEB-999E-15C9B29401CA}"/>
              </a:ext>
            </a:extLst>
          </p:cNvPr>
          <p:cNvPicPr>
            <a:picLocks noChangeAspect="1"/>
          </p:cNvPicPr>
          <p:nvPr userDrawn="1"/>
        </p:nvPicPr>
        <p:blipFill>
          <a:blip r:embed="rId3"/>
          <a:stretch>
            <a:fillRect/>
          </a:stretch>
        </p:blipFill>
        <p:spPr>
          <a:xfrm>
            <a:off x="252414" y="162206"/>
            <a:ext cx="370026" cy="419044"/>
          </a:xfrm>
          <a:prstGeom prst="rect">
            <a:avLst/>
          </a:prstGeom>
        </p:spPr>
      </p:pic>
      <p:sp>
        <p:nvSpPr>
          <p:cNvPr id="13" name="TextBox 12">
            <a:extLst>
              <a:ext uri="{FF2B5EF4-FFF2-40B4-BE49-F238E27FC236}">
                <a16:creationId xmlns:a16="http://schemas.microsoft.com/office/drawing/2014/main" id="{24EB965B-40E2-4592-A7A1-8D97CCD73287}"/>
              </a:ext>
            </a:extLst>
          </p:cNvPr>
          <p:cNvSpPr txBox="1"/>
          <p:nvPr userDrawn="1"/>
        </p:nvSpPr>
        <p:spPr>
          <a:xfrm>
            <a:off x="0" y="9559128"/>
            <a:ext cx="4033585" cy="215444"/>
          </a:xfrm>
          <a:prstGeom prst="rect">
            <a:avLst/>
          </a:prstGeom>
          <a:noFill/>
        </p:spPr>
        <p:txBody>
          <a:bodyPr wrap="square">
            <a:spAutoFit/>
          </a:bodyPr>
          <a:lstStyle/>
          <a:p>
            <a:pPr algn="l"/>
            <a:r>
              <a:rPr lang="en-US" sz="800" cap="all" baseline="0" dirty="0">
                <a:solidFill>
                  <a:schemeClr val="tx1"/>
                </a:solidFill>
                <a:latin typeface="Monument Grotesk Mono" panose="02010504030000020004" pitchFamily="50" charset="0"/>
              </a:rPr>
              <a:t>The Fast Track Way Workshop_2023_Feedback Summary</a:t>
            </a:r>
            <a:endParaRPr lang="en-US" cap="all" baseline="0" dirty="0">
              <a:solidFill>
                <a:schemeClr val="tx1"/>
              </a:solidFill>
              <a:latin typeface="Monument Grotesk Mono" panose="02010504030000020004" pitchFamily="50" charset="0"/>
            </a:endParaRPr>
          </a:p>
        </p:txBody>
      </p:sp>
      <p:pic>
        <p:nvPicPr>
          <p:cNvPr id="12" name="Picture 11" descr="A black and white logo&#10;&#10;Description automatically generated with low confidence">
            <a:extLst>
              <a:ext uri="{FF2B5EF4-FFF2-40B4-BE49-F238E27FC236}">
                <a16:creationId xmlns:a16="http://schemas.microsoft.com/office/drawing/2014/main" id="{6C3A4C37-168F-0C6B-6685-F50B2B40393D}"/>
              </a:ext>
            </a:extLst>
          </p:cNvPr>
          <p:cNvPicPr>
            <a:picLocks noChangeAspect="1"/>
          </p:cNvPicPr>
          <p:nvPr userDrawn="1"/>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10270842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B4E51BE-A2C4-4B7E-A25B-9DB83F9ACBA2}"/>
              </a:ext>
            </a:extLst>
          </p:cNvPr>
          <p:cNvCxnSpPr>
            <a:cxnSpLocks/>
          </p:cNvCxnSpPr>
          <p:nvPr userDrawn="1"/>
        </p:nvCxnSpPr>
        <p:spPr>
          <a:xfrm flipH="1">
            <a:off x="1" y="3816240"/>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8AD7230-F7FF-4432-9CB7-570D060E950F}"/>
              </a:ext>
            </a:extLst>
          </p:cNvPr>
          <p:cNvCxnSpPr>
            <a:cxnSpLocks/>
          </p:cNvCxnSpPr>
          <p:nvPr userDrawn="1"/>
        </p:nvCxnSpPr>
        <p:spPr>
          <a:xfrm flipH="1">
            <a:off x="1" y="6866222"/>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1583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6"/>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11/15/24</a:t>
            </a:fld>
            <a:endParaRPr lang="en-US" dirty="0"/>
          </a:p>
        </p:txBody>
      </p:sp>
      <p:sp>
        <p:nvSpPr>
          <p:cNvPr id="5" name="Footer Placeholder 4"/>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68618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a:prstGeom prst="rect">
            <a:avLst/>
          </a:prstGeom>
        </p:spPr>
        <p:txBody>
          <a:bodyPr anchor="b"/>
          <a:lstStyle>
            <a:lvl1pPr>
              <a:defRPr sz="4154"/>
            </a:lvl1pPr>
          </a:lstStyle>
          <a:p>
            <a:r>
              <a:rPr lang="en-US"/>
              <a:t>Click to edit Master title style</a:t>
            </a:r>
            <a:endParaRPr lang="en-US" dirty="0"/>
          </a:p>
        </p:txBody>
      </p:sp>
      <p:sp>
        <p:nvSpPr>
          <p:cNvPr id="3" name="Text Placeholder 2"/>
          <p:cNvSpPr>
            <a:spLocks noGrp="1"/>
          </p:cNvSpPr>
          <p:nvPr>
            <p:ph type="body" idx="1"/>
          </p:nvPr>
        </p:nvSpPr>
        <p:spPr>
          <a:xfrm>
            <a:off x="467917" y="6629228"/>
            <a:ext cx="5915025" cy="2166937"/>
          </a:xfrm>
          <a:prstGeom prst="rect">
            <a:avLst/>
          </a:prstGeom>
        </p:spPr>
        <p:txBody>
          <a:bodyPr/>
          <a:lstStyle>
            <a:lvl1pPr marL="0" indent="0">
              <a:buNone/>
              <a:defRPr sz="1662">
                <a:solidFill>
                  <a:schemeClr val="tx1"/>
                </a:solidFill>
              </a:defRPr>
            </a:lvl1pPr>
            <a:lvl2pPr marL="316520" indent="0">
              <a:buNone/>
              <a:defRPr sz="1385">
                <a:solidFill>
                  <a:schemeClr val="tx1">
                    <a:tint val="75000"/>
                  </a:schemeClr>
                </a:solidFill>
              </a:defRPr>
            </a:lvl2pPr>
            <a:lvl3pPr marL="633039" indent="0">
              <a:buNone/>
              <a:defRPr sz="1246">
                <a:solidFill>
                  <a:schemeClr val="tx1">
                    <a:tint val="75000"/>
                  </a:schemeClr>
                </a:solidFill>
              </a:defRPr>
            </a:lvl3pPr>
            <a:lvl4pPr marL="949559" indent="0">
              <a:buNone/>
              <a:defRPr sz="1108">
                <a:solidFill>
                  <a:schemeClr val="tx1">
                    <a:tint val="75000"/>
                  </a:schemeClr>
                </a:solidFill>
              </a:defRPr>
            </a:lvl4pPr>
            <a:lvl5pPr marL="1266078" indent="0">
              <a:buNone/>
              <a:defRPr sz="1108">
                <a:solidFill>
                  <a:schemeClr val="tx1">
                    <a:tint val="75000"/>
                  </a:schemeClr>
                </a:solidFill>
              </a:defRPr>
            </a:lvl5pPr>
            <a:lvl6pPr marL="1582598" indent="0">
              <a:buNone/>
              <a:defRPr sz="1108">
                <a:solidFill>
                  <a:schemeClr val="tx1">
                    <a:tint val="75000"/>
                  </a:schemeClr>
                </a:solidFill>
              </a:defRPr>
            </a:lvl6pPr>
            <a:lvl7pPr marL="1899117" indent="0">
              <a:buNone/>
              <a:defRPr sz="1108">
                <a:solidFill>
                  <a:schemeClr val="tx1">
                    <a:tint val="75000"/>
                  </a:schemeClr>
                </a:solidFill>
              </a:defRPr>
            </a:lvl7pPr>
            <a:lvl8pPr marL="2215637" indent="0">
              <a:buNone/>
              <a:defRPr sz="1108">
                <a:solidFill>
                  <a:schemeClr val="tx1">
                    <a:tint val="75000"/>
                  </a:schemeClr>
                </a:solidFill>
              </a:defRPr>
            </a:lvl8pPr>
            <a:lvl9pPr marL="2532156" indent="0">
              <a:buNone/>
              <a:defRPr sz="110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11/15/24</a:t>
            </a:fld>
            <a:endParaRPr lang="en-US" dirty="0"/>
          </a:p>
        </p:txBody>
      </p:sp>
      <p:sp>
        <p:nvSpPr>
          <p:cNvPr id="5" name="Footer Placeholder 4"/>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08689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6"/>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11/15/24</a:t>
            </a:fld>
            <a:endParaRPr lang="en-US" dirty="0"/>
          </a:p>
        </p:txBody>
      </p:sp>
      <p:sp>
        <p:nvSpPr>
          <p:cNvPr id="6" name="Footer Placeholder 5"/>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8079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257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6DB9D7B-ABA1-46FF-8D95-5ED05CEB41EE}"/>
              </a:ext>
            </a:extLst>
          </p:cNvPr>
          <p:cNvCxnSpPr/>
          <p:nvPr userDrawn="1"/>
        </p:nvCxnSpPr>
        <p:spPr>
          <a:xfrm>
            <a:off x="6452482" y="0"/>
            <a:ext cx="0" cy="9906000"/>
          </a:xfrm>
          <a:prstGeom prst="line">
            <a:avLst/>
          </a:prstGeom>
          <a:ln w="127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1C2D4D-102A-4801-A783-15836A733F29}"/>
              </a:ext>
            </a:extLst>
          </p:cNvPr>
          <p:cNvCxnSpPr>
            <a:cxnSpLocks/>
          </p:cNvCxnSpPr>
          <p:nvPr userDrawn="1"/>
        </p:nvCxnSpPr>
        <p:spPr>
          <a:xfrm flipH="1">
            <a:off x="1" y="799884"/>
            <a:ext cx="6452481" cy="0"/>
          </a:xfrm>
          <a:prstGeom prst="line">
            <a:avLst/>
          </a:prstGeom>
          <a:ln w="127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191DF2A1-61C9-4897-9F10-923D1DF7CF36}"/>
              </a:ext>
            </a:extLst>
          </p:cNvPr>
          <p:cNvGrpSpPr/>
          <p:nvPr userDrawn="1"/>
        </p:nvGrpSpPr>
        <p:grpSpPr>
          <a:xfrm>
            <a:off x="6545302" y="174444"/>
            <a:ext cx="237175" cy="550304"/>
            <a:chOff x="9563413" y="152519"/>
            <a:chExt cx="342586" cy="380980"/>
          </a:xfrm>
        </p:grpSpPr>
        <p:sp>
          <p:nvSpPr>
            <p:cNvPr id="16" name="Rectangle 15">
              <a:extLst>
                <a:ext uri="{FF2B5EF4-FFF2-40B4-BE49-F238E27FC236}">
                  <a16:creationId xmlns:a16="http://schemas.microsoft.com/office/drawing/2014/main" id="{EFED4D8C-9F30-4DF2-9C3B-200E81BBBF57}"/>
                </a:ext>
              </a:extLst>
            </p:cNvPr>
            <p:cNvSpPr/>
            <p:nvPr userDrawn="1"/>
          </p:nvSpPr>
          <p:spPr>
            <a:xfrm>
              <a:off x="9563413" y="152519"/>
              <a:ext cx="342586"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7" name="Rectangle 16">
              <a:extLst>
                <a:ext uri="{FF2B5EF4-FFF2-40B4-BE49-F238E27FC236}">
                  <a16:creationId xmlns:a16="http://schemas.microsoft.com/office/drawing/2014/main" id="{0EF9DA57-1BB1-4497-A138-C7AAF64929C6}"/>
                </a:ext>
              </a:extLst>
            </p:cNvPr>
            <p:cNvSpPr/>
            <p:nvPr userDrawn="1"/>
          </p:nvSpPr>
          <p:spPr>
            <a:xfrm>
              <a:off x="9563413" y="287506"/>
              <a:ext cx="221935"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8" name="Rectangle 17">
              <a:extLst>
                <a:ext uri="{FF2B5EF4-FFF2-40B4-BE49-F238E27FC236}">
                  <a16:creationId xmlns:a16="http://schemas.microsoft.com/office/drawing/2014/main" id="{D1299D26-C7CC-43F3-BE87-977207921A95}"/>
                </a:ext>
              </a:extLst>
            </p:cNvPr>
            <p:cNvSpPr/>
            <p:nvPr userDrawn="1"/>
          </p:nvSpPr>
          <p:spPr>
            <a:xfrm>
              <a:off x="9563414" y="422493"/>
              <a:ext cx="117162"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grpSp>
    </p:spTree>
    <p:extLst>
      <p:ext uri="{BB962C8B-B14F-4D97-AF65-F5344CB8AC3E}">
        <p14:creationId xmlns:p14="http://schemas.microsoft.com/office/powerpoint/2010/main" val="4064701343"/>
      </p:ext>
    </p:extLst>
  </p:cSld>
  <p:clrMapOvr>
    <a:masterClrMapping/>
  </p:clrMapOvr>
  <p:extLst>
    <p:ext uri="{DCECCB84-F9BA-43D5-87BE-67443E8EF086}">
      <p15:sldGuideLst xmlns:p15="http://schemas.microsoft.com/office/powerpoint/2012/main">
        <p15:guide id="1" orient="horz" pos="4208">
          <p15:clr>
            <a:srgbClr val="FBAE40"/>
          </p15:clr>
        </p15:guide>
        <p15:guide id="2" orient="horz" pos="108">
          <p15:clr>
            <a:srgbClr val="FBAE40"/>
          </p15:clr>
        </p15:guide>
        <p15:guide id="4" pos="2912">
          <p15:clr>
            <a:srgbClr val="FBAE40"/>
          </p15:clr>
        </p15:guide>
        <p15:guide id="5" pos="6009">
          <p15:clr>
            <a:srgbClr val="FBAE40"/>
          </p15:clr>
        </p15:guide>
        <p15:guide id="6" pos="5599">
          <p15:clr>
            <a:srgbClr val="FBAE40"/>
          </p15:clr>
        </p15:guide>
        <p15:guide id="7" pos="230">
          <p15:clr>
            <a:srgbClr val="FBAE40"/>
          </p15:clr>
        </p15:guide>
        <p15:guide id="8" orient="horz" pos="406">
          <p15:clr>
            <a:srgbClr val="FBAE40"/>
          </p15:clr>
        </p15:guide>
        <p15:guide id="9" orient="horz" pos="1704">
          <p15:clr>
            <a:srgbClr val="FBAE40"/>
          </p15:clr>
        </p15:guide>
        <p15:guide id="10" orient="horz" pos="1600">
          <p15:clr>
            <a:srgbClr val="FBAE40"/>
          </p15:clr>
        </p15:guide>
        <p15:guide id="11" orient="horz" pos="2906">
          <p15:clr>
            <a:srgbClr val="FBAE40"/>
          </p15:clr>
        </p15:guide>
        <p15:guide id="12" orient="horz" pos="3008">
          <p15:clr>
            <a:srgbClr val="FBAE40"/>
          </p15:clr>
        </p15:guide>
        <p15:guide id="13" pos="2798">
          <p15:clr>
            <a:srgbClr val="FBAE40"/>
          </p15:clr>
        </p15:guide>
        <p15:guide id="14" pos="303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472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1142531"/>
      </p:ext>
    </p:extLst>
  </p:cSld>
  <p:clrMapOvr>
    <a:masterClrMapping/>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rgbClr val="B2B2B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6915197"/>
      </p:ext>
    </p:extLst>
  </p:cSld>
  <p:clrMapOvr>
    <a:masterClrMapping/>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79"/>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18959717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42337829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C1E3C102-28F4-55C1-2550-37787607E5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68819" y="218687"/>
            <a:ext cx="326362" cy="362563"/>
          </a:xfrm>
          <a:prstGeom prst="rect">
            <a:avLst/>
          </a:prstGeom>
        </p:spPr>
      </p:pic>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0" y="697356"/>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697356"/>
            <a:ext cx="0" cy="92086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11DB68B7-7FEF-4BEB-999E-15C9B29401CA}"/>
              </a:ext>
            </a:extLst>
          </p:cNvPr>
          <p:cNvPicPr>
            <a:picLocks noChangeAspect="1"/>
          </p:cNvPicPr>
          <p:nvPr userDrawn="1"/>
        </p:nvPicPr>
        <p:blipFill>
          <a:blip r:embed="rId3"/>
          <a:stretch>
            <a:fillRect/>
          </a:stretch>
        </p:blipFill>
        <p:spPr>
          <a:xfrm>
            <a:off x="252414" y="162206"/>
            <a:ext cx="370026" cy="419044"/>
          </a:xfrm>
          <a:prstGeom prst="rect">
            <a:avLst/>
          </a:prstGeom>
        </p:spPr>
      </p:pic>
      <p:sp>
        <p:nvSpPr>
          <p:cNvPr id="13" name="TextBox 12">
            <a:extLst>
              <a:ext uri="{FF2B5EF4-FFF2-40B4-BE49-F238E27FC236}">
                <a16:creationId xmlns:a16="http://schemas.microsoft.com/office/drawing/2014/main" id="{24EB965B-40E2-4592-A7A1-8D97CCD73287}"/>
              </a:ext>
            </a:extLst>
          </p:cNvPr>
          <p:cNvSpPr txBox="1"/>
          <p:nvPr userDrawn="1"/>
        </p:nvSpPr>
        <p:spPr>
          <a:xfrm>
            <a:off x="0" y="9559128"/>
            <a:ext cx="4033585" cy="215444"/>
          </a:xfrm>
          <a:prstGeom prst="rect">
            <a:avLst/>
          </a:prstGeom>
          <a:noFill/>
        </p:spPr>
        <p:txBody>
          <a:bodyPr wrap="square">
            <a:spAutoFit/>
          </a:bodyPr>
          <a:lstStyle/>
          <a:p>
            <a:pPr algn="l"/>
            <a:r>
              <a:rPr lang="en-US" sz="800" cap="all" baseline="0" dirty="0">
                <a:solidFill>
                  <a:schemeClr val="tx1"/>
                </a:solidFill>
                <a:latin typeface="Monument Grotesk Mono" panose="02010504030000020004" pitchFamily="50" charset="0"/>
              </a:rPr>
              <a:t>The Fast Track Way Workshop_2023_Feedback Summary</a:t>
            </a:r>
            <a:endParaRPr lang="en-US" cap="all" baseline="0" dirty="0">
              <a:solidFill>
                <a:schemeClr val="tx1"/>
              </a:solidFill>
              <a:latin typeface="Monument Grotesk Mono" panose="02010504030000020004" pitchFamily="50" charset="0"/>
            </a:endParaRPr>
          </a:p>
        </p:txBody>
      </p:sp>
      <p:pic>
        <p:nvPicPr>
          <p:cNvPr id="12" name="Picture 11" descr="A black and white logo&#10;&#10;Description automatically generated with low confidence">
            <a:extLst>
              <a:ext uri="{FF2B5EF4-FFF2-40B4-BE49-F238E27FC236}">
                <a16:creationId xmlns:a16="http://schemas.microsoft.com/office/drawing/2014/main" id="{6C3A4C37-168F-0C6B-6685-F50B2B40393D}"/>
              </a:ext>
            </a:extLst>
          </p:cNvPr>
          <p:cNvPicPr>
            <a:picLocks noChangeAspect="1"/>
          </p:cNvPicPr>
          <p:nvPr userDrawn="1"/>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7764600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13" Type="http://schemas.openxmlformats.org/officeDocument/2006/relationships/image" Target="../media/image7.svg"/><Relationship Id="rId3" Type="http://schemas.openxmlformats.org/officeDocument/2006/relationships/slideLayout" Target="../slideLayouts/slideLayout9.xml"/><Relationship Id="rId7" Type="http://schemas.openxmlformats.org/officeDocument/2006/relationships/theme" Target="../theme/theme2.xml"/><Relationship Id="rId12" Type="http://schemas.openxmlformats.org/officeDocument/2006/relationships/image" Target="../media/image6.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1.emf"/><Relationship Id="rId5" Type="http://schemas.openxmlformats.org/officeDocument/2006/relationships/slideLayout" Target="../slideLayouts/slideLayout11.xml"/><Relationship Id="rId15" Type="http://schemas.openxmlformats.org/officeDocument/2006/relationships/image" Target="../media/image9.svg"/><Relationship Id="rId10" Type="http://schemas.openxmlformats.org/officeDocument/2006/relationships/oleObject" Target="../embeddings/oleObject2.bin"/><Relationship Id="rId4" Type="http://schemas.openxmlformats.org/officeDocument/2006/relationships/slideLayout" Target="../slideLayouts/slideLayout10.xml"/><Relationship Id="rId9" Type="http://schemas.openxmlformats.org/officeDocument/2006/relationships/tags" Target="../tags/tag4.xml"/><Relationship Id="rId1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5.xml"/><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1.emf"/><Relationship Id="rId4" Type="http://schemas.openxmlformats.org/officeDocument/2006/relationships/slideLayout" Target="../slideLayouts/slideLayout16.xml"/><Relationship Id="rId9"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323F13F9-AD74-4E4E-84C9-3C59484F0DD6}"/>
              </a:ext>
            </a:extLst>
          </p:cNvPr>
          <p:cNvGraphicFramePr>
            <a:graphicFrameLocks noChangeAspect="1"/>
          </p:cNvGraphicFramePr>
          <p:nvPr userDrawn="1">
            <p:custDataLst>
              <p:tags r:id="rId8"/>
            </p:custDataLst>
            <p:extLst>
              <p:ext uri="{D42A27DB-BD31-4B8C-83A1-F6EECF244321}">
                <p14:modId xmlns:p14="http://schemas.microsoft.com/office/powerpoint/2010/main" val="108537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80" imgH="481" progId="TCLayout.ActiveDocument.1">
                  <p:embed/>
                </p:oleObj>
              </mc:Choice>
              <mc:Fallback>
                <p:oleObj name="think-cell Slide" r:id="rId9" imgW="480" imgH="481" progId="TCLayout.ActiveDocument.1">
                  <p:embed/>
                  <p:pic>
                    <p:nvPicPr>
                      <p:cNvPr id="4" name="Object 3">
                        <a:extLst>
                          <a:ext uri="{FF2B5EF4-FFF2-40B4-BE49-F238E27FC236}">
                            <a16:creationId xmlns:a16="http://schemas.microsoft.com/office/drawing/2014/main" id="{323F13F9-AD74-4E4E-84C9-3C59484F0DD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71488" y="959205"/>
            <a:ext cx="5915025" cy="191470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170500182"/>
      </p:ext>
    </p:extLst>
  </p:cSld>
  <p:clrMap bg1="lt1" tx1="dk1" bg2="lt2" tx2="dk2" accent1="accent1" accent2="accent2" accent3="accent3" accent4="accent4" accent5="accent5" accent6="accent6" hlink="hlink" folHlink="folHlink"/>
  <p:sldLayoutIdLst>
    <p:sldLayoutId id="2147483662" r:id="rId1"/>
    <p:sldLayoutId id="2147483661" r:id="rId2"/>
    <p:sldLayoutId id="2147483665" r:id="rId3"/>
    <p:sldLayoutId id="2147483664" r:id="rId4"/>
    <p:sldLayoutId id="2147483680" r:id="rId5"/>
    <p:sldLayoutId id="2147483663" r:id="rId6"/>
  </p:sldLayoutIdLst>
  <p:hf hdr="0" dt="0"/>
  <p:txStyles>
    <p:title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0516505-193D-47A9-B4A0-CD5068E8FB7E}"/>
              </a:ext>
            </a:extLst>
          </p:cNvPr>
          <p:cNvGraphicFramePr>
            <a:graphicFrameLocks noChangeAspect="1"/>
          </p:cNvGraphicFramePr>
          <p:nvPr userDrawn="1">
            <p:custDataLst>
              <p:tags r:id="rId8"/>
            </p:custDataLst>
            <p:extLst>
              <p:ext uri="{D42A27DB-BD31-4B8C-83A1-F6EECF244321}">
                <p14:modId xmlns:p14="http://schemas.microsoft.com/office/powerpoint/2010/main" val="1184235197"/>
              </p:ext>
            </p:extLst>
          </p:nvPr>
        </p:nvGraphicFramePr>
        <p:xfrm>
          <a:off x="1588" y="1593"/>
          <a:ext cx="1588" cy="1587"/>
        </p:xfrm>
        <a:graphic>
          <a:graphicData uri="http://schemas.openxmlformats.org/presentationml/2006/ole">
            <mc:AlternateContent xmlns:mc="http://schemas.openxmlformats.org/markup-compatibility/2006">
              <mc:Choice xmlns:v="urn:schemas-microsoft-com:vml" Requires="v">
                <p:oleObj name="think-cell Slide" r:id="rId10" imgW="480" imgH="481" progId="TCLayout.ActiveDocument.1">
                  <p:embed/>
                </p:oleObj>
              </mc:Choice>
              <mc:Fallback>
                <p:oleObj name="think-cell Slide" r:id="rId10" imgW="480" imgH="481" progId="TCLayout.ActiveDocument.1">
                  <p:embed/>
                  <p:pic>
                    <p:nvPicPr>
                      <p:cNvPr id="7" name="Object 6" hidden="1">
                        <a:extLst>
                          <a:ext uri="{FF2B5EF4-FFF2-40B4-BE49-F238E27FC236}">
                            <a16:creationId xmlns:a16="http://schemas.microsoft.com/office/drawing/2014/main" id="{50516505-193D-47A9-B4A0-CD5068E8FB7E}"/>
                          </a:ext>
                        </a:extLst>
                      </p:cNvPr>
                      <p:cNvPicPr/>
                      <p:nvPr/>
                    </p:nvPicPr>
                    <p:blipFill>
                      <a:blip r:embed="rId11"/>
                      <a:stretch>
                        <a:fillRect/>
                      </a:stretch>
                    </p:blipFill>
                    <p:spPr>
                      <a:xfrm>
                        <a:off x="1588" y="1593"/>
                        <a:ext cx="1588" cy="1587"/>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55179B-A8A1-4A99-8E10-5CFCD830FCBE}"/>
              </a:ext>
            </a:extLst>
          </p:cNvPr>
          <p:cNvSpPr/>
          <p:nvPr userDrawn="1">
            <p:custDataLst>
              <p:tags r:id="rId9"/>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1582" b="0" i="0" baseline="0" dirty="0">
              <a:latin typeface="Plaak 3 Trial Regular" panose="02000000000000000000" pitchFamily="50" charset="0"/>
              <a:ea typeface="+mj-ea"/>
              <a:cs typeface="+mj-cs"/>
              <a:sym typeface="Plaak 3 Trial Regular" panose="02000000000000000000" pitchFamily="50" charset="0"/>
            </a:endParaRPr>
          </a:p>
        </p:txBody>
      </p:sp>
      <p:cxnSp>
        <p:nvCxnSpPr>
          <p:cNvPr id="9" name="Straight Connector 8">
            <a:extLst>
              <a:ext uri="{FF2B5EF4-FFF2-40B4-BE49-F238E27FC236}">
                <a16:creationId xmlns:a16="http://schemas.microsoft.com/office/drawing/2014/main" id="{AC2ABC29-4FA3-4FF4-AEFB-B36D74161AEC}"/>
              </a:ext>
            </a:extLst>
          </p:cNvPr>
          <p:cNvCxnSpPr/>
          <p:nvPr userDrawn="1"/>
        </p:nvCxnSpPr>
        <p:spPr>
          <a:xfrm>
            <a:off x="6452482" y="0"/>
            <a:ext cx="0" cy="990600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9994BB4-84AB-4F20-9DF1-03D32F97D3DB}"/>
              </a:ext>
            </a:extLst>
          </p:cNvPr>
          <p:cNvCxnSpPr>
            <a:cxnSpLocks/>
          </p:cNvCxnSpPr>
          <p:nvPr userDrawn="1"/>
        </p:nvCxnSpPr>
        <p:spPr>
          <a:xfrm flipH="1">
            <a:off x="1" y="799884"/>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11ABC95-A7FC-4EE1-86D6-BE7CA3B366ED}"/>
              </a:ext>
            </a:extLst>
          </p:cNvPr>
          <p:cNvGrpSpPr/>
          <p:nvPr userDrawn="1"/>
        </p:nvGrpSpPr>
        <p:grpSpPr>
          <a:xfrm>
            <a:off x="6545302" y="174444"/>
            <a:ext cx="237175" cy="550304"/>
            <a:chOff x="9563413" y="152519"/>
            <a:chExt cx="342586" cy="380980"/>
          </a:xfrm>
          <a:solidFill>
            <a:schemeClr val="bg1"/>
          </a:solidFill>
        </p:grpSpPr>
        <p:sp>
          <p:nvSpPr>
            <p:cNvPr id="12" name="Rectangle 11">
              <a:extLst>
                <a:ext uri="{FF2B5EF4-FFF2-40B4-BE49-F238E27FC236}">
                  <a16:creationId xmlns:a16="http://schemas.microsoft.com/office/drawing/2014/main" id="{A50E15B3-DE89-4100-B778-6CA54B642DC5}"/>
                </a:ext>
              </a:extLst>
            </p:cNvPr>
            <p:cNvSpPr/>
            <p:nvPr userDrawn="1"/>
          </p:nvSpPr>
          <p:spPr>
            <a:xfrm>
              <a:off x="9563413" y="152519"/>
              <a:ext cx="342586"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3" name="Rectangle 12">
              <a:extLst>
                <a:ext uri="{FF2B5EF4-FFF2-40B4-BE49-F238E27FC236}">
                  <a16:creationId xmlns:a16="http://schemas.microsoft.com/office/drawing/2014/main" id="{2E33FE9C-6978-4CC7-9277-ADB57A0F0B10}"/>
                </a:ext>
              </a:extLst>
            </p:cNvPr>
            <p:cNvSpPr/>
            <p:nvPr userDrawn="1"/>
          </p:nvSpPr>
          <p:spPr>
            <a:xfrm>
              <a:off x="9563413" y="287506"/>
              <a:ext cx="221935"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4" name="Rectangle 13">
              <a:extLst>
                <a:ext uri="{FF2B5EF4-FFF2-40B4-BE49-F238E27FC236}">
                  <a16:creationId xmlns:a16="http://schemas.microsoft.com/office/drawing/2014/main" id="{3F99D8F1-0F7B-4FF4-9403-6912CC5FF0E4}"/>
                </a:ext>
              </a:extLst>
            </p:cNvPr>
            <p:cNvSpPr/>
            <p:nvPr userDrawn="1"/>
          </p:nvSpPr>
          <p:spPr>
            <a:xfrm>
              <a:off x="9563414" y="422493"/>
              <a:ext cx="117162"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grpSp>
      <p:pic>
        <p:nvPicPr>
          <p:cNvPr id="15" name="Graphic 14">
            <a:extLst>
              <a:ext uri="{FF2B5EF4-FFF2-40B4-BE49-F238E27FC236}">
                <a16:creationId xmlns:a16="http://schemas.microsoft.com/office/drawing/2014/main" id="{13649BF4-654A-48AF-832D-0BABDBEC792F}"/>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5523" y="233340"/>
            <a:ext cx="1147234" cy="411238"/>
          </a:xfrm>
          <a:prstGeom prst="rect">
            <a:avLst/>
          </a:prstGeom>
        </p:spPr>
      </p:pic>
      <p:pic>
        <p:nvPicPr>
          <p:cNvPr id="16" name="Graphic 15">
            <a:extLst>
              <a:ext uri="{FF2B5EF4-FFF2-40B4-BE49-F238E27FC236}">
                <a16:creationId xmlns:a16="http://schemas.microsoft.com/office/drawing/2014/main" id="{532C1A5D-D25A-AE7B-3D20-7E634F4B2AC3}"/>
              </a:ext>
            </a:extLst>
          </p:cNvPr>
          <p:cNvPicPr>
            <a:picLocks noChangeAspect="1"/>
          </p:cNvPicPr>
          <p:nvPr userDrawn="1"/>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32467" t="3622" b="-1"/>
          <a:stretch/>
        </p:blipFill>
        <p:spPr>
          <a:xfrm>
            <a:off x="447993" y="254616"/>
            <a:ext cx="774765" cy="396345"/>
          </a:xfrm>
          <a:prstGeom prst="rect">
            <a:avLst/>
          </a:prstGeom>
        </p:spPr>
      </p:pic>
    </p:spTree>
    <p:extLst>
      <p:ext uri="{BB962C8B-B14F-4D97-AF65-F5344CB8AC3E}">
        <p14:creationId xmlns:p14="http://schemas.microsoft.com/office/powerpoint/2010/main" val="404928044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xStyles>
    <p:titleStyle>
      <a:lvl1pPr algn="l" defTabSz="633039" rtl="0" eaLnBrk="1" latinLnBrk="0" hangingPunct="1">
        <a:lnSpc>
          <a:spcPct val="90000"/>
        </a:lnSpc>
        <a:spcBef>
          <a:spcPct val="0"/>
        </a:spcBef>
        <a:buNone/>
        <a:defRPr sz="3046" kern="1200">
          <a:solidFill>
            <a:schemeClr val="tx1"/>
          </a:solidFill>
          <a:latin typeface="+mj-lt"/>
          <a:ea typeface="+mj-ea"/>
          <a:cs typeface="+mj-cs"/>
        </a:defRPr>
      </a:lvl1pPr>
    </p:titleStyle>
    <p:bodyStyle>
      <a:lvl1pPr marL="158260" indent="-158260" algn="l" defTabSz="633039" rtl="0" eaLnBrk="1" latinLnBrk="0" hangingPunct="1">
        <a:lnSpc>
          <a:spcPct val="90000"/>
        </a:lnSpc>
        <a:spcBef>
          <a:spcPts val="692"/>
        </a:spcBef>
        <a:buFont typeface="Arial" panose="020B0604020202020204" pitchFamily="34" charset="0"/>
        <a:buChar char="•"/>
        <a:defRPr sz="1938" kern="1200">
          <a:solidFill>
            <a:schemeClr val="tx1"/>
          </a:solidFill>
          <a:latin typeface="+mn-lt"/>
          <a:ea typeface="+mn-ea"/>
          <a:cs typeface="+mn-cs"/>
        </a:defRPr>
      </a:lvl1pPr>
      <a:lvl2pPr marL="474779" indent="-158260" algn="l" defTabSz="633039" rtl="0" eaLnBrk="1" latinLnBrk="0" hangingPunct="1">
        <a:lnSpc>
          <a:spcPct val="90000"/>
        </a:lnSpc>
        <a:spcBef>
          <a:spcPts val="346"/>
        </a:spcBef>
        <a:buFont typeface="Arial" panose="020B0604020202020204" pitchFamily="34" charset="0"/>
        <a:buChar char="•"/>
        <a:defRPr sz="1662" kern="1200">
          <a:solidFill>
            <a:schemeClr val="tx1"/>
          </a:solidFill>
          <a:latin typeface="+mn-lt"/>
          <a:ea typeface="+mn-ea"/>
          <a:cs typeface="+mn-cs"/>
        </a:defRPr>
      </a:lvl2pPr>
      <a:lvl3pPr marL="791299" indent="-158260" algn="l" defTabSz="633039" rtl="0" eaLnBrk="1" latinLnBrk="0" hangingPunct="1">
        <a:lnSpc>
          <a:spcPct val="90000"/>
        </a:lnSpc>
        <a:spcBef>
          <a:spcPts val="346"/>
        </a:spcBef>
        <a:buFont typeface="Arial" panose="020B0604020202020204" pitchFamily="34" charset="0"/>
        <a:buChar char="•"/>
        <a:defRPr sz="1385" kern="1200">
          <a:solidFill>
            <a:schemeClr val="tx1"/>
          </a:solidFill>
          <a:latin typeface="+mn-lt"/>
          <a:ea typeface="+mn-ea"/>
          <a:cs typeface="+mn-cs"/>
        </a:defRPr>
      </a:lvl3pPr>
      <a:lvl4pPr marL="110781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4pPr>
      <a:lvl5pPr marL="142433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5pPr>
      <a:lvl6pPr marL="174085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6pPr>
      <a:lvl7pPr marL="205737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7pPr>
      <a:lvl8pPr marL="237389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8pPr>
      <a:lvl9pPr marL="2690416"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9pPr>
    </p:bodyStyle>
    <p:otherStyle>
      <a:defPPr>
        <a:defRPr lang="en-US"/>
      </a:defPPr>
      <a:lvl1pPr marL="0" algn="l" defTabSz="633039" rtl="0" eaLnBrk="1" latinLnBrk="0" hangingPunct="1">
        <a:defRPr sz="1246" kern="1200">
          <a:solidFill>
            <a:schemeClr val="tx1"/>
          </a:solidFill>
          <a:latin typeface="+mn-lt"/>
          <a:ea typeface="+mn-ea"/>
          <a:cs typeface="+mn-cs"/>
        </a:defRPr>
      </a:lvl1pPr>
      <a:lvl2pPr marL="316520" algn="l" defTabSz="633039" rtl="0" eaLnBrk="1" latinLnBrk="0" hangingPunct="1">
        <a:defRPr sz="1246" kern="1200">
          <a:solidFill>
            <a:schemeClr val="tx1"/>
          </a:solidFill>
          <a:latin typeface="+mn-lt"/>
          <a:ea typeface="+mn-ea"/>
          <a:cs typeface="+mn-cs"/>
        </a:defRPr>
      </a:lvl2pPr>
      <a:lvl3pPr marL="633039" algn="l" defTabSz="633039" rtl="0" eaLnBrk="1" latinLnBrk="0" hangingPunct="1">
        <a:defRPr sz="1246" kern="1200">
          <a:solidFill>
            <a:schemeClr val="tx1"/>
          </a:solidFill>
          <a:latin typeface="+mn-lt"/>
          <a:ea typeface="+mn-ea"/>
          <a:cs typeface="+mn-cs"/>
        </a:defRPr>
      </a:lvl3pPr>
      <a:lvl4pPr marL="949559" algn="l" defTabSz="633039" rtl="0" eaLnBrk="1" latinLnBrk="0" hangingPunct="1">
        <a:defRPr sz="1246" kern="1200">
          <a:solidFill>
            <a:schemeClr val="tx1"/>
          </a:solidFill>
          <a:latin typeface="+mn-lt"/>
          <a:ea typeface="+mn-ea"/>
          <a:cs typeface="+mn-cs"/>
        </a:defRPr>
      </a:lvl4pPr>
      <a:lvl5pPr marL="1266078" algn="l" defTabSz="633039" rtl="0" eaLnBrk="1" latinLnBrk="0" hangingPunct="1">
        <a:defRPr sz="1246" kern="1200">
          <a:solidFill>
            <a:schemeClr val="tx1"/>
          </a:solidFill>
          <a:latin typeface="+mn-lt"/>
          <a:ea typeface="+mn-ea"/>
          <a:cs typeface="+mn-cs"/>
        </a:defRPr>
      </a:lvl5pPr>
      <a:lvl6pPr marL="1582598" algn="l" defTabSz="633039" rtl="0" eaLnBrk="1" latinLnBrk="0" hangingPunct="1">
        <a:defRPr sz="1246" kern="1200">
          <a:solidFill>
            <a:schemeClr val="tx1"/>
          </a:solidFill>
          <a:latin typeface="+mn-lt"/>
          <a:ea typeface="+mn-ea"/>
          <a:cs typeface="+mn-cs"/>
        </a:defRPr>
      </a:lvl6pPr>
      <a:lvl7pPr marL="1899117" algn="l" defTabSz="633039" rtl="0" eaLnBrk="1" latinLnBrk="0" hangingPunct="1">
        <a:defRPr sz="1246" kern="1200">
          <a:solidFill>
            <a:schemeClr val="tx1"/>
          </a:solidFill>
          <a:latin typeface="+mn-lt"/>
          <a:ea typeface="+mn-ea"/>
          <a:cs typeface="+mn-cs"/>
        </a:defRPr>
      </a:lvl7pPr>
      <a:lvl8pPr marL="2215637" algn="l" defTabSz="633039" rtl="0" eaLnBrk="1" latinLnBrk="0" hangingPunct="1">
        <a:defRPr sz="1246" kern="1200">
          <a:solidFill>
            <a:schemeClr val="tx1"/>
          </a:solidFill>
          <a:latin typeface="+mn-lt"/>
          <a:ea typeface="+mn-ea"/>
          <a:cs typeface="+mn-cs"/>
        </a:defRPr>
      </a:lvl8pPr>
      <a:lvl9pPr marL="2532156" algn="l" defTabSz="633039" rtl="0" eaLnBrk="1" latinLnBrk="0" hangingPunct="1">
        <a:defRPr sz="124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323F13F9-AD74-4E4E-84C9-3C59484F0DD6}"/>
              </a:ext>
            </a:extLst>
          </p:cNvPr>
          <p:cNvGraphicFramePr>
            <a:graphicFrameLocks noChangeAspect="1"/>
          </p:cNvGraphicFramePr>
          <p:nvPr userDrawn="1">
            <p:custDataLst>
              <p:tags r:id="rId8"/>
            </p:custDataLst>
            <p:extLst>
              <p:ext uri="{D42A27DB-BD31-4B8C-83A1-F6EECF244321}">
                <p14:modId xmlns:p14="http://schemas.microsoft.com/office/powerpoint/2010/main" val="108537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80" imgH="481" progId="TCLayout.ActiveDocument.1">
                  <p:embed/>
                </p:oleObj>
              </mc:Choice>
              <mc:Fallback>
                <p:oleObj name="think-cell Slide" r:id="rId9" imgW="480" imgH="481" progId="TCLayout.ActiveDocument.1">
                  <p:embed/>
                  <p:pic>
                    <p:nvPicPr>
                      <p:cNvPr id="4" name="Object 3">
                        <a:extLst>
                          <a:ext uri="{FF2B5EF4-FFF2-40B4-BE49-F238E27FC236}">
                            <a16:creationId xmlns:a16="http://schemas.microsoft.com/office/drawing/2014/main" id="{323F13F9-AD74-4E4E-84C9-3C59484F0DD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71488" y="959205"/>
            <a:ext cx="5915025" cy="191470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6571940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Lst>
  <p:hf hdr="0" dt="0"/>
  <p:txStyles>
    <p:title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
            <a:extLst>
              <a:ext uri="{FF2B5EF4-FFF2-40B4-BE49-F238E27FC236}">
                <a16:creationId xmlns:a16="http://schemas.microsoft.com/office/drawing/2014/main" id="{8B3EAF75-0EE9-85C8-A84F-4F2A994C0FC0}"/>
              </a:ext>
            </a:extLst>
          </p:cNvPr>
          <p:cNvSpPr>
            <a:spLocks noChangeArrowheads="1"/>
          </p:cNvSpPr>
          <p:nvPr/>
        </p:nvSpPr>
        <p:spPr bwMode="auto">
          <a:xfrm>
            <a:off x="-2827682" y="5430277"/>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43" name="TextBox 42">
            <a:extLst>
              <a:ext uri="{FF2B5EF4-FFF2-40B4-BE49-F238E27FC236}">
                <a16:creationId xmlns:a16="http://schemas.microsoft.com/office/drawing/2014/main" id="{1CAF2073-5CB7-2EC8-C998-59B51208CFEA}"/>
              </a:ext>
            </a:extLst>
          </p:cNvPr>
          <p:cNvSpPr txBox="1"/>
          <p:nvPr/>
        </p:nvSpPr>
        <p:spPr>
          <a:xfrm>
            <a:off x="204514" y="3644724"/>
            <a:ext cx="1659455" cy="869717"/>
          </a:xfrm>
          <a:prstGeom prst="rect">
            <a:avLst/>
          </a:prstGeom>
        </p:spPr>
        <p:txBody>
          <a:bodyPr>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2000" dirty="0"/>
              <a:t>SPRINT Objectives</a:t>
            </a:r>
          </a:p>
        </p:txBody>
      </p:sp>
      <p:cxnSp>
        <p:nvCxnSpPr>
          <p:cNvPr id="47" name="Straight Connector 46">
            <a:extLst>
              <a:ext uri="{FF2B5EF4-FFF2-40B4-BE49-F238E27FC236}">
                <a16:creationId xmlns:a16="http://schemas.microsoft.com/office/drawing/2014/main" id="{7ECF57BA-AECF-CBBD-D8ED-685E6526BED5}"/>
              </a:ext>
            </a:extLst>
          </p:cNvPr>
          <p:cNvCxnSpPr>
            <a:cxnSpLocks/>
          </p:cNvCxnSpPr>
          <p:nvPr/>
        </p:nvCxnSpPr>
        <p:spPr>
          <a:xfrm flipH="1">
            <a:off x="288251" y="4095111"/>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3ECBDCBB-39BB-BF8D-87A1-C8DE17E5E513}"/>
              </a:ext>
            </a:extLst>
          </p:cNvPr>
          <p:cNvSpPr txBox="1"/>
          <p:nvPr/>
        </p:nvSpPr>
        <p:spPr>
          <a:xfrm>
            <a:off x="738485" y="1127196"/>
            <a:ext cx="5051124" cy="278153"/>
          </a:xfrm>
          <a:prstGeom prst="rect">
            <a:avLst/>
          </a:prstGeom>
          <a:noFill/>
        </p:spPr>
        <p:txBody>
          <a:bodyPr wrap="square">
            <a:spAutoFit/>
          </a:bodyPr>
          <a:lstStyle>
            <a:defPPr>
              <a:defRPr lang="en-US"/>
            </a:defPPr>
            <a:lvl1pPr>
              <a:lnSpc>
                <a:spcPct val="115000"/>
              </a:lnSpc>
              <a:spcBef>
                <a:spcPts val="840"/>
              </a:spcBef>
              <a:spcAft>
                <a:spcPts val="840"/>
              </a:spcAft>
              <a:defRPr sz="1000">
                <a:effectLst/>
                <a:latin typeface="Riforma LL" panose="020B0504020101020102" pitchFamily="34" charset="77"/>
                <a:ea typeface="Times New Roman" panose="02020603050405020304" pitchFamily="18" charset="0"/>
              </a:defRPr>
            </a:lvl1pPr>
          </a:lstStyle>
          <a:p>
            <a:r>
              <a:rPr lang="en-US" dirty="0"/>
              <a:t>Purpose</a:t>
            </a:r>
          </a:p>
        </p:txBody>
      </p:sp>
      <p:sp>
        <p:nvSpPr>
          <p:cNvPr id="79" name="TextBox 78">
            <a:extLst>
              <a:ext uri="{FF2B5EF4-FFF2-40B4-BE49-F238E27FC236}">
                <a16:creationId xmlns:a16="http://schemas.microsoft.com/office/drawing/2014/main" id="{783CBAEC-36FF-2B4D-2C98-E949019D805F}"/>
              </a:ext>
            </a:extLst>
          </p:cNvPr>
          <p:cNvSpPr txBox="1"/>
          <p:nvPr/>
        </p:nvSpPr>
        <p:spPr>
          <a:xfrm>
            <a:off x="204514" y="1143773"/>
            <a:ext cx="555935" cy="200055"/>
          </a:xfrm>
          <a:prstGeom prst="rect">
            <a:avLst/>
          </a:prstGeom>
          <a:noFill/>
        </p:spPr>
        <p:txBody>
          <a:bodyPr wrap="square">
            <a:spAutoFit/>
          </a:bodyPr>
          <a:lstStyle/>
          <a:p>
            <a:pPr lvl="0">
              <a:buSzPts val="1000"/>
              <a:tabLst>
                <a:tab pos="457200" algn="l"/>
              </a:tabLst>
            </a:pPr>
            <a:r>
              <a:rPr lang="en-BG" sz="700" kern="100" dirty="0">
                <a:effectLst/>
                <a:latin typeface="Monument Grotesk Mono" panose="02010504030000020004" pitchFamily="2" charset="0"/>
                <a:ea typeface="Riforma LL" panose="020B0504020101020102" pitchFamily="34" charset="77"/>
                <a:cs typeface="Riforma LL" panose="020B0504020101020102" pitchFamily="34" charset="77"/>
              </a:rPr>
              <a:t>[01]</a:t>
            </a:r>
          </a:p>
        </p:txBody>
      </p:sp>
      <p:sp>
        <p:nvSpPr>
          <p:cNvPr id="81" name="TextBox 80">
            <a:extLst>
              <a:ext uri="{FF2B5EF4-FFF2-40B4-BE49-F238E27FC236}">
                <a16:creationId xmlns:a16="http://schemas.microsoft.com/office/drawing/2014/main" id="{71B86368-2FBE-50AA-2B7F-ED22BC269C8E}"/>
              </a:ext>
            </a:extLst>
          </p:cNvPr>
          <p:cNvSpPr txBox="1"/>
          <p:nvPr/>
        </p:nvSpPr>
        <p:spPr>
          <a:xfrm>
            <a:off x="738485" y="1350910"/>
            <a:ext cx="5119727" cy="729430"/>
          </a:xfrm>
          <a:prstGeom prst="rect">
            <a:avLst/>
          </a:prstGeom>
          <a:noFill/>
        </p:spPr>
        <p:txBody>
          <a:bodyPr wrap="square">
            <a:spAutoFit/>
          </a:bodyPr>
          <a:lstStyle>
            <a:defPPr>
              <a:defRPr lang="en-US"/>
            </a:defPPr>
            <a:lvl1pPr>
              <a:lnSpc>
                <a:spcPct val="115000"/>
              </a:lnSpc>
              <a:spcBef>
                <a:spcPts val="840"/>
              </a:spcBef>
              <a:spcAft>
                <a:spcPts val="840"/>
              </a:spcAft>
              <a:defRPr sz="1000">
                <a:effectLst/>
                <a:latin typeface="Riforma LL" panose="020B0504020101020102" pitchFamily="34" charset="77"/>
                <a:ea typeface="Times New Roman" panose="02020603050405020304" pitchFamily="18" charset="0"/>
              </a:defRPr>
            </a:lvl1pPr>
          </a:lstStyle>
          <a:p>
            <a:r>
              <a:rPr lang="en-US" sz="900" dirty="0"/>
              <a:t>This guide aims to equip the Sprint Guru with comprehensive strategies to effectively lead the team through both individual preparation and the collaborative team meeting. It aims to facilitate a deep understanding of focus, flow, discipline, and productivity principles, ensuring every team member can implement these into their daily routine</a:t>
            </a:r>
          </a:p>
        </p:txBody>
      </p:sp>
      <p:sp>
        <p:nvSpPr>
          <p:cNvPr id="95" name="TextBox 94">
            <a:extLst>
              <a:ext uri="{FF2B5EF4-FFF2-40B4-BE49-F238E27FC236}">
                <a16:creationId xmlns:a16="http://schemas.microsoft.com/office/drawing/2014/main" id="{2C9068F3-12C6-B534-A522-A9059097780C}"/>
              </a:ext>
            </a:extLst>
          </p:cNvPr>
          <p:cNvSpPr txBox="1"/>
          <p:nvPr/>
        </p:nvSpPr>
        <p:spPr>
          <a:xfrm>
            <a:off x="5858213" y="3256488"/>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02</a:t>
            </a:r>
          </a:p>
        </p:txBody>
      </p:sp>
      <p:sp>
        <p:nvSpPr>
          <p:cNvPr id="12" name="TextBox 11">
            <a:extLst>
              <a:ext uri="{FF2B5EF4-FFF2-40B4-BE49-F238E27FC236}">
                <a16:creationId xmlns:a16="http://schemas.microsoft.com/office/drawing/2014/main" id="{193D649A-36AA-0819-2449-E7EFD873EB57}"/>
              </a:ext>
            </a:extLst>
          </p:cNvPr>
          <p:cNvSpPr txBox="1"/>
          <p:nvPr/>
        </p:nvSpPr>
        <p:spPr>
          <a:xfrm>
            <a:off x="738485" y="2083115"/>
            <a:ext cx="5051124" cy="269304"/>
          </a:xfrm>
          <a:prstGeom prst="rect">
            <a:avLst/>
          </a:prstGeom>
          <a:noFill/>
        </p:spPr>
        <p:txBody>
          <a:bodyPr wrap="square">
            <a:spAutoFit/>
          </a:bodyPr>
          <a:lstStyle>
            <a:defPPr>
              <a:defRPr lang="en-US"/>
            </a:defPPr>
            <a:lvl1pPr>
              <a:lnSpc>
                <a:spcPct val="115000"/>
              </a:lnSpc>
              <a:spcBef>
                <a:spcPts val="840"/>
              </a:spcBef>
              <a:spcAft>
                <a:spcPts val="840"/>
              </a:spcAft>
              <a:defRPr sz="1050">
                <a:effectLst/>
                <a:latin typeface="Riforma LL" panose="020B0504020101020102" pitchFamily="34" charset="77"/>
                <a:ea typeface="Times New Roman" panose="02020603050405020304" pitchFamily="18" charset="0"/>
              </a:defRPr>
            </a:lvl1pPr>
          </a:lstStyle>
          <a:p>
            <a:r>
              <a:rPr lang="en-US" sz="1000" dirty="0"/>
              <a:t>Gude how to engage and manage the team</a:t>
            </a:r>
          </a:p>
        </p:txBody>
      </p:sp>
      <p:sp>
        <p:nvSpPr>
          <p:cNvPr id="13" name="TextBox 12">
            <a:extLst>
              <a:ext uri="{FF2B5EF4-FFF2-40B4-BE49-F238E27FC236}">
                <a16:creationId xmlns:a16="http://schemas.microsoft.com/office/drawing/2014/main" id="{C4F4B5A6-404E-F03A-BE22-561170FC9C1B}"/>
              </a:ext>
            </a:extLst>
          </p:cNvPr>
          <p:cNvSpPr txBox="1"/>
          <p:nvPr/>
        </p:nvSpPr>
        <p:spPr>
          <a:xfrm>
            <a:off x="204514" y="2099692"/>
            <a:ext cx="555935" cy="200055"/>
          </a:xfrm>
          <a:prstGeom prst="rect">
            <a:avLst/>
          </a:prstGeom>
          <a:noFill/>
        </p:spPr>
        <p:txBody>
          <a:bodyPr wrap="square">
            <a:spAutoFit/>
          </a:bodyPr>
          <a:lstStyle/>
          <a:p>
            <a:pPr lvl="0">
              <a:buSzPts val="1000"/>
              <a:tabLst>
                <a:tab pos="457200" algn="l"/>
              </a:tabLst>
            </a:pPr>
            <a:r>
              <a:rPr lang="en-BG" sz="700" kern="100" dirty="0">
                <a:effectLst/>
                <a:latin typeface="Monument Grotesk Mono" panose="02010504030000020004" pitchFamily="2" charset="0"/>
                <a:ea typeface="Riforma LL" panose="020B0504020101020102" pitchFamily="34" charset="77"/>
                <a:cs typeface="Riforma LL" panose="020B0504020101020102" pitchFamily="34" charset="77"/>
              </a:rPr>
              <a:t>[02]</a:t>
            </a:r>
          </a:p>
        </p:txBody>
      </p:sp>
      <p:sp>
        <p:nvSpPr>
          <p:cNvPr id="16" name="TextBox 15">
            <a:extLst>
              <a:ext uri="{FF2B5EF4-FFF2-40B4-BE49-F238E27FC236}">
                <a16:creationId xmlns:a16="http://schemas.microsoft.com/office/drawing/2014/main" id="{90EC79B6-A0C7-6105-98BA-A00CD3D31696}"/>
              </a:ext>
            </a:extLst>
          </p:cNvPr>
          <p:cNvSpPr txBox="1"/>
          <p:nvPr/>
        </p:nvSpPr>
        <p:spPr>
          <a:xfrm>
            <a:off x="204514" y="610788"/>
            <a:ext cx="1877965"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dirty="0"/>
              <a:t>guru guide</a:t>
            </a:r>
          </a:p>
          <a:p>
            <a:r>
              <a:rPr lang="en-US" dirty="0"/>
              <a:t>overview</a:t>
            </a:r>
          </a:p>
        </p:txBody>
      </p:sp>
      <p:cxnSp>
        <p:nvCxnSpPr>
          <p:cNvPr id="17" name="Straight Connector 16">
            <a:extLst>
              <a:ext uri="{FF2B5EF4-FFF2-40B4-BE49-F238E27FC236}">
                <a16:creationId xmlns:a16="http://schemas.microsoft.com/office/drawing/2014/main" id="{D0D353E2-6A3C-95DC-0A25-689D30A9F8CC}"/>
              </a:ext>
            </a:extLst>
          </p:cNvPr>
          <p:cNvCxnSpPr>
            <a:cxnSpLocks/>
          </p:cNvCxnSpPr>
          <p:nvPr/>
        </p:nvCxnSpPr>
        <p:spPr>
          <a:xfrm flipH="1">
            <a:off x="288251" y="1082526"/>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8DB9F36-9EBC-7742-DD8A-6D6D9F883DF5}"/>
              </a:ext>
            </a:extLst>
          </p:cNvPr>
          <p:cNvSpPr txBox="1"/>
          <p:nvPr/>
        </p:nvSpPr>
        <p:spPr>
          <a:xfrm>
            <a:off x="204514" y="4150305"/>
            <a:ext cx="6047833" cy="934615"/>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r>
              <a:rPr lang="en-US" sz="900" dirty="0"/>
              <a:t>The sprint challenges team members to enhance personal and collective productivity by mastering critical areas that influence professional effectiveness. By addressing focus, flow, discipline, and productivity, the team is positioned to achieve significant gains in performance and satisfaction.</a:t>
            </a:r>
          </a:p>
          <a:p>
            <a:endParaRPr lang="en-US" sz="900" dirty="0"/>
          </a:p>
        </p:txBody>
      </p:sp>
      <p:sp>
        <p:nvSpPr>
          <p:cNvPr id="19" name="TextBox 18">
            <a:extLst>
              <a:ext uri="{FF2B5EF4-FFF2-40B4-BE49-F238E27FC236}">
                <a16:creationId xmlns:a16="http://schemas.microsoft.com/office/drawing/2014/main" id="{26A72724-DFDB-BBB6-DD24-67E5636645B7}"/>
              </a:ext>
            </a:extLst>
          </p:cNvPr>
          <p:cNvSpPr txBox="1"/>
          <p:nvPr/>
        </p:nvSpPr>
        <p:spPr>
          <a:xfrm>
            <a:off x="5858213" y="230512"/>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01</a:t>
            </a:r>
          </a:p>
        </p:txBody>
      </p:sp>
      <p:sp>
        <p:nvSpPr>
          <p:cNvPr id="24" name="TextBox 23">
            <a:extLst>
              <a:ext uri="{FF2B5EF4-FFF2-40B4-BE49-F238E27FC236}">
                <a16:creationId xmlns:a16="http://schemas.microsoft.com/office/drawing/2014/main" id="{F0FC0411-4536-79D6-D061-37E01A7F9091}"/>
              </a:ext>
            </a:extLst>
          </p:cNvPr>
          <p:cNvSpPr txBox="1"/>
          <p:nvPr/>
        </p:nvSpPr>
        <p:spPr>
          <a:xfrm>
            <a:off x="1863969" y="204310"/>
            <a:ext cx="4572001"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rPr>
              <a:t>[MODULE:MASTER THE CORE ELEMENT OF PERFORMANCE - SPRINT:FOCUS, DISCIPLINE, AND PRODUCTIVITY] </a:t>
            </a:r>
          </a:p>
        </p:txBody>
      </p:sp>
      <p:sp>
        <p:nvSpPr>
          <p:cNvPr id="27" name="Rectangle 26">
            <a:extLst>
              <a:ext uri="{FF2B5EF4-FFF2-40B4-BE49-F238E27FC236}">
                <a16:creationId xmlns:a16="http://schemas.microsoft.com/office/drawing/2014/main" id="{4020DC2B-31AD-8426-D838-EEE26B86A116}"/>
              </a:ext>
            </a:extLst>
          </p:cNvPr>
          <p:cNvSpPr/>
          <p:nvPr/>
        </p:nvSpPr>
        <p:spPr>
          <a:xfrm>
            <a:off x="-295422" y="5159249"/>
            <a:ext cx="6713987" cy="4871016"/>
          </a:xfrm>
          <a:prstGeom prst="rect">
            <a:avLst/>
          </a:prstGeom>
          <a:solidFill>
            <a:srgbClr val="B2B2B2"/>
          </a:solidFill>
          <a:ln>
            <a:noFill/>
          </a:ln>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indent="-180340">
              <a:lnSpc>
                <a:spcPct val="115000"/>
              </a:lnSpc>
              <a:spcBef>
                <a:spcPts val="300"/>
              </a:spcBef>
            </a:pPr>
            <a:endParaRPr lang="en-BG" sz="1000" dirty="0">
              <a:solidFill>
                <a:srgbClr val="000000"/>
              </a:solidFill>
              <a:effectLst/>
              <a:latin typeface="Riforma LL" panose="020B0504020101020102" pitchFamily="34" charset="77"/>
              <a:ea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34DF652-480E-1B3A-F6EB-93783AD7BE53}"/>
              </a:ext>
            </a:extLst>
          </p:cNvPr>
          <p:cNvSpPr txBox="1"/>
          <p:nvPr/>
        </p:nvSpPr>
        <p:spPr>
          <a:xfrm>
            <a:off x="246194" y="5948624"/>
            <a:ext cx="5928695" cy="3954929"/>
          </a:xfrm>
          <a:prstGeom prst="rect">
            <a:avLst/>
          </a:prstGeom>
          <a:noFill/>
        </p:spPr>
        <p:txBody>
          <a:bodyPr wrap="square">
            <a:spAutoFit/>
          </a:bodyPr>
          <a:lstStyle>
            <a:defPPr>
              <a:defRPr lang="en-US"/>
            </a:defPPr>
            <a:lvl1pPr marL="171450" indent="-171450">
              <a:lnSpc>
                <a:spcPct val="100000"/>
              </a:lnSpc>
              <a:spcBef>
                <a:spcPts val="100"/>
              </a:spcBef>
              <a:spcAft>
                <a:spcPts val="100"/>
              </a:spcAft>
              <a:buFont typeface="Arial" panose="020B0604020202020204" pitchFamily="34" charset="0"/>
              <a:buChar char="•"/>
              <a:defRPr sz="1000">
                <a:latin typeface="Riforma LL" panose="020B0504020101020102" pitchFamily="34" charset="77"/>
              </a:defRPr>
            </a:lvl1pPr>
          </a:lstStyle>
          <a:p>
            <a:pPr marL="0" indent="0">
              <a:spcBef>
                <a:spcPts val="0"/>
              </a:spcBef>
              <a:spcAft>
                <a:spcPts val="0"/>
              </a:spcAft>
              <a:buNone/>
            </a:pPr>
            <a:r>
              <a:rPr lang="en-US" dirty="0"/>
              <a:t>(Duration: 90 min) </a:t>
            </a:r>
          </a:p>
          <a:p>
            <a:pPr marL="0" indent="0">
              <a:spcBef>
                <a:spcPts val="0"/>
              </a:spcBef>
              <a:spcAft>
                <a:spcPts val="0"/>
              </a:spcAft>
              <a:buNone/>
            </a:pPr>
            <a:endParaRPr lang="en-US" b="1" dirty="0">
              <a:ea typeface="Riforma LL" panose="020B0504020101020102" pitchFamily="34" charset="77"/>
              <a:cs typeface="Riforma LL" panose="020B0504020101020102" pitchFamily="34" charset="77"/>
            </a:endParaRPr>
          </a:p>
          <a:p>
            <a:pPr marL="0" indent="0">
              <a:spcBef>
                <a:spcPts val="0"/>
              </a:spcBef>
              <a:spcAft>
                <a:spcPts val="0"/>
              </a:spcAft>
              <a:buNone/>
            </a:pPr>
            <a:r>
              <a:rPr lang="en-BG" b="1" dirty="0">
                <a:ea typeface="Riforma LL" panose="020B0504020101020102" pitchFamily="34" charset="77"/>
                <a:cs typeface="Riforma LL" panose="020B0504020101020102" pitchFamily="34" charset="77"/>
              </a:rPr>
              <a:t>1. </a:t>
            </a:r>
            <a:r>
              <a:rPr lang="en-US" b="1" dirty="0">
                <a:ea typeface="Riforma LL" panose="020B0504020101020102" pitchFamily="34" charset="77"/>
                <a:cs typeface="Riforma LL" panose="020B0504020101020102" pitchFamily="34" charset="77"/>
              </a:rPr>
              <a:t>Introduction and Sprint Goals (5 minutes)</a:t>
            </a:r>
          </a:p>
          <a:p>
            <a:pPr>
              <a:spcBef>
                <a:spcPts val="0"/>
              </a:spcBef>
              <a:spcAft>
                <a:spcPts val="0"/>
              </a:spcAft>
            </a:pPr>
            <a:r>
              <a:rPr lang="en-US" sz="900" b="1" dirty="0"/>
              <a:t>Goal: </a:t>
            </a:r>
            <a:r>
              <a:rPr lang="en-US" sz="900" dirty="0"/>
              <a:t>To clarify the sprint’s objectives and engage the team from the outset.</a:t>
            </a:r>
          </a:p>
          <a:p>
            <a:pPr>
              <a:spcBef>
                <a:spcPts val="0"/>
              </a:spcBef>
              <a:spcAft>
                <a:spcPts val="0"/>
              </a:spcAft>
            </a:pPr>
            <a:r>
              <a:rPr lang="en-US" sz="900" b="1" dirty="0"/>
              <a:t>Preparation Tip: </a:t>
            </a:r>
            <a:r>
              <a:rPr lang="en-US" sz="900" dirty="0"/>
              <a:t>Review the overarching goals and relate them to the team’s current projects and challenges.</a:t>
            </a:r>
          </a:p>
          <a:p>
            <a:pPr>
              <a:spcBef>
                <a:spcPts val="0"/>
              </a:spcBef>
              <a:spcAft>
                <a:spcPts val="0"/>
              </a:spcAft>
            </a:pPr>
            <a:r>
              <a:rPr lang="en-US" sz="900" b="1" dirty="0"/>
              <a:t>Discussion Facilitation: </a:t>
            </a:r>
            <a:r>
              <a:rPr lang="en-US" sz="900" dirty="0"/>
              <a:t>Start with a brief overview of the sprint's importance and how it ties into broader organizational objectives. Encourage initial reactions to foster engagement.</a:t>
            </a:r>
          </a:p>
          <a:p>
            <a:pPr marL="0" indent="0">
              <a:spcBef>
                <a:spcPts val="0"/>
              </a:spcBef>
              <a:spcAft>
                <a:spcPts val="0"/>
              </a:spcAft>
              <a:buNone/>
            </a:pPr>
            <a:endParaRPr lang="en-US" b="1" dirty="0">
              <a:ea typeface="Riforma LL" panose="020B0504020101020102" pitchFamily="34" charset="77"/>
              <a:cs typeface="Riforma LL" panose="020B0504020101020102" pitchFamily="34" charset="77"/>
            </a:endParaRPr>
          </a:p>
          <a:p>
            <a:pPr marL="0" indent="0">
              <a:spcBef>
                <a:spcPts val="0"/>
              </a:spcBef>
              <a:spcAft>
                <a:spcPts val="0"/>
              </a:spcAft>
              <a:buNone/>
            </a:pPr>
            <a:r>
              <a:rPr lang="en-US" b="1" dirty="0">
                <a:ea typeface="Riforma LL" panose="020B0504020101020102" pitchFamily="34" charset="77"/>
                <a:cs typeface="Riforma LL" panose="020B0504020101020102" pitchFamily="34" charset="77"/>
              </a:rPr>
              <a:t>2. Individual Reflections Sharing (25 minutes)</a:t>
            </a:r>
            <a:endParaRPr lang="en-US" sz="900" dirty="0">
              <a:ea typeface="Riforma LL" panose="020B0504020101020102" pitchFamily="34" charset="77"/>
              <a:cs typeface="Riforma LL" panose="020B0504020101020102" pitchFamily="34" charset="77"/>
            </a:endParaRPr>
          </a:p>
          <a:p>
            <a:pPr>
              <a:spcBef>
                <a:spcPts val="0"/>
              </a:spcBef>
              <a:spcAft>
                <a:spcPts val="0"/>
              </a:spcAft>
            </a:pPr>
            <a:r>
              <a:rPr lang="en-US" sz="900" b="1" dirty="0">
                <a:ea typeface="Riforma LL" panose="020B0504020101020102" pitchFamily="34" charset="77"/>
                <a:cs typeface="Riforma LL" panose="020B0504020101020102" pitchFamily="34" charset="77"/>
              </a:rPr>
              <a:t>Goal: </a:t>
            </a:r>
            <a:r>
              <a:rPr lang="en-US" sz="900" dirty="0">
                <a:ea typeface="Riforma LL" panose="020B0504020101020102" pitchFamily="34" charset="77"/>
                <a:cs typeface="Riforma LL" panose="020B0504020101020102" pitchFamily="34" charset="77"/>
              </a:rPr>
              <a:t>Encourage sharing of personal insights to foster a collective understanding of productivity enhancements.</a:t>
            </a:r>
          </a:p>
          <a:p>
            <a:pPr>
              <a:spcBef>
                <a:spcPts val="0"/>
              </a:spcBef>
              <a:spcAft>
                <a:spcPts val="0"/>
              </a:spcAft>
            </a:pPr>
            <a:r>
              <a:rPr lang="en-US" sz="900" b="1" dirty="0">
                <a:ea typeface="Riforma LL" panose="020B0504020101020102" pitchFamily="34" charset="77"/>
                <a:cs typeface="Riforma LL" panose="020B0504020101020102" pitchFamily="34" charset="77"/>
              </a:rPr>
              <a:t>Preparation Tip: </a:t>
            </a:r>
            <a:r>
              <a:rPr lang="en-US" sz="900" dirty="0">
                <a:ea typeface="Riforma LL" panose="020B0504020101020102" pitchFamily="34" charset="77"/>
                <a:cs typeface="Riforma LL" panose="020B0504020101020102" pitchFamily="34" charset="77"/>
              </a:rPr>
              <a:t>Participants should come prepared with a list of insights and a habit they wish to develop, focusing on how these can impact their role.</a:t>
            </a:r>
          </a:p>
          <a:p>
            <a:pPr>
              <a:spcBef>
                <a:spcPts val="0"/>
              </a:spcBef>
              <a:spcAft>
                <a:spcPts val="0"/>
              </a:spcAft>
            </a:pPr>
            <a:r>
              <a:rPr lang="en-US" sz="900" b="1" dirty="0">
                <a:ea typeface="Riforma LL" panose="020B0504020101020102" pitchFamily="34" charset="77"/>
                <a:cs typeface="Riforma LL" panose="020B0504020101020102" pitchFamily="34" charset="77"/>
              </a:rPr>
              <a:t>Discussion Facilitation: </a:t>
            </a:r>
            <a:r>
              <a:rPr lang="en-US" sz="900" dirty="0">
                <a:ea typeface="Riforma LL" panose="020B0504020101020102" pitchFamily="34" charset="77"/>
                <a:cs typeface="Riforma LL" panose="020B0504020101020102" pitchFamily="34" charset="77"/>
              </a:rPr>
              <a:t>Ask each participant to present their insights and discuss the applicability to their daily tasks. Prompt discussion on how these could be integrated team-wide.</a:t>
            </a:r>
          </a:p>
          <a:p>
            <a:pPr marL="0" indent="0">
              <a:spcBef>
                <a:spcPts val="0"/>
              </a:spcBef>
              <a:spcAft>
                <a:spcPts val="0"/>
              </a:spcAft>
              <a:buNone/>
            </a:pPr>
            <a:endParaRPr lang="en-US" b="1" dirty="0">
              <a:ea typeface="Riforma LL" panose="020B0504020101020102" pitchFamily="34" charset="77"/>
              <a:cs typeface="Riforma LL" panose="020B0504020101020102" pitchFamily="34" charset="77"/>
            </a:endParaRPr>
          </a:p>
          <a:p>
            <a:pPr marL="0" indent="0">
              <a:spcBef>
                <a:spcPts val="0"/>
              </a:spcBef>
              <a:spcAft>
                <a:spcPts val="0"/>
              </a:spcAft>
              <a:buNone/>
            </a:pPr>
            <a:r>
              <a:rPr lang="en-US" b="1" dirty="0">
                <a:ea typeface="Riforma LL" panose="020B0504020101020102" pitchFamily="34" charset="77"/>
                <a:cs typeface="Riforma LL" panose="020B0504020101020102" pitchFamily="34" charset="77"/>
              </a:rPr>
              <a:t>3. Case Study Analysis: 'The Missed Opportunity for Better Productivity’ (20 minutes)</a:t>
            </a:r>
            <a:endParaRPr lang="en-US" sz="900" dirty="0">
              <a:ea typeface="Riforma LL" panose="020B0504020101020102" pitchFamily="34" charset="77"/>
              <a:cs typeface="Riforma LL" panose="020B0504020101020102" pitchFamily="34" charset="77"/>
            </a:endParaRPr>
          </a:p>
          <a:p>
            <a:pPr>
              <a:spcBef>
                <a:spcPts val="0"/>
              </a:spcBef>
              <a:spcAft>
                <a:spcPts val="0"/>
              </a:spcAft>
            </a:pPr>
            <a:r>
              <a:rPr lang="en-US" sz="900" b="1" dirty="0">
                <a:ea typeface="Riforma LL" panose="020B0504020101020102" pitchFamily="34" charset="77"/>
                <a:cs typeface="Riforma LL" panose="020B0504020101020102" pitchFamily="34" charset="77"/>
              </a:rPr>
              <a:t>Goal: </a:t>
            </a:r>
            <a:r>
              <a:rPr lang="en-US" sz="900" dirty="0">
                <a:ea typeface="Riforma LL" panose="020B0504020101020102" pitchFamily="34" charset="77"/>
                <a:cs typeface="Riforma LL" panose="020B0504020101020102" pitchFamily="34" charset="77"/>
              </a:rPr>
              <a:t>Analyze common productivity pitfalls through a relatable narrative.</a:t>
            </a:r>
          </a:p>
          <a:p>
            <a:pPr>
              <a:spcBef>
                <a:spcPts val="0"/>
              </a:spcBef>
              <a:spcAft>
                <a:spcPts val="0"/>
              </a:spcAft>
            </a:pPr>
            <a:r>
              <a:rPr lang="en-US" sz="900" b="1" dirty="0">
                <a:ea typeface="Riforma LL" panose="020B0504020101020102" pitchFamily="34" charset="77"/>
                <a:cs typeface="Riforma LL" panose="020B0504020101020102" pitchFamily="34" charset="77"/>
              </a:rPr>
              <a:t>Preparation Tip: </a:t>
            </a:r>
            <a:r>
              <a:rPr lang="en-US" sz="900" dirty="0">
                <a:ea typeface="Riforma LL" panose="020B0504020101020102" pitchFamily="34" charset="77"/>
                <a:cs typeface="Riforma LL" panose="020B0504020101020102" pitchFamily="34" charset="77"/>
              </a:rPr>
              <a:t>Read the case study with a critical eye, identifying elements that resonate with personal and team experiences.</a:t>
            </a:r>
          </a:p>
          <a:p>
            <a:pPr>
              <a:spcBef>
                <a:spcPts val="0"/>
              </a:spcBef>
              <a:spcAft>
                <a:spcPts val="0"/>
              </a:spcAft>
            </a:pPr>
            <a:r>
              <a:rPr lang="en-US" sz="900" b="1" dirty="0">
                <a:ea typeface="Riforma LL" panose="020B0504020101020102" pitchFamily="34" charset="77"/>
                <a:cs typeface="Riforma LL" panose="020B0504020101020102" pitchFamily="34" charset="77"/>
              </a:rPr>
              <a:t>Discussion Facilitation: </a:t>
            </a:r>
            <a:r>
              <a:rPr lang="en-US" sz="900" dirty="0">
                <a:ea typeface="Riforma LL" panose="020B0504020101020102" pitchFamily="34" charset="77"/>
                <a:cs typeface="Riforma LL" panose="020B0504020101020102" pitchFamily="34" charset="77"/>
              </a:rPr>
              <a:t>Lead a structured discussion on the case study, prompting identification of Thomas’s key mistakes and exploring alternative strategies. Encourage participants to draw parallels to their own work experiences.</a:t>
            </a:r>
          </a:p>
          <a:p>
            <a:pPr>
              <a:spcBef>
                <a:spcPts val="0"/>
              </a:spcBef>
              <a:spcAft>
                <a:spcPts val="0"/>
              </a:spcAft>
            </a:pPr>
            <a:endParaRPr lang="en-US" sz="900" dirty="0">
              <a:ea typeface="Riforma LL" panose="020B0504020101020102" pitchFamily="34" charset="77"/>
              <a:cs typeface="Riforma LL" panose="020B0504020101020102" pitchFamily="34" charset="77"/>
            </a:endParaRPr>
          </a:p>
          <a:p>
            <a:pPr marL="0" indent="0">
              <a:spcBef>
                <a:spcPts val="0"/>
              </a:spcBef>
              <a:spcAft>
                <a:spcPts val="0"/>
              </a:spcAft>
              <a:buNone/>
            </a:pPr>
            <a:endParaRPr lang="en-US" b="1" dirty="0">
              <a:ea typeface="Riforma LL" panose="020B0504020101020102" pitchFamily="34" charset="77"/>
              <a:cs typeface="Riforma LL" panose="020B0504020101020102" pitchFamily="34" charset="77"/>
            </a:endParaRPr>
          </a:p>
          <a:p>
            <a:pPr marL="0" indent="0">
              <a:spcBef>
                <a:spcPts val="0"/>
              </a:spcBef>
              <a:spcAft>
                <a:spcPts val="0"/>
              </a:spcAft>
              <a:buNone/>
            </a:pPr>
            <a:endParaRPr lang="en-US" sz="900" dirty="0">
              <a:ea typeface="Riforma LL" panose="020B0504020101020102" pitchFamily="34" charset="77"/>
              <a:cs typeface="Riforma LL" panose="020B0504020101020102" pitchFamily="34" charset="77"/>
            </a:endParaRPr>
          </a:p>
        </p:txBody>
      </p:sp>
      <p:sp>
        <p:nvSpPr>
          <p:cNvPr id="29" name="TextBox 28">
            <a:extLst>
              <a:ext uri="{FF2B5EF4-FFF2-40B4-BE49-F238E27FC236}">
                <a16:creationId xmlns:a16="http://schemas.microsoft.com/office/drawing/2014/main" id="{44555FA1-E305-A373-7077-D7EBF914326F}"/>
              </a:ext>
            </a:extLst>
          </p:cNvPr>
          <p:cNvSpPr txBox="1"/>
          <p:nvPr/>
        </p:nvSpPr>
        <p:spPr>
          <a:xfrm>
            <a:off x="204514" y="5428452"/>
            <a:ext cx="2253829" cy="869717"/>
          </a:xfrm>
          <a:prstGeom prst="rect">
            <a:avLst/>
          </a:prstGeom>
        </p:spPr>
        <p:txBody>
          <a:bodyPr>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2000" dirty="0"/>
              <a:t>Proposed </a:t>
            </a:r>
          </a:p>
          <a:p>
            <a:pPr>
              <a:lnSpc>
                <a:spcPct val="70000"/>
              </a:lnSpc>
            </a:pPr>
            <a:r>
              <a:rPr lang="en-US" sz="2000" dirty="0"/>
              <a:t>Meeting Agenda</a:t>
            </a:r>
          </a:p>
        </p:txBody>
      </p:sp>
      <p:sp>
        <p:nvSpPr>
          <p:cNvPr id="30" name="TextBox 29">
            <a:extLst>
              <a:ext uri="{FF2B5EF4-FFF2-40B4-BE49-F238E27FC236}">
                <a16:creationId xmlns:a16="http://schemas.microsoft.com/office/drawing/2014/main" id="{24FD367F-CF76-D88C-3D9F-6B99551E6D97}"/>
              </a:ext>
            </a:extLst>
          </p:cNvPr>
          <p:cNvSpPr txBox="1"/>
          <p:nvPr/>
        </p:nvSpPr>
        <p:spPr>
          <a:xfrm>
            <a:off x="5858213" y="5078875"/>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03</a:t>
            </a:r>
          </a:p>
        </p:txBody>
      </p:sp>
      <p:cxnSp>
        <p:nvCxnSpPr>
          <p:cNvPr id="31" name="Straight Connector 30">
            <a:extLst>
              <a:ext uri="{FF2B5EF4-FFF2-40B4-BE49-F238E27FC236}">
                <a16:creationId xmlns:a16="http://schemas.microsoft.com/office/drawing/2014/main" id="{5CEE11D9-FECC-DB65-AF46-8CE3E8AF40F1}"/>
              </a:ext>
            </a:extLst>
          </p:cNvPr>
          <p:cNvCxnSpPr>
            <a:cxnSpLocks/>
          </p:cNvCxnSpPr>
          <p:nvPr/>
        </p:nvCxnSpPr>
        <p:spPr>
          <a:xfrm flipH="1">
            <a:off x="260482" y="5924939"/>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B122BE1-B9F9-1149-2A69-BA0839F65B4B}"/>
              </a:ext>
            </a:extLst>
          </p:cNvPr>
          <p:cNvSpPr txBox="1"/>
          <p:nvPr/>
        </p:nvSpPr>
        <p:spPr>
          <a:xfrm>
            <a:off x="738485" y="2347623"/>
            <a:ext cx="6047833" cy="923330"/>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marL="171450" indent="-171450">
              <a:lnSpc>
                <a:spcPct val="100000"/>
              </a:lnSpc>
              <a:spcBef>
                <a:spcPts val="0"/>
              </a:spcBef>
              <a:spcAft>
                <a:spcPts val="0"/>
              </a:spcAft>
              <a:buFont typeface="Arial" panose="020B0604020202020204" pitchFamily="34" charset="0"/>
              <a:buChar char="•"/>
            </a:pPr>
            <a:r>
              <a:rPr lang="en-US" sz="900" dirty="0"/>
              <a:t>Break into smaller groups if the discussion becomes stagnant or off-topic.</a:t>
            </a:r>
          </a:p>
          <a:p>
            <a:pPr marL="171450" indent="-171450">
              <a:lnSpc>
                <a:spcPct val="100000"/>
              </a:lnSpc>
              <a:spcBef>
                <a:spcPts val="0"/>
              </a:spcBef>
              <a:spcAft>
                <a:spcPts val="0"/>
              </a:spcAft>
              <a:buFont typeface="Arial" panose="020B0604020202020204" pitchFamily="34" charset="0"/>
              <a:buChar char="•"/>
            </a:pPr>
            <a:r>
              <a:rPr lang="en-US" sz="900" dirty="0"/>
              <a:t>Use direct questions to re-engage team members.</a:t>
            </a:r>
          </a:p>
          <a:p>
            <a:pPr marL="171450" indent="-171450">
              <a:lnSpc>
                <a:spcPct val="100000"/>
              </a:lnSpc>
              <a:spcBef>
                <a:spcPts val="0"/>
              </a:spcBef>
              <a:spcAft>
                <a:spcPts val="0"/>
              </a:spcAft>
              <a:buFont typeface="Arial" panose="020B0604020202020204" pitchFamily="34" charset="0"/>
              <a:buChar char="•"/>
            </a:pPr>
            <a:r>
              <a:rPr lang="en-US" sz="900" dirty="0"/>
              <a:t>Address issues early by acknowledging differing perspectives and finding common ground.</a:t>
            </a:r>
          </a:p>
          <a:p>
            <a:pPr marL="171450" indent="-171450">
              <a:lnSpc>
                <a:spcPct val="100000"/>
              </a:lnSpc>
              <a:spcBef>
                <a:spcPts val="0"/>
              </a:spcBef>
              <a:spcAft>
                <a:spcPts val="0"/>
              </a:spcAft>
              <a:buFont typeface="Arial" panose="020B0604020202020204" pitchFamily="34" charset="0"/>
              <a:buChar char="•"/>
            </a:pPr>
            <a:r>
              <a:rPr lang="en-US" sz="900" dirty="0"/>
              <a:t>If discussions go off-track, refocus the team by revisiting the session’s objectives.</a:t>
            </a:r>
          </a:p>
          <a:p>
            <a:pPr marL="171450" indent="-171450">
              <a:lnSpc>
                <a:spcPct val="100000"/>
              </a:lnSpc>
              <a:spcBef>
                <a:spcPts val="0"/>
              </a:spcBef>
              <a:spcAft>
                <a:spcPts val="0"/>
              </a:spcAft>
              <a:buFont typeface="Arial" panose="020B0604020202020204" pitchFamily="34" charset="0"/>
              <a:buChar char="•"/>
            </a:pPr>
            <a:r>
              <a:rPr lang="en-US" sz="900" dirty="0"/>
              <a:t>Keep a timer to ensure each agenda item stays on track.</a:t>
            </a:r>
          </a:p>
          <a:p>
            <a:pPr marL="171450" indent="-171450">
              <a:lnSpc>
                <a:spcPct val="100000"/>
              </a:lnSpc>
              <a:spcBef>
                <a:spcPts val="0"/>
              </a:spcBef>
              <a:spcAft>
                <a:spcPts val="0"/>
              </a:spcAft>
              <a:buFont typeface="Arial" panose="020B0604020202020204" pitchFamily="34" charset="0"/>
              <a:buChar char="•"/>
            </a:pPr>
            <a:r>
              <a:rPr lang="en-US" sz="900" dirty="0"/>
              <a:t>If time is running short, prioritize key decisions and put less critical issues for follow-up.</a:t>
            </a:r>
          </a:p>
        </p:txBody>
      </p:sp>
    </p:spTree>
    <p:extLst>
      <p:ext uri="{BB962C8B-B14F-4D97-AF65-F5344CB8AC3E}">
        <p14:creationId xmlns:p14="http://schemas.microsoft.com/office/powerpoint/2010/main" val="2482181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B4464-4BC6-CA01-FC7A-04A04ADCCAE1}"/>
            </a:ext>
          </a:extLst>
        </p:cNvPr>
        <p:cNvGrpSpPr/>
        <p:nvPr/>
      </p:nvGrpSpPr>
      <p:grpSpPr>
        <a:xfrm>
          <a:off x="0" y="0"/>
          <a:ext cx="0" cy="0"/>
          <a:chOff x="0" y="0"/>
          <a:chExt cx="0" cy="0"/>
        </a:xfrm>
      </p:grpSpPr>
      <p:sp>
        <p:nvSpPr>
          <p:cNvPr id="105" name="Rectangle 1">
            <a:extLst>
              <a:ext uri="{FF2B5EF4-FFF2-40B4-BE49-F238E27FC236}">
                <a16:creationId xmlns:a16="http://schemas.microsoft.com/office/drawing/2014/main" id="{919EC9ED-F4D3-78A2-DED2-CD00B5CDCB21}"/>
              </a:ext>
            </a:extLst>
          </p:cNvPr>
          <p:cNvSpPr>
            <a:spLocks noChangeArrowheads="1"/>
          </p:cNvSpPr>
          <p:nvPr/>
        </p:nvSpPr>
        <p:spPr bwMode="auto">
          <a:xfrm>
            <a:off x="-2827682" y="9002157"/>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9" name="TextBox 8">
            <a:extLst>
              <a:ext uri="{FF2B5EF4-FFF2-40B4-BE49-F238E27FC236}">
                <a16:creationId xmlns:a16="http://schemas.microsoft.com/office/drawing/2014/main" id="{B03F375A-3E9F-5F10-2C22-86BB1099434F}"/>
              </a:ext>
            </a:extLst>
          </p:cNvPr>
          <p:cNvSpPr txBox="1"/>
          <p:nvPr/>
        </p:nvSpPr>
        <p:spPr>
          <a:xfrm>
            <a:off x="5858213" y="2326120"/>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endParaRPr lang="en-US" sz="4000" dirty="0">
              <a:solidFill>
                <a:schemeClr val="tx1"/>
              </a:solidFill>
            </a:endParaRPr>
          </a:p>
        </p:txBody>
      </p:sp>
      <p:sp>
        <p:nvSpPr>
          <p:cNvPr id="5" name="TextBox 4">
            <a:extLst>
              <a:ext uri="{FF2B5EF4-FFF2-40B4-BE49-F238E27FC236}">
                <a16:creationId xmlns:a16="http://schemas.microsoft.com/office/drawing/2014/main" id="{AB32D9E1-D821-E87E-6B06-7BBE63224E66}"/>
              </a:ext>
            </a:extLst>
          </p:cNvPr>
          <p:cNvSpPr txBox="1"/>
          <p:nvPr/>
        </p:nvSpPr>
        <p:spPr>
          <a:xfrm>
            <a:off x="206056" y="2744652"/>
            <a:ext cx="1877965"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dirty="0"/>
              <a:t>FAQ and </a:t>
            </a:r>
          </a:p>
          <a:p>
            <a:r>
              <a:rPr lang="en-US" dirty="0"/>
              <a:t>answers</a:t>
            </a:r>
            <a:r>
              <a:rPr lang="en-BG" dirty="0"/>
              <a:t> </a:t>
            </a:r>
            <a:endParaRPr lang="en-US" dirty="0"/>
          </a:p>
        </p:txBody>
      </p:sp>
      <p:cxnSp>
        <p:nvCxnSpPr>
          <p:cNvPr id="6" name="Straight Connector 5">
            <a:extLst>
              <a:ext uri="{FF2B5EF4-FFF2-40B4-BE49-F238E27FC236}">
                <a16:creationId xmlns:a16="http://schemas.microsoft.com/office/drawing/2014/main" id="{C8C077F8-D576-02B3-AB48-CF4657375868}"/>
              </a:ext>
            </a:extLst>
          </p:cNvPr>
          <p:cNvCxnSpPr>
            <a:cxnSpLocks/>
          </p:cNvCxnSpPr>
          <p:nvPr/>
        </p:nvCxnSpPr>
        <p:spPr>
          <a:xfrm flipH="1">
            <a:off x="294414" y="3216390"/>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7F35FE1-8E20-AEEF-430C-399B0DEA2779}"/>
              </a:ext>
            </a:extLst>
          </p:cNvPr>
          <p:cNvSpPr txBox="1"/>
          <p:nvPr/>
        </p:nvSpPr>
        <p:spPr>
          <a:xfrm>
            <a:off x="5858213" y="2364376"/>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04</a:t>
            </a:r>
          </a:p>
        </p:txBody>
      </p:sp>
      <p:sp>
        <p:nvSpPr>
          <p:cNvPr id="12" name="TextBox 11">
            <a:extLst>
              <a:ext uri="{FF2B5EF4-FFF2-40B4-BE49-F238E27FC236}">
                <a16:creationId xmlns:a16="http://schemas.microsoft.com/office/drawing/2014/main" id="{932A75C6-498F-D26A-8B9D-9226B1E3A276}"/>
              </a:ext>
            </a:extLst>
          </p:cNvPr>
          <p:cNvSpPr txBox="1"/>
          <p:nvPr/>
        </p:nvSpPr>
        <p:spPr>
          <a:xfrm>
            <a:off x="224838" y="3283222"/>
            <a:ext cx="6047833" cy="2805896"/>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marL="171450" indent="-171450">
              <a:lnSpc>
                <a:spcPct val="100000"/>
              </a:lnSpc>
              <a:spcBef>
                <a:spcPts val="600"/>
              </a:spcBef>
              <a:spcAft>
                <a:spcPts val="100"/>
              </a:spcAft>
              <a:buFont typeface="Arial" panose="020B0604020202020204" pitchFamily="34" charset="0"/>
              <a:buChar char="•"/>
            </a:pPr>
            <a:r>
              <a:rPr lang="en-US" sz="900" b="1" dirty="0"/>
              <a:t>How do we measure the success of new habits or productivity strategies?                                                  </a:t>
            </a:r>
            <a:r>
              <a:rPr lang="en-US" sz="900" dirty="0"/>
              <a:t>Success can be measured by tracking specific metrics related to task completion times, the quality of work produced, and feedback on team and client satisfaction. Regular review sessions can help assess the impact and adjust strategies as needed.</a:t>
            </a:r>
          </a:p>
          <a:p>
            <a:pPr marL="171450" indent="-171450">
              <a:lnSpc>
                <a:spcPct val="100000"/>
              </a:lnSpc>
              <a:spcBef>
                <a:spcPts val="600"/>
              </a:spcBef>
              <a:spcAft>
                <a:spcPts val="100"/>
              </a:spcAft>
              <a:buFont typeface="Arial" panose="020B0604020202020204" pitchFamily="34" charset="0"/>
              <a:buChar char="•"/>
            </a:pPr>
            <a:r>
              <a:rPr lang="en-US" sz="900" b="1" dirty="0"/>
              <a:t>What should we do if we find that the changes we implemented are not working as expected?                       </a:t>
            </a:r>
            <a:r>
              <a:rPr lang="en-US" sz="900" dirty="0"/>
              <a:t>It's important to be flexible and adaptive. Gather feedback, identify what isn’t working, and why. Use this information to modify the approach, trying different techniques or adjusting the scope of changes.</a:t>
            </a:r>
          </a:p>
          <a:p>
            <a:pPr marL="171450" indent="-171450">
              <a:lnSpc>
                <a:spcPct val="100000"/>
              </a:lnSpc>
              <a:spcBef>
                <a:spcPts val="600"/>
              </a:spcBef>
              <a:spcAft>
                <a:spcPts val="100"/>
              </a:spcAft>
              <a:buFont typeface="Arial" panose="020B0604020202020204" pitchFamily="34" charset="0"/>
              <a:buChar char="•"/>
            </a:pPr>
            <a:r>
              <a:rPr lang="en-US" sz="900" b="1" dirty="0"/>
              <a:t>How can we maintain motivation for long-term productivity improvements?                                                  </a:t>
            </a:r>
            <a:r>
              <a:rPr lang="en-US" sz="900" dirty="0"/>
              <a:t>Maintain motivation by setting clear short-term goals that contribute to long-term visions, celebrating small wins, and regularly reviewing progress. Also, ensuring that the benefits of these improvements are visible and felt by the team can sustain motivation.</a:t>
            </a:r>
          </a:p>
          <a:p>
            <a:pPr marL="171450" indent="-171450">
              <a:lnSpc>
                <a:spcPct val="100000"/>
              </a:lnSpc>
              <a:spcBef>
                <a:spcPts val="600"/>
              </a:spcBef>
              <a:spcAft>
                <a:spcPts val="100"/>
              </a:spcAft>
              <a:buFont typeface="Arial" panose="020B0604020202020204" pitchFamily="34" charset="0"/>
              <a:buChar char="•"/>
            </a:pPr>
            <a:r>
              <a:rPr lang="en-US" sz="900" b="1" dirty="0"/>
              <a:t>Can these productivity strategies be adjusted to fit different types of work within our team?          </a:t>
            </a:r>
            <a:r>
              <a:rPr lang="en-US" sz="900" dirty="0"/>
              <a:t>Absolutely, strategies should be tailored to fit different roles and responsibilities. This customization can be discussed and developed during team meetings to ensure each strategy is relevant and effective.</a:t>
            </a:r>
          </a:p>
          <a:p>
            <a:pPr marL="171450" indent="-171450">
              <a:lnSpc>
                <a:spcPct val="100000"/>
              </a:lnSpc>
              <a:spcBef>
                <a:spcPts val="600"/>
              </a:spcBef>
              <a:spcAft>
                <a:spcPts val="100"/>
              </a:spcAft>
              <a:buFont typeface="Arial" panose="020B0604020202020204" pitchFamily="34" charset="0"/>
              <a:buChar char="•"/>
            </a:pPr>
            <a:r>
              <a:rPr lang="en-US" sz="900" b="1" dirty="0"/>
              <a:t>How often will we review our productivity strategies and habits?                                                                         </a:t>
            </a:r>
            <a:r>
              <a:rPr lang="en-US" sz="900" dirty="0"/>
              <a:t>Review cycles can be set quarterly, with the flexibility to make adjustments during monthly check-ins. This regular scrutiny ensures that strategies remain relevant and effective.</a:t>
            </a:r>
          </a:p>
        </p:txBody>
      </p:sp>
      <p:sp>
        <p:nvSpPr>
          <p:cNvPr id="2" name="Rectangle 1">
            <a:extLst>
              <a:ext uri="{FF2B5EF4-FFF2-40B4-BE49-F238E27FC236}">
                <a16:creationId xmlns:a16="http://schemas.microsoft.com/office/drawing/2014/main" id="{37584716-25E5-2C50-8FA8-9EC7D059E390}"/>
              </a:ext>
            </a:extLst>
          </p:cNvPr>
          <p:cNvSpPr/>
          <p:nvPr/>
        </p:nvSpPr>
        <p:spPr>
          <a:xfrm>
            <a:off x="-223652" y="456807"/>
            <a:ext cx="6642217" cy="1974008"/>
          </a:xfrm>
          <a:prstGeom prst="rect">
            <a:avLst/>
          </a:prstGeom>
          <a:solidFill>
            <a:srgbClr val="B2B2B2"/>
          </a:solidFill>
          <a:ln>
            <a:noFill/>
          </a:ln>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indent="-180340">
              <a:lnSpc>
                <a:spcPct val="115000"/>
              </a:lnSpc>
              <a:spcBef>
                <a:spcPts val="300"/>
              </a:spcBef>
            </a:pPr>
            <a:endParaRPr lang="en-BG" sz="1000" dirty="0">
              <a:solidFill>
                <a:srgbClr val="000000"/>
              </a:solidFill>
              <a:effectLst/>
              <a:latin typeface="Riforma LL" panose="020B0504020101020102" pitchFamily="34" charset="77"/>
              <a:ea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09D97D3-579B-5E79-0EAE-AD5A367D388E}"/>
              </a:ext>
            </a:extLst>
          </p:cNvPr>
          <p:cNvSpPr txBox="1"/>
          <p:nvPr/>
        </p:nvSpPr>
        <p:spPr>
          <a:xfrm>
            <a:off x="224838" y="633294"/>
            <a:ext cx="5928695" cy="1661993"/>
          </a:xfrm>
          <a:prstGeom prst="rect">
            <a:avLst/>
          </a:prstGeom>
          <a:noFill/>
        </p:spPr>
        <p:txBody>
          <a:bodyPr wrap="square">
            <a:spAutoFit/>
          </a:bodyPr>
          <a:lstStyle>
            <a:defPPr>
              <a:defRPr lang="en-US"/>
            </a:defPPr>
            <a:lvl1pPr marL="171450" indent="-171450">
              <a:lnSpc>
                <a:spcPct val="100000"/>
              </a:lnSpc>
              <a:spcBef>
                <a:spcPts val="100"/>
              </a:spcBef>
              <a:spcAft>
                <a:spcPts val="100"/>
              </a:spcAft>
              <a:buFont typeface="Arial" panose="020B0604020202020204" pitchFamily="34" charset="0"/>
              <a:buChar char="•"/>
              <a:defRPr sz="1000">
                <a:latin typeface="Riforma LL" panose="020B0504020101020102" pitchFamily="34" charset="77"/>
              </a:defRPr>
            </a:lvl1pPr>
          </a:lstStyle>
          <a:p>
            <a:pPr marL="0" indent="0">
              <a:spcBef>
                <a:spcPts val="0"/>
              </a:spcBef>
              <a:spcAft>
                <a:spcPts val="0"/>
              </a:spcAft>
              <a:buNone/>
            </a:pPr>
            <a:r>
              <a:rPr lang="en-US" b="1" dirty="0">
                <a:ea typeface="Riforma LL" panose="020B0504020101020102" pitchFamily="34" charset="77"/>
                <a:cs typeface="Riforma LL" panose="020B0504020101020102" pitchFamily="34" charset="77"/>
              </a:rPr>
              <a:t>4. Habit Formation Exercise (30 minutes)</a:t>
            </a:r>
            <a:endParaRPr lang="en-US" sz="900" dirty="0"/>
          </a:p>
          <a:p>
            <a:pPr>
              <a:spcBef>
                <a:spcPts val="0"/>
              </a:spcBef>
              <a:spcAft>
                <a:spcPts val="0"/>
              </a:spcAft>
            </a:pPr>
            <a:r>
              <a:rPr lang="en-US" sz="900" b="1" dirty="0"/>
              <a:t>Goal: </a:t>
            </a:r>
            <a:r>
              <a:rPr lang="en-US" sz="900" dirty="0"/>
              <a:t>Work as a team to identify routine tasks and develop habits that enhance productivity.</a:t>
            </a:r>
          </a:p>
          <a:p>
            <a:pPr>
              <a:spcBef>
                <a:spcPts val="0"/>
              </a:spcBef>
              <a:spcAft>
                <a:spcPts val="0"/>
              </a:spcAft>
            </a:pPr>
            <a:r>
              <a:rPr lang="en-US" sz="900" b="1" dirty="0"/>
              <a:t>Preparation Tip: </a:t>
            </a:r>
            <a:r>
              <a:rPr lang="en-US" sz="900" dirty="0"/>
              <a:t>Consider routine tasks that impact productivity and how these could be optimized.</a:t>
            </a:r>
          </a:p>
          <a:p>
            <a:pPr>
              <a:spcBef>
                <a:spcPts val="0"/>
              </a:spcBef>
              <a:spcAft>
                <a:spcPts val="0"/>
              </a:spcAft>
            </a:pPr>
            <a:r>
              <a:rPr lang="en-US" sz="900" b="1" dirty="0"/>
              <a:t>Discussion Facilitation: </a:t>
            </a:r>
            <a:r>
              <a:rPr lang="en-US" sz="900" dirty="0"/>
              <a:t>Guide the brainstorming session, helping the team prioritize tasks and decide on habit formation strategies. Focus on consistency and alignment with team goals.</a:t>
            </a:r>
          </a:p>
          <a:p>
            <a:pPr marL="0" indent="0">
              <a:spcBef>
                <a:spcPts val="0"/>
              </a:spcBef>
              <a:spcAft>
                <a:spcPts val="0"/>
              </a:spcAft>
              <a:buNone/>
            </a:pPr>
            <a:endParaRPr lang="en-US" b="1" dirty="0">
              <a:ea typeface="Riforma LL" panose="020B0504020101020102" pitchFamily="34" charset="77"/>
              <a:cs typeface="Riforma LL" panose="020B0504020101020102" pitchFamily="34" charset="77"/>
            </a:endParaRPr>
          </a:p>
          <a:p>
            <a:pPr marL="0" indent="0">
              <a:spcBef>
                <a:spcPts val="0"/>
              </a:spcBef>
              <a:spcAft>
                <a:spcPts val="0"/>
              </a:spcAft>
              <a:buNone/>
            </a:pPr>
            <a:r>
              <a:rPr lang="en-US" b="1" dirty="0">
                <a:ea typeface="Riforma LL" panose="020B0504020101020102" pitchFamily="34" charset="77"/>
                <a:cs typeface="Riforma LL" panose="020B0504020101020102" pitchFamily="34" charset="77"/>
              </a:rPr>
              <a:t>5. Conclusion and Action Steps (10 minutes)</a:t>
            </a:r>
            <a:endParaRPr lang="en-US" sz="900" dirty="0"/>
          </a:p>
          <a:p>
            <a:pPr>
              <a:spcBef>
                <a:spcPts val="0"/>
              </a:spcBef>
              <a:spcAft>
                <a:spcPts val="0"/>
              </a:spcAft>
            </a:pPr>
            <a:r>
              <a:rPr lang="en-US" sz="900" b="1" dirty="0"/>
              <a:t>Goal: </a:t>
            </a:r>
            <a:r>
              <a:rPr lang="en-US" sz="900" dirty="0"/>
              <a:t>Summarize the session and outline actionable steps for habit implementation.</a:t>
            </a:r>
          </a:p>
          <a:p>
            <a:pPr>
              <a:spcBef>
                <a:spcPts val="0"/>
              </a:spcBef>
              <a:spcAft>
                <a:spcPts val="0"/>
              </a:spcAft>
            </a:pPr>
            <a:r>
              <a:rPr lang="en-US" sz="900" b="1" dirty="0"/>
              <a:t>Preparation Tip: </a:t>
            </a:r>
            <a:r>
              <a:rPr lang="en-US" sz="900" dirty="0"/>
              <a:t>Reflect on the discussions and identify key action items that emerged.</a:t>
            </a:r>
          </a:p>
          <a:p>
            <a:pPr>
              <a:spcBef>
                <a:spcPts val="0"/>
              </a:spcBef>
              <a:spcAft>
                <a:spcPts val="0"/>
              </a:spcAft>
            </a:pPr>
            <a:r>
              <a:rPr lang="en-US" sz="900" b="1" dirty="0"/>
              <a:t>Discussion Facilitation: </a:t>
            </a:r>
            <a:r>
              <a:rPr lang="en-US" sz="900" dirty="0"/>
              <a:t>Clarify next steps, assigning responsibilities and deadlines. Ensure commitment from each team member for the actions decided. </a:t>
            </a:r>
          </a:p>
        </p:txBody>
      </p:sp>
      <p:sp>
        <p:nvSpPr>
          <p:cNvPr id="4" name="TextBox 3">
            <a:extLst>
              <a:ext uri="{FF2B5EF4-FFF2-40B4-BE49-F238E27FC236}">
                <a16:creationId xmlns:a16="http://schemas.microsoft.com/office/drawing/2014/main" id="{A07BCDBF-2E52-C055-7DD0-C802E6693826}"/>
              </a:ext>
            </a:extLst>
          </p:cNvPr>
          <p:cNvSpPr txBox="1"/>
          <p:nvPr/>
        </p:nvSpPr>
        <p:spPr>
          <a:xfrm>
            <a:off x="1863969" y="204310"/>
            <a:ext cx="4572001"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rPr>
              <a:t>[MODULE:MASTER THE CORE ELEMENT OF PERFORMANCE - SPRINT:FOCUS, DISCIPLINE, AND PRODUCTIVITY] </a:t>
            </a:r>
          </a:p>
        </p:txBody>
      </p:sp>
      <p:cxnSp>
        <p:nvCxnSpPr>
          <p:cNvPr id="7" name="Straight Connector 6">
            <a:extLst>
              <a:ext uri="{FF2B5EF4-FFF2-40B4-BE49-F238E27FC236}">
                <a16:creationId xmlns:a16="http://schemas.microsoft.com/office/drawing/2014/main" id="{61693EED-D6C3-1A0A-2328-D7256E7D11F7}"/>
              </a:ext>
            </a:extLst>
          </p:cNvPr>
          <p:cNvCxnSpPr>
            <a:cxnSpLocks/>
          </p:cNvCxnSpPr>
          <p:nvPr/>
        </p:nvCxnSpPr>
        <p:spPr>
          <a:xfrm flipH="1">
            <a:off x="294414" y="6898512"/>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F4D67A1-5A2B-FD5C-223A-E2DAF88234B8}"/>
              </a:ext>
            </a:extLst>
          </p:cNvPr>
          <p:cNvSpPr txBox="1"/>
          <p:nvPr/>
        </p:nvSpPr>
        <p:spPr>
          <a:xfrm>
            <a:off x="206056" y="6445777"/>
            <a:ext cx="2081486" cy="869717"/>
          </a:xfrm>
          <a:prstGeom prst="rect">
            <a:avLst/>
          </a:prstGeom>
        </p:spPr>
        <p:txBody>
          <a:bodyPr>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2000" dirty="0"/>
              <a:t>Possible Challenges and Solutions</a:t>
            </a:r>
          </a:p>
          <a:p>
            <a:pPr>
              <a:lnSpc>
                <a:spcPct val="70000"/>
              </a:lnSpc>
            </a:pPr>
            <a:endParaRPr lang="en-US" sz="2000" dirty="0"/>
          </a:p>
        </p:txBody>
      </p:sp>
      <p:sp>
        <p:nvSpPr>
          <p:cNvPr id="10" name="TextBox 9">
            <a:extLst>
              <a:ext uri="{FF2B5EF4-FFF2-40B4-BE49-F238E27FC236}">
                <a16:creationId xmlns:a16="http://schemas.microsoft.com/office/drawing/2014/main" id="{20E230D4-501B-4899-7188-431D1E064B0F}"/>
              </a:ext>
            </a:extLst>
          </p:cNvPr>
          <p:cNvSpPr txBox="1"/>
          <p:nvPr/>
        </p:nvSpPr>
        <p:spPr>
          <a:xfrm>
            <a:off x="5836005" y="6057541"/>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05</a:t>
            </a:r>
          </a:p>
        </p:txBody>
      </p:sp>
      <p:sp>
        <p:nvSpPr>
          <p:cNvPr id="15" name="TextBox 14">
            <a:extLst>
              <a:ext uri="{FF2B5EF4-FFF2-40B4-BE49-F238E27FC236}">
                <a16:creationId xmlns:a16="http://schemas.microsoft.com/office/drawing/2014/main" id="{2999EF47-A2B9-D2C8-7BD9-E2FE76C1F9E3}"/>
              </a:ext>
            </a:extLst>
          </p:cNvPr>
          <p:cNvSpPr txBox="1"/>
          <p:nvPr/>
        </p:nvSpPr>
        <p:spPr>
          <a:xfrm>
            <a:off x="224838" y="6951358"/>
            <a:ext cx="6047833" cy="2693045"/>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a:lnSpc>
                <a:spcPct val="100000"/>
              </a:lnSpc>
              <a:spcBef>
                <a:spcPts val="0"/>
              </a:spcBef>
              <a:spcAft>
                <a:spcPts val="0"/>
              </a:spcAft>
            </a:pPr>
            <a:r>
              <a:rPr lang="en-US" sz="1000" b="1" dirty="0">
                <a:ea typeface="Riforma LL" panose="020B0504020101020102" pitchFamily="34" charset="77"/>
                <a:cs typeface="Riforma LL" panose="020B0504020101020102" pitchFamily="34" charset="77"/>
              </a:rPr>
              <a:t>Resistance to change</a:t>
            </a:r>
          </a:p>
          <a:p>
            <a:pPr marL="171450" indent="-171450">
              <a:lnSpc>
                <a:spcPct val="100000"/>
              </a:lnSpc>
              <a:spcBef>
                <a:spcPts val="0"/>
              </a:spcBef>
              <a:spcAft>
                <a:spcPts val="0"/>
              </a:spcAft>
              <a:buFont typeface="Arial" panose="020B0604020202020204" pitchFamily="34" charset="0"/>
              <a:buChar char="•"/>
            </a:pPr>
            <a:r>
              <a:rPr lang="en-US" sz="900" dirty="0"/>
              <a:t>Foster an open environment where feedback is encouraged. Explain the rationale behind changes to gain buy-in.</a:t>
            </a:r>
          </a:p>
          <a:p>
            <a:pPr>
              <a:lnSpc>
                <a:spcPct val="100000"/>
              </a:lnSpc>
              <a:spcBef>
                <a:spcPts val="600"/>
              </a:spcBef>
              <a:spcAft>
                <a:spcPts val="0"/>
              </a:spcAft>
            </a:pPr>
            <a:r>
              <a:rPr lang="en-US" sz="1000" b="1" dirty="0">
                <a:ea typeface="Riforma LL" panose="020B0504020101020102" pitchFamily="34" charset="77"/>
                <a:cs typeface="Riforma LL" panose="020B0504020101020102" pitchFamily="34" charset="77"/>
              </a:rPr>
              <a:t>Time management for new routines</a:t>
            </a:r>
          </a:p>
          <a:p>
            <a:pPr marL="171450" indent="-171450">
              <a:lnSpc>
                <a:spcPct val="100000"/>
              </a:lnSpc>
              <a:spcBef>
                <a:spcPts val="0"/>
              </a:spcBef>
              <a:spcAft>
                <a:spcPts val="0"/>
              </a:spcAft>
              <a:buFont typeface="Arial" panose="020B0604020202020204" pitchFamily="34" charset="0"/>
              <a:buChar char="•"/>
            </a:pPr>
            <a:r>
              <a:rPr lang="en-US" sz="900" dirty="0"/>
              <a:t>Help team members rearrange their schedules to accommodate new habits without overwhelming their workload.</a:t>
            </a:r>
          </a:p>
          <a:p>
            <a:pPr>
              <a:lnSpc>
                <a:spcPct val="100000"/>
              </a:lnSpc>
              <a:spcBef>
                <a:spcPts val="600"/>
              </a:spcBef>
              <a:spcAft>
                <a:spcPts val="0"/>
              </a:spcAft>
            </a:pPr>
            <a:r>
              <a:rPr lang="en-US" sz="1000" b="1" dirty="0">
                <a:ea typeface="Riforma LL" panose="020B0504020101020102" pitchFamily="34" charset="77"/>
                <a:cs typeface="Riforma LL" panose="020B0504020101020102" pitchFamily="34" charset="77"/>
              </a:rPr>
              <a:t>Inconsistent application of strategies</a:t>
            </a:r>
          </a:p>
          <a:p>
            <a:pPr marL="171450" indent="-171450">
              <a:lnSpc>
                <a:spcPct val="100000"/>
              </a:lnSpc>
              <a:spcBef>
                <a:spcPts val="0"/>
              </a:spcBef>
              <a:spcAft>
                <a:spcPts val="0"/>
              </a:spcAft>
              <a:buFont typeface="Arial" panose="020B0604020202020204" pitchFamily="34" charset="0"/>
              <a:buChar char="•"/>
            </a:pPr>
            <a:r>
              <a:rPr lang="en-US" sz="900" dirty="0"/>
              <a:t>Implement mentoring or buddy systems to help maintain accountability and provide support where needed.</a:t>
            </a:r>
          </a:p>
          <a:p>
            <a:pPr>
              <a:lnSpc>
                <a:spcPct val="100000"/>
              </a:lnSpc>
              <a:spcBef>
                <a:spcPts val="600"/>
              </a:spcBef>
              <a:spcAft>
                <a:spcPts val="0"/>
              </a:spcAft>
            </a:pPr>
            <a:r>
              <a:rPr lang="en-US" sz="1000" b="1" dirty="0">
                <a:ea typeface="Riforma LL" panose="020B0504020101020102" pitchFamily="34" charset="77"/>
                <a:cs typeface="Riforma LL" panose="020B0504020101020102" pitchFamily="34" charset="77"/>
              </a:rPr>
              <a:t>Lack of immediate results</a:t>
            </a:r>
          </a:p>
          <a:p>
            <a:pPr marL="171450" indent="-171450">
              <a:lnSpc>
                <a:spcPct val="100000"/>
              </a:lnSpc>
              <a:spcBef>
                <a:spcPts val="0"/>
              </a:spcBef>
              <a:spcAft>
                <a:spcPts val="0"/>
              </a:spcAft>
              <a:buFont typeface="Arial" panose="020B0604020202020204" pitchFamily="34" charset="0"/>
              <a:buChar char="•"/>
            </a:pPr>
            <a:r>
              <a:rPr lang="en-US" sz="900" dirty="0"/>
              <a:t>Set realistic expectations for when results should be visible and communicate this to prevent disillusionment.</a:t>
            </a:r>
          </a:p>
          <a:p>
            <a:pPr>
              <a:lnSpc>
                <a:spcPct val="100000"/>
              </a:lnSpc>
              <a:spcBef>
                <a:spcPts val="600"/>
              </a:spcBef>
              <a:spcAft>
                <a:spcPts val="0"/>
              </a:spcAft>
            </a:pPr>
            <a:r>
              <a:rPr lang="en-US" sz="1000" b="1" dirty="0">
                <a:ea typeface="Riforma LL" panose="020B0504020101020102" pitchFamily="34" charset="77"/>
                <a:cs typeface="Riforma LL" panose="020B0504020101020102" pitchFamily="34" charset="77"/>
              </a:rPr>
              <a:t>Overcomplexity in implementation</a:t>
            </a:r>
          </a:p>
          <a:p>
            <a:pPr marL="171450" indent="-171450">
              <a:lnSpc>
                <a:spcPct val="100000"/>
              </a:lnSpc>
              <a:spcBef>
                <a:spcPts val="0"/>
              </a:spcBef>
              <a:spcAft>
                <a:spcPts val="0"/>
              </a:spcAft>
              <a:buFont typeface="Arial" panose="020B0604020202020204" pitchFamily="34" charset="0"/>
              <a:buChar char="•"/>
            </a:pPr>
            <a:r>
              <a:rPr lang="en-US" sz="900" dirty="0"/>
              <a:t>Simplify strategies into actionable steps that are easy to understand and execute. Offer training sessions if needed.</a:t>
            </a:r>
          </a:p>
          <a:p>
            <a:pPr marL="171450" indent="-171450">
              <a:lnSpc>
                <a:spcPct val="100000"/>
              </a:lnSpc>
              <a:spcBef>
                <a:spcPts val="0"/>
              </a:spcBef>
              <a:spcAft>
                <a:spcPts val="0"/>
              </a:spcAft>
              <a:buFont typeface="Arial" panose="020B0604020202020204" pitchFamily="34" charset="0"/>
              <a:buChar char="•"/>
            </a:pPr>
            <a:endParaRPr lang="en-US" sz="900" dirty="0"/>
          </a:p>
        </p:txBody>
      </p:sp>
    </p:spTree>
    <p:extLst>
      <p:ext uri="{BB962C8B-B14F-4D97-AF65-F5344CB8AC3E}">
        <p14:creationId xmlns:p14="http://schemas.microsoft.com/office/powerpoint/2010/main" val="2089247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A9AC01-ED0C-F5D3-F3CB-D12D0F3DAC14}"/>
              </a:ext>
            </a:extLst>
          </p:cNvPr>
          <p:cNvSpPr/>
          <p:nvPr/>
        </p:nvSpPr>
        <p:spPr>
          <a:xfrm>
            <a:off x="-116114" y="0"/>
            <a:ext cx="6974114" cy="990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2">
            <a:extLst>
              <a:ext uri="{FF2B5EF4-FFF2-40B4-BE49-F238E27FC236}">
                <a16:creationId xmlns:a16="http://schemas.microsoft.com/office/drawing/2014/main" id="{C3276E35-DBB3-C811-C5D8-C5664E054F28}"/>
              </a:ext>
            </a:extLst>
          </p:cNvPr>
          <p:cNvSpPr txBox="1">
            <a:spLocks/>
          </p:cNvSpPr>
          <p:nvPr/>
        </p:nvSpPr>
        <p:spPr>
          <a:xfrm>
            <a:off x="1233682" y="7445847"/>
            <a:ext cx="4390636" cy="2118181"/>
          </a:xfrm>
          <a:prstGeom prst="rect">
            <a:avLst/>
          </a:prstGeom>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a:lstStyle>
          <a:p>
            <a:pPr algn="ctr"/>
            <a:r>
              <a:rPr lang="en-US" sz="1800" i="0" u="none" strike="noStrike" baseline="0" dirty="0">
                <a:solidFill>
                  <a:srgbClr val="FFFFFF"/>
                </a:solidFill>
                <a:latin typeface="Plaak3Trial-43-Bold" panose="02000000000000000000" pitchFamily="50" charset="0"/>
              </a:rPr>
              <a:t>“THE Fast Track system is Simplicity designed to make an Impact. Brilliant.”</a:t>
            </a:r>
          </a:p>
          <a:p>
            <a:pPr algn="ctr"/>
            <a:endParaRPr lang="en-US" sz="1800" b="1" i="0" u="none" strike="noStrike" baseline="0" dirty="0">
              <a:solidFill>
                <a:srgbClr val="FFFFFF"/>
              </a:solidFill>
              <a:latin typeface="Plaak3Trial-43-Bold" panose="02000000000000000000" pitchFamily="50" charset="0"/>
            </a:endParaRPr>
          </a:p>
          <a:p>
            <a:pPr algn="ctr"/>
            <a:r>
              <a:rPr lang="en-US" sz="1100" b="0" i="0" u="none" strike="noStrike" baseline="0" dirty="0">
                <a:solidFill>
                  <a:srgbClr val="FFFFFF"/>
                </a:solidFill>
                <a:latin typeface="MonumentGrotesk-Mono" panose="02010504030000020004" pitchFamily="50" charset="0"/>
              </a:rPr>
              <a:t>[XAVIER CARPINELLI, KPMG, YPO MONACO]</a:t>
            </a:r>
            <a:endParaRPr lang="en-US" sz="6000" dirty="0">
              <a:ea typeface="+mn-ea"/>
              <a:cs typeface="+mn-cs"/>
            </a:endParaRPr>
          </a:p>
        </p:txBody>
      </p:sp>
      <p:pic>
        <p:nvPicPr>
          <p:cNvPr id="2" name="Picture 1" descr="A close up of a logo&#10;&#10;Description automatically generated">
            <a:extLst>
              <a:ext uri="{FF2B5EF4-FFF2-40B4-BE49-F238E27FC236}">
                <a16:creationId xmlns:a16="http://schemas.microsoft.com/office/drawing/2014/main" id="{F90AB019-8E29-8D3F-709F-83FE925795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5519" y="4249718"/>
            <a:ext cx="1886962" cy="765331"/>
          </a:xfrm>
          <a:prstGeom prst="rect">
            <a:avLst/>
          </a:prstGeom>
        </p:spPr>
      </p:pic>
    </p:spTree>
    <p:extLst>
      <p:ext uri="{BB962C8B-B14F-4D97-AF65-F5344CB8AC3E}">
        <p14:creationId xmlns:p14="http://schemas.microsoft.com/office/powerpoint/2010/main" val="14739519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ZUcrUlfqiSxTYF_wzigU1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T fonts">
      <a:majorFont>
        <a:latin typeface="Exo 2.0"/>
        <a:ea typeface=""/>
        <a:cs typeface=""/>
      </a:majorFont>
      <a:minorFont>
        <a:latin typeface="Exo 2.0"/>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T fonts">
      <a:majorFont>
        <a:latin typeface="Exo 2.0"/>
        <a:ea typeface=""/>
        <a:cs typeface=""/>
      </a:majorFont>
      <a:minorFont>
        <a:latin typeface="Exo 2.0"/>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25350</TotalTime>
  <Words>998</Words>
  <Application>Microsoft Macintosh PowerPoint</Application>
  <PresentationFormat>A4 Paper (210x297 mm)</PresentationFormat>
  <Paragraphs>71</Paragraphs>
  <Slides>3</Slides>
  <Notes>0</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3</vt:i4>
      </vt:variant>
    </vt:vector>
  </HeadingPairs>
  <TitlesOfParts>
    <vt:vector size="14" baseType="lpstr">
      <vt:lpstr>Monument Grotesk Mono</vt:lpstr>
      <vt:lpstr>Calibri</vt:lpstr>
      <vt:lpstr>Arial</vt:lpstr>
      <vt:lpstr>Plaak3Trial-43-Bold</vt:lpstr>
      <vt:lpstr>Plaak 3 Trial Regular</vt:lpstr>
      <vt:lpstr>Riforma LL</vt:lpstr>
      <vt:lpstr>MonumentGrotesk-Mono</vt:lpstr>
      <vt:lpstr>Office Theme</vt:lpstr>
      <vt:lpstr>1_Office Theme</vt:lpstr>
      <vt:lpstr>2_Office Theme</vt:lpstr>
      <vt:lpstr>think-cell Slide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Track Template new</dc:title>
  <dc:creator>Miroslav</dc:creator>
  <cp:lastModifiedBy>Nikol Nankova</cp:lastModifiedBy>
  <cp:revision>1816</cp:revision>
  <cp:lastPrinted>2023-02-27T16:00:42Z</cp:lastPrinted>
  <dcterms:created xsi:type="dcterms:W3CDTF">2018-01-04T12:41:55Z</dcterms:created>
  <dcterms:modified xsi:type="dcterms:W3CDTF">2024-11-15T09:04:24Z</dcterms:modified>
</cp:coreProperties>
</file>