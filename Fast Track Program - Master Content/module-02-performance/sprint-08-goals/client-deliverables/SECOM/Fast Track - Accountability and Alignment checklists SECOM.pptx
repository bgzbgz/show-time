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6"/>
  </p:notesMasterIdLst>
  <p:handoutMasterIdLst>
    <p:handoutMasterId r:id="rId7"/>
  </p:handoutMasterIdLst>
  <p:sldIdLst>
    <p:sldId id="2579" r:id="rId4"/>
    <p:sldId id="2581" r:id="rId5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50" autoAdjust="0"/>
    <p:restoredTop sz="84218" autoAdjust="0"/>
  </p:normalViewPr>
  <p:slideViewPr>
    <p:cSldViewPr snapToGrid="0">
      <p:cViewPr>
        <p:scale>
          <a:sx n="141" d="100"/>
          <a:sy n="141" d="100"/>
        </p:scale>
        <p:origin x="1128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22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f0bda5adf9d6e0e7967d8eb0cd7a7497ad9adeee2a36e0b543acf7292e1faa9c::" providerId="AD" clId="Web-{AA3737EA-DCAA-8E42-1189-6790BBB9ED3F}"/>
    <pc:docChg chg="modSld">
      <pc:chgData name="Guest User" userId="S::urn:spo:anon#f0bda5adf9d6e0e7967d8eb0cd7a7497ad9adeee2a36e0b543acf7292e1faa9c::" providerId="AD" clId="Web-{AA3737EA-DCAA-8E42-1189-6790BBB9ED3F}" dt="2024-11-14T17:29:57.533" v="337"/>
      <pc:docMkLst>
        <pc:docMk/>
      </pc:docMkLst>
      <pc:sldChg chg="addSp delSp modSp">
        <pc:chgData name="Guest User" userId="S::urn:spo:anon#f0bda5adf9d6e0e7967d8eb0cd7a7497ad9adeee2a36e0b543acf7292e1faa9c::" providerId="AD" clId="Web-{AA3737EA-DCAA-8E42-1189-6790BBB9ED3F}" dt="2024-11-14T17:28:12.576" v="173"/>
        <pc:sldMkLst>
          <pc:docMk/>
          <pc:sldMk cId="2480704689" sldId="2579"/>
        </pc:sldMkLst>
        <pc:graphicFrameChg chg="mod modGraphic">
          <ac:chgData name="Guest User" userId="S::urn:spo:anon#f0bda5adf9d6e0e7967d8eb0cd7a7497ad9adeee2a36e0b543acf7292e1faa9c::" providerId="AD" clId="Web-{AA3737EA-DCAA-8E42-1189-6790BBB9ED3F}" dt="2024-11-14T17:25:30.445" v="37"/>
          <ac:graphicFrameMkLst>
            <pc:docMk/>
            <pc:sldMk cId="2480704689" sldId="2579"/>
            <ac:graphicFrameMk id="3" creationId="{4E7CF449-72C9-DE95-7C92-C80F86FE9E32}"/>
          </ac:graphicFrameMkLst>
        </pc:graphicFrameChg>
        <pc:graphicFrameChg chg="add del mod modGraphic">
          <ac:chgData name="Guest User" userId="S::urn:spo:anon#f0bda5adf9d6e0e7967d8eb0cd7a7497ad9adeee2a36e0b543acf7292e1faa9c::" providerId="AD" clId="Web-{AA3737EA-DCAA-8E42-1189-6790BBB9ED3F}" dt="2024-11-14T17:25:09.194" v="3"/>
          <ac:graphicFrameMkLst>
            <pc:docMk/>
            <pc:sldMk cId="2480704689" sldId="2579"/>
            <ac:graphicFrameMk id="4" creationId="{4D7BE5ED-6D1C-40EA-8D6A-823E16B51816}"/>
          </ac:graphicFrameMkLst>
        </pc:graphicFrameChg>
        <pc:graphicFrameChg chg="mod modGraphic">
          <ac:chgData name="Guest User" userId="S::urn:spo:anon#f0bda5adf9d6e0e7967d8eb0cd7a7497ad9adeee2a36e0b543acf7292e1faa9c::" providerId="AD" clId="Web-{AA3737EA-DCAA-8E42-1189-6790BBB9ED3F}" dt="2024-11-14T17:28:12.576" v="173"/>
          <ac:graphicFrameMkLst>
            <pc:docMk/>
            <pc:sldMk cId="2480704689" sldId="2579"/>
            <ac:graphicFrameMk id="5" creationId="{6299D935-5D86-5BBC-DFB2-D1461E84A089}"/>
          </ac:graphicFrameMkLst>
        </pc:graphicFrameChg>
        <pc:graphicFrameChg chg="add del mod">
          <ac:chgData name="Guest User" userId="S::urn:spo:anon#f0bda5adf9d6e0e7967d8eb0cd7a7497ad9adeee2a36e0b543acf7292e1faa9c::" providerId="AD" clId="Web-{AA3737EA-DCAA-8E42-1189-6790BBB9ED3F}" dt="2024-11-14T17:25:59.180" v="39"/>
          <ac:graphicFrameMkLst>
            <pc:docMk/>
            <pc:sldMk cId="2480704689" sldId="2579"/>
            <ac:graphicFrameMk id="8" creationId="{FDBA4844-9873-838A-1CCC-2E48E5D3CF5E}"/>
          </ac:graphicFrameMkLst>
        </pc:graphicFrameChg>
        <pc:graphicFrameChg chg="add del mod">
          <ac:chgData name="Guest User" userId="S::urn:spo:anon#f0bda5adf9d6e0e7967d8eb0cd7a7497ad9adeee2a36e0b543acf7292e1faa9c::" providerId="AD" clId="Web-{AA3737EA-DCAA-8E42-1189-6790BBB9ED3F}" dt="2024-11-14T17:27:47.278" v="119"/>
          <ac:graphicFrameMkLst>
            <pc:docMk/>
            <pc:sldMk cId="2480704689" sldId="2579"/>
            <ac:graphicFrameMk id="12" creationId="{A1EBB3D6-3EDA-7E09-BCE8-B15FC5A1E34D}"/>
          </ac:graphicFrameMkLst>
        </pc:graphicFrameChg>
      </pc:sldChg>
      <pc:sldChg chg="modSp">
        <pc:chgData name="Guest User" userId="S::urn:spo:anon#f0bda5adf9d6e0e7967d8eb0cd7a7497ad9adeee2a36e0b543acf7292e1faa9c::" providerId="AD" clId="Web-{AA3737EA-DCAA-8E42-1189-6790BBB9ED3F}" dt="2024-11-14T17:29:57.533" v="337"/>
        <pc:sldMkLst>
          <pc:docMk/>
          <pc:sldMk cId="20826662" sldId="2581"/>
        </pc:sldMkLst>
        <pc:graphicFrameChg chg="mod modGraphic">
          <ac:chgData name="Guest User" userId="S::urn:spo:anon#f0bda5adf9d6e0e7967d8eb0cd7a7497ad9adeee2a36e0b543acf7292e1faa9c::" providerId="AD" clId="Web-{AA3737EA-DCAA-8E42-1189-6790BBB9ED3F}" dt="2024-11-14T17:28:51.078" v="211"/>
          <ac:graphicFrameMkLst>
            <pc:docMk/>
            <pc:sldMk cId="20826662" sldId="2581"/>
            <ac:graphicFrameMk id="3" creationId="{F2223FC9-4780-B5A1-F90B-1CDC3BD31553}"/>
          </ac:graphicFrameMkLst>
        </pc:graphicFrameChg>
        <pc:graphicFrameChg chg="mod modGraphic">
          <ac:chgData name="Guest User" userId="S::urn:spo:anon#f0bda5adf9d6e0e7967d8eb0cd7a7497ad9adeee2a36e0b543acf7292e1faa9c::" providerId="AD" clId="Web-{AA3737EA-DCAA-8E42-1189-6790BBB9ED3F}" dt="2024-11-14T17:29:57.533" v="337"/>
          <ac:graphicFrameMkLst>
            <pc:docMk/>
            <pc:sldMk cId="20826662" sldId="2581"/>
            <ac:graphicFrameMk id="5" creationId="{2376A60D-2486-EA23-D169-22E945DD898B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4/18/2025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4/18/2025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7952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E6F29-4927-0D44-5E24-31F8237DF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409E8B-9412-1791-36F3-FC1661621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E66B0D-9C77-5388-A91C-544D89E44C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2AFF0C-2A9F-EE93-F420-6909A3AF5B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6988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ADFBFA71-9CEE-3D3D-FFB1-2D8D93C40C4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04"/>
          <a:stretch/>
        </p:blipFill>
        <p:spPr>
          <a:xfrm>
            <a:off x="27159" y="2782"/>
            <a:ext cx="4079965" cy="537213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99D935-5D86-5BBC-DFB2-D1461E84A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918634"/>
              </p:ext>
            </p:extLst>
          </p:nvPr>
        </p:nvGraphicFramePr>
        <p:xfrm>
          <a:off x="202238" y="3650454"/>
          <a:ext cx="9707740" cy="39055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0716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585913">
                  <a:extLst>
                    <a:ext uri="{9D8B030D-6E8A-4147-A177-3AD203B41FA5}">
                      <a16:colId xmlns:a16="http://schemas.microsoft.com/office/drawing/2014/main" val="3691210030"/>
                    </a:ext>
                  </a:extLst>
                </a:gridCol>
                <a:gridCol w="1351111">
                  <a:extLst>
                    <a:ext uri="{9D8B030D-6E8A-4147-A177-3AD203B41FA5}">
                      <a16:colId xmlns:a16="http://schemas.microsoft.com/office/drawing/2014/main" val="14683607"/>
                    </a:ext>
                  </a:extLst>
                </a:gridCol>
              </a:tblGrid>
              <a:tr h="36097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Improvement ideas addressing "No" responses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/>
                        </a:rPr>
                        <a:t>Who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Allocate 2h per Q in </a:t>
                      </a:r>
                      <a:r>
                        <a:rPr lang="en-GB" sz="12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BoD</a:t>
                      </a: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(after 3MA) to set clear / measurable goals + monthly check-ups</a:t>
                      </a:r>
                      <a:endParaRPr lang="en-US" dirty="0"/>
                    </a:p>
                    <a:p>
                      <a:pPr lvl="0" algn="l">
                        <a:buNone/>
                      </a:pP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Lucia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LTR Dec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BoD</a:t>
                      </a: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Retreat Exercise – Expectations &amp; Accountability</a:t>
                      </a:r>
                      <a:endParaRPr lang="en-US" dirty="0"/>
                    </a:p>
                    <a:p>
                      <a:pPr lvl="0" algn="l">
                        <a:buNone/>
                      </a:pP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Andreia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11 Dec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Company Objectives Dashboard</a:t>
                      </a:r>
                      <a:endParaRPr lang="en-US" dirty="0"/>
                    </a:p>
                    <a:p>
                      <a:pPr lvl="0" algn="l">
                        <a:buNone/>
                      </a:pP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Johnny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31 Dec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Talent Management – Low Performers action plan</a:t>
                      </a:r>
                      <a:endParaRPr lang="en-US" dirty="0"/>
                    </a:p>
                    <a:p>
                      <a:pPr lvl="0" algn="l">
                        <a:buNone/>
                      </a:pP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Andreia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End of </a:t>
                      </a:r>
                      <a:r>
                        <a:rPr lang="en-GB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JAn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46165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575306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638621-3CD4-CC58-8D03-0981D8DB759F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A76642-D343-493C-F922-4F49C5932654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7CF449-72C9-DE95-7C92-C80F86FE9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922936"/>
              </p:ext>
            </p:extLst>
          </p:nvPr>
        </p:nvGraphicFramePr>
        <p:xfrm>
          <a:off x="202238" y="691156"/>
          <a:ext cx="9707740" cy="2736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7778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479962">
                  <a:extLst>
                    <a:ext uri="{9D8B030D-6E8A-4147-A177-3AD203B41FA5}">
                      <a16:colId xmlns:a16="http://schemas.microsoft.com/office/drawing/2014/main" val="4047663478"/>
                    </a:ext>
                  </a:extLst>
                </a:gridCol>
              </a:tblGrid>
              <a:tr h="38965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Checklist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YES/NO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Team members set clear, measurable goals for themselves.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Calibri"/>
                        </a:rPr>
                        <a:t>NO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marL="0" marR="0" lvl="0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Responsibilities and expectations are communicated clearly.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NO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marL="0" marR="0" lvl="0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Team members regularly provide updates on their progress.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YES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marL="0" marR="0" lvl="0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There is a system in place to track and review performance regularly.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NO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marL="0" marR="0" lvl="0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Team members ask for help when they encounter obstacles.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YES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marL="0" marR="0" lvl="0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Successes and failures are openly discussed and learned from.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YES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marL="0" marR="0" lvl="0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There is a clear consequence management process for missed commitments.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NO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704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64292-6A96-E09B-B9FC-174EDCC11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AA358563-4FFB-8C08-A55B-943D0329F2F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" y="-23003"/>
            <a:ext cx="3659095" cy="675244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376A60D-2486-EA23-D169-22E945DD8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531003"/>
              </p:ext>
            </p:extLst>
          </p:nvPr>
        </p:nvGraphicFramePr>
        <p:xfrm>
          <a:off x="202238" y="3754055"/>
          <a:ext cx="9707740" cy="3746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0716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585913">
                  <a:extLst>
                    <a:ext uri="{9D8B030D-6E8A-4147-A177-3AD203B41FA5}">
                      <a16:colId xmlns:a16="http://schemas.microsoft.com/office/drawing/2014/main" val="3691210030"/>
                    </a:ext>
                  </a:extLst>
                </a:gridCol>
                <a:gridCol w="1351111">
                  <a:extLst>
                    <a:ext uri="{9D8B030D-6E8A-4147-A177-3AD203B41FA5}">
                      <a16:colId xmlns:a16="http://schemas.microsoft.com/office/drawing/2014/main" val="14683607"/>
                    </a:ext>
                  </a:extLst>
                </a:gridCol>
              </a:tblGrid>
              <a:tr h="36097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Improvement ideas addressing "No" responses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/>
                        </a:rPr>
                        <a:t>Who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Allocate 2h per Q in </a:t>
                      </a:r>
                      <a:r>
                        <a:rPr lang="en-GB" sz="12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BoD</a:t>
                      </a: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(after 3MA) to set clear / measurable goals + cross-department monthly check-ups</a:t>
                      </a:r>
                      <a:endParaRPr lang="en-US" dirty="0"/>
                    </a:p>
                    <a:p>
                      <a:pPr lvl="0" algn="l">
                        <a:buNone/>
                      </a:pP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Lucia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LTR Dec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Star Using Fast Track Goal – setting method </a:t>
                      </a: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Lucia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LTR Dec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86121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753915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B9E59A4-589B-6C04-BA7D-543E636274A1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846776F-3A1F-022B-FE17-F21CFA03270A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2223FC9-4780-B5A1-F90B-1CDC3BD315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247817"/>
              </p:ext>
            </p:extLst>
          </p:nvPr>
        </p:nvGraphicFramePr>
        <p:xfrm>
          <a:off x="202238" y="691156"/>
          <a:ext cx="9707740" cy="2736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7778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479962">
                  <a:extLst>
                    <a:ext uri="{9D8B030D-6E8A-4147-A177-3AD203B41FA5}">
                      <a16:colId xmlns:a16="http://schemas.microsoft.com/office/drawing/2014/main" val="4047663478"/>
                    </a:ext>
                  </a:extLst>
                </a:gridCol>
              </a:tblGrid>
              <a:tr h="38965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Checklist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/>
                        </a:rPr>
                        <a:t>YES/NO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All goals support the company’s mission.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Calibri"/>
                        </a:rPr>
                        <a:t>YES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Team goals are cross-checked for strategic fit.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NO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There is regular cross-department goal alignment.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NO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Goal and priority-setting are standardised across the company.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NO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Incentives are directly linked to priorities, effort, and attitude.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YES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Communication is clear and frequent about goals and priorities.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NO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Leaders are using the Fast Track goal-setting method across the company.</a:t>
                      </a:r>
                      <a:endParaRPr lang="en-BG" sz="16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NO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26662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10885</TotalTime>
  <Words>163</Words>
  <Application>Microsoft Office PowerPoint</Application>
  <PresentationFormat>Custom</PresentationFormat>
  <Paragraphs>26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4_Custom Design</vt:lpstr>
      <vt:lpstr>5_Custom Design</vt:lpstr>
      <vt:lpstr>SOLIDS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lastModifiedBy>Nikol Nankova</cp:lastModifiedBy>
  <cp:revision>814</cp:revision>
  <cp:lastPrinted>2020-02-28T13:07:06Z</cp:lastPrinted>
  <dcterms:created xsi:type="dcterms:W3CDTF">2019-08-22T09:52:59Z</dcterms:created>
  <dcterms:modified xsi:type="dcterms:W3CDTF">2025-04-18T19:47:26Z</dcterms:modified>
</cp:coreProperties>
</file>