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9"/>
  </p:notesMasterIdLst>
  <p:handoutMasterIdLst>
    <p:handoutMasterId r:id="rId10"/>
  </p:handoutMasterIdLst>
  <p:sldIdLst>
    <p:sldId id="2463" r:id="rId4"/>
    <p:sldId id="2435" r:id="rId5"/>
    <p:sldId id="2464" r:id="rId6"/>
    <p:sldId id="2484" r:id="rId7"/>
    <p:sldId id="2485" r:id="rId8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7" autoAdjust="0"/>
    <p:restoredTop sz="94912" autoAdjust="0"/>
  </p:normalViewPr>
  <p:slideViewPr>
    <p:cSldViewPr snapToGrid="0">
      <p:cViewPr>
        <p:scale>
          <a:sx n="106" d="100"/>
          <a:sy n="106" d="100"/>
        </p:scale>
        <p:origin x="232" y="17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244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11/29/24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75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001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Step-by-Step Instructions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Expectations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Clearly articulate roles, tasks, and goals for each individual and team.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Are responsibilities specific and measurable?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sales manager must close $50K in monthly revenue.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 Ownership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each task has a single accountable owner.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Who is ultimately responsible for this deliverable?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Assign one team member to oversee weekly performance reviews.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Checkpoints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Establish regular review points to monitor progress.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When and how will performance be evaluated?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Schedule a weekly Monday meeting to review task completion.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Consequences Framework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rewards for success and corrective actions for failure.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What happens when goals are met or missed?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Bonus for exceeding KPIs; training sessions for underperformance.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Dashboards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visual tools to track and display accountability metrics.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Can everyone see the team’s progress in real-time?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dashboard showing tasks completed, missed, and their reasons.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Foster Transparency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everyone understands the system and its implications.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Are all team members aware of the expectations and consequences?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Share a one-pager summarizing accountability policies during onboarding.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and Adjust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Regularly revisit the system to ensure alignment with goals and team dynamics.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Is the system driving the intended behaviors?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Quarterly reviews to refine accountability practices.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Real-Life Scenario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technology firm implemented this system and saw a 20% increase in task completion rates within two months. Weekly reviews and transparent dashboards motivated teams, while clearly defined consequences reduced missed deadlines.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699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6B3D-1323-A1A7-01F1-8604E5B0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9D39A-D1E0-590D-7499-D1F3EEB18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013C9-6884-5786-D277-B304F4CCD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Step-by-Step Instructions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Your Objective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goal or area where the 80/20 analysis will be applied.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What result are we aiming to achieve?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Increase sales revenue.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Inputs and Outputs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 all possible contributors (inputs) to the outcome (outputs).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What are all the factors contributing to this result?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Customer segments, sales channels, and product lines.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Rank by Impact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data to rank inputs by their contribution to the desired outcome.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Which inputs deliver the most significant results?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80% of sales come from 20% of customers.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 the Vital Few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Prioritize the top-performing inputs for action and improvement.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How can we enhance these high-impact inputs?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Offer loyalty programs for top customers.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Eliminate or Automate the Trivial Many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 or delegate low-impact activities to save time and resources.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What activities can we stop or automate?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Automate invoicing for low-spending clients.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Real-Life Scenario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consulting firm discovered that 80% of its profits came from just 20% of its clients. By focusing on nurturing these clients through enhanced services and reallocating resources from less profitable clients, the firm increased profits by 40% in six months.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3501D-5CC9-9025-CA5F-718EC14C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653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0988-0AFD-5572-E7C0-B006A606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EE328-4986-2812-726A-9E48C8E5E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7E2F-6151-6B53-2D9C-54088B6CA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Step-by-Step Instructions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Constraint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Examine your processes to pinpoint the step that limits the entire system’s performance.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Which part of the system slows everything else down?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 manufacturing assembly line where one station consistently causes delays.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Exploit the Constraint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Maximize the efficiency of the identified bottleneck without significant investment.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How can we make this step work at its full capacity?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Adjust work schedules to ensure the constrained station operates continuously.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Subordinate Other Processes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 all other steps to support the constraint.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How can the rest of the system synchronize with the bottleneck’s pace?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Reduce the workload on subsequent steps to avoid overwhelming the bottleneck.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Elevate the Constraint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the constraint remains, consider investments to expand its capacity.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What resources or innovations can remove this limitation?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Upgrade machinery at the bottleneck station to increase its speed.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Repeat the Process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Once a constraint is resolved, another will emerge. Continuously improve by repeating these steps.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Real-Life Scenarios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logistics company identified that its dispatch process was delaying shipments. By reallocating resources to the dispatch team and simplifying the approval system, they reduced delays by 40% in one quarter.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50CD5-F916-8EA8-8B67-7A7C561D6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09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41081"/>
              </p:ext>
            </p:extLst>
          </p:nvPr>
        </p:nvGraphicFramePr>
        <p:xfrm>
          <a:off x="276084" y="729013"/>
          <a:ext cx="9649794" cy="66719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7116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182678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65861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94265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1. Describe the situation.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89390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2. Possible reason to occur?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89390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3. Why 1?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89390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4. Why 2?</a:t>
                      </a: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89390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5. Why 3?</a:t>
                      </a: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37399"/>
                  </a:ext>
                </a:extLst>
              </a:tr>
              <a:tr h="89390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6. Why 4?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92884"/>
                  </a:ext>
                </a:extLst>
              </a:tr>
              <a:tr h="89390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7. Why 5? The root cause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8449"/>
                  </a:ext>
                </a:extLst>
              </a:tr>
            </a:tbl>
          </a:graphicData>
        </a:graphic>
      </p:graphicFrame>
      <p:sp>
        <p:nvSpPr>
          <p:cNvPr id="2" name="Title 19">
            <a:extLst>
              <a:ext uri="{FF2B5EF4-FFF2-40B4-BE49-F238E27FC236}">
                <a16:creationId xmlns:a16="http://schemas.microsoft.com/office/drawing/2014/main" id="{1E88BEDA-9958-15C9-8EE5-9959C755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6413361" cy="401639"/>
          </a:xfrm>
        </p:spPr>
        <p:txBody>
          <a:bodyPr/>
          <a:lstStyle/>
          <a:p>
            <a:r>
              <a:rPr lang="en-US" sz="3200" b="0" dirty="0">
                <a:latin typeface="Plaak 3 Trial Regular" panose="02000000000000000000" pitchFamily="2" charset="0"/>
              </a:rPr>
              <a:t>The 5 why-s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0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71DD4D-FAF2-D54E-A599-1D9E19903E47}"/>
              </a:ext>
            </a:extLst>
          </p:cNvPr>
          <p:cNvSpPr/>
          <p:nvPr/>
        </p:nvSpPr>
        <p:spPr>
          <a:xfrm>
            <a:off x="7403098" y="3356745"/>
            <a:ext cx="2426233" cy="1093658"/>
          </a:xfrm>
          <a:prstGeom prst="rect">
            <a:avLst/>
          </a:prstGeom>
          <a:noFill/>
          <a:ln w="31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3.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9FC6D-5058-344E-BED6-E0D6CFB060B7}"/>
              </a:ext>
            </a:extLst>
          </p:cNvPr>
          <p:cNvSpPr/>
          <p:nvPr/>
        </p:nvSpPr>
        <p:spPr>
          <a:xfrm>
            <a:off x="7415640" y="958160"/>
            <a:ext cx="2434876" cy="1093658"/>
          </a:xfrm>
          <a:prstGeom prst="rect">
            <a:avLst/>
          </a:prstGeom>
          <a:solidFill>
            <a:srgbClr val="FFF469"/>
          </a:solidFill>
          <a:ln w="285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1. Top idea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7B328B-1E05-6E4A-8BBC-74FD66D23DA8}"/>
              </a:ext>
            </a:extLst>
          </p:cNvPr>
          <p:cNvSpPr/>
          <p:nvPr/>
        </p:nvSpPr>
        <p:spPr>
          <a:xfrm>
            <a:off x="7403098" y="2164513"/>
            <a:ext cx="2426236" cy="1093654"/>
          </a:xfrm>
          <a:prstGeom prst="rect">
            <a:avLst/>
          </a:prstGeom>
          <a:noFill/>
          <a:ln w="31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2.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F4504D-B68C-A549-9148-11EBB8E8136F}"/>
              </a:ext>
            </a:extLst>
          </p:cNvPr>
          <p:cNvCxnSpPr>
            <a:cxnSpLocks/>
          </p:cNvCxnSpPr>
          <p:nvPr/>
        </p:nvCxnSpPr>
        <p:spPr>
          <a:xfrm flipV="1">
            <a:off x="3415751" y="4552005"/>
            <a:ext cx="3783835" cy="1"/>
          </a:xfrm>
          <a:prstGeom prst="straightConnector1">
            <a:avLst/>
          </a:prstGeom>
          <a:ln>
            <a:solidFill>
              <a:srgbClr val="3D23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584B1B-903B-BB4A-A47A-B0EC7AB15495}"/>
              </a:ext>
            </a:extLst>
          </p:cNvPr>
          <p:cNvCxnSpPr>
            <a:cxnSpLocks/>
          </p:cNvCxnSpPr>
          <p:nvPr/>
        </p:nvCxnSpPr>
        <p:spPr>
          <a:xfrm flipV="1">
            <a:off x="3415773" y="847900"/>
            <a:ext cx="0" cy="3704105"/>
          </a:xfrm>
          <a:prstGeom prst="straightConnector1">
            <a:avLst/>
          </a:prstGeom>
          <a:ln>
            <a:solidFill>
              <a:srgbClr val="3D23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E6DBF2-8158-AC46-B350-75BDCB6367BC}"/>
              </a:ext>
            </a:extLst>
          </p:cNvPr>
          <p:cNvCxnSpPr>
            <a:cxnSpLocks/>
          </p:cNvCxnSpPr>
          <p:nvPr/>
        </p:nvCxnSpPr>
        <p:spPr>
          <a:xfrm>
            <a:off x="5276993" y="1066887"/>
            <a:ext cx="4722" cy="3307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5B562A-DB73-2B4C-BD4E-4C254CD7AC09}"/>
              </a:ext>
            </a:extLst>
          </p:cNvPr>
          <p:cNvCxnSpPr>
            <a:cxnSpLocks/>
          </p:cNvCxnSpPr>
          <p:nvPr/>
        </p:nvCxnSpPr>
        <p:spPr>
          <a:xfrm flipH="1">
            <a:off x="3782157" y="2681352"/>
            <a:ext cx="2927098" cy="0"/>
          </a:xfrm>
          <a:prstGeom prst="line">
            <a:avLst/>
          </a:prstGeom>
          <a:ln>
            <a:solidFill>
              <a:srgbClr val="3D23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DD1047-A24C-7042-BB5E-7AA9295F5801}"/>
              </a:ext>
            </a:extLst>
          </p:cNvPr>
          <p:cNvSpPr txBox="1"/>
          <p:nvPr/>
        </p:nvSpPr>
        <p:spPr>
          <a:xfrm>
            <a:off x="4662114" y="4605195"/>
            <a:ext cx="116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Impact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864DC-7561-FF46-9A3F-5F2D8C4D1E3B}"/>
              </a:ext>
            </a:extLst>
          </p:cNvPr>
          <p:cNvSpPr txBox="1"/>
          <p:nvPr/>
        </p:nvSpPr>
        <p:spPr>
          <a:xfrm rot="16200000">
            <a:off x="2649326" y="2530674"/>
            <a:ext cx="1167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Easy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47148F6-8B47-5149-BAE7-21FD3F250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06170"/>
              </p:ext>
            </p:extLst>
          </p:nvPr>
        </p:nvGraphicFramePr>
        <p:xfrm>
          <a:off x="297381" y="796778"/>
          <a:ext cx="2766458" cy="507440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766458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</a:tblGrid>
              <a:tr h="249371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IDEAS/TASKS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975148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729189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798083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81722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10180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3311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97651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127331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051154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56369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575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20709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964555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3640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13073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1797F7F-B0A5-914F-A762-535932DE93EC}"/>
              </a:ext>
            </a:extLst>
          </p:cNvPr>
          <p:cNvSpPr/>
          <p:nvPr/>
        </p:nvSpPr>
        <p:spPr>
          <a:xfrm>
            <a:off x="5344318" y="950440"/>
            <a:ext cx="1670801" cy="1627814"/>
          </a:xfrm>
          <a:prstGeom prst="rect">
            <a:avLst/>
          </a:prstGeom>
          <a:solidFill>
            <a:srgbClr val="FFF469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C62EA1-7807-4C4E-95B8-C079DF5A2A65}"/>
              </a:ext>
            </a:extLst>
          </p:cNvPr>
          <p:cNvSpPr/>
          <p:nvPr/>
        </p:nvSpPr>
        <p:spPr>
          <a:xfrm>
            <a:off x="5344318" y="2772232"/>
            <a:ext cx="1670801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5E5F84-EEEF-1241-85B4-310D4A7B566B}"/>
              </a:ext>
            </a:extLst>
          </p:cNvPr>
          <p:cNvSpPr/>
          <p:nvPr/>
        </p:nvSpPr>
        <p:spPr>
          <a:xfrm>
            <a:off x="3548312" y="958750"/>
            <a:ext cx="1670801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773181-4887-1341-B793-B6A2A79DFFAF}"/>
              </a:ext>
            </a:extLst>
          </p:cNvPr>
          <p:cNvSpPr/>
          <p:nvPr/>
        </p:nvSpPr>
        <p:spPr>
          <a:xfrm>
            <a:off x="3594030" y="2772232"/>
            <a:ext cx="1625084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B671F-477F-A24C-6889-63F6724AAA54}"/>
              </a:ext>
            </a:extLst>
          </p:cNvPr>
          <p:cNvSpPr/>
          <p:nvPr/>
        </p:nvSpPr>
        <p:spPr>
          <a:xfrm>
            <a:off x="0" y="6273061"/>
            <a:ext cx="10140043" cy="12897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4A4B2-28BF-4247-E806-781D2296C84A}"/>
              </a:ext>
            </a:extLst>
          </p:cNvPr>
          <p:cNvSpPr/>
          <p:nvPr/>
        </p:nvSpPr>
        <p:spPr>
          <a:xfrm>
            <a:off x="243567" y="6712524"/>
            <a:ext cx="97760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126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List all the ideas/tasks you have on your mind, from big projects to small ones (such as buying pet food). Then, plot each of them on the impact/easy chart. The items in the upper right corner are your most important priorities.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D0A08A70-A336-C85D-D2DF-D04A62857037}"/>
              </a:ext>
            </a:extLst>
          </p:cNvPr>
          <p:cNvSpPr txBox="1">
            <a:spLocks/>
          </p:cNvSpPr>
          <p:nvPr/>
        </p:nvSpPr>
        <p:spPr>
          <a:xfrm>
            <a:off x="243566" y="6475549"/>
            <a:ext cx="1608679" cy="236975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Monument Grotesk Mono" panose="02010504030000020004" pitchFamily="2" charset="0"/>
                <a:ea typeface="+mj-ea"/>
                <a:cs typeface="+mj-cs"/>
              </a:defRPr>
            </a:lvl1pPr>
          </a:lstStyle>
          <a:p>
            <a:pPr defTabSz="914126" fontAlgn="auto">
              <a:spcAft>
                <a:spcPts val="0"/>
              </a:spcAft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</a:rPr>
              <a:t>[INSTRUCTIONS]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78B972FF-4467-8C12-94F5-92F809A9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0" dirty="0">
                <a:latin typeface="Plaak 3 Trial Regular" panose="02000000000000000000" pitchFamily="2" charset="0"/>
              </a:rPr>
              <a:t>B</a:t>
            </a:r>
            <a:r>
              <a:rPr lang="en-BG" sz="3200" b="0" dirty="0">
                <a:latin typeface="Plaak 3 Trial Regular" panose="02000000000000000000" pitchFamily="2" charset="0"/>
              </a:rPr>
              <a:t>rainstorming and impact-eas</a:t>
            </a:r>
            <a:r>
              <a:rPr lang="en-GB" sz="3200" b="0" dirty="0">
                <a:latin typeface="Plaak 3 Trial Regular" panose="02000000000000000000" pitchFamily="2" charset="0"/>
              </a:rPr>
              <a:t>y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43C0559-961B-412C-32A4-A475B0878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897074B-838C-7AF5-D66A-30879BDDFA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7974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61156-7BD4-0DA1-5FE0-4B7FFD835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81409"/>
              </p:ext>
            </p:extLst>
          </p:nvPr>
        </p:nvGraphicFramePr>
        <p:xfrm>
          <a:off x="123250" y="4980200"/>
          <a:ext cx="9814834" cy="2370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129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2844027">
                  <a:extLst>
                    <a:ext uri="{9D8B030D-6E8A-4147-A177-3AD203B41FA5}">
                      <a16:colId xmlns:a16="http://schemas.microsoft.com/office/drawing/2014/main" val="1174125584"/>
                    </a:ext>
                  </a:extLst>
                </a:gridCol>
                <a:gridCol w="3186678">
                  <a:extLst>
                    <a:ext uri="{9D8B030D-6E8A-4147-A177-3AD203B41FA5}">
                      <a16:colId xmlns:a16="http://schemas.microsoft.com/office/drawing/2014/main" val="2156595074"/>
                    </a:ext>
                  </a:extLst>
                </a:gridCol>
              </a:tblGrid>
              <a:tr h="4585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Consequences framework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If…(name and task)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…is </a:t>
                      </a:r>
                      <a:r>
                        <a:rPr lang="en-US" sz="1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done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, then…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… is NOT </a:t>
                      </a:r>
                      <a:r>
                        <a:rPr lang="en-US" sz="1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done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, then…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47072"/>
                  </a:ext>
                </a:extLst>
              </a:tr>
              <a:tr h="37110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459937"/>
                  </a:ext>
                </a:extLst>
              </a:tr>
              <a:tr h="380272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38248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</a:tbl>
          </a:graphicData>
        </a:graphic>
      </p:graphicFrame>
      <p:sp>
        <p:nvSpPr>
          <p:cNvPr id="3" name="Title 19">
            <a:extLst>
              <a:ext uri="{FF2B5EF4-FFF2-40B4-BE49-F238E27FC236}">
                <a16:creationId xmlns:a16="http://schemas.microsoft.com/office/drawing/2014/main" id="{01DFF274-559F-D36F-9517-4915E077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7538982" cy="401639"/>
          </a:xfrm>
        </p:spPr>
        <p:txBody>
          <a:bodyPr/>
          <a:lstStyle/>
          <a:p>
            <a:r>
              <a:rPr lang="en-GB" sz="3200" b="0" dirty="0">
                <a:latin typeface="Plaak 3 Trial Regular" panose="02000000000000000000" pitchFamily="2" charset="0"/>
              </a:rPr>
              <a:t>Setting Up Accountability and Consequences Systems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90B502-C80D-3FA6-F644-A3DC8FB6E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1874"/>
              </p:ext>
            </p:extLst>
          </p:nvPr>
        </p:nvGraphicFramePr>
        <p:xfrm>
          <a:off x="123251" y="710583"/>
          <a:ext cx="9814834" cy="41023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538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2261937">
                  <a:extLst>
                    <a:ext uri="{9D8B030D-6E8A-4147-A177-3AD203B41FA5}">
                      <a16:colId xmlns:a16="http://schemas.microsoft.com/office/drawing/2014/main" val="1174125584"/>
                    </a:ext>
                  </a:extLst>
                </a:gridCol>
                <a:gridCol w="1660359">
                  <a:extLst>
                    <a:ext uri="{9D8B030D-6E8A-4147-A177-3AD203B41FA5}">
                      <a16:colId xmlns:a16="http://schemas.microsoft.com/office/drawing/2014/main" val="2156595074"/>
                    </a:ext>
                  </a:extLst>
                </a:gridCol>
              </a:tblGrid>
              <a:tr h="4585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Tasks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Who (task owner)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Checkpoint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47072"/>
                  </a:ext>
                </a:extLst>
              </a:tr>
              <a:tr h="37110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459937"/>
                  </a:ext>
                </a:extLst>
              </a:tr>
              <a:tr h="380272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38248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20491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340439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890339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17839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71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53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C7EE-A43F-F6F2-78D7-1ADCDC73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9">
            <a:extLst>
              <a:ext uri="{FF2B5EF4-FFF2-40B4-BE49-F238E27FC236}">
                <a16:creationId xmlns:a16="http://schemas.microsoft.com/office/drawing/2014/main" id="{9392DAD1-F915-86C0-A4CA-BB698E07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7538982" cy="401639"/>
          </a:xfrm>
        </p:spPr>
        <p:txBody>
          <a:bodyPr/>
          <a:lstStyle/>
          <a:p>
            <a:r>
              <a:rPr lang="en-US" sz="3200" b="0" dirty="0">
                <a:latin typeface="Plaak 3 Trial Regular" panose="02000000000000000000" pitchFamily="2" charset="0"/>
              </a:rPr>
              <a:t>The 80/20 Principle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1DEC76-6345-5146-E4C6-D05271B4A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654713"/>
              </p:ext>
            </p:extLst>
          </p:nvPr>
        </p:nvGraphicFramePr>
        <p:xfrm>
          <a:off x="123251" y="710584"/>
          <a:ext cx="9887023" cy="4037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5570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2911642">
                  <a:extLst>
                    <a:ext uri="{9D8B030D-6E8A-4147-A177-3AD203B41FA5}">
                      <a16:colId xmlns:a16="http://schemas.microsoft.com/office/drawing/2014/main" val="1174125584"/>
                    </a:ext>
                  </a:extLst>
                </a:gridCol>
                <a:gridCol w="2719137">
                  <a:extLst>
                    <a:ext uri="{9D8B030D-6E8A-4147-A177-3AD203B41FA5}">
                      <a16:colId xmlns:a16="http://schemas.microsoft.com/office/drawing/2014/main" val="2156595074"/>
                    </a:ext>
                  </a:extLst>
                </a:gridCol>
                <a:gridCol w="1780674">
                  <a:extLst>
                    <a:ext uri="{9D8B030D-6E8A-4147-A177-3AD203B41FA5}">
                      <a16:colId xmlns:a16="http://schemas.microsoft.com/office/drawing/2014/main" val="4007217734"/>
                    </a:ext>
                  </a:extLst>
                </a:gridCol>
              </a:tblGrid>
              <a:tr h="45527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Define your objective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Inputs – possible contributors 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Outputs – outcome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Impact ranking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316965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47072"/>
                  </a:ext>
                </a:extLst>
              </a:tr>
              <a:tr h="32607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459937"/>
                  </a:ext>
                </a:extLst>
              </a:tr>
              <a:tr h="334124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336067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20491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340439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890339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17839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G" dirty="0"/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7158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EDD391-C6CD-7158-9282-AE5710DB2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565984"/>
              </p:ext>
            </p:extLst>
          </p:nvPr>
        </p:nvGraphicFramePr>
        <p:xfrm>
          <a:off x="123250" y="4980200"/>
          <a:ext cx="9887022" cy="2285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30013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4957009">
                  <a:extLst>
                    <a:ext uri="{9D8B030D-6E8A-4147-A177-3AD203B41FA5}">
                      <a16:colId xmlns:a16="http://schemas.microsoft.com/office/drawing/2014/main" val="1174125584"/>
                    </a:ext>
                  </a:extLst>
                </a:gridCol>
              </a:tblGrid>
              <a:tr h="4585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Focus 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Eliminate or automate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847072"/>
                  </a:ext>
                </a:extLst>
              </a:tr>
              <a:tr h="37110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459937"/>
                  </a:ext>
                </a:extLst>
              </a:tr>
              <a:tr h="380272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382483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33284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Riforma LL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19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6635-FBBA-4A9E-1250-1EEBEAB8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3454A1-1462-13D5-97DC-EBF7091EB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754146"/>
              </p:ext>
            </p:extLst>
          </p:nvPr>
        </p:nvGraphicFramePr>
        <p:xfrm>
          <a:off x="276084" y="729014"/>
          <a:ext cx="9649794" cy="4095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474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6665320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21973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56410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1. What you want to achieve?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53492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2. Examine the process.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3492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3. Identify the constraint.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53492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4. Exploit the constraint</a:t>
                      </a: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53492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5. What if do not solve it </a:t>
                      </a: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37399"/>
                  </a:ext>
                </a:extLst>
              </a:tr>
              <a:tr h="53492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6. What if you solve it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92884"/>
                  </a:ext>
                </a:extLst>
              </a:tr>
              <a:tr h="53492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7. The one thing that will solve it.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908449"/>
                  </a:ext>
                </a:extLst>
              </a:tr>
            </a:tbl>
          </a:graphicData>
        </a:graphic>
      </p:graphicFrame>
      <p:sp>
        <p:nvSpPr>
          <p:cNvPr id="2" name="Title 19">
            <a:extLst>
              <a:ext uri="{FF2B5EF4-FFF2-40B4-BE49-F238E27FC236}">
                <a16:creationId xmlns:a16="http://schemas.microsoft.com/office/drawing/2014/main" id="{8BB596C3-9BDF-8B5C-ACF7-CD127976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6413361" cy="401639"/>
          </a:xfrm>
        </p:spPr>
        <p:txBody>
          <a:bodyPr/>
          <a:lstStyle/>
          <a:p>
            <a:r>
              <a:rPr lang="en-US" sz="3200" b="0" dirty="0">
                <a:latin typeface="Plaak 3 Trial Regular" panose="02000000000000000000" pitchFamily="2" charset="0"/>
              </a:rPr>
              <a:t>Theory of Constraints 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211364-2CCE-0B45-6ECC-51116A011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491012"/>
              </p:ext>
            </p:extLst>
          </p:nvPr>
        </p:nvGraphicFramePr>
        <p:xfrm>
          <a:off x="276084" y="5070522"/>
          <a:ext cx="9592434" cy="2280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7478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  <a:gridCol w="3197478">
                  <a:extLst>
                    <a:ext uri="{9D8B030D-6E8A-4147-A177-3AD203B41FA5}">
                      <a16:colId xmlns:a16="http://schemas.microsoft.com/office/drawing/2014/main" val="2037221690"/>
                    </a:ext>
                  </a:extLst>
                </a:gridCol>
                <a:gridCol w="3197478">
                  <a:extLst>
                    <a:ext uri="{9D8B030D-6E8A-4147-A177-3AD203B41FA5}">
                      <a16:colId xmlns:a16="http://schemas.microsoft.com/office/drawing/2014/main" val="1141431981"/>
                    </a:ext>
                  </a:extLst>
                </a:gridCol>
              </a:tblGrid>
              <a:tr h="289218"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Action steps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Who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When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444230"/>
                  </a:ext>
                </a:extLst>
              </a:tr>
              <a:tr h="33190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55713"/>
                  </a:ext>
                </a:extLst>
              </a:tr>
              <a:tr h="33190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831091"/>
                  </a:ext>
                </a:extLst>
              </a:tr>
              <a:tr h="33190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191955"/>
                  </a:ext>
                </a:extLst>
              </a:tr>
              <a:tr h="33190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776221"/>
                  </a:ext>
                </a:extLst>
              </a:tr>
              <a:tr h="33190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489280"/>
                  </a:ext>
                </a:extLst>
              </a:tr>
              <a:tr h="33190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85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972767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11968</TotalTime>
  <Words>1001</Words>
  <Application>Microsoft Macintosh PowerPoint</Application>
  <PresentationFormat>Custom</PresentationFormat>
  <Paragraphs>124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Courier New</vt:lpstr>
      <vt:lpstr>PF Square Sans Pro Light</vt:lpstr>
      <vt:lpstr>Plaak 3 Trial Regular</vt:lpstr>
      <vt:lpstr>Riforma LL</vt:lpstr>
      <vt:lpstr>Times New Roman</vt:lpstr>
      <vt:lpstr>4_Custom Design</vt:lpstr>
      <vt:lpstr>5_Custom Design</vt:lpstr>
      <vt:lpstr>SOLIDS</vt:lpstr>
      <vt:lpstr>The 5 why-s</vt:lpstr>
      <vt:lpstr>Brainstorming and impact-easy</vt:lpstr>
      <vt:lpstr>Setting Up Accountability and Consequences Systems</vt:lpstr>
      <vt:lpstr>The 80/20 Principle</vt:lpstr>
      <vt:lpstr>Theory of Constraints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752</cp:revision>
  <cp:lastPrinted>2020-02-28T13:07:06Z</cp:lastPrinted>
  <dcterms:created xsi:type="dcterms:W3CDTF">2019-08-22T09:52:59Z</dcterms:created>
  <dcterms:modified xsi:type="dcterms:W3CDTF">2024-11-29T07:39:46Z</dcterms:modified>
</cp:coreProperties>
</file>