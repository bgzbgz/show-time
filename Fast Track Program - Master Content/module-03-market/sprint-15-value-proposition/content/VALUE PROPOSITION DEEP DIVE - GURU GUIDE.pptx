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5" r:id="rId1"/>
    <p:sldMasterId id="2147483666" r:id="rId2"/>
    <p:sldMasterId id="2147483673" r:id="rId3"/>
  </p:sldMasterIdLst>
  <p:notesMasterIdLst>
    <p:notesMasterId r:id="rId8"/>
  </p:notesMasterIdLst>
  <p:handoutMasterIdLst>
    <p:handoutMasterId r:id="rId9"/>
  </p:handoutMasterIdLst>
  <p:sldIdLst>
    <p:sldId id="651" r:id="rId4"/>
    <p:sldId id="653" r:id="rId5"/>
    <p:sldId id="654" r:id="rId6"/>
    <p:sldId id="384" r:id="rId7"/>
  </p:sldIdLst>
  <p:sldSz cx="6858000" cy="9906000" type="A4"/>
  <p:notesSz cx="7315200" cy="9601200"/>
  <p:embeddedFontLst>
    <p:embeddedFont>
      <p:font typeface="Monument Grotesk Mono" panose="02010504030000020004" pitchFamily="2" charset="0"/>
      <p:regular r:id="rId10"/>
    </p:embeddedFont>
    <p:embeddedFont>
      <p:font typeface="MonumentGrotesk-Mono" panose="02010504030000020004" pitchFamily="2" charset="0"/>
      <p:regular r:id="rId11"/>
    </p:embeddedFont>
    <p:embeddedFont>
      <p:font typeface="Plaak 3 Trial Regular" panose="02000000000000000000" pitchFamily="2" charset="0"/>
      <p:bold r:id="rId12"/>
    </p:embeddedFont>
    <p:embeddedFont>
      <p:font typeface="Plaak3Trial-43-Bold" panose="02000000000000000000" pitchFamily="2" charset="0"/>
      <p:bold r:id="rId13"/>
    </p:embeddedFont>
    <p:embeddedFont>
      <p:font typeface="Riforma LL" panose="020B0504020101020102" pitchFamily="34" charset="77"/>
      <p:regular r:id="rId14"/>
    </p:embeddedFont>
  </p:embeddedFontLst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a Stoyanova" initials="YS" lastIdx="3" clrIdx="0">
    <p:extLst>
      <p:ext uri="{19B8F6BF-5375-455C-9EA6-DF929625EA0E}">
        <p15:presenceInfo xmlns:p15="http://schemas.microsoft.com/office/powerpoint/2012/main" userId="fc8e5911812096b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FFF469"/>
    <a:srgbClr val="00582D"/>
    <a:srgbClr val="A20100"/>
    <a:srgbClr val="C00000"/>
    <a:srgbClr val="548235"/>
    <a:srgbClr val="A20200"/>
    <a:srgbClr val="BF9000"/>
    <a:srgbClr val="D7A21D"/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53" autoAdjust="0"/>
    <p:restoredTop sz="95903"/>
  </p:normalViewPr>
  <p:slideViewPr>
    <p:cSldViewPr snapToGrid="0">
      <p:cViewPr>
        <p:scale>
          <a:sx n="117" d="100"/>
          <a:sy n="117" d="100"/>
        </p:scale>
        <p:origin x="146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6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2.fntdata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88C1345-A2A6-4D11-BDE0-E058081ED8CA}" type="datetimeFigureOut">
              <a:rPr lang="en-US" smtClean="0"/>
              <a:t>2/13/25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72A2CD-9876-40E1-BBE3-8EE1DE0C55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891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7870C1C-DBCF-424F-AA99-58B43FA2B41C}" type="datetimeFigureOut">
              <a:rPr lang="en-US" smtClean="0"/>
              <a:t>2/13/25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5238" y="1200150"/>
            <a:ext cx="224472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298323-809A-4F9F-92DE-CBB614E45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456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94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04504" y="91372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80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8087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78" userDrawn="1">
          <p15:clr>
            <a:srgbClr val="FBAE40"/>
          </p15:clr>
        </p15:guide>
        <p15:guide id="2" orient="horz" pos="156" userDrawn="1">
          <p15:clr>
            <a:srgbClr val="FBAE40"/>
          </p15:clr>
        </p15:guide>
        <p15:guide id="4" pos="2016" userDrawn="1">
          <p15:clr>
            <a:srgbClr val="FBAE40"/>
          </p15:clr>
        </p15:guide>
        <p15:guide id="5" pos="4160" userDrawn="1">
          <p15:clr>
            <a:srgbClr val="FBAE40"/>
          </p15:clr>
        </p15:guide>
        <p15:guide id="6" pos="3876" userDrawn="1">
          <p15:clr>
            <a:srgbClr val="FBAE40"/>
          </p15:clr>
        </p15:guide>
        <p15:guide id="7" pos="159" userDrawn="1">
          <p15:clr>
            <a:srgbClr val="FBAE40"/>
          </p15:clr>
        </p15:guide>
        <p15:guide id="8" orient="horz" pos="586" userDrawn="1">
          <p15:clr>
            <a:srgbClr val="FBAE40"/>
          </p15:clr>
        </p15:guide>
        <p15:guide id="9" orient="horz" pos="2461" userDrawn="1">
          <p15:clr>
            <a:srgbClr val="FBAE40"/>
          </p15:clr>
        </p15:guide>
        <p15:guide id="10" orient="horz" pos="2311" userDrawn="1">
          <p15:clr>
            <a:srgbClr val="FBAE40"/>
          </p15:clr>
        </p15:guide>
        <p15:guide id="11" orient="horz" pos="4197" userDrawn="1">
          <p15:clr>
            <a:srgbClr val="FBAE40"/>
          </p15:clr>
        </p15:guide>
        <p15:guide id="12" orient="horz" pos="4345" userDrawn="1">
          <p15:clr>
            <a:srgbClr val="FBAE40"/>
          </p15:clr>
        </p15:guide>
        <p15:guide id="13" pos="1937" userDrawn="1">
          <p15:clr>
            <a:srgbClr val="FBAE40"/>
          </p15:clr>
        </p15:guide>
        <p15:guide id="14" pos="210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04504" y="91372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80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0759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78" userDrawn="1">
          <p15:clr>
            <a:srgbClr val="FBAE40"/>
          </p15:clr>
        </p15:guide>
        <p15:guide id="2" orient="horz" pos="156" userDrawn="1">
          <p15:clr>
            <a:srgbClr val="FBAE40"/>
          </p15:clr>
        </p15:guide>
        <p15:guide id="4" pos="2016" userDrawn="1">
          <p15:clr>
            <a:srgbClr val="FBAE40"/>
          </p15:clr>
        </p15:guide>
        <p15:guide id="5" pos="4160" userDrawn="1">
          <p15:clr>
            <a:srgbClr val="FBAE40"/>
          </p15:clr>
        </p15:guide>
        <p15:guide id="6" pos="3876" userDrawn="1">
          <p15:clr>
            <a:srgbClr val="FBAE40"/>
          </p15:clr>
        </p15:guide>
        <p15:guide id="7" pos="159" userDrawn="1">
          <p15:clr>
            <a:srgbClr val="FBAE40"/>
          </p15:clr>
        </p15:guide>
        <p15:guide id="8" orient="horz" pos="586" userDrawn="1">
          <p15:clr>
            <a:srgbClr val="FBAE40"/>
          </p15:clr>
        </p15:guide>
        <p15:guide id="9" orient="horz" pos="2461" userDrawn="1">
          <p15:clr>
            <a:srgbClr val="FBAE40"/>
          </p15:clr>
        </p15:guide>
        <p15:guide id="10" orient="horz" pos="2311" userDrawn="1">
          <p15:clr>
            <a:srgbClr val="FBAE40"/>
          </p15:clr>
        </p15:guide>
        <p15:guide id="11" orient="horz" pos="4197" userDrawn="1">
          <p15:clr>
            <a:srgbClr val="FBAE40"/>
          </p15:clr>
        </p15:guide>
        <p15:guide id="12" orient="horz" pos="4345" userDrawn="1">
          <p15:clr>
            <a:srgbClr val="FBAE40"/>
          </p15:clr>
        </p15:guide>
        <p15:guide id="13" pos="1937" userDrawn="1">
          <p15:clr>
            <a:srgbClr val="FBAE40"/>
          </p15:clr>
        </p15:guide>
        <p15:guide id="14" pos="21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21033" y="126884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79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C6323E2-8F19-C082-FD50-EB53366FD4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45FDA4F2-ABB4-4F7C-31CA-0C37DE40B7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27" y="126884"/>
            <a:ext cx="255161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88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21033" y="126884"/>
            <a:ext cx="259006" cy="28075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C6323E2-8F19-C082-FD50-EB53366FD4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21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C1E3C102-28F4-55C1-2550-37787607E5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819" y="218687"/>
            <a:ext cx="326362" cy="362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97356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697356"/>
            <a:ext cx="0" cy="9208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B68B7-7FEF-4BEB-999E-15C9B29401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2414" y="162206"/>
            <a:ext cx="370026" cy="4190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EB965B-40E2-4592-A7A1-8D97CCD73287}"/>
              </a:ext>
            </a:extLst>
          </p:cNvPr>
          <p:cNvSpPr txBox="1"/>
          <p:nvPr userDrawn="1"/>
        </p:nvSpPr>
        <p:spPr>
          <a:xfrm>
            <a:off x="0" y="9559128"/>
            <a:ext cx="40335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cap="all" baseline="0" dirty="0">
                <a:solidFill>
                  <a:schemeClr val="tx1"/>
                </a:solidFill>
                <a:latin typeface="Monument Grotesk Mono" panose="02010504030000020004" pitchFamily="50" charset="0"/>
              </a:rPr>
              <a:t>The Fast Track Way Workshop_2023_Feedback Summary</a:t>
            </a:r>
            <a:endParaRPr lang="en-US" cap="all" baseline="0" dirty="0">
              <a:solidFill>
                <a:schemeClr val="tx1"/>
              </a:solidFill>
              <a:latin typeface="Monument Grotesk Mono" panose="02010504030000020004" pitchFamily="50" charset="0"/>
            </a:endParaRPr>
          </a:p>
        </p:txBody>
      </p:sp>
      <p:pic>
        <p:nvPicPr>
          <p:cNvPr id="12" name="Picture 1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6C3A4C37-168F-0C6B-6685-F50B2B40393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8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4E51BE-A2C4-4B7E-A25B-9DB83F9ACBA2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816240"/>
            <a:ext cx="6452481" cy="0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D7230-F7FF-4432-9CB7-570D060E950F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866222"/>
            <a:ext cx="6452481" cy="0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58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6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2/13/25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61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469625"/>
            <a:ext cx="5915025" cy="4120620"/>
          </a:xfrm>
          <a:prstGeom prst="rect">
            <a:avLst/>
          </a:prstGeom>
        </p:spPr>
        <p:txBody>
          <a:bodyPr anchor="b"/>
          <a:lstStyle>
            <a:lvl1pPr>
              <a:defRPr sz="41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629228"/>
            <a:ext cx="5915025" cy="2166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62">
                <a:solidFill>
                  <a:schemeClr val="tx1"/>
                </a:solidFill>
              </a:defRPr>
            </a:lvl1pPr>
            <a:lvl2pPr marL="31652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2pPr>
            <a:lvl3pPr marL="633039" indent="0">
              <a:buNone/>
              <a:defRPr sz="1246">
                <a:solidFill>
                  <a:schemeClr val="tx1">
                    <a:tint val="75000"/>
                  </a:schemeClr>
                </a:solidFill>
              </a:defRPr>
            </a:lvl3pPr>
            <a:lvl4pPr marL="94955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4pPr>
            <a:lvl5pPr marL="1266078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5pPr>
            <a:lvl6pPr marL="1582598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6pPr>
            <a:lvl7pPr marL="189911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7pPr>
            <a:lvl8pPr marL="221563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8pPr>
            <a:lvl9pPr marL="2532156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2/13/25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68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6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2/13/25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7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257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DB9D7B-ABA1-46FF-8D95-5ED05CEB41EE}"/>
              </a:ext>
            </a:extLst>
          </p:cNvPr>
          <p:cNvCxnSpPr/>
          <p:nvPr userDrawn="1"/>
        </p:nvCxnSpPr>
        <p:spPr>
          <a:xfrm>
            <a:off x="6452482" y="0"/>
            <a:ext cx="0" cy="9906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1C2D4D-102A-4801-A783-15836A733F29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799884"/>
            <a:ext cx="6452481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1DF2A1-61C9-4897-9F10-923D1DF7CF36}"/>
              </a:ext>
            </a:extLst>
          </p:cNvPr>
          <p:cNvGrpSpPr/>
          <p:nvPr userDrawn="1"/>
        </p:nvGrpSpPr>
        <p:grpSpPr>
          <a:xfrm>
            <a:off x="6545302" y="174444"/>
            <a:ext cx="237175" cy="550304"/>
            <a:chOff x="9563413" y="152519"/>
            <a:chExt cx="342586" cy="38098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ED4D8C-9F30-4DF2-9C3B-200E81BBBF57}"/>
                </a:ext>
              </a:extLst>
            </p:cNvPr>
            <p:cNvSpPr/>
            <p:nvPr userDrawn="1"/>
          </p:nvSpPr>
          <p:spPr>
            <a:xfrm>
              <a:off x="9563413" y="152519"/>
              <a:ext cx="342586" cy="11100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F9DA57-1BB1-4497-A138-C7AAF64929C6}"/>
                </a:ext>
              </a:extLst>
            </p:cNvPr>
            <p:cNvSpPr/>
            <p:nvPr userDrawn="1"/>
          </p:nvSpPr>
          <p:spPr>
            <a:xfrm>
              <a:off x="9563413" y="287506"/>
              <a:ext cx="221935" cy="11100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1299D26-C7CC-43F3-BE87-977207921A95}"/>
                </a:ext>
              </a:extLst>
            </p:cNvPr>
            <p:cNvSpPr/>
            <p:nvPr userDrawn="1"/>
          </p:nvSpPr>
          <p:spPr>
            <a:xfrm>
              <a:off x="9563414" y="422493"/>
              <a:ext cx="117162" cy="11100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4701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8">
          <p15:clr>
            <a:srgbClr val="FBAE40"/>
          </p15:clr>
        </p15:guide>
        <p15:guide id="2" orient="horz" pos="108">
          <p15:clr>
            <a:srgbClr val="FBAE40"/>
          </p15:clr>
        </p15:guide>
        <p15:guide id="4" pos="2912">
          <p15:clr>
            <a:srgbClr val="FBAE40"/>
          </p15:clr>
        </p15:guide>
        <p15:guide id="5" pos="6009">
          <p15:clr>
            <a:srgbClr val="FBAE40"/>
          </p15:clr>
        </p15:guide>
        <p15:guide id="6" pos="5599">
          <p15:clr>
            <a:srgbClr val="FBAE40"/>
          </p15:clr>
        </p15:guide>
        <p15:guide id="7" pos="230">
          <p15:clr>
            <a:srgbClr val="FBAE40"/>
          </p15:clr>
        </p15:guide>
        <p15:guide id="8" orient="horz" pos="406">
          <p15:clr>
            <a:srgbClr val="FBAE40"/>
          </p15:clr>
        </p15:guide>
        <p15:guide id="9" orient="horz" pos="1704">
          <p15:clr>
            <a:srgbClr val="FBAE40"/>
          </p15:clr>
        </p15:guide>
        <p15:guide id="10" orient="horz" pos="1600">
          <p15:clr>
            <a:srgbClr val="FBAE40"/>
          </p15:clr>
        </p15:guide>
        <p15:guide id="11" orient="horz" pos="2906">
          <p15:clr>
            <a:srgbClr val="FBAE40"/>
          </p15:clr>
        </p15:guide>
        <p15:guide id="12" orient="horz" pos="3008">
          <p15:clr>
            <a:srgbClr val="FBAE40"/>
          </p15:clr>
        </p15:guide>
        <p15:guide id="13" pos="2798">
          <p15:clr>
            <a:srgbClr val="FBAE40"/>
          </p15:clr>
        </p15:guide>
        <p15:guide id="14" pos="303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472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04504" y="91372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80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1142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04504" y="91372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80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691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21033" y="126884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79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C6323E2-8F19-C082-FD50-EB53366FD4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45FDA4F2-ABB4-4F7C-31CA-0C37DE40B7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27" y="126884"/>
            <a:ext cx="255161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71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21033" y="126884"/>
            <a:ext cx="259006" cy="28075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C6323E2-8F19-C082-FD50-EB53366FD4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45FDA4F2-ABB4-4F7C-31CA-0C37DE40B7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27" y="126884"/>
            <a:ext cx="255161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82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C1E3C102-28F4-55C1-2550-37787607E5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819" y="218687"/>
            <a:ext cx="326362" cy="362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97356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697356"/>
            <a:ext cx="0" cy="9208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B68B7-7FEF-4BEB-999E-15C9B29401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2414" y="162206"/>
            <a:ext cx="370026" cy="4190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EB965B-40E2-4592-A7A1-8D97CCD73287}"/>
              </a:ext>
            </a:extLst>
          </p:cNvPr>
          <p:cNvSpPr txBox="1"/>
          <p:nvPr userDrawn="1"/>
        </p:nvSpPr>
        <p:spPr>
          <a:xfrm>
            <a:off x="0" y="9559128"/>
            <a:ext cx="40335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cap="all" baseline="0" dirty="0">
                <a:solidFill>
                  <a:schemeClr val="tx1"/>
                </a:solidFill>
                <a:latin typeface="Monument Grotesk Mono" panose="02010504030000020004" pitchFamily="50" charset="0"/>
              </a:rPr>
              <a:t>The Fast Track Way Workshop_2023_Feedback Summary</a:t>
            </a:r>
            <a:endParaRPr lang="en-US" cap="all" baseline="0" dirty="0">
              <a:solidFill>
                <a:schemeClr val="tx1"/>
              </a:solidFill>
              <a:latin typeface="Monument Grotesk Mono" panose="02010504030000020004" pitchFamily="50" charset="0"/>
            </a:endParaRPr>
          </a:p>
        </p:txBody>
      </p:sp>
      <p:pic>
        <p:nvPicPr>
          <p:cNvPr id="12" name="Picture 1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6C3A4C37-168F-0C6B-6685-F50B2B40393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6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image" Target="../media/image7.sv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9.svg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10.xml"/><Relationship Id="rId9" Type="http://schemas.openxmlformats.org/officeDocument/2006/relationships/tags" Target="../tags/tag4.xml"/><Relationship Id="rId1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16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23F13F9-AD74-4E4E-84C9-3C59484F0D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085371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80" imgH="481" progId="TCLayout.ActiveDocument.1">
                  <p:embed/>
                </p:oleObj>
              </mc:Choice>
              <mc:Fallback>
                <p:oleObj name="think-cell Slide" r:id="rId9" imgW="480" imgH="481" progId="TCLayout.ActiveDocument.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23F13F9-AD74-4E4E-84C9-3C59484F0D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9592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050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5" r:id="rId3"/>
    <p:sldLayoutId id="2147483664" r:id="rId4"/>
    <p:sldLayoutId id="2147483680" r:id="rId5"/>
    <p:sldLayoutId id="2147483663" r:id="rId6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Plaak 3 Trial Regular" panose="02000000000000000000" pitchFamily="50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50516505-193D-47A9-B4A0-CD5068E8FB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184235197"/>
              </p:ext>
            </p:extLst>
          </p:nvPr>
        </p:nvGraphicFramePr>
        <p:xfrm>
          <a:off x="1588" y="1593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80" imgH="481" progId="TCLayout.ActiveDocument.1">
                  <p:embed/>
                </p:oleObj>
              </mc:Choice>
              <mc:Fallback>
                <p:oleObj name="think-cell Slide" r:id="rId10" imgW="480" imgH="48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50516505-193D-47A9-B4A0-CD5068E8FB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93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7755179B-A8A1-4A99-8E10-5CFCD830FCBE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582" b="0" i="0" baseline="0" dirty="0">
              <a:latin typeface="Plaak 3 Trial Regular" panose="02000000000000000000" pitchFamily="50" charset="0"/>
              <a:ea typeface="+mj-ea"/>
              <a:cs typeface="+mj-cs"/>
              <a:sym typeface="Plaak 3 Trial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2ABC29-4FA3-4FF4-AEFB-B36D74161AEC}"/>
              </a:ext>
            </a:extLst>
          </p:cNvPr>
          <p:cNvCxnSpPr/>
          <p:nvPr userDrawn="1"/>
        </p:nvCxnSpPr>
        <p:spPr>
          <a:xfrm>
            <a:off x="6452482" y="0"/>
            <a:ext cx="0" cy="9906000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994BB4-84AB-4F20-9DF1-03D32F97D3DB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799884"/>
            <a:ext cx="6452481" cy="0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1ABC95-A7FC-4EE1-86D6-BE7CA3B366ED}"/>
              </a:ext>
            </a:extLst>
          </p:cNvPr>
          <p:cNvGrpSpPr/>
          <p:nvPr userDrawn="1"/>
        </p:nvGrpSpPr>
        <p:grpSpPr>
          <a:xfrm>
            <a:off x="6545302" y="174444"/>
            <a:ext cx="237175" cy="550304"/>
            <a:chOff x="9563413" y="152519"/>
            <a:chExt cx="342586" cy="380980"/>
          </a:xfrm>
          <a:solidFill>
            <a:schemeClr val="bg1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0E15B3-DE89-4100-B778-6CA54B642DC5}"/>
                </a:ext>
              </a:extLst>
            </p:cNvPr>
            <p:cNvSpPr/>
            <p:nvPr userDrawn="1"/>
          </p:nvSpPr>
          <p:spPr>
            <a:xfrm>
              <a:off x="9563413" y="152519"/>
              <a:ext cx="342586" cy="1110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33FE9C-6978-4CC7-9277-ADB57A0F0B10}"/>
                </a:ext>
              </a:extLst>
            </p:cNvPr>
            <p:cNvSpPr/>
            <p:nvPr userDrawn="1"/>
          </p:nvSpPr>
          <p:spPr>
            <a:xfrm>
              <a:off x="9563413" y="287506"/>
              <a:ext cx="221935" cy="1110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F99D8F1-0F7B-4FF4-9403-6912CC5FF0E4}"/>
                </a:ext>
              </a:extLst>
            </p:cNvPr>
            <p:cNvSpPr/>
            <p:nvPr userDrawn="1"/>
          </p:nvSpPr>
          <p:spPr>
            <a:xfrm>
              <a:off x="9563414" y="422493"/>
              <a:ext cx="117162" cy="1110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13649BF4-654A-48AF-832D-0BABDBEC792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523" y="233340"/>
            <a:ext cx="1147234" cy="41123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32C1A5D-D25A-AE7B-3D20-7E634F4B2A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32467" t="3622" b="-1"/>
          <a:stretch/>
        </p:blipFill>
        <p:spPr>
          <a:xfrm>
            <a:off x="447993" y="254616"/>
            <a:ext cx="774765" cy="3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80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txStyles>
    <p:titleStyle>
      <a:lvl1pPr algn="l" defTabSz="633039" rtl="0" eaLnBrk="1" latinLnBrk="0" hangingPunct="1">
        <a:lnSpc>
          <a:spcPct val="90000"/>
        </a:lnSpc>
        <a:spcBef>
          <a:spcPct val="0"/>
        </a:spcBef>
        <a:buNone/>
        <a:defRPr sz="30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260" indent="-158260" algn="l" defTabSz="6330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1938" kern="1200">
          <a:solidFill>
            <a:schemeClr val="tx1"/>
          </a:solidFill>
          <a:latin typeface="+mn-lt"/>
          <a:ea typeface="+mn-ea"/>
          <a:cs typeface="+mn-cs"/>
        </a:defRPr>
      </a:lvl1pPr>
      <a:lvl2pPr marL="474779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791299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107818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424338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740858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7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373897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690416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1pPr>
      <a:lvl2pPr marL="316520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633039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3pPr>
      <a:lvl4pPr marL="949559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266078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582598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1899117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215637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532156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23F13F9-AD74-4E4E-84C9-3C59484F0D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085371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80" imgH="481" progId="TCLayout.ActiveDocument.1">
                  <p:embed/>
                </p:oleObj>
              </mc:Choice>
              <mc:Fallback>
                <p:oleObj name="think-cell Slide" r:id="rId9" imgW="480" imgH="481" progId="TCLayout.ActiveDocument.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23F13F9-AD74-4E4E-84C9-3C59484F0D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9592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571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Plaak 3 Trial Regular" panose="02000000000000000000" pitchFamily="50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54F6D-CC8A-524A-DB95-6300C7A8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>
            <a:extLst>
              <a:ext uri="{FF2B5EF4-FFF2-40B4-BE49-F238E27FC236}">
                <a16:creationId xmlns:a16="http://schemas.microsoft.com/office/drawing/2014/main" id="{5F71EA1C-F4FB-48A7-2DEC-3C07E2CBE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27682" y="5609894"/>
            <a:ext cx="18473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BG" sz="1100" dirty="0">
              <a:solidFill>
                <a:schemeClr val="bg1"/>
              </a:solidFill>
              <a:latin typeface="Riforma LL" panose="020B0504020101020102" pitchFamily="34" charset="77"/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A415BD-B819-AB80-C6B8-EC36CB3DFB80}"/>
              </a:ext>
            </a:extLst>
          </p:cNvPr>
          <p:cNvSpPr txBox="1"/>
          <p:nvPr/>
        </p:nvSpPr>
        <p:spPr>
          <a:xfrm>
            <a:off x="204515" y="2769571"/>
            <a:ext cx="2975565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8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US" sz="2400" dirty="0"/>
              <a:t>SPRINT </a:t>
            </a:r>
          </a:p>
          <a:p>
            <a:r>
              <a:rPr lang="en-US" sz="2400" dirty="0"/>
              <a:t>OVERVEIW </a:t>
            </a:r>
            <a:endParaRPr lang="en-BG" sz="24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6887590-9F8C-DC5D-A3E5-C40263149D9C}"/>
              </a:ext>
            </a:extLst>
          </p:cNvPr>
          <p:cNvCxnSpPr>
            <a:cxnSpLocks/>
          </p:cNvCxnSpPr>
          <p:nvPr/>
        </p:nvCxnSpPr>
        <p:spPr>
          <a:xfrm flipH="1">
            <a:off x="288251" y="3308135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369A6FF-6348-F8E3-F5C4-F8369ED17979}"/>
              </a:ext>
            </a:extLst>
          </p:cNvPr>
          <p:cNvSpPr txBox="1"/>
          <p:nvPr/>
        </p:nvSpPr>
        <p:spPr>
          <a:xfrm>
            <a:off x="622371" y="1174733"/>
            <a:ext cx="5051124" cy="2781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40"/>
              </a:spcBef>
              <a:spcAft>
                <a:spcPts val="840"/>
              </a:spcAft>
              <a:defRPr sz="1000">
                <a:effectLst/>
                <a:latin typeface="Riforma LL" panose="020B0504020101020102" pitchFamily="34" charset="77"/>
                <a:ea typeface="Times New Roman" panose="02020603050405020304" pitchFamily="18" charset="0"/>
              </a:defRPr>
            </a:lvl1pPr>
          </a:lstStyle>
          <a:p>
            <a:r>
              <a:rPr lang="en-US" dirty="0"/>
              <a:t>Purpose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A9756B4-C5A5-6294-5DD4-2F08A30CAC1E}"/>
              </a:ext>
            </a:extLst>
          </p:cNvPr>
          <p:cNvSpPr txBox="1"/>
          <p:nvPr/>
        </p:nvSpPr>
        <p:spPr>
          <a:xfrm>
            <a:off x="204514" y="1191310"/>
            <a:ext cx="5559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en-BG" sz="700" kern="100" dirty="0">
                <a:effectLst/>
                <a:latin typeface="Monument Grotesk Mono" panose="02010504030000020004" pitchFamily="2" charset="0"/>
                <a:ea typeface="Riforma LL" panose="020B0504020101020102" pitchFamily="34" charset="77"/>
                <a:cs typeface="Riforma LL" panose="020B0504020101020102" pitchFamily="34" charset="77"/>
              </a:rPr>
              <a:t>[01]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221735-16A2-A9F7-FC85-68DCFC355B7E}"/>
              </a:ext>
            </a:extLst>
          </p:cNvPr>
          <p:cNvSpPr txBox="1"/>
          <p:nvPr/>
        </p:nvSpPr>
        <p:spPr>
          <a:xfrm>
            <a:off x="622371" y="1398447"/>
            <a:ext cx="562997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900">
                <a:latin typeface="Riforma LL" panose="020B0504020101020102" pitchFamily="34" charset="77"/>
              </a:defRPr>
            </a:lvl1pPr>
          </a:lstStyle>
          <a:p>
            <a:pPr marL="0" indent="0">
              <a:buNone/>
            </a:pPr>
            <a:r>
              <a:rPr lang="en-US" dirty="0"/>
              <a:t>This cheat sheet equips the Guru with all necessary tools to lead the Value Proposition Sprint effectively. It ensures the discussion stays sharp, strategic, and results-driven, addressing potential challenges while steering the team toward a clear, compelling, and differentiated value proposition.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933E4B8-C15B-F470-FBF0-833A76BA1213}"/>
              </a:ext>
            </a:extLst>
          </p:cNvPr>
          <p:cNvSpPr txBox="1"/>
          <p:nvPr/>
        </p:nvSpPr>
        <p:spPr>
          <a:xfrm>
            <a:off x="5810713" y="2469512"/>
            <a:ext cx="66599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39A2D2-8200-8FB3-F137-3323F7F3261A}"/>
              </a:ext>
            </a:extLst>
          </p:cNvPr>
          <p:cNvSpPr txBox="1"/>
          <p:nvPr/>
        </p:nvSpPr>
        <p:spPr>
          <a:xfrm>
            <a:off x="204514" y="610788"/>
            <a:ext cx="1877965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0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US" sz="2400" dirty="0"/>
              <a:t>guru guide</a:t>
            </a:r>
          </a:p>
          <a:p>
            <a:r>
              <a:rPr lang="en-US" sz="2400" dirty="0"/>
              <a:t>overview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4BC4FF-EB42-7AB0-FDED-1993B2112290}"/>
              </a:ext>
            </a:extLst>
          </p:cNvPr>
          <p:cNvCxnSpPr>
            <a:cxnSpLocks/>
          </p:cNvCxnSpPr>
          <p:nvPr/>
        </p:nvCxnSpPr>
        <p:spPr>
          <a:xfrm flipH="1">
            <a:off x="288251" y="1148668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17970-A7DA-C0E4-FB72-71250DA59E37}"/>
              </a:ext>
            </a:extLst>
          </p:cNvPr>
          <p:cNvSpPr txBox="1"/>
          <p:nvPr/>
        </p:nvSpPr>
        <p:spPr>
          <a:xfrm>
            <a:off x="204514" y="3363329"/>
            <a:ext cx="594591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40"/>
              </a:spcBef>
              <a:spcAft>
                <a:spcPts val="840"/>
              </a:spcAft>
              <a:defRPr sz="800">
                <a:latin typeface="Riforma LL" panose="020B0504020101020102" pitchFamily="34" charset="77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The Value Proposition Sprint focuses on </a:t>
            </a:r>
            <a:r>
              <a:rPr lang="en-US" sz="900" b="1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sharpening your market offer </a:t>
            </a: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by aligning it with the </a:t>
            </a:r>
            <a:r>
              <a:rPr lang="en-US" sz="900" b="1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biggest pains, needs, and desires </a:t>
            </a: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of your target customers.</a:t>
            </a: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It ensures you </a:t>
            </a:r>
            <a:r>
              <a:rPr lang="en-US" sz="900" b="1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don’t compete on price but on unique value</a:t>
            </a: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.</a:t>
            </a: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A weak value proposition leads to </a:t>
            </a:r>
            <a:r>
              <a:rPr lang="en-US" sz="900" b="1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low conversions, customer confusion, and weak differentiation</a:t>
            </a: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—this sprint fixes that.</a:t>
            </a: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You will walk away with a </a:t>
            </a:r>
            <a:r>
              <a:rPr lang="en-US" sz="900" b="1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tested, validated, and fully aligned value proposition</a:t>
            </a: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422B9A-883E-3D48-EFC0-5C74EE61F0A0}"/>
              </a:ext>
            </a:extLst>
          </p:cNvPr>
          <p:cNvSpPr txBox="1"/>
          <p:nvPr/>
        </p:nvSpPr>
        <p:spPr>
          <a:xfrm>
            <a:off x="5810713" y="308529"/>
            <a:ext cx="63036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8BE5DA-C830-7C61-E70A-A037C4C4D494}"/>
              </a:ext>
            </a:extLst>
          </p:cNvPr>
          <p:cNvSpPr txBox="1"/>
          <p:nvPr/>
        </p:nvSpPr>
        <p:spPr>
          <a:xfrm>
            <a:off x="1412421" y="220638"/>
            <a:ext cx="50398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bg1"/>
                </a:solidFill>
                <a:latin typeface="Monument Grotesk Mono" panose="02010504030000020004" pitchFamily="50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</a:lstStyle>
          <a:p>
            <a:pPr algn="r">
              <a:defRPr/>
            </a:pP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[MODULE:</a:t>
            </a:r>
            <a:r>
              <a:rPr lang="en-US" dirty="0">
                <a:solidFill>
                  <a:schemeClr val="tx1"/>
                </a:solidFill>
                <a:ea typeface="Riforma LL" panose="020B0504020101020102" pitchFamily="34" charset="77"/>
                <a:cs typeface="Riforma LL" panose="020B0504020101020102" pitchFamily="34" charset="77"/>
              </a:rPr>
              <a:t>STRATEGY DEVELOPMENT </a:t>
            </a: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- SPRINT:</a:t>
            </a:r>
            <a:r>
              <a:rPr lang="en-US" dirty="0">
                <a:solidFill>
                  <a:schemeClr val="tx1"/>
                </a:solidFill>
                <a:ea typeface="Riforma LL" panose="020B0504020101020102" pitchFamily="34" charset="77"/>
                <a:cs typeface="Riforma LL" panose="020B0504020101020102" pitchFamily="34" charset="77"/>
              </a:rPr>
              <a:t>VALUE PROPOSITION</a:t>
            </a: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]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E5F95-FC43-E6A4-5BE3-96B73BB6C893}"/>
              </a:ext>
            </a:extLst>
          </p:cNvPr>
          <p:cNvSpPr txBox="1"/>
          <p:nvPr/>
        </p:nvSpPr>
        <p:spPr>
          <a:xfrm>
            <a:off x="204515" y="5393045"/>
            <a:ext cx="2975565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8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US" sz="2400" dirty="0"/>
              <a:t>Key Concepts and </a:t>
            </a:r>
          </a:p>
          <a:p>
            <a:r>
              <a:rPr lang="en-US" sz="2400" dirty="0"/>
              <a:t>How They Apply </a:t>
            </a:r>
            <a:endParaRPr lang="en-BG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8315985-FD6D-E75C-AEE6-9428008D3E2D}"/>
              </a:ext>
            </a:extLst>
          </p:cNvPr>
          <p:cNvCxnSpPr>
            <a:cxnSpLocks/>
          </p:cNvCxnSpPr>
          <p:nvPr/>
        </p:nvCxnSpPr>
        <p:spPr>
          <a:xfrm flipH="1">
            <a:off x="288251" y="5931609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39D1DB-2328-CFA9-6328-1ACC04CC276F}"/>
              </a:ext>
            </a:extLst>
          </p:cNvPr>
          <p:cNvSpPr txBox="1"/>
          <p:nvPr/>
        </p:nvSpPr>
        <p:spPr>
          <a:xfrm>
            <a:off x="5810713" y="5092986"/>
            <a:ext cx="66599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6D0C4-F105-7759-255C-1A39198284D4}"/>
              </a:ext>
            </a:extLst>
          </p:cNvPr>
          <p:cNvSpPr txBox="1"/>
          <p:nvPr/>
        </p:nvSpPr>
        <p:spPr>
          <a:xfrm>
            <a:off x="204514" y="5985849"/>
            <a:ext cx="6047833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40"/>
              </a:spcBef>
              <a:spcAft>
                <a:spcPts val="840"/>
              </a:spcAft>
              <a:defRPr sz="800">
                <a:latin typeface="Riforma LL" panose="020B0504020101020102" pitchFamily="34" charset="77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The Fast Track Value Proposition formula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For</a:t>
            </a:r>
            <a:r>
              <a:rPr lang="en-US" sz="900" b="1" dirty="0"/>
              <a:t> [target segment] </a:t>
            </a:r>
            <a:r>
              <a:rPr lang="en-US" sz="900" dirty="0"/>
              <a:t>who struggle with</a:t>
            </a:r>
            <a:r>
              <a:rPr lang="en-US" sz="900" b="1" dirty="0"/>
              <a:t> [pain point], </a:t>
            </a:r>
            <a:r>
              <a:rPr lang="en-US" sz="900" dirty="0"/>
              <a:t>we provide </a:t>
            </a:r>
            <a:r>
              <a:rPr lang="en-US" sz="900" b="1" dirty="0"/>
              <a:t>[solution] </a:t>
            </a:r>
            <a:r>
              <a:rPr lang="en-US" sz="900" dirty="0"/>
              <a:t>that </a:t>
            </a:r>
            <a:r>
              <a:rPr lang="en-US" sz="900" b="1" dirty="0"/>
              <a:t>[delivers</a:t>
            </a:r>
            <a:r>
              <a:rPr lang="en-US" sz="900" dirty="0"/>
              <a:t> </a:t>
            </a:r>
            <a:r>
              <a:rPr lang="en-US" sz="900" b="1" dirty="0"/>
              <a:t>core</a:t>
            </a:r>
            <a:r>
              <a:rPr lang="en-US" sz="900" dirty="0"/>
              <a:t> </a:t>
            </a:r>
            <a:r>
              <a:rPr lang="en-US" sz="900" b="1" dirty="0"/>
              <a:t>benefit]</a:t>
            </a:r>
            <a:r>
              <a:rPr lang="en-US" sz="900" dirty="0"/>
              <a:t>, unlike</a:t>
            </a:r>
            <a:r>
              <a:rPr lang="en-US" sz="900" b="1" dirty="0"/>
              <a:t> [competitor’s weakness]</a:t>
            </a:r>
            <a:r>
              <a:rPr lang="en-US" sz="9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Painkillers vs. Vitamins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A great value proposition must be a painkiller, not just a nice-to-have vitamin.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Customers act when they experience urgent pain—if we don’t address a real pain, we’re not essential.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9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Three Common Mistakes (and Fixes)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Too Generic </a:t>
            </a:r>
          </a:p>
          <a:p>
            <a:pPr marL="28575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Fix</a:t>
            </a: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: Be laser-focused on specific customer pain points.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Focusing</a:t>
            </a:r>
            <a:r>
              <a:rPr lang="en-US" sz="900" dirty="0"/>
              <a:t> on Features Instead of Outcomes</a:t>
            </a:r>
          </a:p>
          <a:p>
            <a:pPr marL="285750" lvl="1"/>
            <a:r>
              <a:rPr lang="en-US" sz="900" b="1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Fix</a:t>
            </a: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: Customers don’t buy features; they buy solutions.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Not Testing Early Enough</a:t>
            </a:r>
          </a:p>
          <a:p>
            <a:pPr marL="285750" lvl="1"/>
            <a:r>
              <a:rPr lang="en-US" sz="900" b="1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Fix</a:t>
            </a:r>
            <a:r>
              <a:rPr lang="en-US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: Validate with real customer feedback before finalizing.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9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Validation and testing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Reality Check: If your ideal customer hears your value proposition and doesn’t immediately say, “I need this,” it’s too weak.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Comparison Test: If your value proposition sounds like your competitor’s, it’s not unique enough.</a:t>
            </a:r>
          </a:p>
        </p:txBody>
      </p:sp>
    </p:spTree>
    <p:extLst>
      <p:ext uri="{BB962C8B-B14F-4D97-AF65-F5344CB8AC3E}">
        <p14:creationId xmlns:p14="http://schemas.microsoft.com/office/powerpoint/2010/main" val="216597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05BE-E38A-728F-2FA8-CFA8ADA2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>
            <a:extLst>
              <a:ext uri="{FF2B5EF4-FFF2-40B4-BE49-F238E27FC236}">
                <a16:creationId xmlns:a16="http://schemas.microsoft.com/office/drawing/2014/main" id="{F7BF3BD1-A584-4109-06FB-C8496D6EF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27682" y="9002157"/>
            <a:ext cx="18473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BG" sz="1100" dirty="0">
              <a:solidFill>
                <a:schemeClr val="bg1"/>
              </a:solidFill>
              <a:latin typeface="Riforma LL" panose="020B0504020101020102" pitchFamily="34" charset="77"/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487B9-D4DF-A3B1-AA03-3458BF3FFAF8}"/>
              </a:ext>
            </a:extLst>
          </p:cNvPr>
          <p:cNvSpPr txBox="1"/>
          <p:nvPr/>
        </p:nvSpPr>
        <p:spPr>
          <a:xfrm>
            <a:off x="195039" y="495689"/>
            <a:ext cx="2922734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0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US" sz="2400" dirty="0"/>
              <a:t>Expected Challenges </a:t>
            </a:r>
          </a:p>
          <a:p>
            <a:r>
              <a:rPr lang="en-US" sz="2400" dirty="0"/>
              <a:t>and How to Address Them</a:t>
            </a:r>
          </a:p>
          <a:p>
            <a:endParaRPr lang="en-US" sz="2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C2C125-1686-D480-5F38-3632C89ADDFB}"/>
              </a:ext>
            </a:extLst>
          </p:cNvPr>
          <p:cNvCxnSpPr>
            <a:cxnSpLocks/>
          </p:cNvCxnSpPr>
          <p:nvPr/>
        </p:nvCxnSpPr>
        <p:spPr>
          <a:xfrm flipH="1">
            <a:off x="283397" y="1016568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78991B-F84B-7288-CE07-BBE2C8EBE268}"/>
              </a:ext>
            </a:extLst>
          </p:cNvPr>
          <p:cNvSpPr txBox="1"/>
          <p:nvPr/>
        </p:nvSpPr>
        <p:spPr>
          <a:xfrm>
            <a:off x="213821" y="1148488"/>
            <a:ext cx="604783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40"/>
              </a:spcBef>
              <a:spcAft>
                <a:spcPts val="840"/>
              </a:spcAft>
              <a:defRPr sz="800">
                <a:latin typeface="Riforma LL" panose="020B0504020101020102" pitchFamily="34" charset="77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1. The team keeps debating instead of deciding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Solution: Use the Fast Track Formula—if the value proposition doesn’t fit into one sentence, it’s not sharp enough.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2. The message is still too generic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Solution: Keep asking, “What is the biggest pain point this solves?”—if it’s not an urgent pain, it’s not compelling.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3. Resistance to cutting features or benefits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Solution: Remind the team that saying yes to everything weakens the offer. A strong value proposition requires trade-offs.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7FEE8-F706-96FF-7573-BDF7DEC1AB34}"/>
              </a:ext>
            </a:extLst>
          </p:cNvPr>
          <p:cNvSpPr/>
          <p:nvPr/>
        </p:nvSpPr>
        <p:spPr>
          <a:xfrm>
            <a:off x="0" y="2885351"/>
            <a:ext cx="6405223" cy="4571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80340" indent="-180340">
              <a:lnSpc>
                <a:spcPct val="115000"/>
              </a:lnSpc>
              <a:spcBef>
                <a:spcPts val="300"/>
              </a:spcBef>
            </a:pPr>
            <a:endParaRPr lang="en-BG" sz="1000" dirty="0">
              <a:solidFill>
                <a:srgbClr val="000000"/>
              </a:solidFill>
              <a:effectLst/>
              <a:latin typeface="Riforma LL" panose="020B0504020101020102" pitchFamily="34" charset="77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7C02E-BD5A-BFF2-3B1D-00A613CF31D9}"/>
              </a:ext>
            </a:extLst>
          </p:cNvPr>
          <p:cNvSpPr txBox="1"/>
          <p:nvPr/>
        </p:nvSpPr>
        <p:spPr>
          <a:xfrm>
            <a:off x="204514" y="3685716"/>
            <a:ext cx="604783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000">
                <a:latin typeface="Riforma LL" panose="020B0504020101020102" pitchFamily="34" charset="77"/>
              </a:defRPr>
            </a:lvl1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(Duration: 90 min) </a:t>
            </a:r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1. Introduction and sprint objective (10 min)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Explain why a clear, powerful value proposition is critical.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Share common mistakes to avoid.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2. Reviewing current messaging (20 min)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Evaluate our existing value proposition.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Identify weak spots, vague claims, and areas for improvement.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3. Crafting and refining the new Value Proposition (40 min</a:t>
            </a:r>
            <a:r>
              <a:rPr lang="en-US" b="1" dirty="0">
                <a:ea typeface="Riforma LL" panose="020B0504020101020102" pitchFamily="34" charset="77"/>
                <a:cs typeface="Riforma LL" panose="020B0504020101020102" pitchFamily="34" charset="77"/>
              </a:rPr>
              <a:t>)</a:t>
            </a:r>
            <a:r>
              <a:rPr lang="en-BG" b="1" dirty="0">
                <a:ea typeface="Riforma LL" panose="020B0504020101020102" pitchFamily="34" charset="77"/>
                <a:cs typeface="Riforma LL" panose="020B0504020101020102" pitchFamily="34" charset="77"/>
              </a:rPr>
              <a:t> </a:t>
            </a:r>
            <a:endParaRPr lang="en-US" b="1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Apply the Fast Track Value Proposition Formula.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Ensure it meets all checklist criteria (clear, differentiated, urgent, pain-focused).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4. Testing and validating (20 min)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Reality Check: Would our best customer immediately understand it?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Comparison Test: How does it stand against competitors?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Final Refinements and Commitments.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Guidelines on Timing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Don’t spend more than 20 minutes reviewing the old messaging. Shift quickly to crafting the new version.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Push the team to make decisions fast. A good value proposition is simple and direct—if it takes too long, it's too complicated.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Use quick customer validation tests. Even a simple test (showing to a potential customer) is better than debating internally.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40F52-2F55-40F6-6468-DCE8480F9099}"/>
              </a:ext>
            </a:extLst>
          </p:cNvPr>
          <p:cNvSpPr txBox="1"/>
          <p:nvPr/>
        </p:nvSpPr>
        <p:spPr>
          <a:xfrm>
            <a:off x="5810713" y="199671"/>
            <a:ext cx="63036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78F95-C352-4DCB-4222-A789DE40773B}"/>
              </a:ext>
            </a:extLst>
          </p:cNvPr>
          <p:cNvSpPr txBox="1"/>
          <p:nvPr/>
        </p:nvSpPr>
        <p:spPr>
          <a:xfrm>
            <a:off x="1412421" y="220638"/>
            <a:ext cx="50398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bg1"/>
                </a:solidFill>
                <a:latin typeface="Monument Grotesk Mono" panose="02010504030000020004" pitchFamily="50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</a:lstStyle>
          <a:p>
            <a:pPr algn="r">
              <a:defRPr/>
            </a:pP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[MODULE:</a:t>
            </a:r>
            <a:r>
              <a:rPr lang="en-US" dirty="0">
                <a:solidFill>
                  <a:schemeClr val="tx1"/>
                </a:solidFill>
                <a:ea typeface="Riforma LL" panose="020B0504020101020102" pitchFamily="34" charset="77"/>
                <a:cs typeface="Riforma LL" panose="020B0504020101020102" pitchFamily="34" charset="77"/>
              </a:rPr>
              <a:t>STRATEGY DEVELOPMENT </a:t>
            </a: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- SPRINT:</a:t>
            </a:r>
            <a:r>
              <a:rPr lang="en-US" dirty="0">
                <a:solidFill>
                  <a:schemeClr val="tx1"/>
                </a:solidFill>
                <a:ea typeface="Riforma LL" panose="020B0504020101020102" pitchFamily="34" charset="77"/>
                <a:cs typeface="Riforma LL" panose="020B0504020101020102" pitchFamily="34" charset="77"/>
              </a:rPr>
              <a:t>VALUE PROPOSITION</a:t>
            </a: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]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769CC-A81F-4690-2E5A-B661AC65A474}"/>
              </a:ext>
            </a:extLst>
          </p:cNvPr>
          <p:cNvSpPr txBox="1"/>
          <p:nvPr/>
        </p:nvSpPr>
        <p:spPr>
          <a:xfrm>
            <a:off x="206256" y="3112973"/>
            <a:ext cx="2068858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0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2400" dirty="0"/>
              <a:t>Meeting Agenda and instructions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D8DC5C-1981-3DF4-B144-15AF113E7DC0}"/>
              </a:ext>
            </a:extLst>
          </p:cNvPr>
          <p:cNvCxnSpPr>
            <a:cxnSpLocks/>
          </p:cNvCxnSpPr>
          <p:nvPr/>
        </p:nvCxnSpPr>
        <p:spPr>
          <a:xfrm flipH="1">
            <a:off x="294614" y="3633852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31B027-1096-2357-330B-59CA1F987FD7}"/>
              </a:ext>
            </a:extLst>
          </p:cNvPr>
          <p:cNvSpPr txBox="1"/>
          <p:nvPr/>
        </p:nvSpPr>
        <p:spPr>
          <a:xfrm>
            <a:off x="5821930" y="2816955"/>
            <a:ext cx="63036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B68561-1634-0FA7-533C-B29A090D4FF0}"/>
              </a:ext>
            </a:extLst>
          </p:cNvPr>
          <p:cNvSpPr txBox="1"/>
          <p:nvPr/>
        </p:nvSpPr>
        <p:spPr>
          <a:xfrm>
            <a:off x="195039" y="7701941"/>
            <a:ext cx="2232475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0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US" sz="2400" dirty="0"/>
              <a:t>Examples of </a:t>
            </a:r>
          </a:p>
          <a:p>
            <a:r>
              <a:rPr lang="en-US" sz="2400" dirty="0"/>
              <a:t>Good and Bad Work</a:t>
            </a:r>
          </a:p>
          <a:p>
            <a:endParaRPr 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CBB710-0317-D494-283D-A6656D76422C}"/>
              </a:ext>
            </a:extLst>
          </p:cNvPr>
          <p:cNvCxnSpPr>
            <a:cxnSpLocks/>
          </p:cNvCxnSpPr>
          <p:nvPr/>
        </p:nvCxnSpPr>
        <p:spPr>
          <a:xfrm flipH="1">
            <a:off x="283397" y="8222820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8CF8024-C309-A1E1-2450-A96401D7583C}"/>
              </a:ext>
            </a:extLst>
          </p:cNvPr>
          <p:cNvSpPr txBox="1"/>
          <p:nvPr/>
        </p:nvSpPr>
        <p:spPr>
          <a:xfrm>
            <a:off x="213821" y="8354740"/>
            <a:ext cx="604783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40"/>
              </a:spcBef>
              <a:spcAft>
                <a:spcPts val="840"/>
              </a:spcAft>
              <a:defRPr sz="800">
                <a:latin typeface="Riforma LL" panose="020B0504020101020102" pitchFamily="34" charset="77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Bad Value Proposition (too generic)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“We provide high-quality software solutions that help businesses grow.”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Problem: Too vague, no clear customer pain, no differentiation.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9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Good Value Proposition (clear and focused)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For </a:t>
            </a:r>
            <a:r>
              <a:rPr lang="en-US" sz="900" b="1" dirty="0"/>
              <a:t>fast-growing eCommerce brands </a:t>
            </a:r>
            <a:r>
              <a:rPr lang="en-US" sz="900" dirty="0"/>
              <a:t>struggling with </a:t>
            </a:r>
            <a:r>
              <a:rPr lang="en-US" sz="900" b="1" dirty="0"/>
              <a:t>high customer churn</a:t>
            </a:r>
            <a:r>
              <a:rPr lang="en-US" sz="900" dirty="0"/>
              <a:t>, we provide </a:t>
            </a:r>
            <a:r>
              <a:rPr lang="en-US" sz="900" b="1" dirty="0"/>
              <a:t>an AI-driven retention platform</a:t>
            </a:r>
            <a:r>
              <a:rPr lang="en-US" sz="900" dirty="0"/>
              <a:t> that </a:t>
            </a:r>
            <a:r>
              <a:rPr lang="en-US" sz="900" b="1" dirty="0"/>
              <a:t>boosts repeat purchases by 30%, </a:t>
            </a:r>
            <a:r>
              <a:rPr lang="en-US" sz="900" dirty="0"/>
              <a:t>unlike </a:t>
            </a:r>
            <a:r>
              <a:rPr lang="en-US" sz="900" b="1" dirty="0"/>
              <a:t>competitors who rely on outdated email marketing.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Why It Works: Clear pain, clear solution, clear differentiation.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9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2A806-382D-63D2-2221-AD9772D77FCA}"/>
              </a:ext>
            </a:extLst>
          </p:cNvPr>
          <p:cNvSpPr txBox="1"/>
          <p:nvPr/>
        </p:nvSpPr>
        <p:spPr>
          <a:xfrm>
            <a:off x="5810713" y="7405923"/>
            <a:ext cx="63036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26885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10565-F014-BFF8-6701-26DA30DF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>
            <a:extLst>
              <a:ext uri="{FF2B5EF4-FFF2-40B4-BE49-F238E27FC236}">
                <a16:creationId xmlns:a16="http://schemas.microsoft.com/office/drawing/2014/main" id="{AF9BBB22-E20C-E34B-7D55-BC03083AD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27682" y="9002157"/>
            <a:ext cx="18473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BG" sz="1100" dirty="0">
              <a:solidFill>
                <a:schemeClr val="bg1"/>
              </a:solidFill>
              <a:latin typeface="Riforma LL" panose="020B0504020101020102" pitchFamily="34" charset="77"/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92992-0448-1E35-5E7A-1E4D59573690}"/>
              </a:ext>
            </a:extLst>
          </p:cNvPr>
          <p:cNvSpPr txBox="1"/>
          <p:nvPr/>
        </p:nvSpPr>
        <p:spPr>
          <a:xfrm>
            <a:off x="195039" y="604547"/>
            <a:ext cx="2326488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4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US" dirty="0"/>
              <a:t>Troubleshooting Common Pitfalls</a:t>
            </a:r>
          </a:p>
          <a:p>
            <a:endParaRPr lang="en-BG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4D862-1310-4921-AD2B-20170F1C203B}"/>
              </a:ext>
            </a:extLst>
          </p:cNvPr>
          <p:cNvCxnSpPr>
            <a:cxnSpLocks/>
          </p:cNvCxnSpPr>
          <p:nvPr/>
        </p:nvCxnSpPr>
        <p:spPr>
          <a:xfrm flipH="1">
            <a:off x="283397" y="1125426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660CB4E-EDB3-7E24-A1B6-45C8BB98F5A6}"/>
              </a:ext>
            </a:extLst>
          </p:cNvPr>
          <p:cNvSpPr txBox="1"/>
          <p:nvPr/>
        </p:nvSpPr>
        <p:spPr>
          <a:xfrm>
            <a:off x="213821" y="1257346"/>
            <a:ext cx="60478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40"/>
              </a:spcBef>
              <a:spcAft>
                <a:spcPts val="840"/>
              </a:spcAft>
              <a:defRPr sz="800">
                <a:latin typeface="Riforma LL" panose="020B0504020101020102" pitchFamily="34" charset="77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The team is overcomplicating the message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Solution: Cut jargon and fluff—if a 10-year-old can’t understand it, it’s too complex.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The team is not prioritizing the biggest pain point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Solution: Keep asking, “What’s the #1 pain we solve?”—everything else is secondary.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No clear differentiation from competitors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Solution: Ensure we highlight what makes us different and better—if we sound like everyone else, we’re competing on price.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9820A8-CE52-3BF8-1303-3DE7260D56E4}"/>
              </a:ext>
            </a:extLst>
          </p:cNvPr>
          <p:cNvSpPr txBox="1"/>
          <p:nvPr/>
        </p:nvSpPr>
        <p:spPr>
          <a:xfrm>
            <a:off x="5810713" y="308529"/>
            <a:ext cx="63036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0E537-B2A0-8A41-3145-02FF39C6E4D9}"/>
              </a:ext>
            </a:extLst>
          </p:cNvPr>
          <p:cNvSpPr txBox="1"/>
          <p:nvPr/>
        </p:nvSpPr>
        <p:spPr>
          <a:xfrm>
            <a:off x="1412421" y="220638"/>
            <a:ext cx="50398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bg1"/>
                </a:solidFill>
                <a:latin typeface="Monument Grotesk Mono" panose="02010504030000020004" pitchFamily="50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</a:lstStyle>
          <a:p>
            <a:pPr algn="r">
              <a:defRPr/>
            </a:pP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[MODULE:</a:t>
            </a:r>
            <a:r>
              <a:rPr lang="en-US" dirty="0">
                <a:solidFill>
                  <a:schemeClr val="tx1"/>
                </a:solidFill>
                <a:ea typeface="Riforma LL" panose="020B0504020101020102" pitchFamily="34" charset="77"/>
                <a:cs typeface="Riforma LL" panose="020B0504020101020102" pitchFamily="34" charset="77"/>
              </a:rPr>
              <a:t>STRATEGY DEVELOPMENT </a:t>
            </a: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- SPRINT:</a:t>
            </a:r>
            <a:r>
              <a:rPr lang="en-US" dirty="0">
                <a:solidFill>
                  <a:schemeClr val="tx1"/>
                </a:solidFill>
                <a:ea typeface="Riforma LL" panose="020B0504020101020102" pitchFamily="34" charset="77"/>
                <a:cs typeface="Riforma LL" panose="020B0504020101020102" pitchFamily="34" charset="77"/>
              </a:rPr>
              <a:t>VALUE PROPOSITION</a:t>
            </a: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]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27412-F9BA-B47C-44C2-A0D51CFE1653}"/>
              </a:ext>
            </a:extLst>
          </p:cNvPr>
          <p:cNvSpPr txBox="1"/>
          <p:nvPr/>
        </p:nvSpPr>
        <p:spPr>
          <a:xfrm>
            <a:off x="195039" y="3236530"/>
            <a:ext cx="2326488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4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US" dirty="0"/>
              <a:t>Final</a:t>
            </a:r>
          </a:p>
          <a:p>
            <a:r>
              <a:rPr lang="en-US" dirty="0"/>
              <a:t>instructions</a:t>
            </a:r>
          </a:p>
          <a:p>
            <a:endParaRPr lang="en-BG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295A29-A47D-5C30-2B33-D2C477BF5A26}"/>
              </a:ext>
            </a:extLst>
          </p:cNvPr>
          <p:cNvCxnSpPr>
            <a:cxnSpLocks/>
          </p:cNvCxnSpPr>
          <p:nvPr/>
        </p:nvCxnSpPr>
        <p:spPr>
          <a:xfrm flipH="1">
            <a:off x="294614" y="3757409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1828D50-701E-FDDF-355E-1D90F909AB3C}"/>
              </a:ext>
            </a:extLst>
          </p:cNvPr>
          <p:cNvSpPr txBox="1"/>
          <p:nvPr/>
        </p:nvSpPr>
        <p:spPr>
          <a:xfrm>
            <a:off x="213821" y="3889329"/>
            <a:ext cx="60478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40"/>
              </a:spcBef>
              <a:spcAft>
                <a:spcPts val="840"/>
              </a:spcAft>
              <a:defRPr sz="800">
                <a:latin typeface="Riforma LL" panose="020B0504020101020102" pitchFamily="34" charset="77"/>
              </a:defRPr>
            </a:lvl1pPr>
          </a:lstStyle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Stick to the Fast Track Formula - clear, specific, and tied to an urgent pain.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Push for fast decisions - if you take too long, you are overcomplicating it. 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Keep it focused on the customer’s pain and desired outcome. 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Eliminate any message that sounds like a generic corporate claim.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9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Final Thought: “If your value proposition doesn’t make the customer say ‘I NEED THIS NOW,’ it’s not strong enough.”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This Guru Cheat Sheet ensures you are fully prepared to lead, challenge, and sharpen the team’s thinking, keeping the discussion focused, efficient, and impactful.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C9674-9D68-D0BF-092F-6EA421CC92D7}"/>
              </a:ext>
            </a:extLst>
          </p:cNvPr>
          <p:cNvSpPr txBox="1"/>
          <p:nvPr/>
        </p:nvSpPr>
        <p:spPr>
          <a:xfrm>
            <a:off x="5810713" y="2940512"/>
            <a:ext cx="63036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2954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A9AC01-ED0C-F5D3-F3CB-D12D0F3DAC14}"/>
              </a:ext>
            </a:extLst>
          </p:cNvPr>
          <p:cNvSpPr/>
          <p:nvPr/>
        </p:nvSpPr>
        <p:spPr>
          <a:xfrm>
            <a:off x="-116114" y="0"/>
            <a:ext cx="6974114" cy="990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3276E35-DBB3-C811-C5D8-C5664E054F28}"/>
              </a:ext>
            </a:extLst>
          </p:cNvPr>
          <p:cNvSpPr txBox="1">
            <a:spLocks/>
          </p:cNvSpPr>
          <p:nvPr/>
        </p:nvSpPr>
        <p:spPr>
          <a:xfrm>
            <a:off x="1233682" y="7445847"/>
            <a:ext cx="4390636" cy="21181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Plaak 3 Trial Regular" panose="020000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00" i="0" u="none" strike="noStrike" baseline="0" dirty="0">
                <a:solidFill>
                  <a:srgbClr val="FFFFFF"/>
                </a:solidFill>
                <a:latin typeface="Plaak3Trial-43-Bold" panose="02000000000000000000" pitchFamily="50" charset="0"/>
              </a:rPr>
              <a:t>“THE Fast Track system is Simplicity designed to make an Impact. Brilliant.”</a:t>
            </a:r>
          </a:p>
          <a:p>
            <a:pPr algn="ctr"/>
            <a:endParaRPr lang="en-US" sz="1800" b="1" i="0" u="none" strike="noStrike" baseline="0" dirty="0">
              <a:solidFill>
                <a:srgbClr val="FFFFFF"/>
              </a:solidFill>
              <a:latin typeface="Plaak3Trial-43-Bold" panose="02000000000000000000" pitchFamily="50" charset="0"/>
            </a:endParaRPr>
          </a:p>
          <a:p>
            <a:pPr algn="ctr"/>
            <a:r>
              <a:rPr lang="en-US" sz="1100" b="0" i="0" u="none" strike="noStrike" baseline="0" dirty="0">
                <a:solidFill>
                  <a:srgbClr val="FFFFFF"/>
                </a:solidFill>
                <a:latin typeface="MonumentGrotesk-Mono" panose="02010504030000020004" pitchFamily="50" charset="0"/>
              </a:rPr>
              <a:t>[XAVIER CARPINELLI, KPMG, YPO MONACO]</a:t>
            </a:r>
            <a:endParaRPr lang="en-US" sz="6000" dirty="0">
              <a:ea typeface="+mn-ea"/>
              <a:cs typeface="+mn-cs"/>
            </a:endParaRPr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F90AB019-8E29-8D3F-709F-83FE925795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519" y="4249718"/>
            <a:ext cx="1886962" cy="76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519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crUlfqiSxTYF_wzigU1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T fonts">
      <a:majorFont>
        <a:latin typeface="Exo 2.0"/>
        <a:ea typeface=""/>
        <a:cs typeface=""/>
      </a:majorFont>
      <a:minorFont>
        <a:latin typeface="Exo 2.0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T fonts">
      <a:majorFont>
        <a:latin typeface="Exo 2.0"/>
        <a:ea typeface=""/>
        <a:cs typeface=""/>
      </a:majorFont>
      <a:minorFont>
        <a:latin typeface="Exo 2.0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25591</TotalTime>
  <Words>967</Words>
  <Application>Microsoft Macintosh PowerPoint</Application>
  <PresentationFormat>A4 Paper (210x297 mm)</PresentationFormat>
  <Paragraphs>108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Plaak3Trial-43-Bold</vt:lpstr>
      <vt:lpstr>Plaak 3 Trial Regular</vt:lpstr>
      <vt:lpstr>Riforma LL</vt:lpstr>
      <vt:lpstr>MonumentGrotesk-Mono</vt:lpstr>
      <vt:lpstr>Arial</vt:lpstr>
      <vt:lpstr>Monument Grotesk Mono</vt:lpstr>
      <vt:lpstr>Calibri</vt:lpstr>
      <vt:lpstr>Office Theme</vt:lpstr>
      <vt:lpstr>1_Office Theme</vt:lpstr>
      <vt:lpstr>2_Office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Track Template new</dc:title>
  <dc:creator>Miroslav</dc:creator>
  <cp:lastModifiedBy>Nikol Nankova</cp:lastModifiedBy>
  <cp:revision>1947</cp:revision>
  <cp:lastPrinted>2023-02-27T16:00:42Z</cp:lastPrinted>
  <dcterms:created xsi:type="dcterms:W3CDTF">2018-01-04T12:41:55Z</dcterms:created>
  <dcterms:modified xsi:type="dcterms:W3CDTF">2025-02-13T18:41:52Z</dcterms:modified>
</cp:coreProperties>
</file>