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5"/>
  </p:notesMasterIdLst>
  <p:handoutMasterIdLst>
    <p:handoutMasterId r:id="rId6"/>
  </p:handoutMasterIdLst>
  <p:sldIdLst>
    <p:sldId id="2464" r:id="rId4"/>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425590-FD1C-734E-83FF-DA819DD9372D}" v="537" dt="2024-09-05T03:10:46.1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35" autoAdjust="0"/>
    <p:restoredTop sz="84218" autoAdjust="0"/>
  </p:normalViewPr>
  <p:slideViewPr>
    <p:cSldViewPr snapToGrid="0">
      <p:cViewPr varScale="1">
        <p:scale>
          <a:sx n="97" d="100"/>
          <a:sy n="97" d="100"/>
        </p:scale>
        <p:origin x="1680"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commentAuthors" Target="commentAuthors.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0613073461391cd36e4dfd44ff96bc68bbee0a3c1e65bba1abed8e3c461747ee::" providerId="AD" clId="Web-{D7425590-FD1C-734E-83FF-DA819DD9372D}"/>
    <pc:docChg chg="modSld">
      <pc:chgData name="Guest User" userId="S::urn:spo:anon#0613073461391cd36e4dfd44ff96bc68bbee0a3c1e65bba1abed8e3c461747ee::" providerId="AD" clId="Web-{D7425590-FD1C-734E-83FF-DA819DD9372D}" dt="2024-09-05T03:10:46.154" v="515"/>
      <pc:docMkLst>
        <pc:docMk/>
      </pc:docMkLst>
      <pc:sldChg chg="modSp">
        <pc:chgData name="Guest User" userId="S::urn:spo:anon#0613073461391cd36e4dfd44ff96bc68bbee0a3c1e65bba1abed8e3c461747ee::" providerId="AD" clId="Web-{D7425590-FD1C-734E-83FF-DA819DD9372D}" dt="2024-09-05T03:10:46.154" v="515"/>
        <pc:sldMkLst>
          <pc:docMk/>
          <pc:sldMk cId="2094534717" sldId="2464"/>
        </pc:sldMkLst>
        <pc:graphicFrameChg chg="mod modGraphic">
          <ac:chgData name="Guest User" userId="S::urn:spo:anon#0613073461391cd36e4dfd44ff96bc68bbee0a3c1e65bba1abed8e3c461747ee::" providerId="AD" clId="Web-{D7425590-FD1C-734E-83FF-DA819DD9372D}" dt="2024-09-05T03:10:46.154" v="515"/>
          <ac:graphicFrameMkLst>
            <pc:docMk/>
            <pc:sldMk cId="2094534717" sldId="2464"/>
            <ac:graphicFrameMk id="5" creationId="{CD641D71-6162-3CD3-52E5-86F637125C5D}"/>
          </ac:graphicFrameMkLst>
        </pc:graphicFrameChg>
        <pc:graphicFrameChg chg="mod modGraphic">
          <ac:chgData name="Guest User" userId="S::urn:spo:anon#0613073461391cd36e4dfd44ff96bc68bbee0a3c1e65bba1abed8e3c461747ee::" providerId="AD" clId="Web-{D7425590-FD1C-734E-83FF-DA819DD9372D}" dt="2024-09-05T03:10:20.309" v="465"/>
          <ac:graphicFrameMkLst>
            <pc:docMk/>
            <pc:sldMk cId="2094534717" sldId="2464"/>
            <ac:graphicFrameMk id="6" creationId="{37061156-7BD4-0DA1-5FE0-4B7FFD83522D}"/>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9/4/2024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9/4/2024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77"/>
                <a:cs typeface="Arial" panose="020B0604020202020204" pitchFamily="34" charset="0"/>
              </a:rPr>
              <a:t>Answer the guiding questions to help you identify core 5 personal values. Describe what they mean to you and how you live them every day. What are the behaviors that you associate with these values? Are you making compromises with them in certain situations? Are they the guiding mechanism for the things you do and the decisions you make?</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47699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D641D71-6162-3CD3-52E5-86F637125C5D}"/>
              </a:ext>
            </a:extLst>
          </p:cNvPr>
          <p:cNvGraphicFramePr>
            <a:graphicFrameLocks noGrp="1"/>
          </p:cNvGraphicFramePr>
          <p:nvPr>
            <p:extLst>
              <p:ext uri="{D42A27DB-BD31-4B8C-83A1-F6EECF244321}">
                <p14:modId xmlns:p14="http://schemas.microsoft.com/office/powerpoint/2010/main" val="3369053247"/>
              </p:ext>
            </p:extLst>
          </p:nvPr>
        </p:nvGraphicFramePr>
        <p:xfrm>
          <a:off x="243567" y="689371"/>
          <a:ext cx="9655806" cy="2875460"/>
        </p:xfrm>
        <a:graphic>
          <a:graphicData uri="http://schemas.openxmlformats.org/drawingml/2006/table">
            <a:tbl>
              <a:tblPr firstRow="1" bandRow="1">
                <a:tableStyleId>{2D5ABB26-0587-4C30-8999-92F81FD0307C}</a:tableStyleId>
              </a:tblPr>
              <a:tblGrid>
                <a:gridCol w="4823964">
                  <a:extLst>
                    <a:ext uri="{9D8B030D-6E8A-4147-A177-3AD203B41FA5}">
                      <a16:colId xmlns:a16="http://schemas.microsoft.com/office/drawing/2014/main" val="3308902235"/>
                    </a:ext>
                  </a:extLst>
                </a:gridCol>
                <a:gridCol w="4831842">
                  <a:extLst>
                    <a:ext uri="{9D8B030D-6E8A-4147-A177-3AD203B41FA5}">
                      <a16:colId xmlns:a16="http://schemas.microsoft.com/office/drawing/2014/main" val="3313590318"/>
                    </a:ext>
                  </a:extLst>
                </a:gridCol>
              </a:tblGrid>
              <a:tr h="398554">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Guiding questions: to reflect and help discover personal values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85956">
                <a:tc>
                  <a:txBody>
                    <a:bodyPr/>
                    <a:lstStyle/>
                    <a:p>
                      <a:pPr lvl="0">
                        <a:buNone/>
                      </a:pPr>
                      <a:r>
                        <a:rPr lang="en-US" sz="1200" b="0" i="0" kern="1200" dirty="0">
                          <a:solidFill>
                            <a:schemeClr val="tx1"/>
                          </a:solidFill>
                          <a:latin typeface="Arial"/>
                          <a:ea typeface="+mn-ea"/>
                          <a:cs typeface="Arial"/>
                        </a:rPr>
                        <a:t>How do you spend your time? </a:t>
                      </a:r>
                      <a:endParaRPr lang="en-US"/>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tc>
                  <a:txBody>
                    <a:bodyPr/>
                    <a:lstStyle/>
                    <a:p>
                      <a:pPr lvl="0">
                        <a:buNone/>
                      </a:pPr>
                      <a:endParaRPr lang="en-US" sz="1200" b="0" i="0" u="none" strike="noStrike" kern="1200" noProof="0" dirty="0">
                        <a:solidFill>
                          <a:schemeClr val="tx1"/>
                        </a:solidFill>
                        <a:effectLst/>
                        <a:latin typeface="+mn-lt"/>
                        <a:ea typeface="+mn-ea"/>
                        <a:cs typeface="+mn-cs"/>
                      </a:endParaRPr>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extLst>
                  <a:ext uri="{0D108BD9-81ED-4DB2-BD59-A6C34878D82A}">
                    <a16:rowId xmlns:a16="http://schemas.microsoft.com/office/drawing/2014/main" val="514847072"/>
                  </a:ext>
                </a:extLst>
              </a:tr>
              <a:tr h="483592">
                <a:tc>
                  <a:txBody>
                    <a:bodyPr/>
                    <a:lstStyle/>
                    <a:p>
                      <a:pPr lvl="0">
                        <a:buNone/>
                      </a:pPr>
                      <a:r>
                        <a:rPr lang="en-US" sz="1200" b="0" i="0" kern="1200" dirty="0">
                          <a:solidFill>
                            <a:schemeClr val="tx1"/>
                          </a:solidFill>
                          <a:latin typeface="Arial"/>
                          <a:cs typeface="Arial"/>
                        </a:rPr>
                        <a:t>What do you most often talk to yourself about? </a:t>
                      </a:r>
                      <a:endParaRPr lang="en-US"/>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tc>
                  <a:txBody>
                    <a:bodyPr/>
                    <a:lstStyle/>
                    <a:p>
                      <a:pPr lvl="0">
                        <a:buNone/>
                      </a:pPr>
                      <a:endParaRPr lang="en-US" sz="1200" b="0" i="0" u="none" strike="noStrike" noProof="0" dirty="0">
                        <a:effectLst/>
                      </a:endParaRPr>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extLst>
                  <a:ext uri="{0D108BD9-81ED-4DB2-BD59-A6C34878D82A}">
                    <a16:rowId xmlns:a16="http://schemas.microsoft.com/office/drawing/2014/main" val="1961459937"/>
                  </a:ext>
                </a:extLst>
              </a:tr>
              <a:tr h="495534">
                <a:tc>
                  <a:txBody>
                    <a:bodyPr/>
                    <a:lstStyle/>
                    <a:p>
                      <a:pPr lvl="0">
                        <a:buNone/>
                      </a:pPr>
                      <a:r>
                        <a:rPr lang="en-US" sz="1200" b="0" i="0" kern="1200" dirty="0">
                          <a:solidFill>
                            <a:schemeClr val="tx1"/>
                          </a:solidFill>
                          <a:latin typeface="Arial"/>
                          <a:cs typeface="Arial"/>
                        </a:rPr>
                        <a:t>What do you most often talk to others about? </a:t>
                      </a:r>
                      <a:endParaRPr lang="en-US"/>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tc>
                  <a:txBody>
                    <a:bodyPr/>
                    <a:lstStyle/>
                    <a:p>
                      <a:pPr lvl="0">
                        <a:buNone/>
                      </a:pPr>
                      <a:endParaRPr lang="en-US" sz="1200" b="0" i="0" u="none" strike="noStrike" noProof="0" dirty="0">
                        <a:effectLst/>
                      </a:endParaRPr>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extLst>
                  <a:ext uri="{0D108BD9-81ED-4DB2-BD59-A6C34878D82A}">
                    <a16:rowId xmlns:a16="http://schemas.microsoft.com/office/drawing/2014/main" val="1318749878"/>
                  </a:ext>
                </a:extLst>
              </a:tr>
              <a:tr h="498412">
                <a:tc>
                  <a:txBody>
                    <a:bodyPr/>
                    <a:lstStyle/>
                    <a:p>
                      <a:pPr lvl="0">
                        <a:buNone/>
                      </a:pPr>
                      <a:r>
                        <a:rPr lang="en-US" sz="1200" b="0" i="0" kern="1200" dirty="0">
                          <a:solidFill>
                            <a:schemeClr val="tx1"/>
                          </a:solidFill>
                          <a:latin typeface="Arial"/>
                          <a:cs typeface="Arial"/>
                        </a:rPr>
                        <a:t>What inspires you? </a:t>
                      </a:r>
                      <a:endParaRPr lang="en-US"/>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lvl="0">
                        <a:buNone/>
                      </a:pPr>
                      <a:endParaRPr lang="en-US" sz="1200" b="0" i="0" u="none" strike="noStrike" noProof="0" dirty="0">
                        <a:solidFill>
                          <a:srgbClr val="000000"/>
                        </a:solidFill>
                        <a:effectLst/>
                        <a:latin typeface="PF Square Sans Pro Light"/>
                      </a:endParaRPr>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3895863688"/>
                  </a:ext>
                </a:extLst>
              </a:tr>
              <a:tr h="513412">
                <a:tc>
                  <a:txBody>
                    <a:bodyPr/>
                    <a:lstStyle/>
                    <a:p>
                      <a:pPr lvl="0">
                        <a:buNone/>
                      </a:pPr>
                      <a:r>
                        <a:rPr lang="en-US" sz="1200" b="0" i="0" kern="1200" dirty="0">
                          <a:solidFill>
                            <a:schemeClr val="tx1"/>
                          </a:solidFill>
                          <a:latin typeface="Arial"/>
                          <a:cs typeface="Arial"/>
                        </a:rPr>
                        <a:t>What goals stand out in your life and have stood the test of time? </a:t>
                      </a:r>
                      <a:endParaRPr lang="en-US"/>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lvl="0">
                        <a:buNone/>
                      </a:pPr>
                      <a:endParaRPr lang="en-US" sz="1200" b="0" i="0" u="none" strike="noStrike" noProof="0" dirty="0">
                        <a:effectLst/>
                        <a:latin typeface="PF Square Sans Pro Light"/>
                      </a:endParaRPr>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1265844164"/>
                  </a:ext>
                </a:extLst>
              </a:tr>
            </a:tbl>
          </a:graphicData>
        </a:graphic>
      </p:graphicFrame>
      <p:graphicFrame>
        <p:nvGraphicFramePr>
          <p:cNvPr id="6" name="Table 5">
            <a:extLst>
              <a:ext uri="{FF2B5EF4-FFF2-40B4-BE49-F238E27FC236}">
                <a16:creationId xmlns:a16="http://schemas.microsoft.com/office/drawing/2014/main" id="{37061156-7BD4-0DA1-5FE0-4B7FFD83522D}"/>
              </a:ext>
            </a:extLst>
          </p:cNvPr>
          <p:cNvGraphicFramePr>
            <a:graphicFrameLocks noGrp="1"/>
          </p:cNvGraphicFramePr>
          <p:nvPr>
            <p:extLst>
              <p:ext uri="{D42A27DB-BD31-4B8C-83A1-F6EECF244321}">
                <p14:modId xmlns:p14="http://schemas.microsoft.com/office/powerpoint/2010/main" val="56216605"/>
              </p:ext>
            </p:extLst>
          </p:nvPr>
        </p:nvGraphicFramePr>
        <p:xfrm>
          <a:off x="240281" y="3781424"/>
          <a:ext cx="9655806" cy="3480766"/>
        </p:xfrm>
        <a:graphic>
          <a:graphicData uri="http://schemas.openxmlformats.org/drawingml/2006/table">
            <a:tbl>
              <a:tblPr firstRow="1" bandRow="1">
                <a:tableStyleId>{2D5ABB26-0587-4C30-8999-92F81FD0307C}</a:tableStyleId>
              </a:tblPr>
              <a:tblGrid>
                <a:gridCol w="3398232">
                  <a:extLst>
                    <a:ext uri="{9D8B030D-6E8A-4147-A177-3AD203B41FA5}">
                      <a16:colId xmlns:a16="http://schemas.microsoft.com/office/drawing/2014/main" val="3308902235"/>
                    </a:ext>
                  </a:extLst>
                </a:gridCol>
                <a:gridCol w="4397980">
                  <a:extLst>
                    <a:ext uri="{9D8B030D-6E8A-4147-A177-3AD203B41FA5}">
                      <a16:colId xmlns:a16="http://schemas.microsoft.com/office/drawing/2014/main" val="1174125584"/>
                    </a:ext>
                  </a:extLst>
                </a:gridCol>
                <a:gridCol w="1859594">
                  <a:extLst>
                    <a:ext uri="{9D8B030D-6E8A-4147-A177-3AD203B41FA5}">
                      <a16:colId xmlns:a16="http://schemas.microsoft.com/office/drawing/2014/main" val="2156595074"/>
                    </a:ext>
                  </a:extLst>
                </a:gridCol>
              </a:tblGrid>
              <a:tr h="71129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My core 5 personal values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How do I live by them daily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 Alignment of my behavior with these values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546699">
                <a:tc>
                  <a:txBody>
                    <a:bodyPr/>
                    <a:lstStyle/>
                    <a:p>
                      <a:endParaRPr lang="en-US" sz="1200" b="0" i="0" kern="1200" dirty="0">
                        <a:solidFill>
                          <a:schemeClr val="tx1"/>
                        </a:solidFill>
                        <a:latin typeface="Riforma LL"/>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endParaRPr lang="en-US" sz="1200" b="0" i="0" kern="1200" noProof="0" dirty="0">
                        <a:solidFill>
                          <a:schemeClr val="tx1"/>
                        </a:solidFill>
                        <a:latin typeface="Riforma LL"/>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dirty="0"/>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514847072"/>
                  </a:ext>
                </a:extLst>
              </a:tr>
              <a:tr h="562408">
                <a:tc>
                  <a:txBody>
                    <a:bodyPr/>
                    <a:lstStyle/>
                    <a:p>
                      <a:endParaRPr lang="en-US" sz="1200" b="0" i="0" kern="1200" dirty="0">
                        <a:solidFill>
                          <a:schemeClr val="tx1"/>
                        </a:solidFill>
                        <a:latin typeface="Riforma LL"/>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endParaRPr lang="en-US" sz="1200" b="0" i="0" kern="1200" noProof="0" dirty="0">
                        <a:solidFill>
                          <a:schemeClr val="tx1"/>
                        </a:solidFill>
                        <a:latin typeface="Riforma LL"/>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1961459937"/>
                  </a:ext>
                </a:extLst>
              </a:tr>
              <a:tr h="576295">
                <a:tc>
                  <a:txBody>
                    <a:bodyPr/>
                    <a:lstStyle/>
                    <a:p>
                      <a:endParaRPr lang="en-US" sz="1200" b="0" i="0" kern="1200" dirty="0">
                        <a:solidFill>
                          <a:schemeClr val="tx1"/>
                        </a:solidFill>
                        <a:latin typeface="Riforma LL"/>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endParaRPr lang="en-US" sz="1200" b="0" i="0" kern="1200" noProof="0" dirty="0">
                        <a:solidFill>
                          <a:schemeClr val="tx1"/>
                        </a:solidFill>
                        <a:latin typeface="Riforma LL"/>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1318749878"/>
                  </a:ext>
                </a:extLst>
              </a:tr>
              <a:tr h="579645">
                <a:tc>
                  <a:txBody>
                    <a:bodyPr/>
                    <a:lstStyle/>
                    <a:p>
                      <a:endParaRPr lang="en-US" sz="1200" b="0" i="0" kern="1200" dirty="0">
                        <a:solidFill>
                          <a:schemeClr val="tx1"/>
                        </a:solidFill>
                        <a:latin typeface="Riforma LL"/>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endParaRPr lang="en-US" sz="1200" b="0" i="0" kern="1200" noProof="0" dirty="0">
                        <a:solidFill>
                          <a:schemeClr val="tx1"/>
                        </a:solidFill>
                        <a:latin typeface="Riforma LL"/>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dirty="0"/>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3895863688"/>
                  </a:ext>
                </a:extLst>
              </a:tr>
              <a:tr h="504427">
                <a:tc>
                  <a:txBody>
                    <a:bodyPr/>
                    <a:lstStyle/>
                    <a:p>
                      <a:endParaRPr lang="en-US" sz="1200" b="0" i="0" kern="1200" dirty="0">
                        <a:solidFill>
                          <a:schemeClr val="tx1"/>
                        </a:solidFill>
                        <a:latin typeface="Riforma LL"/>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endParaRPr lang="en-US" sz="1200" b="0" i="0" kern="1200" noProof="0" dirty="0">
                        <a:solidFill>
                          <a:schemeClr val="tx1"/>
                        </a:solidFill>
                        <a:latin typeface="Riforma LL"/>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dirty="0"/>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1265844164"/>
                  </a:ext>
                </a:extLst>
              </a:tr>
            </a:tbl>
          </a:graphicData>
        </a:graphic>
      </p:graphicFrame>
      <p:pic>
        <p:nvPicPr>
          <p:cNvPr id="2" name="Picture 1">
            <a:extLst>
              <a:ext uri="{FF2B5EF4-FFF2-40B4-BE49-F238E27FC236}">
                <a16:creationId xmlns:a16="http://schemas.microsoft.com/office/drawing/2014/main" id="{87501AF2-F6CB-9201-7965-83948BA27B58}"/>
              </a:ext>
            </a:extLst>
          </p:cNvPr>
          <p:cNvPicPr>
            <a:picLocks noChangeAspect="1"/>
          </p:cNvPicPr>
          <p:nvPr/>
        </p:nvPicPr>
        <p:blipFill>
          <a:blip r:embed="rId3"/>
          <a:stretch>
            <a:fillRect/>
          </a:stretch>
        </p:blipFill>
        <p:spPr>
          <a:xfrm>
            <a:off x="-1" y="-79513"/>
            <a:ext cx="8554595" cy="852950"/>
          </a:xfrm>
          <a:prstGeom prst="rect">
            <a:avLst/>
          </a:prstGeom>
        </p:spPr>
      </p:pic>
    </p:spTree>
    <p:extLst>
      <p:ext uri="{BB962C8B-B14F-4D97-AF65-F5344CB8AC3E}">
        <p14:creationId xmlns:p14="http://schemas.microsoft.com/office/powerpoint/2010/main" val="2094534717"/>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10832</TotalTime>
  <Words>141</Words>
  <Application>Microsoft Office PowerPoint</Application>
  <PresentationFormat>Custom</PresentationFormat>
  <Paragraphs>11</Paragraphs>
  <Slides>1</Slides>
  <Notes>1</Notes>
  <HiddenSlides>0</HiddenSlides>
  <MMClips>0</MMClips>
  <ScaleCrop>false</ScaleCrop>
  <HeadingPairs>
    <vt:vector size="4" baseType="variant">
      <vt:variant>
        <vt:lpstr>Theme</vt:lpstr>
      </vt:variant>
      <vt:variant>
        <vt:i4>3</vt:i4>
      </vt:variant>
      <vt:variant>
        <vt:lpstr>Slide Titles</vt:lpstr>
      </vt:variant>
      <vt:variant>
        <vt:i4>1</vt:i4>
      </vt:variant>
    </vt:vector>
  </HeadingPairs>
  <TitlesOfParts>
    <vt:vector size="4" baseType="lpstr">
      <vt:lpstr>4_Custom Design</vt:lpstr>
      <vt:lpstr>5_Custom Design</vt:lpstr>
      <vt:lpstr>SOLIDS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799</cp:revision>
  <cp:lastPrinted>2020-02-28T13:07:06Z</cp:lastPrinted>
  <dcterms:created xsi:type="dcterms:W3CDTF">2019-08-22T09:52:59Z</dcterms:created>
  <dcterms:modified xsi:type="dcterms:W3CDTF">2024-09-05T03:10:47Z</dcterms:modified>
</cp:coreProperties>
</file>