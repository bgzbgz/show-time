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77" r:id="rId1"/>
    <p:sldMasterId id="2147484485" r:id="rId2"/>
    <p:sldMasterId id="2147484487" r:id="rId3"/>
  </p:sldMasterIdLst>
  <p:notesMasterIdLst>
    <p:notesMasterId r:id="rId10"/>
  </p:notesMasterIdLst>
  <p:handoutMasterIdLst>
    <p:handoutMasterId r:id="rId11"/>
  </p:handoutMasterIdLst>
  <p:sldIdLst>
    <p:sldId id="2420" r:id="rId4"/>
    <p:sldId id="2463" r:id="rId5"/>
    <p:sldId id="2468" r:id="rId6"/>
    <p:sldId id="2469" r:id="rId7"/>
    <p:sldId id="2467" r:id="rId8"/>
    <p:sldId id="2466" r:id="rId9"/>
  </p:sldIdLst>
  <p:sldSz cx="10688638" cy="7562850"/>
  <p:notesSz cx="6954838" cy="9240838"/>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tanas" initials="AY" lastIdx="1" clrIdx="0">
    <p:extLst>
      <p:ext uri="{19B8F6BF-5375-455C-9EA6-DF929625EA0E}">
        <p15:presenceInfo xmlns:p15="http://schemas.microsoft.com/office/powerpoint/2012/main" userId="Atan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69"/>
    <a:srgbClr val="717272"/>
    <a:srgbClr val="3D233B"/>
    <a:srgbClr val="B2B2B2"/>
    <a:srgbClr val="FCC100"/>
    <a:srgbClr val="0D3272"/>
    <a:srgbClr val="B46F59"/>
    <a:srgbClr val="0F85CE"/>
    <a:srgbClr val="EEEDEE"/>
    <a:srgbClr val="89B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AED5D6-ADD1-8D33-F3A0-273AEFAC470E}" v="125" dt="2025-04-28T13:32:54.2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commentAuthors" Target="commentAuthors.xml"/><Relationship Id="rId17"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handoutMaster" Target="handoutMasters/handoutMaster1.xml"/><Relationship Id="rId5" Type="http://schemas.openxmlformats.org/officeDocument/2006/relationships/slide" Target="slides/slide2.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anon#7920bb76ce64892cdc5c1b7b899e82808c848164b4e5a2d6a2e7ffb8dac9131c::" providerId="AD" clId="Web-{FE4151A4-473D-29F5-0414-C1043D431965}"/>
    <pc:docChg chg="delSld modSld sldOrd">
      <pc:chgData name="Guest User" userId="S::urn:spo:anon#7920bb76ce64892cdc5c1b7b899e82808c848164b4e5a2d6a2e7ffb8dac9131c::" providerId="AD" clId="Web-{FE4151A4-473D-29F5-0414-C1043D431965}" dt="2025-04-11T09:25:15.420" v="7275"/>
      <pc:docMkLst>
        <pc:docMk/>
      </pc:docMkLst>
      <pc:sldChg chg="modSp ord">
        <pc:chgData name="Guest User" userId="S::urn:spo:anon#7920bb76ce64892cdc5c1b7b899e82808c848164b4e5a2d6a2e7ffb8dac9131c::" providerId="AD" clId="Web-{FE4151A4-473D-29F5-0414-C1043D431965}" dt="2025-04-11T08:21:48.765" v="1886"/>
        <pc:sldMkLst>
          <pc:docMk/>
          <pc:sldMk cId="1877047662" sldId="2420"/>
        </pc:sldMkLst>
        <pc:graphicFrameChg chg="mod modGraphic">
          <ac:chgData name="Guest User" userId="S::urn:spo:anon#7920bb76ce64892cdc5c1b7b899e82808c848164b4e5a2d6a2e7ffb8dac9131c::" providerId="AD" clId="Web-{FE4151A4-473D-29F5-0414-C1043D431965}" dt="2025-04-11T08:21:48.765" v="1886"/>
          <ac:graphicFrameMkLst>
            <pc:docMk/>
            <pc:sldMk cId="1877047662" sldId="2420"/>
            <ac:graphicFrameMk id="18" creationId="{1F74CD5A-9F80-0549-8844-6BFF5ADE70C7}"/>
          </ac:graphicFrameMkLst>
        </pc:graphicFrameChg>
      </pc:sldChg>
      <pc:sldChg chg="modSp ord">
        <pc:chgData name="Guest User" userId="S::urn:spo:anon#7920bb76ce64892cdc5c1b7b899e82808c848164b4e5a2d6a2e7ffb8dac9131c::" providerId="AD" clId="Web-{FE4151A4-473D-29F5-0414-C1043D431965}" dt="2025-04-11T08:46:10.063" v="4183"/>
        <pc:sldMkLst>
          <pc:docMk/>
          <pc:sldMk cId="3110103477" sldId="2463"/>
        </pc:sldMkLst>
        <pc:graphicFrameChg chg="mod modGraphic">
          <ac:chgData name="Guest User" userId="S::urn:spo:anon#7920bb76ce64892cdc5c1b7b899e82808c848164b4e5a2d6a2e7ffb8dac9131c::" providerId="AD" clId="Web-{FE4151A4-473D-29F5-0414-C1043D431965}" dt="2025-04-11T08:46:10.063" v="4183"/>
          <ac:graphicFrameMkLst>
            <pc:docMk/>
            <pc:sldMk cId="3110103477" sldId="2463"/>
            <ac:graphicFrameMk id="12" creationId="{74CF6476-D2C3-2348-BEC7-148925E380DF}"/>
          </ac:graphicFrameMkLst>
        </pc:graphicFrameChg>
      </pc:sldChg>
      <pc:sldChg chg="modSp ord">
        <pc:chgData name="Guest User" userId="S::urn:spo:anon#7920bb76ce64892cdc5c1b7b899e82808c848164b4e5a2d6a2e7ffb8dac9131c::" providerId="AD" clId="Web-{FE4151A4-473D-29F5-0414-C1043D431965}" dt="2025-04-11T08:48:23.197" v="4276"/>
        <pc:sldMkLst>
          <pc:docMk/>
          <pc:sldMk cId="1820793006" sldId="2466"/>
        </pc:sldMkLst>
        <pc:graphicFrameChg chg="mod modGraphic">
          <ac:chgData name="Guest User" userId="S::urn:spo:anon#7920bb76ce64892cdc5c1b7b899e82808c848164b4e5a2d6a2e7ffb8dac9131c::" providerId="AD" clId="Web-{FE4151A4-473D-29F5-0414-C1043D431965}" dt="2025-04-10T21:10:56.250" v="1502"/>
          <ac:graphicFrameMkLst>
            <pc:docMk/>
            <pc:sldMk cId="1820793006" sldId="2466"/>
            <ac:graphicFrameMk id="12" creationId="{74CF6476-D2C3-2348-BEC7-148925E380DF}"/>
          </ac:graphicFrameMkLst>
        </pc:graphicFrameChg>
      </pc:sldChg>
      <pc:sldChg chg="modSp ord">
        <pc:chgData name="Guest User" userId="S::urn:spo:anon#7920bb76ce64892cdc5c1b7b899e82808c848164b4e5a2d6a2e7ffb8dac9131c::" providerId="AD" clId="Web-{FE4151A4-473D-29F5-0414-C1043D431965}" dt="2025-04-11T09:25:15.420" v="7275"/>
        <pc:sldMkLst>
          <pc:docMk/>
          <pc:sldMk cId="1543771418" sldId="2467"/>
        </pc:sldMkLst>
        <pc:graphicFrameChg chg="mod modGraphic">
          <ac:chgData name="Guest User" userId="S::urn:spo:anon#7920bb76ce64892cdc5c1b7b899e82808c848164b4e5a2d6a2e7ffb8dac9131c::" providerId="AD" clId="Web-{FE4151A4-473D-29F5-0414-C1043D431965}" dt="2025-04-11T09:25:15.420" v="7275"/>
          <ac:graphicFrameMkLst>
            <pc:docMk/>
            <pc:sldMk cId="1543771418" sldId="2467"/>
            <ac:graphicFrameMk id="12" creationId="{74CF6476-D2C3-2348-BEC7-148925E380DF}"/>
          </ac:graphicFrameMkLst>
        </pc:graphicFrameChg>
      </pc:sldChg>
      <pc:sldChg chg="modSp ord">
        <pc:chgData name="Guest User" userId="S::urn:spo:anon#7920bb76ce64892cdc5c1b7b899e82808c848164b4e5a2d6a2e7ffb8dac9131c::" providerId="AD" clId="Web-{FE4151A4-473D-29F5-0414-C1043D431965}" dt="2025-04-11T08:48:14.868" v="4275"/>
        <pc:sldMkLst>
          <pc:docMk/>
          <pc:sldMk cId="662839316" sldId="2468"/>
        </pc:sldMkLst>
        <pc:graphicFrameChg chg="mod modGraphic">
          <ac:chgData name="Guest User" userId="S::urn:spo:anon#7920bb76ce64892cdc5c1b7b899e82808c848164b4e5a2d6a2e7ffb8dac9131c::" providerId="AD" clId="Web-{FE4151A4-473D-29F5-0414-C1043D431965}" dt="2025-04-11T08:48:14.868" v="4275"/>
          <ac:graphicFrameMkLst>
            <pc:docMk/>
            <pc:sldMk cId="662839316" sldId="2468"/>
            <ac:graphicFrameMk id="12" creationId="{74CF6476-D2C3-2348-BEC7-148925E380DF}"/>
          </ac:graphicFrameMkLst>
        </pc:graphicFrameChg>
      </pc:sldChg>
      <pc:sldChg chg="modSp">
        <pc:chgData name="Guest User" userId="S::urn:spo:anon#7920bb76ce64892cdc5c1b7b899e82808c848164b4e5a2d6a2e7ffb8dac9131c::" providerId="AD" clId="Web-{FE4151A4-473D-29F5-0414-C1043D431965}" dt="2025-04-11T09:03:09.537" v="5686"/>
        <pc:sldMkLst>
          <pc:docMk/>
          <pc:sldMk cId="2521260324" sldId="2469"/>
        </pc:sldMkLst>
        <pc:graphicFrameChg chg="mod modGraphic">
          <ac:chgData name="Guest User" userId="S::urn:spo:anon#7920bb76ce64892cdc5c1b7b899e82808c848164b4e5a2d6a2e7ffb8dac9131c::" providerId="AD" clId="Web-{FE4151A4-473D-29F5-0414-C1043D431965}" dt="2025-04-11T09:03:09.537" v="5686"/>
          <ac:graphicFrameMkLst>
            <pc:docMk/>
            <pc:sldMk cId="2521260324" sldId="2469"/>
            <ac:graphicFrameMk id="12" creationId="{74CF6476-D2C3-2348-BEC7-148925E380DF}"/>
          </ac:graphicFrameMkLst>
        </pc:graphicFrameChg>
      </pc:sldChg>
      <pc:sldChg chg="del">
        <pc:chgData name="Guest User" userId="S::urn:spo:anon#7920bb76ce64892cdc5c1b7b899e82808c848164b4e5a2d6a2e7ffb8dac9131c::" providerId="AD" clId="Web-{FE4151A4-473D-29F5-0414-C1043D431965}" dt="2025-04-10T21:11:19.110" v="1503"/>
        <pc:sldMkLst>
          <pc:docMk/>
          <pc:sldMk cId="3791091601" sldId="2470"/>
        </pc:sldMkLst>
      </pc:sldChg>
    </pc:docChg>
  </pc:docChgLst>
  <pc:docChgLst>
    <pc:chgData name="Guest User" userId="S::urn:spo:anon#bc25fc7711eb08f0d3a233e11314bc6a1f0530bb34c233d3b0e27e46975db9cd::" providerId="AD" clId="Web-{E6B89ECC-D3F7-C44C-13DB-EC4C65570DAB}"/>
    <pc:docChg chg="modSld">
      <pc:chgData name="Guest User" userId="S::urn:spo:anon#bc25fc7711eb08f0d3a233e11314bc6a1f0530bb34c233d3b0e27e46975db9cd::" providerId="AD" clId="Web-{E6B89ECC-D3F7-C44C-13DB-EC4C65570DAB}" dt="2025-04-17T10:51:56.726" v="59"/>
      <pc:docMkLst>
        <pc:docMk/>
      </pc:docMkLst>
      <pc:sldChg chg="modSp">
        <pc:chgData name="Guest User" userId="S::urn:spo:anon#bc25fc7711eb08f0d3a233e11314bc6a1f0530bb34c233d3b0e27e46975db9cd::" providerId="AD" clId="Web-{E6B89ECC-D3F7-C44C-13DB-EC4C65570DAB}" dt="2025-04-17T10:51:56.726" v="59"/>
        <pc:sldMkLst>
          <pc:docMk/>
          <pc:sldMk cId="1543771418" sldId="2467"/>
        </pc:sldMkLst>
        <pc:graphicFrameChg chg="mod modGraphic">
          <ac:chgData name="Guest User" userId="S::urn:spo:anon#bc25fc7711eb08f0d3a233e11314bc6a1f0530bb34c233d3b0e27e46975db9cd::" providerId="AD" clId="Web-{E6B89ECC-D3F7-C44C-13DB-EC4C65570DAB}" dt="2025-04-17T10:51:56.726" v="59"/>
          <ac:graphicFrameMkLst>
            <pc:docMk/>
            <pc:sldMk cId="1543771418" sldId="2467"/>
            <ac:graphicFrameMk id="12" creationId="{74CF6476-D2C3-2348-BEC7-148925E380DF}"/>
          </ac:graphicFrameMkLst>
        </pc:graphicFrameChg>
      </pc:sldChg>
    </pc:docChg>
  </pc:docChgLst>
  <pc:docChgLst>
    <pc:chgData name="Guest User" userId="S::urn:spo:anon#0aab28291098609b2877cec2b733761f7163a31c44dd5eadbd23e750b76999ef::" providerId="AD" clId="Web-{07AED5D6-ADD1-8D33-F3A0-273AEFAC470E}"/>
    <pc:docChg chg="modSld">
      <pc:chgData name="Guest User" userId="S::urn:spo:anon#0aab28291098609b2877cec2b733761f7163a31c44dd5eadbd23e750b76999ef::" providerId="AD" clId="Web-{07AED5D6-ADD1-8D33-F3A0-273AEFAC470E}" dt="2025-04-28T13:32:46.956" v="89"/>
      <pc:docMkLst>
        <pc:docMk/>
      </pc:docMkLst>
      <pc:sldChg chg="modSp">
        <pc:chgData name="Guest User" userId="S::urn:spo:anon#0aab28291098609b2877cec2b733761f7163a31c44dd5eadbd23e750b76999ef::" providerId="AD" clId="Web-{07AED5D6-ADD1-8D33-F3A0-273AEFAC470E}" dt="2025-04-27T22:54:53.492" v="85"/>
        <pc:sldMkLst>
          <pc:docMk/>
          <pc:sldMk cId="3110103477" sldId="2463"/>
        </pc:sldMkLst>
        <pc:graphicFrameChg chg="mod modGraphic">
          <ac:chgData name="Guest User" userId="S::urn:spo:anon#0aab28291098609b2877cec2b733761f7163a31c44dd5eadbd23e750b76999ef::" providerId="AD" clId="Web-{07AED5D6-ADD1-8D33-F3A0-273AEFAC470E}" dt="2025-04-27T22:54:53.492" v="85"/>
          <ac:graphicFrameMkLst>
            <pc:docMk/>
            <pc:sldMk cId="3110103477" sldId="2463"/>
            <ac:graphicFrameMk id="12" creationId="{74CF6476-D2C3-2348-BEC7-148925E380DF}"/>
          </ac:graphicFrameMkLst>
        </pc:graphicFrameChg>
      </pc:sldChg>
      <pc:sldChg chg="modSp">
        <pc:chgData name="Guest User" userId="S::urn:spo:anon#0aab28291098609b2877cec2b733761f7163a31c44dd5eadbd23e750b76999ef::" providerId="AD" clId="Web-{07AED5D6-ADD1-8D33-F3A0-273AEFAC470E}" dt="2025-04-28T13:32:46.956" v="89"/>
        <pc:sldMkLst>
          <pc:docMk/>
          <pc:sldMk cId="2521260324" sldId="2469"/>
        </pc:sldMkLst>
        <pc:graphicFrameChg chg="mod modGraphic">
          <ac:chgData name="Guest User" userId="S::urn:spo:anon#0aab28291098609b2877cec2b733761f7163a31c44dd5eadbd23e750b76999ef::" providerId="AD" clId="Web-{07AED5D6-ADD1-8D33-F3A0-273AEFAC470E}" dt="2025-04-28T13:32:46.956" v="89"/>
          <ac:graphicFrameMkLst>
            <pc:docMk/>
            <pc:sldMk cId="2521260324" sldId="2469"/>
            <ac:graphicFrameMk id="12" creationId="{74CF6476-D2C3-2348-BEC7-148925E380DF}"/>
          </ac:graphicFrameMkLst>
        </pc:graphicFrameChg>
      </pc:sldChg>
    </pc:docChg>
  </pc:docChgLst>
  <pc:docChgLst>
    <pc:chgData name="Guest User" userId="S::urn:spo:anon#bc25fc7711eb08f0d3a233e11314bc6a1f0530bb34c233d3b0e27e46975db9cd::" providerId="AD" clId="Web-{C36A9891-03B6-F094-EC01-018F0ECFA5EA}"/>
    <pc:docChg chg="modSld">
      <pc:chgData name="Guest User" userId="S::urn:spo:anon#bc25fc7711eb08f0d3a233e11314bc6a1f0530bb34c233d3b0e27e46975db9cd::" providerId="AD" clId="Web-{C36A9891-03B6-F094-EC01-018F0ECFA5EA}" dt="2025-04-15T11:12:18.848" v="567"/>
      <pc:docMkLst>
        <pc:docMk/>
      </pc:docMkLst>
      <pc:sldChg chg="modSp">
        <pc:chgData name="Guest User" userId="S::urn:spo:anon#bc25fc7711eb08f0d3a233e11314bc6a1f0530bb34c233d3b0e27e46975db9cd::" providerId="AD" clId="Web-{C36A9891-03B6-F094-EC01-018F0ECFA5EA}" dt="2025-04-14T08:35:58.557" v="149"/>
        <pc:sldMkLst>
          <pc:docMk/>
          <pc:sldMk cId="1877047662" sldId="2420"/>
        </pc:sldMkLst>
        <pc:graphicFrameChg chg="mod modGraphic">
          <ac:chgData name="Guest User" userId="S::urn:spo:anon#bc25fc7711eb08f0d3a233e11314bc6a1f0530bb34c233d3b0e27e46975db9cd::" providerId="AD" clId="Web-{C36A9891-03B6-F094-EC01-018F0ECFA5EA}" dt="2025-04-14T08:35:58.557" v="149"/>
          <ac:graphicFrameMkLst>
            <pc:docMk/>
            <pc:sldMk cId="1877047662" sldId="2420"/>
            <ac:graphicFrameMk id="18" creationId="{1F74CD5A-9F80-0549-8844-6BFF5ADE70C7}"/>
          </ac:graphicFrameMkLst>
        </pc:graphicFrameChg>
      </pc:sldChg>
      <pc:sldChg chg="modSp">
        <pc:chgData name="Guest User" userId="S::urn:spo:anon#bc25fc7711eb08f0d3a233e11314bc6a1f0530bb34c233d3b0e27e46975db9cd::" providerId="AD" clId="Web-{C36A9891-03B6-F094-EC01-018F0ECFA5EA}" dt="2025-04-15T11:12:18.848" v="567"/>
        <pc:sldMkLst>
          <pc:docMk/>
          <pc:sldMk cId="1543771418" sldId="2467"/>
        </pc:sldMkLst>
        <pc:graphicFrameChg chg="mod modGraphic">
          <ac:chgData name="Guest User" userId="S::urn:spo:anon#bc25fc7711eb08f0d3a233e11314bc6a1f0530bb34c233d3b0e27e46975db9cd::" providerId="AD" clId="Web-{C36A9891-03B6-F094-EC01-018F0ECFA5EA}" dt="2025-04-15T11:12:18.848" v="567"/>
          <ac:graphicFrameMkLst>
            <pc:docMk/>
            <pc:sldMk cId="1543771418" sldId="2467"/>
            <ac:graphicFrameMk id="12" creationId="{74CF6476-D2C3-2348-BEC7-148925E380DF}"/>
          </ac:graphicFrameMkLst>
        </pc:graphicFrameChg>
      </pc:sldChg>
      <pc:sldChg chg="modSp">
        <pc:chgData name="Guest User" userId="S::urn:spo:anon#bc25fc7711eb08f0d3a233e11314bc6a1f0530bb34c233d3b0e27e46975db9cd::" providerId="AD" clId="Web-{C36A9891-03B6-F094-EC01-018F0ECFA5EA}" dt="2025-04-14T08:36:37.511" v="279"/>
        <pc:sldMkLst>
          <pc:docMk/>
          <pc:sldMk cId="2521260324" sldId="2469"/>
        </pc:sldMkLst>
        <pc:graphicFrameChg chg="mod modGraphic">
          <ac:chgData name="Guest User" userId="S::urn:spo:anon#bc25fc7711eb08f0d3a233e11314bc6a1f0530bb34c233d3b0e27e46975db9cd::" providerId="AD" clId="Web-{C36A9891-03B6-F094-EC01-018F0ECFA5EA}" dt="2025-04-14T08:36:37.511" v="279"/>
          <ac:graphicFrameMkLst>
            <pc:docMk/>
            <pc:sldMk cId="2521260324" sldId="2469"/>
            <ac:graphicFrameMk id="12" creationId="{74CF6476-D2C3-2348-BEC7-148925E380DF}"/>
          </ac:graphicFrameMkLst>
        </pc:graphicFrameChg>
      </pc:sldChg>
    </pc:docChg>
  </pc:docChgLst>
  <pc:docChgLst>
    <pc:chgData name="Guest User" userId="S::urn:spo:anon#0aab28291098609b2877cec2b733761f7163a31c44dd5eadbd23e750b76999ef::" providerId="AD" clId="Web-{498D5B9D-1728-CD74-27C6-506EC87FDD8D}"/>
    <pc:docChg chg="modSld">
      <pc:chgData name="Guest User" userId="S::urn:spo:anon#0aab28291098609b2877cec2b733761f7163a31c44dd5eadbd23e750b76999ef::" providerId="AD" clId="Web-{498D5B9D-1728-CD74-27C6-506EC87FDD8D}" dt="2025-04-22T09:16:31.767" v="133"/>
      <pc:docMkLst>
        <pc:docMk/>
      </pc:docMkLst>
      <pc:sldChg chg="modSp">
        <pc:chgData name="Guest User" userId="S::urn:spo:anon#0aab28291098609b2877cec2b733761f7163a31c44dd5eadbd23e750b76999ef::" providerId="AD" clId="Web-{498D5B9D-1728-CD74-27C6-506EC87FDD8D}" dt="2025-04-22T09:16:31.767" v="133"/>
        <pc:sldMkLst>
          <pc:docMk/>
          <pc:sldMk cId="1543771418" sldId="2467"/>
        </pc:sldMkLst>
        <pc:graphicFrameChg chg="mod modGraphic">
          <ac:chgData name="Guest User" userId="S::urn:spo:anon#0aab28291098609b2877cec2b733761f7163a31c44dd5eadbd23e750b76999ef::" providerId="AD" clId="Web-{498D5B9D-1728-CD74-27C6-506EC87FDD8D}" dt="2025-04-22T09:16:31.767" v="133"/>
          <ac:graphicFrameMkLst>
            <pc:docMk/>
            <pc:sldMk cId="1543771418" sldId="2467"/>
            <ac:graphicFrameMk id="12" creationId="{74CF6476-D2C3-2348-BEC7-148925E380DF}"/>
          </ac:graphicFrameMkLst>
        </pc:graphicFrameChg>
      </pc:sldChg>
    </pc:docChg>
  </pc:docChgLst>
  <pc:docChgLst>
    <pc:chgData name="Guest User" userId="S::urn:spo:anon#0aab28291098609b2877cec2b733761f7163a31c44dd5eadbd23e750b76999ef::" providerId="AD" clId="Web-{F792895E-0273-9DBF-947C-B8052B605970}"/>
    <pc:docChg chg="modSld">
      <pc:chgData name="Guest User" userId="S::urn:spo:anon#0aab28291098609b2877cec2b733761f7163a31c44dd5eadbd23e750b76999ef::" providerId="AD" clId="Web-{F792895E-0273-9DBF-947C-B8052B605970}" dt="2025-04-25T23:21:54.024" v="318"/>
      <pc:docMkLst>
        <pc:docMk/>
      </pc:docMkLst>
      <pc:sldChg chg="modSp">
        <pc:chgData name="Guest User" userId="S::urn:spo:anon#0aab28291098609b2877cec2b733761f7163a31c44dd5eadbd23e750b76999ef::" providerId="AD" clId="Web-{F792895E-0273-9DBF-947C-B8052B605970}" dt="2025-04-25T23:21:54.024" v="318"/>
        <pc:sldMkLst>
          <pc:docMk/>
          <pc:sldMk cId="1543771418" sldId="2467"/>
        </pc:sldMkLst>
        <pc:graphicFrameChg chg="mod modGraphic">
          <ac:chgData name="Guest User" userId="S::urn:spo:anon#0aab28291098609b2877cec2b733761f7163a31c44dd5eadbd23e750b76999ef::" providerId="AD" clId="Web-{F792895E-0273-9DBF-947C-B8052B605970}" dt="2025-04-25T23:21:54.024" v="318"/>
          <ac:graphicFrameMkLst>
            <pc:docMk/>
            <pc:sldMk cId="1543771418" sldId="2467"/>
            <ac:graphicFrameMk id="12" creationId="{74CF6476-D2C3-2348-BEC7-148925E380DF}"/>
          </ac:graphicFrameMkLst>
        </pc:graphicFrameChg>
      </pc:sldChg>
      <pc:sldChg chg="modSp">
        <pc:chgData name="Guest User" userId="S::urn:spo:anon#0aab28291098609b2877cec2b733761f7163a31c44dd5eadbd23e750b76999ef::" providerId="AD" clId="Web-{F792895E-0273-9DBF-947C-B8052B605970}" dt="2025-04-25T08:21:49.030" v="121"/>
        <pc:sldMkLst>
          <pc:docMk/>
          <pc:sldMk cId="662839316" sldId="2468"/>
        </pc:sldMkLst>
        <pc:graphicFrameChg chg="mod modGraphic">
          <ac:chgData name="Guest User" userId="S::urn:spo:anon#0aab28291098609b2877cec2b733761f7163a31c44dd5eadbd23e750b76999ef::" providerId="AD" clId="Web-{F792895E-0273-9DBF-947C-B8052B605970}" dt="2025-04-25T08:21:49.030" v="121"/>
          <ac:graphicFrameMkLst>
            <pc:docMk/>
            <pc:sldMk cId="662839316" sldId="2468"/>
            <ac:graphicFrameMk id="12" creationId="{74CF6476-D2C3-2348-BEC7-148925E380DF}"/>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pPr>
              <a:defRPr/>
            </a:pPr>
            <a:endParaRPr lang="en-US">
              <a:latin typeface="Arial" panose="020B0604020202020204" pitchFamily="34" charset="0"/>
            </a:endParaRPr>
          </a:p>
        </p:txBody>
      </p:sp>
      <p:sp>
        <p:nvSpPr>
          <p:cNvPr id="3" name="Date Placeholder 2"/>
          <p:cNvSpPr>
            <a:spLocks noGrp="1"/>
          </p:cNvSpPr>
          <p:nvPr>
            <p:ph type="dt" sz="quarter" idx="1"/>
          </p:nvPr>
        </p:nvSpPr>
        <p:spPr>
          <a:xfrm>
            <a:off x="3939466" y="0"/>
            <a:ext cx="3013763" cy="463647"/>
          </a:xfrm>
          <a:prstGeom prst="rect">
            <a:avLst/>
          </a:prstGeom>
        </p:spPr>
        <p:txBody>
          <a:bodyPr vert="horz" lIns="92546" tIns="46273" rIns="92546" bIns="46273" rtlCol="0"/>
          <a:lstStyle>
            <a:lvl1pPr algn="r">
              <a:defRPr sz="1200"/>
            </a:lvl1pPr>
          </a:lstStyle>
          <a:p>
            <a:pPr>
              <a:defRPr/>
            </a:pPr>
            <a:fld id="{96457D4A-3A70-4343-9758-775435F7A22E}" type="datetimeFigureOut">
              <a:rPr lang="en-US">
                <a:latin typeface="Arial" panose="020B0604020202020204" pitchFamily="34" charset="0"/>
              </a:rPr>
              <a:pPr>
                <a:defRPr/>
              </a:pPr>
              <a:t>4/28/2025</a:t>
            </a:fld>
            <a:endParaRPr lang="en-US">
              <a:latin typeface="Arial" panose="020B0604020202020204" pitchFamily="34" charset="0"/>
            </a:endParaRPr>
          </a:p>
        </p:txBody>
      </p:sp>
      <p:sp>
        <p:nvSpPr>
          <p:cNvPr id="4" name="Footer Placeholder 3"/>
          <p:cNvSpPr>
            <a:spLocks noGrp="1"/>
          </p:cNvSpPr>
          <p:nvPr>
            <p:ph type="ftr" sz="quarter" idx="2"/>
          </p:nvPr>
        </p:nvSpPr>
        <p:spPr>
          <a:xfrm>
            <a:off x="0" y="8777193"/>
            <a:ext cx="3013763" cy="463646"/>
          </a:xfrm>
          <a:prstGeom prst="rect">
            <a:avLst/>
          </a:prstGeom>
        </p:spPr>
        <p:txBody>
          <a:bodyPr vert="horz" lIns="92546" tIns="46273" rIns="92546" bIns="46273" rtlCol="0" anchor="b"/>
          <a:lstStyle>
            <a:lvl1pPr algn="l">
              <a:defRPr sz="1200"/>
            </a:lvl1pPr>
          </a:lstStyle>
          <a:p>
            <a:pPr>
              <a:defRPr/>
            </a:pPr>
            <a:endParaRPr lang="en-US">
              <a:latin typeface="Arial" panose="020B0604020202020204" pitchFamily="34" charset="0"/>
            </a:endParaRPr>
          </a:p>
        </p:txBody>
      </p:sp>
      <p:sp>
        <p:nvSpPr>
          <p:cNvPr id="5" name="Slide Number Placeholder 4"/>
          <p:cNvSpPr>
            <a:spLocks noGrp="1"/>
          </p:cNvSpPr>
          <p:nvPr>
            <p:ph type="sldNum" sz="quarter" idx="3"/>
          </p:nvPr>
        </p:nvSpPr>
        <p:spPr>
          <a:xfrm>
            <a:off x="3939466" y="8777193"/>
            <a:ext cx="3013763" cy="463646"/>
          </a:xfrm>
          <a:prstGeom prst="rect">
            <a:avLst/>
          </a:prstGeom>
        </p:spPr>
        <p:txBody>
          <a:bodyPr vert="horz" lIns="92546" tIns="46273" rIns="92546" bIns="46273" rtlCol="0" anchor="b"/>
          <a:lstStyle>
            <a:lvl1pPr algn="r">
              <a:defRPr sz="1200"/>
            </a:lvl1pPr>
          </a:lstStyle>
          <a:p>
            <a:pPr>
              <a:defRPr/>
            </a:pPr>
            <a:fld id="{C8683F37-8904-4846-9242-6A858545E9E1}" type="slidenum">
              <a:rPr lang="en-US">
                <a:latin typeface="Arial" panose="020B0604020202020204" pitchFamily="34" charset="0"/>
              </a:rPr>
              <a:pPr>
                <a:defRPr/>
              </a:pPr>
              <a:t>‹#›</a:t>
            </a:fld>
            <a:endParaRPr lang="en-US">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b="0" i="0">
                <a:latin typeface="Arial" panose="020B0604020202020204" pitchFamily="34" charset="0"/>
              </a:defRPr>
            </a:lvl1pPr>
          </a:lstStyle>
          <a:p>
            <a:pPr>
              <a:defRPr/>
            </a:pPr>
            <a:endParaRPr lang="en-US"/>
          </a:p>
        </p:txBody>
      </p:sp>
      <p:sp>
        <p:nvSpPr>
          <p:cNvPr id="3" name="Date Placeholder 2"/>
          <p:cNvSpPr>
            <a:spLocks noGrp="1"/>
          </p:cNvSpPr>
          <p:nvPr>
            <p:ph type="dt" idx="1"/>
          </p:nvPr>
        </p:nvSpPr>
        <p:spPr>
          <a:xfrm>
            <a:off x="3939466" y="0"/>
            <a:ext cx="3013763" cy="463647"/>
          </a:xfrm>
          <a:prstGeom prst="rect">
            <a:avLst/>
          </a:prstGeom>
        </p:spPr>
        <p:txBody>
          <a:bodyPr vert="horz" lIns="92546" tIns="46273" rIns="92546" bIns="46273" rtlCol="0"/>
          <a:lstStyle>
            <a:lvl1pPr algn="r">
              <a:defRPr sz="1200" b="0" i="0">
                <a:latin typeface="Arial" panose="020B0604020202020204" pitchFamily="34" charset="0"/>
              </a:defRPr>
            </a:lvl1pPr>
          </a:lstStyle>
          <a:p>
            <a:pPr>
              <a:defRPr/>
            </a:pPr>
            <a:fld id="{754FBBB8-96E2-494F-B716-7974840A6007}" type="datetimeFigureOut">
              <a:rPr lang="en-US" smtClean="0"/>
              <a:pPr>
                <a:defRPr/>
              </a:pPr>
              <a:t>4/28/2025</a:t>
            </a:fld>
            <a:endParaRPr lang="en-US"/>
          </a:p>
        </p:txBody>
      </p:sp>
      <p:sp>
        <p:nvSpPr>
          <p:cNvPr id="4" name="Slide Image Placeholder 3"/>
          <p:cNvSpPr>
            <a:spLocks noGrp="1" noRot="1" noChangeAspect="1"/>
          </p:cNvSpPr>
          <p:nvPr>
            <p:ph type="sldImg" idx="2"/>
          </p:nvPr>
        </p:nvSpPr>
        <p:spPr>
          <a:xfrm>
            <a:off x="1274763" y="1155700"/>
            <a:ext cx="4405312" cy="3117850"/>
          </a:xfrm>
          <a:prstGeom prst="rect">
            <a:avLst/>
          </a:prstGeom>
          <a:noFill/>
          <a:ln w="12700">
            <a:solidFill>
              <a:prstClr val="black"/>
            </a:solidFill>
          </a:ln>
        </p:spPr>
        <p:txBody>
          <a:bodyPr vert="horz" lIns="92546" tIns="46273" rIns="92546" bIns="46273" rtlCol="0" anchor="ctr"/>
          <a:lstStyle/>
          <a:p>
            <a:pPr lvl="0"/>
            <a:endParaRPr lang="en-US" noProof="0"/>
          </a:p>
        </p:txBody>
      </p:sp>
      <p:sp>
        <p:nvSpPr>
          <p:cNvPr id="5" name="Notes Placeholder 4"/>
          <p:cNvSpPr>
            <a:spLocks noGrp="1"/>
          </p:cNvSpPr>
          <p:nvPr>
            <p:ph type="body" sz="quarter" idx="3"/>
          </p:nvPr>
        </p:nvSpPr>
        <p:spPr>
          <a:xfrm>
            <a:off x="695484" y="4447153"/>
            <a:ext cx="5563870" cy="3638580"/>
          </a:xfrm>
          <a:prstGeom prst="rect">
            <a:avLst/>
          </a:prstGeom>
        </p:spPr>
        <p:txBody>
          <a:bodyPr vert="horz" lIns="92546" tIns="46273" rIns="92546" bIns="46273"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7193"/>
            <a:ext cx="3013763" cy="463646"/>
          </a:xfrm>
          <a:prstGeom prst="rect">
            <a:avLst/>
          </a:prstGeom>
        </p:spPr>
        <p:txBody>
          <a:bodyPr vert="horz" lIns="92546" tIns="46273" rIns="92546" bIns="46273" rtlCol="0" anchor="b"/>
          <a:lstStyle>
            <a:lvl1pPr algn="l">
              <a:defRPr sz="1200" b="0" i="0">
                <a:latin typeface="Arial" panose="020B0604020202020204" pitchFamily="34" charset="0"/>
              </a:defRPr>
            </a:lvl1pPr>
          </a:lstStyle>
          <a:p>
            <a:pPr>
              <a:defRPr/>
            </a:pPr>
            <a:endParaRPr lang="en-US"/>
          </a:p>
        </p:txBody>
      </p:sp>
      <p:sp>
        <p:nvSpPr>
          <p:cNvPr id="7" name="Slide Number Placeholder 6"/>
          <p:cNvSpPr>
            <a:spLocks noGrp="1"/>
          </p:cNvSpPr>
          <p:nvPr>
            <p:ph type="sldNum" sz="quarter" idx="5"/>
          </p:nvPr>
        </p:nvSpPr>
        <p:spPr>
          <a:xfrm>
            <a:off x="3939466" y="8777193"/>
            <a:ext cx="3013763" cy="463646"/>
          </a:xfrm>
          <a:prstGeom prst="rect">
            <a:avLst/>
          </a:prstGeom>
        </p:spPr>
        <p:txBody>
          <a:bodyPr vert="horz" lIns="92546" tIns="46273" rIns="92546" bIns="46273" rtlCol="0" anchor="b"/>
          <a:lstStyle>
            <a:lvl1pPr algn="r">
              <a:defRPr sz="1200" b="0" i="0">
                <a:latin typeface="Arial" panose="020B0604020202020204" pitchFamily="34" charset="0"/>
              </a:defRPr>
            </a:lvl1pPr>
          </a:lstStyle>
          <a:p>
            <a:pPr>
              <a:defRPr/>
            </a:pPr>
            <a:fld id="{D1F6A1A1-8B93-49C9-AFC7-D0DF50B75203}" type="slidenum">
              <a:rPr lang="en-US" smtClean="0"/>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200">
                <a:solidFill>
                  <a:schemeClr val="tx1"/>
                </a:solidFill>
                <a:latin typeface="+mn-lt"/>
                <a:ea typeface="+mn-lt"/>
                <a:cs typeface="+mn-lt"/>
              </a:rPr>
              <a:t>Describe the type of people you need in order to achieve your dream. What behaviors/values do you need to adopt?</a:t>
            </a:r>
          </a:p>
          <a:p>
            <a:pPr marL="0" indent="0" algn="l"/>
            <a:r>
              <a:rPr lang="en-US" sz="1200">
                <a:solidFill>
                  <a:schemeClr val="tx1"/>
                </a:solidFill>
                <a:latin typeface="+mn-lt"/>
                <a:ea typeface="+mn-lt"/>
                <a:cs typeface="+mn-lt"/>
              </a:rPr>
              <a:t>• List the current values from the Dream Workshop</a:t>
            </a:r>
          </a:p>
          <a:p>
            <a:pPr marL="0" indent="0" algn="l"/>
            <a:r>
              <a:rPr lang="en-US" sz="1200">
                <a:solidFill>
                  <a:schemeClr val="tx1"/>
                </a:solidFill>
                <a:latin typeface="+mn-lt"/>
                <a:ea typeface="+mn-lt"/>
                <a:cs typeface="+mn-lt"/>
              </a:rPr>
              <a:t>• List the gap between current and needed values</a:t>
            </a:r>
          </a:p>
          <a:p>
            <a:pPr marL="0" indent="0" algn="l"/>
            <a:endParaRPr lang="en-US" sz="1200">
              <a:solidFill>
                <a:schemeClr val="tx1"/>
              </a:solidFill>
              <a:latin typeface="+mn-lt"/>
              <a:ea typeface="+mn-lt"/>
              <a:cs typeface="+mn-lt"/>
            </a:endParaRPr>
          </a:p>
          <a:p>
            <a:pPr marL="0" indent="0" algn="l"/>
            <a:r>
              <a:rPr lang="en-US" sz="1200">
                <a:solidFill>
                  <a:schemeClr val="tx1"/>
                </a:solidFill>
                <a:latin typeface="+mn-lt"/>
                <a:ea typeface="+mn-lt"/>
                <a:cs typeface="+mn-lt"/>
              </a:rPr>
              <a:t>Your Dream</a:t>
            </a:r>
          </a:p>
          <a:p>
            <a:pPr marL="0" indent="0" algn="l"/>
            <a:r>
              <a:rPr lang="en-US" sz="1200">
                <a:solidFill>
                  <a:schemeClr val="tx1"/>
                </a:solidFill>
                <a:latin typeface="+mn-lt"/>
                <a:ea typeface="+mn-lt"/>
                <a:cs typeface="+mn-lt"/>
              </a:rPr>
              <a:t>• Who do you need to become?</a:t>
            </a:r>
          </a:p>
          <a:p>
            <a:pPr marL="0" indent="0" algn="l"/>
            <a:r>
              <a:rPr lang="en-US" sz="1200">
                <a:solidFill>
                  <a:schemeClr val="tx1"/>
                </a:solidFill>
                <a:latin typeface="+mn-lt"/>
                <a:ea typeface="+mn-lt"/>
                <a:cs typeface="+mn-lt"/>
              </a:rPr>
              <a:t>• Who are you currently?</a:t>
            </a:r>
          </a:p>
          <a:p>
            <a:pPr marL="0" indent="0" algn="l"/>
            <a:r>
              <a:rPr lang="en-US" sz="1200">
                <a:solidFill>
                  <a:schemeClr val="tx1"/>
                </a:solidFill>
                <a:latin typeface="+mn-lt"/>
                <a:ea typeface="+mn-lt"/>
                <a:cs typeface="+mn-lt"/>
              </a:rPr>
              <a:t>• What’s the gap?</a:t>
            </a:r>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1</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4680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200">
                <a:solidFill>
                  <a:schemeClr val="tx1"/>
                </a:solidFill>
                <a:latin typeface="+mn-lt"/>
                <a:ea typeface="+mn-lt"/>
                <a:cs typeface="+mn-lt"/>
              </a:rPr>
              <a:t>Once you are clear on the dream and the values that you need to abide by, it is time to describe what specific behaviors you want to see or don’t want to see throughout the organization. </a:t>
            </a:r>
          </a:p>
          <a:p>
            <a:pPr marL="0" indent="0" algn="l"/>
            <a:endParaRPr lang="en-US" sz="1200">
              <a:solidFill>
                <a:schemeClr val="tx1"/>
              </a:solidFill>
              <a:latin typeface="+mn-lt"/>
              <a:ea typeface="+mn-lt"/>
              <a:cs typeface="+mn-lt"/>
            </a:endParaRPr>
          </a:p>
          <a:p>
            <a:pPr marL="0" indent="0" algn="l"/>
            <a:r>
              <a:rPr lang="en-US" sz="1200">
                <a:solidFill>
                  <a:schemeClr val="tx1"/>
                </a:solidFill>
                <a:latin typeface="+mn-lt"/>
                <a:ea typeface="+mn-lt"/>
                <a:cs typeface="+mn-lt"/>
              </a:rPr>
              <a:t>This tool will help you prioritize the top five behaviors the company will support and those it never will.</a:t>
            </a:r>
          </a:p>
          <a:p>
            <a:pPr marL="0" indent="0" algn="l"/>
            <a:endParaRPr lang="en-US" sz="1600" b="1">
              <a:solidFill>
                <a:schemeClr val="tx1"/>
              </a:solidFill>
              <a:latin typeface="+mn-lt"/>
              <a:ea typeface="+mn-lt"/>
              <a:cs typeface="+mn-lt"/>
            </a:endParaRPr>
          </a:p>
          <a:p>
            <a:pPr marL="0" indent="0" algn="l"/>
            <a:r>
              <a:rPr lang="en-US" sz="1600" b="1">
                <a:solidFill>
                  <a:schemeClr val="tx1"/>
                </a:solidFill>
                <a:latin typeface="+mn-lt"/>
                <a:ea typeface="+mn-lt"/>
                <a:cs typeface="+mn-lt"/>
              </a:rPr>
              <a:t>How</a:t>
            </a:r>
            <a:endParaRPr lang="en-US" sz="1200" b="1">
              <a:solidFill>
                <a:schemeClr val="tx1"/>
              </a:solidFill>
              <a:latin typeface="+mn-lt"/>
              <a:ea typeface="+mn-lt"/>
              <a:cs typeface="+mn-lt"/>
            </a:endParaRPr>
          </a:p>
          <a:p>
            <a:pPr marL="0" indent="0" algn="l"/>
            <a:endParaRPr lang="en-US" sz="1200">
              <a:solidFill>
                <a:schemeClr val="tx1"/>
              </a:solidFill>
              <a:latin typeface="+mn-lt"/>
              <a:ea typeface="+mn-lt"/>
              <a:cs typeface="+mn-lt"/>
            </a:endParaRPr>
          </a:p>
          <a:p>
            <a:pPr marL="0" indent="0" algn="l"/>
            <a:r>
              <a:rPr lang="en-US" sz="1200">
                <a:solidFill>
                  <a:schemeClr val="tx1"/>
                </a:solidFill>
                <a:latin typeface="+mn-lt"/>
                <a:ea typeface="+mn-lt"/>
                <a:cs typeface="+mn-lt"/>
              </a:rPr>
              <a:t>• List your new five values from the previous exercise</a:t>
            </a:r>
          </a:p>
          <a:p>
            <a:pPr marL="0" indent="0" algn="l"/>
            <a:r>
              <a:rPr lang="en-US" sz="1200">
                <a:solidFill>
                  <a:schemeClr val="tx1"/>
                </a:solidFill>
                <a:latin typeface="+mn-lt"/>
                <a:ea typeface="+mn-lt"/>
                <a:cs typeface="+mn-lt"/>
              </a:rPr>
              <a:t>• List potential cool behaviors associated with each value</a:t>
            </a:r>
          </a:p>
          <a:p>
            <a:pPr marL="0" indent="0" algn="l"/>
            <a:r>
              <a:rPr lang="en-US" sz="1200">
                <a:solidFill>
                  <a:schemeClr val="tx1"/>
                </a:solidFill>
                <a:latin typeface="+mn-lt"/>
                <a:ea typeface="+mn-lt"/>
                <a:cs typeface="+mn-lt"/>
              </a:rPr>
              <a:t>• List potential not-cool behaviors associated with each value</a:t>
            </a:r>
          </a:p>
          <a:p>
            <a:pPr marL="0" indent="0" algn="l"/>
            <a:r>
              <a:rPr lang="en-US" sz="1200">
                <a:solidFill>
                  <a:schemeClr val="tx1"/>
                </a:solidFill>
                <a:latin typeface="+mn-lt"/>
                <a:ea typeface="+mn-lt"/>
                <a:cs typeface="+mn-lt"/>
              </a:rPr>
              <a:t>• Prioritize the top 5 behaviors the company will support</a:t>
            </a:r>
          </a:p>
          <a:p>
            <a:pPr marL="0" indent="0" algn="l"/>
            <a:r>
              <a:rPr lang="en-US" sz="1200">
                <a:solidFill>
                  <a:schemeClr val="tx1"/>
                </a:solidFill>
                <a:latin typeface="+mn-lt"/>
                <a:ea typeface="+mn-lt"/>
                <a:cs typeface="+mn-lt"/>
              </a:rPr>
              <a:t>• List the top 5 behaviors the company will never support</a:t>
            </a:r>
          </a:p>
          <a:p>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2</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9767520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200">
                <a:solidFill>
                  <a:schemeClr val="tx1"/>
                </a:solidFill>
                <a:latin typeface="+mn-lt"/>
                <a:ea typeface="+mn-lt"/>
                <a:cs typeface="+mn-lt"/>
              </a:rPr>
              <a:t>Once you are clear on the dream and the values that you need to abide by, it is time to describe what specific behaviors you want to see or don’t want to see throughout the organization. </a:t>
            </a:r>
          </a:p>
          <a:p>
            <a:pPr marL="0" indent="0" algn="l"/>
            <a:endParaRPr lang="en-US" sz="1200">
              <a:solidFill>
                <a:schemeClr val="tx1"/>
              </a:solidFill>
              <a:latin typeface="+mn-lt"/>
              <a:ea typeface="+mn-lt"/>
              <a:cs typeface="+mn-lt"/>
            </a:endParaRPr>
          </a:p>
          <a:p>
            <a:pPr marL="0" indent="0" algn="l"/>
            <a:r>
              <a:rPr lang="en-US" sz="1200">
                <a:solidFill>
                  <a:schemeClr val="tx1"/>
                </a:solidFill>
                <a:latin typeface="+mn-lt"/>
                <a:ea typeface="+mn-lt"/>
                <a:cs typeface="+mn-lt"/>
              </a:rPr>
              <a:t>This tool will help you prioritize the top five behaviors the company will support and those it never will.</a:t>
            </a:r>
          </a:p>
          <a:p>
            <a:pPr marL="0" indent="0" algn="l"/>
            <a:endParaRPr lang="en-US" sz="1600" b="1">
              <a:solidFill>
                <a:schemeClr val="tx1"/>
              </a:solidFill>
              <a:latin typeface="+mn-lt"/>
              <a:ea typeface="+mn-lt"/>
              <a:cs typeface="+mn-lt"/>
            </a:endParaRPr>
          </a:p>
          <a:p>
            <a:pPr marL="0" indent="0" algn="l"/>
            <a:r>
              <a:rPr lang="en-US" sz="1600" b="1">
                <a:solidFill>
                  <a:schemeClr val="tx1"/>
                </a:solidFill>
                <a:latin typeface="+mn-lt"/>
                <a:ea typeface="+mn-lt"/>
                <a:cs typeface="+mn-lt"/>
              </a:rPr>
              <a:t>How</a:t>
            </a:r>
            <a:endParaRPr lang="en-US" sz="1200" b="1">
              <a:solidFill>
                <a:schemeClr val="tx1"/>
              </a:solidFill>
              <a:latin typeface="+mn-lt"/>
              <a:ea typeface="+mn-lt"/>
              <a:cs typeface="+mn-lt"/>
            </a:endParaRPr>
          </a:p>
          <a:p>
            <a:pPr marL="0" indent="0" algn="l"/>
            <a:endParaRPr lang="en-US" sz="1200">
              <a:solidFill>
                <a:schemeClr val="tx1"/>
              </a:solidFill>
              <a:latin typeface="+mn-lt"/>
              <a:ea typeface="+mn-lt"/>
              <a:cs typeface="+mn-lt"/>
            </a:endParaRPr>
          </a:p>
          <a:p>
            <a:pPr marL="0" indent="0" algn="l"/>
            <a:r>
              <a:rPr lang="en-US" sz="1200">
                <a:solidFill>
                  <a:schemeClr val="tx1"/>
                </a:solidFill>
                <a:latin typeface="+mn-lt"/>
                <a:ea typeface="+mn-lt"/>
                <a:cs typeface="+mn-lt"/>
              </a:rPr>
              <a:t>• List your new five values from the previous exercise</a:t>
            </a:r>
          </a:p>
          <a:p>
            <a:pPr marL="0" indent="0" algn="l"/>
            <a:r>
              <a:rPr lang="en-US" sz="1200">
                <a:solidFill>
                  <a:schemeClr val="tx1"/>
                </a:solidFill>
                <a:latin typeface="+mn-lt"/>
                <a:ea typeface="+mn-lt"/>
                <a:cs typeface="+mn-lt"/>
              </a:rPr>
              <a:t>• List potential cool behaviors associated with each value</a:t>
            </a:r>
          </a:p>
          <a:p>
            <a:pPr marL="0" indent="0" algn="l"/>
            <a:r>
              <a:rPr lang="en-US" sz="1200">
                <a:solidFill>
                  <a:schemeClr val="tx1"/>
                </a:solidFill>
                <a:latin typeface="+mn-lt"/>
                <a:ea typeface="+mn-lt"/>
                <a:cs typeface="+mn-lt"/>
              </a:rPr>
              <a:t>• List potential not-cool behaviors associated with each value</a:t>
            </a:r>
          </a:p>
          <a:p>
            <a:pPr marL="0" indent="0" algn="l"/>
            <a:r>
              <a:rPr lang="en-US" sz="1200">
                <a:solidFill>
                  <a:schemeClr val="tx1"/>
                </a:solidFill>
                <a:latin typeface="+mn-lt"/>
                <a:ea typeface="+mn-lt"/>
                <a:cs typeface="+mn-lt"/>
              </a:rPr>
              <a:t>• Prioritize the top 5 behaviors the company will support</a:t>
            </a:r>
          </a:p>
          <a:p>
            <a:pPr marL="0" indent="0" algn="l"/>
            <a:r>
              <a:rPr lang="en-US" sz="1200">
                <a:solidFill>
                  <a:schemeClr val="tx1"/>
                </a:solidFill>
                <a:latin typeface="+mn-lt"/>
                <a:ea typeface="+mn-lt"/>
                <a:cs typeface="+mn-lt"/>
              </a:rPr>
              <a:t>• List the top 5 behaviors the company will never support</a:t>
            </a:r>
          </a:p>
          <a:p>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3</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7494814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200">
                <a:solidFill>
                  <a:schemeClr val="tx1"/>
                </a:solidFill>
                <a:latin typeface="+mn-lt"/>
                <a:ea typeface="+mn-lt"/>
                <a:cs typeface="+mn-lt"/>
              </a:rPr>
              <a:t>The biggest mistake that most companies make is recruiting for skills. If you want like-minded people working together, search for values that fit instead. </a:t>
            </a:r>
          </a:p>
          <a:p>
            <a:pPr marL="0" indent="0" algn="l"/>
            <a:endParaRPr lang="en-US" sz="1200">
              <a:solidFill>
                <a:schemeClr val="tx1"/>
              </a:solidFill>
              <a:latin typeface="+mn-lt"/>
              <a:ea typeface="+mn-lt"/>
              <a:cs typeface="+mn-lt"/>
            </a:endParaRPr>
          </a:p>
          <a:p>
            <a:pPr marL="0" indent="0" algn="l"/>
            <a:r>
              <a:rPr lang="en-US" sz="1200">
                <a:solidFill>
                  <a:schemeClr val="tx1"/>
                </a:solidFill>
                <a:latin typeface="+mn-lt"/>
                <a:ea typeface="+mn-lt"/>
                <a:cs typeface="+mn-lt"/>
              </a:rPr>
              <a:t>Create a list of questions you will use to determine this fit right at the recruitment stage. </a:t>
            </a:r>
          </a:p>
          <a:p>
            <a:pPr marL="0" indent="0" algn="l"/>
            <a:endParaRPr lang="en-US" sz="1200">
              <a:solidFill>
                <a:schemeClr val="tx1"/>
              </a:solidFill>
              <a:latin typeface="+mn-lt"/>
              <a:ea typeface="+mn-lt"/>
              <a:cs typeface="+mn-lt"/>
            </a:endParaRPr>
          </a:p>
          <a:p>
            <a:pPr marL="0" indent="0" algn="l"/>
            <a:r>
              <a:rPr lang="en-US" sz="1200">
                <a:solidFill>
                  <a:schemeClr val="tx1"/>
                </a:solidFill>
                <a:latin typeface="+mn-lt"/>
                <a:ea typeface="+mn-lt"/>
                <a:cs typeface="+mn-lt"/>
              </a:rPr>
              <a:t>Make sure to be specific and avoid hypothetical questions (ex. How would you deal with a conflict with a co-worker?) as they give the candidate a chance to spin the yarn. </a:t>
            </a:r>
          </a:p>
          <a:p>
            <a:pPr marL="0" indent="0" algn="l"/>
            <a:endParaRPr lang="en-US" sz="1200">
              <a:solidFill>
                <a:schemeClr val="tx1"/>
              </a:solidFill>
              <a:latin typeface="+mn-lt"/>
              <a:ea typeface="+mn-lt"/>
              <a:cs typeface="+mn-lt"/>
            </a:endParaRPr>
          </a:p>
          <a:p>
            <a:pPr marL="0" indent="0" algn="l"/>
            <a:endParaRPr lang="en-US" sz="1200">
              <a:solidFill>
                <a:schemeClr val="tx1"/>
              </a:solidFill>
              <a:latin typeface="+mn-lt"/>
              <a:ea typeface="+mn-lt"/>
              <a:cs typeface="+mn-lt"/>
            </a:endParaRPr>
          </a:p>
          <a:p>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4</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0574604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a:solidFill>
                  <a:schemeClr val="tx1"/>
                </a:solidFill>
                <a:latin typeface="+mn-lt"/>
                <a:ea typeface="+mn-lt"/>
                <a:cs typeface="+mn-lt"/>
              </a:rPr>
              <a:t>Decide together on a list of actions, a time frame, and each item's owners.</a:t>
            </a:r>
          </a:p>
          <a:p>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5</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1995594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800">
                <a:solidFill>
                  <a:schemeClr val="tx1"/>
                </a:solidFill>
                <a:latin typeface="+mn-lt"/>
                <a:ea typeface="+mn-lt"/>
                <a:cs typeface="+mn-lt"/>
              </a:rPr>
              <a:t>Brainstorm and list all the typical behaviors and ways of doing things in your company.</a:t>
            </a:r>
          </a:p>
          <a:p>
            <a:pPr marL="0" indent="0" algn="l"/>
            <a:endParaRPr lang="en-US" sz="1800">
              <a:solidFill>
                <a:schemeClr val="tx1"/>
              </a:solidFill>
              <a:latin typeface="+mn-lt"/>
              <a:ea typeface="+mn-lt"/>
              <a:cs typeface="+mn-lt"/>
            </a:endParaRPr>
          </a:p>
          <a:p>
            <a:pPr marL="0" indent="0" algn="l"/>
            <a:r>
              <a:rPr lang="en-US" sz="1800">
                <a:solidFill>
                  <a:schemeClr val="tx1"/>
                </a:solidFill>
                <a:latin typeface="+mn-lt"/>
                <a:ea typeface="+mn-lt"/>
                <a:cs typeface="+mn-lt"/>
              </a:rPr>
              <a:t>Identify the value that represents each of them.</a:t>
            </a:r>
          </a:p>
          <a:p>
            <a:pPr marL="0" indent="0" algn="l"/>
            <a:endParaRPr lang="en-US" sz="1800">
              <a:solidFill>
                <a:schemeClr val="tx1"/>
              </a:solidFill>
              <a:latin typeface="+mn-lt"/>
              <a:ea typeface="+mn-lt"/>
              <a:cs typeface="+mn-lt"/>
            </a:endParaRPr>
          </a:p>
          <a:p>
            <a:pPr marL="0" indent="0" algn="l"/>
            <a:r>
              <a:rPr lang="en-US" sz="1800">
                <a:solidFill>
                  <a:schemeClr val="tx1"/>
                </a:solidFill>
                <a:latin typeface="+mn-lt"/>
                <a:ea typeface="+mn-lt"/>
                <a:cs typeface="+mn-lt"/>
              </a:rPr>
              <a:t>Prioritize the 5 most observed behaviors.</a:t>
            </a:r>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6</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456290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313665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815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2540665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0188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658940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96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386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4104472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241675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645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9815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2812685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162119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433518930"/>
      </p:ext>
    </p:extLst>
  </p:cSld>
  <p:clrMap bg1="lt1" tx1="dk1" bg2="lt2" tx2="dk2" accent1="accent1" accent2="accent2" accent3="accent3" accent4="accent4" accent5="accent5" accent6="accent6" hlink="hlink" folHlink="folHlink"/>
  <p:sldLayoutIdLst>
    <p:sldLayoutId id="2147484478" r:id="rId1"/>
    <p:sldLayoutId id="2147484479" r:id="rId2"/>
    <p:sldLayoutId id="2147484480" r:id="rId3"/>
    <p:sldLayoutId id="2147484481" r:id="rId4"/>
    <p:sldLayoutId id="2147484482" r:id="rId5"/>
    <p:sldLayoutId id="2147484483" r:id="rId6"/>
    <p:sldLayoutId id="2147484484"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userDrawn="1">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userDrawn="1">
          <p15:clr>
            <a:srgbClr val="F26B43"/>
          </p15:clr>
        </p15:guide>
        <p15:guide id="35" orient="horz" pos="250" userDrawn="1">
          <p15:clr>
            <a:srgbClr val="F26B43"/>
          </p15:clr>
        </p15:guide>
        <p15:guide id="36" orient="horz" pos="3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571242831"/>
      </p:ext>
    </p:extLst>
  </p:cSld>
  <p:clrMap bg1="lt1" tx1="dk1" bg2="lt2" tx2="dk2" accent1="accent1" accent2="accent2" accent3="accent3" accent4="accent4" accent5="accent5" accent6="accent6" hlink="hlink" folHlink="folHlink"/>
  <p:sldLayoutIdLst>
    <p:sldLayoutId id="2147484486"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82343"/>
      </p:ext>
    </p:extLst>
  </p:cSld>
  <p:clrMap bg1="lt1" tx1="dk1" bg2="lt2" tx2="dk2" accent1="accent1" accent2="accent2" accent3="accent3" accent4="accent4" accent5="accent5" accent6="accent6" hlink="hlink" folHlink="folHlink"/>
  <p:sldLayoutIdLst>
    <p:sldLayoutId id="2147483648" r:id="rId1"/>
    <p:sldLayoutId id="2147484488" r:id="rId2"/>
    <p:sldLayoutId id="2147483649" r:id="rId3"/>
    <p:sldLayoutId id="2147484489" r:id="rId4"/>
    <p:sldLayoutId id="2147484490"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7624B64-7AAF-9ED2-FC73-2EF925D5DD10}"/>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22620" b="20133"/>
          <a:stretch/>
        </p:blipFill>
        <p:spPr>
          <a:xfrm>
            <a:off x="108212" y="96819"/>
            <a:ext cx="5786977" cy="398034"/>
          </a:xfrm>
          <a:prstGeom prst="rect">
            <a:avLst/>
          </a:prstGeom>
        </p:spPr>
      </p:pic>
      <p:graphicFrame>
        <p:nvGraphicFramePr>
          <p:cNvPr id="18" name="Table 17">
            <a:extLst>
              <a:ext uri="{FF2B5EF4-FFF2-40B4-BE49-F238E27FC236}">
                <a16:creationId xmlns:a16="http://schemas.microsoft.com/office/drawing/2014/main" id="{1F74CD5A-9F80-0549-8844-6BFF5ADE70C7}"/>
              </a:ext>
            </a:extLst>
          </p:cNvPr>
          <p:cNvGraphicFramePr>
            <a:graphicFrameLocks noGrp="1" noDrilldown="1" noMove="1" noResize="1"/>
          </p:cNvGraphicFramePr>
          <p:nvPr>
            <p:extLst>
              <p:ext uri="{D42A27DB-BD31-4B8C-83A1-F6EECF244321}">
                <p14:modId xmlns:p14="http://schemas.microsoft.com/office/powerpoint/2010/main" val="535197171"/>
              </p:ext>
            </p:extLst>
          </p:nvPr>
        </p:nvGraphicFramePr>
        <p:xfrm>
          <a:off x="248067" y="762788"/>
          <a:ext cx="9664560" cy="6711471"/>
        </p:xfrm>
        <a:graphic>
          <a:graphicData uri="http://schemas.openxmlformats.org/drawingml/2006/table">
            <a:tbl>
              <a:tblPr firstRow="1" bandRow="1">
                <a:tableStyleId>{2D5ABB26-0587-4C30-8999-92F81FD0307C}</a:tableStyleId>
              </a:tblPr>
              <a:tblGrid>
                <a:gridCol w="9664560">
                  <a:extLst>
                    <a:ext uri="{9D8B030D-6E8A-4147-A177-3AD203B41FA5}">
                      <a16:colId xmlns:a16="http://schemas.microsoft.com/office/drawing/2014/main" val="3313590318"/>
                    </a:ext>
                  </a:extLst>
                </a:gridCol>
              </a:tblGrid>
              <a:tr h="413388">
                <a:tc>
                  <a:txBody>
                    <a:bodyPr/>
                    <a:lstStyle/>
                    <a:p>
                      <a:r>
                        <a:rPr lang="en-US" sz="1400" b="0" i="0">
                          <a:solidFill>
                            <a:schemeClr val="bg1"/>
                          </a:solidFill>
                          <a:latin typeface="Arial" panose="020B0604020202020204" pitchFamily="34" charset="0"/>
                          <a:ea typeface="Riforma LL" panose="020B0504020101020102" pitchFamily="34" charset="0"/>
                          <a:cs typeface="Arial" panose="020B0604020202020204" pitchFamily="34" charset="0"/>
                        </a:rPr>
                        <a:t>Your dream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1325275">
                <a:tc>
                  <a:txBody>
                    <a:bodyPr/>
                    <a:lstStyle/>
                    <a:p>
                      <a:pPr lvl="0">
                        <a:buNone/>
                      </a:pPr>
                      <a:r>
                        <a:rPr lang="en-US" sz="1600" b="0" i="1" u="none" strike="noStrike" noProof="0">
                          <a:solidFill>
                            <a:srgbClr val="000000"/>
                          </a:solidFill>
                          <a:latin typeface="Aptos"/>
                        </a:rPr>
                        <a:t>"Imagine a farmer smiling as their biggest-ever harvest is loaded onto a truck and he receives his biggest payment. Imagine what he is thinking.. How does he feel about </a:t>
                      </a:r>
                      <a:r>
                        <a:rPr lang="en-US" sz="1600" b="0" i="1" u="none" strike="noStrike" noProof="0" err="1">
                          <a:solidFill>
                            <a:srgbClr val="000000"/>
                          </a:solidFill>
                          <a:latin typeface="Aptos"/>
                        </a:rPr>
                        <a:t>CalciGrow</a:t>
                      </a:r>
                      <a:r>
                        <a:rPr lang="en-US" sz="1600" b="0" i="1" u="none" strike="noStrike" noProof="0">
                          <a:solidFill>
                            <a:srgbClr val="000000"/>
                          </a:solidFill>
                          <a:latin typeface="Aptos"/>
                        </a:rPr>
                        <a:t>?"</a:t>
                      </a:r>
                      <a:br>
                        <a:rPr lang="en-US"/>
                      </a:br>
                      <a:br>
                        <a:rPr lang="en-US" sz="1600" b="0" i="1" u="none" strike="noStrike" noProof="0">
                          <a:solidFill>
                            <a:srgbClr val="000000"/>
                          </a:solidFill>
                          <a:latin typeface="Aptos"/>
                        </a:rPr>
                      </a:br>
                      <a:r>
                        <a:rPr lang="en-US" sz="1600" b="0" i="1" u="none" strike="noStrike" noProof="0">
                          <a:solidFill>
                            <a:srgbClr val="000000"/>
                          </a:solidFill>
                          <a:latin typeface="Aptos"/>
                        </a:rPr>
                        <a:t>The dream...</a:t>
                      </a:r>
                      <a:br>
                        <a:rPr lang="en-US"/>
                      </a:br>
                      <a:r>
                        <a:rPr lang="en-US" sz="1600" b="0" i="1" u="none" strike="noStrike" noProof="0">
                          <a:solidFill>
                            <a:srgbClr val="000000"/>
                          </a:solidFill>
                          <a:latin typeface="Aptos"/>
                        </a:rPr>
                        <a:t>“By 2030, </a:t>
                      </a:r>
                      <a:r>
                        <a:rPr lang="en-US" sz="1600" b="1" i="1" u="none" strike="noStrike" noProof="0">
                          <a:solidFill>
                            <a:srgbClr val="000000"/>
                          </a:solidFill>
                          <a:latin typeface="Aptos"/>
                        </a:rPr>
                        <a:t>every</a:t>
                      </a:r>
                      <a:r>
                        <a:rPr lang="en-US" sz="1600" b="0" i="1" u="none" strike="noStrike" noProof="0">
                          <a:solidFill>
                            <a:srgbClr val="000000"/>
                          </a:solidFill>
                          <a:latin typeface="Aptos"/>
                        </a:rPr>
                        <a:t> farmer in East Africa knows our name — because their best harvests start with </a:t>
                      </a:r>
                      <a:r>
                        <a:rPr lang="en-US" sz="1600" b="0" i="1" u="none" strike="noStrike" noProof="0" err="1">
                          <a:solidFill>
                            <a:srgbClr val="000000"/>
                          </a:solidFill>
                          <a:latin typeface="Aptos"/>
                        </a:rPr>
                        <a:t>CalciGrow</a:t>
                      </a:r>
                      <a:r>
                        <a:rPr lang="en-US" sz="1600" b="0" i="1" u="none" strike="noStrike" noProof="0">
                          <a:solidFill>
                            <a:srgbClr val="000000"/>
                          </a:solidFill>
                          <a:latin typeface="Aptos"/>
                        </a:rPr>
                        <a: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413388">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rPr>
                        <a:t>What are the required values for a team to achieve this dream </a:t>
                      </a: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895863688"/>
                  </a:ext>
                </a:extLst>
              </a:tr>
              <a:tr h="2528952">
                <a:tc>
                  <a:txBody>
                    <a:bodyPr/>
                    <a:lstStyle/>
                    <a:p>
                      <a:pPr marL="285750" lvl="0" indent="-285750" algn="l">
                        <a:lnSpc>
                          <a:spcPct val="100000"/>
                        </a:lnSpc>
                        <a:spcBef>
                          <a:spcPts val="0"/>
                        </a:spcBef>
                        <a:spcAft>
                          <a:spcPts val="0"/>
                        </a:spcAft>
                        <a:buFont typeface="Arial"/>
                        <a:buChar char="•"/>
                      </a:pPr>
                      <a:r>
                        <a:rPr lang="en-US" sz="1400" b="1" i="0" u="none" strike="noStrike" kern="1200" cap="none" spc="0" normalizeH="0" baseline="0" noProof="0">
                          <a:ln>
                            <a:noFill/>
                          </a:ln>
                          <a:solidFill>
                            <a:srgbClr val="000000"/>
                          </a:solidFill>
                          <a:effectLst/>
                          <a:uLnTx/>
                          <a:uFillTx/>
                          <a:latin typeface="Arial"/>
                        </a:rPr>
                        <a:t>Integrity</a:t>
                      </a:r>
                      <a:r>
                        <a:rPr lang="en-US" sz="1400" b="0" i="0" u="none" strike="noStrike" kern="1200" cap="none" spc="0" normalizeH="0" baseline="0" noProof="0">
                          <a:ln>
                            <a:noFill/>
                          </a:ln>
                          <a:solidFill>
                            <a:srgbClr val="000000"/>
                          </a:solidFill>
                          <a:effectLst/>
                          <a:uLnTx/>
                          <a:uFillTx/>
                          <a:latin typeface="Arial"/>
                        </a:rPr>
                        <a:t> - We admit to ourselves our mistakes and learn from them quickly.</a:t>
                      </a:r>
                    </a:p>
                    <a:p>
                      <a:pPr marL="285750" lvl="0" indent="-285750" algn="l">
                        <a:lnSpc>
                          <a:spcPct val="100000"/>
                        </a:lnSpc>
                        <a:spcBef>
                          <a:spcPts val="0"/>
                        </a:spcBef>
                        <a:spcAft>
                          <a:spcPts val="0"/>
                        </a:spcAft>
                        <a:buFont typeface="Arial"/>
                        <a:buChar char="•"/>
                      </a:pPr>
                      <a:r>
                        <a:rPr lang="en-US" sz="1400" b="1" i="0" u="none" strike="noStrike" kern="1200" cap="none" spc="0" normalizeH="0" baseline="0" noProof="0">
                          <a:ln>
                            <a:noFill/>
                          </a:ln>
                          <a:solidFill>
                            <a:srgbClr val="000000"/>
                          </a:solidFill>
                          <a:effectLst/>
                          <a:uLnTx/>
                          <a:uFillTx/>
                          <a:latin typeface="Arial"/>
                        </a:rPr>
                        <a:t>Perseverance</a:t>
                      </a:r>
                      <a:r>
                        <a:rPr lang="en-US" sz="1400" b="0" i="0" u="none" strike="noStrike" kern="1200" cap="none" spc="0" normalizeH="0" baseline="0" noProof="0">
                          <a:ln>
                            <a:noFill/>
                          </a:ln>
                          <a:solidFill>
                            <a:srgbClr val="000000"/>
                          </a:solidFill>
                          <a:effectLst/>
                          <a:uLnTx/>
                          <a:uFillTx/>
                          <a:latin typeface="Arial"/>
                        </a:rPr>
                        <a:t> - Our team persists in achieving goals, overcoming obstacles through collective resilience and sustained effort.</a:t>
                      </a:r>
                    </a:p>
                    <a:p>
                      <a:pPr marL="285750" lvl="0" indent="-285750" algn="l">
                        <a:lnSpc>
                          <a:spcPct val="100000"/>
                        </a:lnSpc>
                        <a:spcBef>
                          <a:spcPts val="0"/>
                        </a:spcBef>
                        <a:spcAft>
                          <a:spcPts val="0"/>
                        </a:spcAft>
                        <a:buFont typeface="Arial"/>
                        <a:buChar char="•"/>
                      </a:pPr>
                      <a:r>
                        <a:rPr lang="en-US" sz="1400" b="1" i="0" u="none" strike="noStrike" kern="1200" cap="none" spc="0" normalizeH="0" baseline="0" noProof="0">
                          <a:ln>
                            <a:noFill/>
                          </a:ln>
                          <a:solidFill>
                            <a:srgbClr val="000000"/>
                          </a:solidFill>
                          <a:effectLst/>
                          <a:uLnTx/>
                          <a:uFillTx/>
                          <a:latin typeface="Arial"/>
                        </a:rPr>
                        <a:t>Courtesy</a:t>
                      </a:r>
                      <a:r>
                        <a:rPr lang="en-US" sz="1400" b="0" i="0" u="none" strike="noStrike" kern="1200" cap="none" spc="0" normalizeH="0" baseline="0" noProof="0">
                          <a:ln>
                            <a:noFill/>
                          </a:ln>
                          <a:solidFill>
                            <a:srgbClr val="000000"/>
                          </a:solidFill>
                          <a:effectLst/>
                          <a:uLnTx/>
                          <a:uFillTx/>
                          <a:latin typeface="Arial"/>
                        </a:rPr>
                        <a:t> - We uphold a culture of respect and kindness, ensuring all interactions are conducted with care for our customers, our employees and our stakeholders.</a:t>
                      </a:r>
                    </a:p>
                    <a:p>
                      <a:pPr marL="285750" lvl="0" indent="-285750" algn="l">
                        <a:lnSpc>
                          <a:spcPct val="100000"/>
                        </a:lnSpc>
                        <a:spcBef>
                          <a:spcPts val="0"/>
                        </a:spcBef>
                        <a:spcAft>
                          <a:spcPts val="0"/>
                        </a:spcAft>
                        <a:buFont typeface="Arial"/>
                        <a:buChar char="•"/>
                      </a:pPr>
                      <a:r>
                        <a:rPr lang="en-US" sz="1400" b="1" i="0" u="none" strike="noStrike" kern="1200" cap="none" spc="0" normalizeH="0" baseline="0" noProof="0">
                          <a:ln>
                            <a:noFill/>
                          </a:ln>
                          <a:solidFill>
                            <a:srgbClr val="000000"/>
                          </a:solidFill>
                          <a:effectLst/>
                          <a:uLnTx/>
                          <a:uFillTx/>
                          <a:latin typeface="Arial"/>
                        </a:rPr>
                        <a:t>Curiosity</a:t>
                      </a:r>
                      <a:r>
                        <a:rPr lang="en-US" sz="1400" b="0" i="0" u="none" strike="noStrike" kern="1200" cap="none" spc="0" normalizeH="0" baseline="0" noProof="0">
                          <a:ln>
                            <a:noFill/>
                          </a:ln>
                          <a:solidFill>
                            <a:srgbClr val="000000"/>
                          </a:solidFill>
                          <a:effectLst/>
                          <a:uLnTx/>
                          <a:uFillTx/>
                          <a:latin typeface="Arial"/>
                        </a:rPr>
                        <a:t> - Our team fosters a continual quest to improve, we embrace each challenge as an opportunity to learn and get better.</a:t>
                      </a:r>
                    </a:p>
                    <a:p>
                      <a:pPr marL="285750" lvl="0" indent="-285750" algn="l">
                        <a:lnSpc>
                          <a:spcPct val="100000"/>
                        </a:lnSpc>
                        <a:spcBef>
                          <a:spcPts val="0"/>
                        </a:spcBef>
                        <a:spcAft>
                          <a:spcPts val="0"/>
                        </a:spcAft>
                        <a:buFont typeface="Arial"/>
                        <a:buChar char="•"/>
                      </a:pPr>
                      <a:r>
                        <a:rPr lang="en-US" sz="1400" b="1" i="0" u="none" strike="noStrike" kern="1200" cap="none" spc="0" normalizeH="0" baseline="0" noProof="0">
                          <a:ln>
                            <a:noFill/>
                          </a:ln>
                          <a:solidFill>
                            <a:srgbClr val="000000"/>
                          </a:solidFill>
                          <a:effectLst/>
                          <a:uLnTx/>
                          <a:uFillTx/>
                          <a:latin typeface="Arial"/>
                        </a:rPr>
                        <a:t>Creativeness</a:t>
                      </a:r>
                      <a:r>
                        <a:rPr lang="en-US" sz="1400" b="0" i="0" u="none" strike="noStrike" kern="1200" cap="none" spc="0" normalizeH="0" baseline="0" noProof="0">
                          <a:ln>
                            <a:noFill/>
                          </a:ln>
                          <a:solidFill>
                            <a:srgbClr val="000000"/>
                          </a:solidFill>
                          <a:effectLst/>
                          <a:uLnTx/>
                          <a:uFillTx/>
                          <a:latin typeface="Arial"/>
                        </a:rPr>
                        <a:t> - We value and nurture creative thinking, encouraging innovative solutions that challenge the status quo and drive progress.</a:t>
                      </a:r>
                    </a:p>
                    <a:p>
                      <a:pPr marL="285750" lvl="0" indent="-285750" algn="l">
                        <a:lnSpc>
                          <a:spcPct val="100000"/>
                        </a:lnSpc>
                        <a:spcBef>
                          <a:spcPts val="0"/>
                        </a:spcBef>
                        <a:spcAft>
                          <a:spcPts val="0"/>
                        </a:spcAft>
                        <a:buFont typeface="Arial"/>
                        <a:buChar char="•"/>
                      </a:pPr>
                      <a:r>
                        <a:rPr lang="en-US" sz="1400" b="1" i="0" u="none" strike="noStrike" kern="1200" cap="none" spc="0" normalizeH="0" baseline="0" noProof="0">
                          <a:ln>
                            <a:noFill/>
                          </a:ln>
                          <a:solidFill>
                            <a:srgbClr val="000000"/>
                          </a:solidFill>
                          <a:effectLst/>
                          <a:uLnTx/>
                          <a:uFillTx/>
                          <a:latin typeface="Arial"/>
                        </a:rPr>
                        <a:t>Punctuality</a:t>
                      </a:r>
                      <a:r>
                        <a:rPr lang="en-US" sz="1400" b="0" i="0" u="none" strike="noStrike" kern="1200" cap="none" spc="0" normalizeH="0" baseline="0" noProof="0">
                          <a:ln>
                            <a:noFill/>
                          </a:ln>
                          <a:solidFill>
                            <a:srgbClr val="000000"/>
                          </a:solidFill>
                          <a:effectLst/>
                          <a:uLnTx/>
                          <a:uFillTx/>
                          <a:latin typeface="Arial"/>
                        </a:rPr>
                        <a:t> - We value our relationships with all our stakeholders and thus we value their time.</a:t>
                      </a:r>
                    </a:p>
                    <a:p>
                      <a:pPr marL="285750" lvl="0" indent="-285750" algn="l">
                        <a:lnSpc>
                          <a:spcPct val="100000"/>
                        </a:lnSpc>
                        <a:spcBef>
                          <a:spcPts val="0"/>
                        </a:spcBef>
                        <a:spcAft>
                          <a:spcPts val="0"/>
                        </a:spcAft>
                        <a:buFont typeface="Arial"/>
                        <a:buChar char="•"/>
                      </a:pPr>
                      <a:r>
                        <a:rPr lang="en-US" sz="1400" b="1" i="0" u="none" strike="noStrike" kern="1200" cap="none" spc="0" normalizeH="0" baseline="0" noProof="0">
                          <a:ln>
                            <a:noFill/>
                          </a:ln>
                          <a:solidFill>
                            <a:srgbClr val="000000"/>
                          </a:solidFill>
                          <a:effectLst/>
                          <a:uLnTx/>
                          <a:uFillTx/>
                          <a:latin typeface="Arial"/>
                        </a:rPr>
                        <a:t>Accountability</a:t>
                      </a:r>
                      <a:r>
                        <a:rPr lang="en-US" sz="1400" b="0" i="0" u="none" strike="noStrike" kern="1200" cap="none" spc="0" normalizeH="0" baseline="0" noProof="0">
                          <a:ln>
                            <a:noFill/>
                          </a:ln>
                          <a:solidFill>
                            <a:srgbClr val="000000"/>
                          </a:solidFill>
                          <a:effectLst/>
                          <a:uLnTx/>
                          <a:uFillTx/>
                          <a:latin typeface="Arial"/>
                        </a:rPr>
                        <a:t> – Being reliable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2781455"/>
                  </a:ext>
                </a:extLst>
              </a:tr>
              <a:tr h="389071">
                <a:tc>
                  <a:txBody>
                    <a:bodyPr/>
                    <a:lstStyle/>
                    <a:p>
                      <a:pPr algn="l" rtl="0" fontAlgn="ctr"/>
                      <a:r>
                        <a:rPr lang="en-GB" sz="1600" b="0" i="0" u="none" strike="noStrike">
                          <a:solidFill>
                            <a:srgbClr val="FFFFFF"/>
                          </a:solidFill>
                          <a:effectLst/>
                          <a:latin typeface="Calibri "/>
                        </a:rPr>
                        <a:t>What is the gap between the aspirational values (previous response) and the current company values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265844164"/>
                  </a:ext>
                </a:extLst>
              </a:tr>
              <a:tr h="1641397">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a:latin typeface="Arial"/>
                          <a:ea typeface="Riforma LL" panose="020B0504020101020102" pitchFamily="34" charset="0"/>
                          <a:cs typeface="Arial"/>
                        </a:rPr>
                        <a:t>We don’t actively communicate these values to our team or to our customers.</a:t>
                      </a: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2377547"/>
                  </a:ext>
                </a:extLst>
              </a:tr>
            </a:tbl>
          </a:graphicData>
        </a:graphic>
      </p:graphicFrame>
    </p:spTree>
    <p:extLst>
      <p:ext uri="{BB962C8B-B14F-4D97-AF65-F5344CB8AC3E}">
        <p14:creationId xmlns:p14="http://schemas.microsoft.com/office/powerpoint/2010/main" val="18770476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640A1A-9979-6CB5-E593-CAA9FCD475F9}"/>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14375" b="25473"/>
          <a:stretch/>
        </p:blipFill>
        <p:spPr>
          <a:xfrm>
            <a:off x="79208" y="88490"/>
            <a:ext cx="6911528" cy="422787"/>
          </a:xfrm>
          <a:prstGeom prst="rect">
            <a:avLst/>
          </a:prstGeom>
        </p:spPr>
      </p:pic>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3062455873"/>
              </p:ext>
            </p:extLst>
          </p:nvPr>
        </p:nvGraphicFramePr>
        <p:xfrm>
          <a:off x="276771" y="553379"/>
          <a:ext cx="9664560" cy="6985405"/>
        </p:xfrm>
        <a:graphic>
          <a:graphicData uri="http://schemas.openxmlformats.org/drawingml/2006/table">
            <a:tbl>
              <a:tblPr firstRow="1" bandRow="1">
                <a:tableStyleId>{2D5ABB26-0587-4C30-8999-92F81FD0307C}</a:tableStyleId>
              </a:tblPr>
              <a:tblGrid>
                <a:gridCol w="2648607">
                  <a:extLst>
                    <a:ext uri="{9D8B030D-6E8A-4147-A177-3AD203B41FA5}">
                      <a16:colId xmlns:a16="http://schemas.microsoft.com/office/drawing/2014/main" val="3308902235"/>
                    </a:ext>
                  </a:extLst>
                </a:gridCol>
                <a:gridCol w="3524194">
                  <a:extLst>
                    <a:ext uri="{9D8B030D-6E8A-4147-A177-3AD203B41FA5}">
                      <a16:colId xmlns:a16="http://schemas.microsoft.com/office/drawing/2014/main" val="3313590318"/>
                    </a:ext>
                  </a:extLst>
                </a:gridCol>
                <a:gridCol w="3491759">
                  <a:extLst>
                    <a:ext uri="{9D8B030D-6E8A-4147-A177-3AD203B41FA5}">
                      <a16:colId xmlns:a16="http://schemas.microsoft.com/office/drawing/2014/main" val="1506629949"/>
                    </a:ext>
                  </a:extLst>
                </a:gridCol>
              </a:tblGrid>
              <a:tr h="47843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a:ea typeface="Riforma LL" panose="020B0504020101020102" pitchFamily="34" charset="77"/>
                          <a:cs typeface="Arial"/>
                        </a:rPr>
                        <a:t>Company values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200" b="0" i="0" dirty="0">
                          <a:solidFill>
                            <a:schemeClr val="bg1"/>
                          </a:solidFill>
                          <a:latin typeface="Arial"/>
                          <a:ea typeface="Riforma LL" panose="020B0504020101020102" pitchFamily="34" charset="0"/>
                          <a:cs typeface="Arial"/>
                        </a:rPr>
                        <a:t>Cool Behaviors this value represents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r>
                        <a:rPr lang="en-US" sz="1200" b="0" i="0" dirty="0">
                          <a:solidFill>
                            <a:schemeClr val="bg1"/>
                          </a:solidFill>
                          <a:latin typeface="Arial"/>
                          <a:ea typeface="Riforma LL" panose="020B0504020101020102" pitchFamily="34" charset="0"/>
                          <a:cs typeface="Arial"/>
                        </a:rPr>
                        <a:t>Non-Cool Behaviors associated with this value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27707021"/>
                  </a:ext>
                </a:extLst>
              </a:tr>
              <a:tr h="1732709">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a:ea typeface="Riforma LL" panose="020B0504020101020102" pitchFamily="34" charset="77"/>
                          <a:cs typeface="Arial"/>
                        </a:rPr>
                        <a:t>Integrity</a:t>
                      </a: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rtl="0" eaLnBrk="1" fontAlgn="auto" latinLnBrk="0" hangingPunct="1">
                        <a:lnSpc>
                          <a:spcPct val="100000"/>
                        </a:lnSpc>
                        <a:spcBef>
                          <a:spcPts val="0"/>
                        </a:spcBef>
                        <a:spcAft>
                          <a:spcPts val="0"/>
                        </a:spcAft>
                        <a:buClrTx/>
                        <a:buSzTx/>
                        <a:buFont typeface="Calibri"/>
                        <a:buChar char="-"/>
                      </a:pPr>
                      <a:r>
                        <a:rPr lang="en-US" sz="1200" b="0" i="0" dirty="0">
                          <a:latin typeface="Arial"/>
                          <a:ea typeface="Riforma LL" panose="020B0504020101020102" pitchFamily="34" charset="0"/>
                          <a:cs typeface="Arial"/>
                        </a:rPr>
                        <a:t>It's cool when we maintain a high a quality of product.</a:t>
                      </a:r>
                    </a:p>
                    <a:p>
                      <a:pPr marL="171450" marR="0" lvl="0" indent="-171450" algn="l">
                        <a:lnSpc>
                          <a:spcPct val="100000"/>
                        </a:lnSpc>
                        <a:spcBef>
                          <a:spcPts val="0"/>
                        </a:spcBef>
                        <a:spcAft>
                          <a:spcPts val="0"/>
                        </a:spcAft>
                        <a:buClrTx/>
                        <a:buSzTx/>
                        <a:buFont typeface="Calibri"/>
                        <a:buChar char="-"/>
                      </a:pPr>
                      <a:r>
                        <a:rPr lang="en-US" sz="1200" b="1" i="0" dirty="0">
                          <a:latin typeface="Arial"/>
                          <a:ea typeface="Riforma LL" panose="020B0504020101020102" pitchFamily="34" charset="0"/>
                          <a:cs typeface="Arial"/>
                        </a:rPr>
                        <a:t>Admit when you are wrong and find a way to correct and improve.</a:t>
                      </a:r>
                    </a:p>
                    <a:p>
                      <a:pPr marL="171450" marR="0" lvl="0" indent="-171450" algn="l">
                        <a:lnSpc>
                          <a:spcPct val="100000"/>
                        </a:lnSpc>
                        <a:spcBef>
                          <a:spcPts val="0"/>
                        </a:spcBef>
                        <a:spcAft>
                          <a:spcPts val="0"/>
                        </a:spcAft>
                        <a:buClrTx/>
                        <a:buSzTx/>
                        <a:buFont typeface="Calibri"/>
                        <a:buChar char="-"/>
                      </a:pPr>
                      <a:r>
                        <a:rPr lang="en-US" sz="1200" b="0" i="0" dirty="0">
                          <a:latin typeface="Arial"/>
                          <a:ea typeface="Riforma LL" panose="020B0504020101020102" pitchFamily="34" charset="0"/>
                          <a:cs typeface="Arial"/>
                        </a:rPr>
                        <a:t>Being transparent so that all team members are aware of the decision and the actions required.</a:t>
                      </a:r>
                    </a:p>
                    <a:p>
                      <a:pPr marL="171450" marR="0" lvl="0" indent="-171450" algn="l">
                        <a:lnSpc>
                          <a:spcPct val="100000"/>
                        </a:lnSpc>
                        <a:spcBef>
                          <a:spcPts val="0"/>
                        </a:spcBef>
                        <a:spcAft>
                          <a:spcPts val="0"/>
                        </a:spcAft>
                        <a:buClrTx/>
                        <a:buSzTx/>
                        <a:buFont typeface="Calibri"/>
                        <a:buChar char="-"/>
                      </a:pPr>
                      <a:r>
                        <a:rPr lang="en-US" sz="1200" b="1" i="0" dirty="0">
                          <a:latin typeface="Arial"/>
                          <a:ea typeface="Riforma LL" panose="020B0504020101020102" pitchFamily="34" charset="0"/>
                          <a:cs typeface="Arial"/>
                        </a:rPr>
                        <a:t>Not Making the same mistake twice. Learning from your mistakes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rtl="0" eaLnBrk="1" fontAlgn="auto" latinLnBrk="0" hangingPunct="1">
                        <a:lnSpc>
                          <a:spcPct val="100000"/>
                        </a:lnSpc>
                        <a:spcBef>
                          <a:spcPts val="0"/>
                        </a:spcBef>
                        <a:spcAft>
                          <a:spcPts val="0"/>
                        </a:spcAft>
                        <a:buClrTx/>
                        <a:buSzTx/>
                        <a:buFont typeface="Calibri"/>
                        <a:buChar char="-"/>
                      </a:pPr>
                      <a:r>
                        <a:rPr lang="en-US" sz="1200" b="0" i="0" dirty="0">
                          <a:latin typeface="Arial"/>
                          <a:ea typeface="Riforma LL" panose="020B0504020101020102" pitchFamily="34" charset="0"/>
                          <a:cs typeface="Arial"/>
                        </a:rPr>
                        <a:t>It's not cool when we lack consistency to our clients</a:t>
                      </a:r>
                    </a:p>
                    <a:p>
                      <a:pPr marL="171450" marR="0" lvl="0" indent="-171450" algn="l">
                        <a:lnSpc>
                          <a:spcPct val="100000"/>
                        </a:lnSpc>
                        <a:spcBef>
                          <a:spcPts val="0"/>
                        </a:spcBef>
                        <a:spcAft>
                          <a:spcPts val="0"/>
                        </a:spcAft>
                        <a:buClrTx/>
                        <a:buSzTx/>
                        <a:buFont typeface="Calibri"/>
                        <a:buChar char="-"/>
                      </a:pPr>
                      <a:r>
                        <a:rPr lang="en-US" sz="1200" b="0" i="0" dirty="0">
                          <a:latin typeface="Arial"/>
                          <a:cs typeface="Arial"/>
                        </a:rPr>
                        <a:t>Not admitting your mistakes.</a:t>
                      </a:r>
                    </a:p>
                    <a:p>
                      <a:pPr marL="171450" marR="0" lvl="0" indent="-171450" algn="l">
                        <a:lnSpc>
                          <a:spcPct val="100000"/>
                        </a:lnSpc>
                        <a:spcBef>
                          <a:spcPts val="0"/>
                        </a:spcBef>
                        <a:spcAft>
                          <a:spcPts val="0"/>
                        </a:spcAft>
                        <a:buClrTx/>
                        <a:buSzTx/>
                        <a:buFont typeface="Calibri"/>
                        <a:buChar char="-"/>
                      </a:pPr>
                      <a:r>
                        <a:rPr lang="en-US" sz="1200" b="0" i="0" dirty="0">
                          <a:latin typeface="Arial"/>
                          <a:cs typeface="Arial"/>
                        </a:rPr>
                        <a:t>Would be to hide some information about the decision that has been made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109910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a:ea typeface="Riforma LL" panose="020B0504020101020102" pitchFamily="34" charset="77"/>
                          <a:cs typeface="Arial"/>
                        </a:rPr>
                        <a:t>Perserverance</a:t>
                      </a: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rtl="0" eaLnBrk="1" fontAlgn="auto" latinLnBrk="0" hangingPunct="1">
                        <a:lnSpc>
                          <a:spcPct val="100000"/>
                        </a:lnSpc>
                        <a:spcBef>
                          <a:spcPts val="0"/>
                        </a:spcBef>
                        <a:spcAft>
                          <a:spcPts val="0"/>
                        </a:spcAft>
                        <a:buClrTx/>
                        <a:buSzTx/>
                        <a:buFont typeface="Calibri"/>
                        <a:buChar char="-"/>
                      </a:pPr>
                      <a:r>
                        <a:rPr lang="en-US" sz="1200" b="0" i="0" dirty="0">
                          <a:latin typeface="Arial"/>
                          <a:ea typeface="Riforma LL" panose="020B0504020101020102" pitchFamily="34" charset="0"/>
                          <a:cs typeface="Arial"/>
                        </a:rPr>
                        <a:t>Visiting all </a:t>
                      </a:r>
                      <a:r>
                        <a:rPr lang="en-US" sz="1200" b="0" i="0" dirty="0" err="1">
                          <a:latin typeface="Arial"/>
                          <a:ea typeface="Riforma LL" panose="020B0504020101020102" pitchFamily="34" charset="0"/>
                          <a:cs typeface="Arial"/>
                        </a:rPr>
                        <a:t>stockists</a:t>
                      </a:r>
                      <a:r>
                        <a:rPr lang="en-US" sz="1200" b="0" i="0" dirty="0">
                          <a:latin typeface="Arial"/>
                          <a:ea typeface="Riforma LL" panose="020B0504020101020102" pitchFamily="34" charset="0"/>
                          <a:cs typeface="Arial"/>
                        </a:rPr>
                        <a:t> consistently even those that are not ordering </a:t>
                      </a:r>
                      <a:r>
                        <a:rPr lang="en-US" sz="1200" b="0" i="0" dirty="0" err="1">
                          <a:latin typeface="Arial"/>
                          <a:ea typeface="Riforma LL" panose="020B0504020101020102" pitchFamily="34" charset="0"/>
                          <a:cs typeface="Arial"/>
                        </a:rPr>
                        <a:t>CalciGrow</a:t>
                      </a:r>
                      <a:r>
                        <a:rPr lang="en-US" sz="1200" b="0" i="0" dirty="0">
                          <a:latin typeface="Arial"/>
                          <a:ea typeface="Riforma LL" panose="020B0504020101020102" pitchFamily="34" charset="0"/>
                          <a:cs typeface="Arial"/>
                        </a:rPr>
                        <a:t> or </a:t>
                      </a:r>
                      <a:r>
                        <a:rPr lang="en-US" sz="1200" b="0" i="0" dirty="0" err="1">
                          <a:latin typeface="Arial"/>
                          <a:ea typeface="Riforma LL" panose="020B0504020101020102" pitchFamily="34" charset="0"/>
                          <a:cs typeface="Arial"/>
                        </a:rPr>
                        <a:t>Fanisi</a:t>
                      </a:r>
                      <a:r>
                        <a:rPr lang="en-US" sz="1200" b="0" i="0" dirty="0">
                          <a:latin typeface="Arial"/>
                          <a:ea typeface="Riforma LL" panose="020B0504020101020102" pitchFamily="34" charset="0"/>
                          <a:cs typeface="Arial"/>
                        </a:rPr>
                        <a:t>.</a:t>
                      </a:r>
                    </a:p>
                    <a:p>
                      <a:pPr marL="171450" marR="0" lvl="0" indent="-171450" algn="l">
                        <a:lnSpc>
                          <a:spcPct val="100000"/>
                        </a:lnSpc>
                        <a:spcBef>
                          <a:spcPts val="0"/>
                        </a:spcBef>
                        <a:spcAft>
                          <a:spcPts val="0"/>
                        </a:spcAft>
                        <a:buClrTx/>
                        <a:buSzTx/>
                        <a:buFont typeface="Calibri"/>
                        <a:buChar char="-"/>
                      </a:pPr>
                      <a:r>
                        <a:rPr lang="en-US" sz="1200" b="1" i="0" dirty="0">
                          <a:latin typeface="Arial"/>
                          <a:ea typeface="Riforma LL" panose="020B0504020101020102" pitchFamily="34" charset="0"/>
                          <a:cs typeface="Arial"/>
                        </a:rPr>
                        <a:t>The ability to take on both short- and long-term projects with consistent effort. Working towards the goal.</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rtl="0" eaLnBrk="1" fontAlgn="auto" latinLnBrk="0" hangingPunct="1">
                        <a:lnSpc>
                          <a:spcPct val="100000"/>
                        </a:lnSpc>
                        <a:spcBef>
                          <a:spcPts val="0"/>
                        </a:spcBef>
                        <a:spcAft>
                          <a:spcPts val="0"/>
                        </a:spcAft>
                        <a:buClrTx/>
                        <a:buSzTx/>
                        <a:buFont typeface="Calibri"/>
                        <a:buChar char="-"/>
                      </a:pPr>
                      <a:r>
                        <a:rPr lang="en-US" sz="1200" b="1" i="0" dirty="0">
                          <a:latin typeface="Arial"/>
                          <a:ea typeface="Riforma LL" panose="020B0504020101020102" pitchFamily="34" charset="0"/>
                          <a:cs typeface="Arial"/>
                        </a:rPr>
                        <a:t>Staying a long time without visiting any particular customer.</a:t>
                      </a:r>
                    </a:p>
                    <a:p>
                      <a:pPr marL="171450" marR="0" lvl="0" indent="-171450" algn="l">
                        <a:lnSpc>
                          <a:spcPct val="100000"/>
                        </a:lnSpc>
                        <a:spcBef>
                          <a:spcPts val="0"/>
                        </a:spcBef>
                        <a:spcAft>
                          <a:spcPts val="0"/>
                        </a:spcAft>
                        <a:buClrTx/>
                        <a:buSzTx/>
                        <a:buFont typeface="Calibri"/>
                        <a:buChar char="-"/>
                      </a:pPr>
                      <a:r>
                        <a:rPr lang="en-US" sz="1200" b="1" i="0" dirty="0">
                          <a:latin typeface="Arial"/>
                          <a:cs typeface="Arial"/>
                        </a:rPr>
                        <a:t>To be inconsistent while working on a project.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1176689">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a:ea typeface="Riforma LL" panose="020B0504020101020102" pitchFamily="34" charset="77"/>
                          <a:cs typeface="Arial"/>
                        </a:rPr>
                        <a:t>Courtesy</a:t>
                      </a: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rtl="0" eaLnBrk="1" fontAlgn="auto" latinLnBrk="0" hangingPunct="1">
                        <a:lnSpc>
                          <a:spcPct val="100000"/>
                        </a:lnSpc>
                        <a:spcBef>
                          <a:spcPts val="0"/>
                        </a:spcBef>
                        <a:spcAft>
                          <a:spcPts val="0"/>
                        </a:spcAft>
                        <a:buClrTx/>
                        <a:buSzTx/>
                        <a:buFont typeface="Calibri"/>
                        <a:buChar char="-"/>
                      </a:pPr>
                      <a:r>
                        <a:rPr lang="en-US" sz="1200" b="0" i="0" dirty="0">
                          <a:latin typeface="Arial"/>
                          <a:ea typeface="Riforma LL" panose="020B0504020101020102" pitchFamily="34" charset="0"/>
                          <a:cs typeface="Arial"/>
                        </a:rPr>
                        <a:t>Actively listening during meetings (customers, financial partners, and suppliers).</a:t>
                      </a:r>
                      <a:endParaRPr lang="en-US" sz="1200" b="0" i="0" dirty="0">
                        <a:latin typeface="Arial" panose="020B0604020202020204" pitchFamily="34" charset="0"/>
                        <a:ea typeface="Riforma LL" panose="020B0504020101020102" pitchFamily="34" charset="0"/>
                        <a:cs typeface="Arial" panose="020B0604020202020204" pitchFamily="34" charset="0"/>
                      </a:endParaRPr>
                    </a:p>
                    <a:p>
                      <a:pPr marL="171450" marR="0" lvl="0" indent="-171450" algn="l">
                        <a:lnSpc>
                          <a:spcPct val="100000"/>
                        </a:lnSpc>
                        <a:spcBef>
                          <a:spcPts val="0"/>
                        </a:spcBef>
                        <a:spcAft>
                          <a:spcPts val="0"/>
                        </a:spcAft>
                        <a:buClrTx/>
                        <a:buSzTx/>
                        <a:buFont typeface="Calibri"/>
                        <a:buChar char="-"/>
                      </a:pPr>
                      <a:r>
                        <a:rPr lang="en-US" sz="1200" b="0" i="0" dirty="0">
                          <a:latin typeface="Arial"/>
                          <a:ea typeface="Riforma LL" panose="020B0504020101020102" pitchFamily="34" charset="0"/>
                          <a:cs typeface="Arial"/>
                        </a:rPr>
                        <a:t>Following instructions.</a:t>
                      </a:r>
                    </a:p>
                    <a:p>
                      <a:pPr marL="171450" marR="0" lvl="0" indent="-171450" algn="l">
                        <a:lnSpc>
                          <a:spcPct val="100000"/>
                        </a:lnSpc>
                        <a:spcBef>
                          <a:spcPts val="0"/>
                        </a:spcBef>
                        <a:spcAft>
                          <a:spcPts val="0"/>
                        </a:spcAft>
                        <a:buClrTx/>
                        <a:buSzTx/>
                        <a:buFont typeface="Calibri"/>
                        <a:buChar char="-"/>
                      </a:pPr>
                      <a:r>
                        <a:rPr lang="en-US" sz="1200" b="0" i="0" dirty="0">
                          <a:latin typeface="Arial"/>
                          <a:ea typeface="Riforma LL" panose="020B0504020101020102" pitchFamily="34" charset="0"/>
                          <a:cs typeface="Arial"/>
                        </a:rPr>
                        <a:t>Training the employees to understand what they need to do.</a:t>
                      </a:r>
                      <a:br>
                        <a:rPr lang="en-US" sz="1200" b="0" i="0" dirty="0">
                          <a:latin typeface="Arial"/>
                          <a:ea typeface="Riforma LL" panose="020B0504020101020102" pitchFamily="34" charset="0"/>
                          <a:cs typeface="Arial"/>
                        </a:rPr>
                      </a:br>
                      <a:endParaRPr lang="en-US" sz="1200" b="0" i="0" dirty="0">
                        <a:latin typeface="Arial"/>
                        <a:ea typeface="Riforma LL" panose="020B0504020101020102" pitchFamily="34" charset="0"/>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rtl="0" eaLnBrk="1" fontAlgn="auto" latinLnBrk="0" hangingPunct="1">
                        <a:lnSpc>
                          <a:spcPct val="100000"/>
                        </a:lnSpc>
                        <a:spcBef>
                          <a:spcPts val="0"/>
                        </a:spcBef>
                        <a:spcAft>
                          <a:spcPts val="0"/>
                        </a:spcAft>
                        <a:buClrTx/>
                        <a:buSzTx/>
                        <a:buFont typeface="Calibri"/>
                        <a:buChar char="-"/>
                      </a:pPr>
                      <a:r>
                        <a:rPr lang="en-US" sz="1200" b="0" i="0" dirty="0">
                          <a:latin typeface="Arial"/>
                          <a:ea typeface="Riforma LL" panose="020B0504020101020102" pitchFamily="34" charset="0"/>
                          <a:cs typeface="Arial"/>
                        </a:rPr>
                        <a:t>Interrupting others during meetings.</a:t>
                      </a:r>
                    </a:p>
                    <a:p>
                      <a:pPr marL="171450" marR="0" lvl="0" indent="-171450" algn="l">
                        <a:lnSpc>
                          <a:spcPct val="100000"/>
                        </a:lnSpc>
                        <a:spcBef>
                          <a:spcPts val="0"/>
                        </a:spcBef>
                        <a:spcAft>
                          <a:spcPts val="0"/>
                        </a:spcAft>
                        <a:buClrTx/>
                        <a:buSzTx/>
                        <a:buFont typeface="Calibri"/>
                        <a:buChar char="-"/>
                      </a:pPr>
                      <a:r>
                        <a:rPr lang="en-US" sz="1200" b="0" i="0" dirty="0">
                          <a:latin typeface="Arial"/>
                          <a:cs typeface="Arial"/>
                        </a:rPr>
                        <a:t>Non cool behavior ignoring the process or instruction.</a:t>
                      </a:r>
                    </a:p>
                    <a:p>
                      <a:pPr marL="171450" marR="0" lvl="0" indent="-171450" algn="l">
                        <a:lnSpc>
                          <a:spcPct val="100000"/>
                        </a:lnSpc>
                        <a:spcBef>
                          <a:spcPts val="0"/>
                        </a:spcBef>
                        <a:spcAft>
                          <a:spcPts val="0"/>
                        </a:spcAft>
                        <a:buClrTx/>
                        <a:buSzTx/>
                        <a:buFont typeface="Calibri"/>
                        <a:buChar char="-"/>
                      </a:pPr>
                      <a:endParaRPr lang="en-US" sz="1200" b="0" i="0">
                        <a:latin typeface="Arial"/>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1293065">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77"/>
                          <a:cs typeface="Arial"/>
                        </a:rPr>
                        <a:t>Curiosity &amp; Creativeness</a:t>
                      </a: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rtl="0" eaLnBrk="1" fontAlgn="auto" latinLnBrk="0" hangingPunct="1">
                        <a:lnSpc>
                          <a:spcPct val="100000"/>
                        </a:lnSpc>
                        <a:spcBef>
                          <a:spcPts val="0"/>
                        </a:spcBef>
                        <a:spcAft>
                          <a:spcPts val="0"/>
                        </a:spcAft>
                        <a:buClr>
                          <a:srgbClr val="000000"/>
                        </a:buClr>
                        <a:buSzTx/>
                        <a:buFont typeface="Calibri,Sans-Serif"/>
                        <a:buChar char="-"/>
                      </a:pPr>
                      <a:r>
                        <a:rPr lang="en-US" sz="1200" b="0" i="0" dirty="0">
                          <a:latin typeface="Arial"/>
                          <a:ea typeface="Riforma LL" panose="020B0504020101020102" pitchFamily="34" charset="0"/>
                          <a:cs typeface="Arial"/>
                        </a:rPr>
                        <a:t>Going to see a new customer who has never ordered before.</a:t>
                      </a:r>
                      <a:endParaRPr lang="en-US" dirty="0"/>
                    </a:p>
                    <a:p>
                      <a:pPr marL="171450" marR="0" lvl="0" indent="-171450" algn="l">
                        <a:lnSpc>
                          <a:spcPct val="100000"/>
                        </a:lnSpc>
                        <a:spcBef>
                          <a:spcPts val="0"/>
                        </a:spcBef>
                        <a:spcAft>
                          <a:spcPts val="0"/>
                        </a:spcAft>
                        <a:buClr>
                          <a:srgbClr val="000000"/>
                        </a:buClr>
                        <a:buSzTx/>
                        <a:buFont typeface="Calibri,Sans-Serif"/>
                        <a:buChar char="-"/>
                      </a:pPr>
                      <a:r>
                        <a:rPr lang="en-US" sz="1200" b="0" i="0" u="none" strike="noStrike" noProof="0" dirty="0">
                          <a:solidFill>
                            <a:srgbClr val="000000"/>
                          </a:solidFill>
                          <a:latin typeface="Arial"/>
                        </a:rPr>
                        <a:t>Implementing new ways of tracking performance.</a:t>
                      </a:r>
                    </a:p>
                    <a:p>
                      <a:pPr marL="171450" marR="0" lvl="0" indent="-171450" algn="l">
                        <a:lnSpc>
                          <a:spcPct val="100000"/>
                        </a:lnSpc>
                        <a:spcBef>
                          <a:spcPts val="0"/>
                        </a:spcBef>
                        <a:spcAft>
                          <a:spcPts val="0"/>
                        </a:spcAft>
                        <a:buClr>
                          <a:srgbClr val="000000"/>
                        </a:buClr>
                        <a:buSzTx/>
                        <a:buFont typeface="Calibri,Sans-Serif"/>
                        <a:buChar char="-"/>
                      </a:pPr>
                      <a:r>
                        <a:rPr lang="en-US" sz="1200" b="0" i="0" u="none" strike="noStrike" noProof="0" dirty="0">
                          <a:solidFill>
                            <a:srgbClr val="000000"/>
                          </a:solidFill>
                          <a:latin typeface="Arial"/>
                        </a:rPr>
                        <a:t>Looking for new ways of doing business</a:t>
                      </a:r>
                    </a:p>
                    <a:p>
                      <a:pPr marL="171450" marR="0" lvl="0" indent="-171450" algn="l">
                        <a:lnSpc>
                          <a:spcPct val="100000"/>
                        </a:lnSpc>
                        <a:spcBef>
                          <a:spcPts val="0"/>
                        </a:spcBef>
                        <a:spcAft>
                          <a:spcPts val="0"/>
                        </a:spcAft>
                        <a:buClr>
                          <a:srgbClr val="000000"/>
                        </a:buClr>
                        <a:buSzTx/>
                        <a:buFont typeface="Calibri,Sans-Serif"/>
                        <a:buChar char="-"/>
                      </a:pPr>
                      <a:r>
                        <a:rPr lang="en-US" sz="1200" b="0" i="0" u="none" strike="noStrike" noProof="0" dirty="0">
                          <a:solidFill>
                            <a:srgbClr val="000000"/>
                          </a:solidFill>
                          <a:latin typeface="Arial"/>
                        </a:rPr>
                        <a:t>Introducing new products.</a:t>
                      </a:r>
                      <a:endParaRPr lang="en-US" sz="1200" b="0" i="0" dirty="0">
                        <a:latin typeface="Arial"/>
                        <a:ea typeface="Riforma LL" panose="020B0504020101020102" pitchFamily="34" charset="0"/>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rtl="0" eaLnBrk="1" fontAlgn="auto" latinLnBrk="0" hangingPunct="1">
                        <a:lnSpc>
                          <a:spcPct val="100000"/>
                        </a:lnSpc>
                        <a:spcBef>
                          <a:spcPts val="0"/>
                        </a:spcBef>
                        <a:spcAft>
                          <a:spcPts val="0"/>
                        </a:spcAft>
                        <a:buClrTx/>
                        <a:buSzTx/>
                        <a:buFont typeface="Calibri"/>
                        <a:buChar char="-"/>
                      </a:pPr>
                      <a:r>
                        <a:rPr lang="en-US" sz="1200" b="0" i="0" dirty="0">
                          <a:latin typeface="Arial"/>
                          <a:ea typeface="Riforma LL" panose="020B0504020101020102" pitchFamily="34" charset="0"/>
                          <a:cs typeface="Arial"/>
                        </a:rPr>
                        <a:t>Not seeing new customers only visiting the ones we know.</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1176689">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a:ea typeface="Riforma LL" panose="020B0504020101020102" pitchFamily="34" charset="77"/>
                          <a:cs typeface="Arial"/>
                        </a:rPr>
                        <a:t>Punctuality</a:t>
                      </a: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rtl="0" eaLnBrk="1" fontAlgn="auto" latinLnBrk="0" hangingPunct="1">
                        <a:lnSpc>
                          <a:spcPct val="100000"/>
                        </a:lnSpc>
                        <a:spcBef>
                          <a:spcPts val="0"/>
                        </a:spcBef>
                        <a:spcAft>
                          <a:spcPts val="0"/>
                        </a:spcAft>
                        <a:buClrTx/>
                        <a:buSzTx/>
                        <a:buFont typeface="Calibri"/>
                        <a:buChar char="-"/>
                      </a:pPr>
                      <a:r>
                        <a:rPr lang="en-US" sz="1200" b="1" i="0" dirty="0">
                          <a:latin typeface="Arial"/>
                          <a:ea typeface="Riforma LL" panose="020B0504020101020102" pitchFamily="34" charset="0"/>
                          <a:cs typeface="Arial"/>
                        </a:rPr>
                        <a:t>Being on time to meetings and to the work scheduled</a:t>
                      </a:r>
                    </a:p>
                    <a:p>
                      <a:pPr marL="171450" marR="0" lvl="0" indent="-171450" algn="l">
                        <a:lnSpc>
                          <a:spcPct val="100000"/>
                        </a:lnSpc>
                        <a:spcBef>
                          <a:spcPts val="0"/>
                        </a:spcBef>
                        <a:spcAft>
                          <a:spcPts val="0"/>
                        </a:spcAft>
                        <a:buClrTx/>
                        <a:buSzTx/>
                        <a:buFont typeface="Calibri"/>
                        <a:buChar char="-"/>
                      </a:pPr>
                      <a:r>
                        <a:rPr lang="en-US" sz="1200" b="1" i="0" dirty="0">
                          <a:latin typeface="Arial"/>
                          <a:cs typeface="Arial"/>
                        </a:rPr>
                        <a:t>Delivering the order within 48 hours for local orders. For export orders within 7 working days of confirmed order.</a:t>
                      </a:r>
                    </a:p>
                    <a:p>
                      <a:pPr marL="171450" marR="0" lvl="0" indent="-171450" algn="l">
                        <a:lnSpc>
                          <a:spcPct val="100000"/>
                        </a:lnSpc>
                        <a:spcBef>
                          <a:spcPts val="0"/>
                        </a:spcBef>
                        <a:spcAft>
                          <a:spcPts val="0"/>
                        </a:spcAft>
                        <a:buClrTx/>
                        <a:buSzTx/>
                        <a:buFont typeface="Calibri"/>
                        <a:buChar char="-"/>
                      </a:pPr>
                      <a:r>
                        <a:rPr lang="en-US" sz="1200" b="0" i="0" dirty="0">
                          <a:latin typeface="Arial"/>
                          <a:cs typeface="Arial"/>
                        </a:rPr>
                        <a:t>Doing Maintenace on time.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rtl="0" eaLnBrk="1" fontAlgn="auto" latinLnBrk="0" hangingPunct="1">
                        <a:lnSpc>
                          <a:spcPct val="100000"/>
                        </a:lnSpc>
                        <a:spcBef>
                          <a:spcPts val="0"/>
                        </a:spcBef>
                        <a:spcAft>
                          <a:spcPts val="0"/>
                        </a:spcAft>
                        <a:buClrTx/>
                        <a:buSzTx/>
                        <a:buFont typeface="Calibri"/>
                        <a:buChar char="-"/>
                      </a:pPr>
                      <a:r>
                        <a:rPr lang="en-US" sz="1200" b="1" i="0" dirty="0">
                          <a:latin typeface="Arial"/>
                          <a:ea typeface="Riforma LL" panose="020B0504020101020102" pitchFamily="34" charset="0"/>
                          <a:cs typeface="Arial"/>
                        </a:rPr>
                        <a:t>Missing or postponing meetings</a:t>
                      </a:r>
                    </a:p>
                    <a:p>
                      <a:pPr marL="171450" marR="0" lvl="0" indent="-171450" algn="l">
                        <a:lnSpc>
                          <a:spcPct val="100000"/>
                        </a:lnSpc>
                        <a:spcBef>
                          <a:spcPts val="0"/>
                        </a:spcBef>
                        <a:spcAft>
                          <a:spcPts val="0"/>
                        </a:spcAft>
                        <a:buClrTx/>
                        <a:buSzTx/>
                        <a:buFont typeface="Calibri"/>
                        <a:buChar char="-"/>
                      </a:pPr>
                      <a:r>
                        <a:rPr lang="en-US" sz="1200" b="1" i="0" dirty="0">
                          <a:latin typeface="Arial"/>
                          <a:ea typeface="Riforma LL" panose="020B0504020101020102" pitchFamily="34" charset="0"/>
                          <a:cs typeface="Arial"/>
                        </a:rPr>
                        <a:t>Delaying or postponing maintenance plans</a:t>
                      </a:r>
                    </a:p>
                    <a:p>
                      <a:pPr marL="171450" marR="0" lvl="0" indent="-171450" algn="l">
                        <a:lnSpc>
                          <a:spcPct val="100000"/>
                        </a:lnSpc>
                        <a:spcBef>
                          <a:spcPts val="0"/>
                        </a:spcBef>
                        <a:spcAft>
                          <a:spcPts val="0"/>
                        </a:spcAft>
                        <a:buClrTx/>
                        <a:buSzTx/>
                        <a:buFont typeface="Calibri"/>
                        <a:buChar char="-"/>
                      </a:pPr>
                      <a:r>
                        <a:rPr lang="en-US" sz="1200" b="1" i="0" dirty="0">
                          <a:latin typeface="Arial"/>
                          <a:ea typeface="Riforma LL" panose="020B0504020101020102" pitchFamily="34" charset="0"/>
                          <a:cs typeface="Arial"/>
                        </a:rPr>
                        <a:t>Delaying orders and dispatch for customers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3557090"/>
                  </a:ext>
                </a:extLst>
              </a:tr>
            </a:tbl>
          </a:graphicData>
        </a:graphic>
      </p:graphicFrame>
    </p:spTree>
    <p:extLst>
      <p:ext uri="{BB962C8B-B14F-4D97-AF65-F5344CB8AC3E}">
        <p14:creationId xmlns:p14="http://schemas.microsoft.com/office/powerpoint/2010/main" val="3110103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79AD69-02F7-7152-A53E-668687ACE44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13810" b="23275"/>
          <a:stretch/>
        </p:blipFill>
        <p:spPr>
          <a:xfrm>
            <a:off x="89040" y="88490"/>
            <a:ext cx="6907029" cy="403123"/>
          </a:xfrm>
          <a:prstGeom prst="rect">
            <a:avLst/>
          </a:prstGeom>
        </p:spPr>
      </p:pic>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2964306509"/>
              </p:ext>
            </p:extLst>
          </p:nvPr>
        </p:nvGraphicFramePr>
        <p:xfrm>
          <a:off x="276084" y="729008"/>
          <a:ext cx="9664560" cy="6493427"/>
        </p:xfrm>
        <a:graphic>
          <a:graphicData uri="http://schemas.openxmlformats.org/drawingml/2006/table">
            <a:tbl>
              <a:tblPr firstRow="1" bandRow="1">
                <a:tableStyleId>{2D5ABB26-0587-4C30-8999-92F81FD0307C}</a:tableStyleId>
              </a:tblPr>
              <a:tblGrid>
                <a:gridCol w="4854620">
                  <a:extLst>
                    <a:ext uri="{9D8B030D-6E8A-4147-A177-3AD203B41FA5}">
                      <a16:colId xmlns:a16="http://schemas.microsoft.com/office/drawing/2014/main" val="3313590318"/>
                    </a:ext>
                  </a:extLst>
                </a:gridCol>
                <a:gridCol w="4809940">
                  <a:extLst>
                    <a:ext uri="{9D8B030D-6E8A-4147-A177-3AD203B41FA5}">
                      <a16:colId xmlns:a16="http://schemas.microsoft.com/office/drawing/2014/main" val="1506629949"/>
                    </a:ext>
                  </a:extLst>
                </a:gridCol>
              </a:tblGrid>
              <a:tr h="413158">
                <a:tc>
                  <a:txBody>
                    <a:bodyPr/>
                    <a:lstStyle/>
                    <a:p>
                      <a:r>
                        <a:rPr lang="en-US" sz="1400" b="0" i="0" dirty="0">
                          <a:solidFill>
                            <a:schemeClr val="bg1"/>
                          </a:solidFill>
                          <a:latin typeface="Arial"/>
                          <a:ea typeface="Riforma LL" panose="020B0504020101020102" pitchFamily="34" charset="0"/>
                          <a:cs typeface="Arial"/>
                        </a:rPr>
                        <a:t>The 5 Most important Cool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a:ea typeface="Riforma LL" panose="020B0504020101020102" pitchFamily="34" charset="0"/>
                          <a:cs typeface="Arial"/>
                        </a:rPr>
                        <a:t>The 5 Most important Non-Cool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27707021"/>
                  </a:ext>
                </a:extLst>
              </a:tr>
              <a:tr h="1242759">
                <a:tc>
                  <a:txBody>
                    <a:bodyPr/>
                    <a:lstStyle/>
                    <a:p>
                      <a:pPr marL="0" marR="0" lvl="0" indent="0" algn="l">
                        <a:lnSpc>
                          <a:spcPct val="100000"/>
                        </a:lnSpc>
                        <a:spcBef>
                          <a:spcPts val="0"/>
                        </a:spcBef>
                        <a:spcAft>
                          <a:spcPts val="0"/>
                        </a:spcAft>
                        <a:buNone/>
                      </a:pPr>
                      <a:r>
                        <a:rPr lang="en-US" sz="1200" b="1" i="0" u="none" strike="noStrike" noProof="0" dirty="0">
                          <a:solidFill>
                            <a:srgbClr val="000000"/>
                          </a:solidFill>
                          <a:latin typeface="Arial"/>
                        </a:rPr>
                        <a:t>Admit when you are wrong and find a way to correct and improve. Integrity </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1" i="0" u="none" strike="noStrike" noProof="0" dirty="0">
                          <a:solidFill>
                            <a:srgbClr val="000000"/>
                          </a:solidFill>
                          <a:latin typeface="Arial"/>
                        </a:rPr>
                        <a:t>Staying a long time without visiting any particular customer.</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1212210">
                <a:tc>
                  <a:txBody>
                    <a:bodyPr/>
                    <a:lstStyle/>
                    <a:p>
                      <a:pPr marL="0" marR="0" lvl="0" indent="0" algn="l">
                        <a:lnSpc>
                          <a:spcPct val="100000"/>
                        </a:lnSpc>
                        <a:spcBef>
                          <a:spcPts val="0"/>
                        </a:spcBef>
                        <a:spcAft>
                          <a:spcPts val="0"/>
                        </a:spcAft>
                        <a:buNone/>
                      </a:pPr>
                      <a:r>
                        <a:rPr lang="en-US" sz="1200" b="1" i="0" u="none" strike="noStrike" noProof="0" dirty="0">
                          <a:solidFill>
                            <a:srgbClr val="000000"/>
                          </a:solidFill>
                          <a:latin typeface="Arial"/>
                        </a:rPr>
                        <a:t>Not Making the same mistake twice. Learning from your mistakes.</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1" i="0" u="none" strike="noStrike" noProof="0" dirty="0">
                          <a:solidFill>
                            <a:srgbClr val="000000"/>
                          </a:solidFill>
                          <a:latin typeface="Arial"/>
                        </a:rPr>
                        <a:t>To be inconsistent while working on a project.</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1213350">
                <a:tc>
                  <a:txBody>
                    <a:bodyPr/>
                    <a:lstStyle/>
                    <a:p>
                      <a:pPr marL="0" marR="0" lvl="0" indent="0" algn="l">
                        <a:lnSpc>
                          <a:spcPct val="100000"/>
                        </a:lnSpc>
                        <a:spcBef>
                          <a:spcPts val="0"/>
                        </a:spcBef>
                        <a:spcAft>
                          <a:spcPts val="0"/>
                        </a:spcAft>
                        <a:buNone/>
                      </a:pPr>
                      <a:r>
                        <a:rPr lang="en-US" sz="1200" b="1" i="0" u="none" strike="noStrike" noProof="0" dirty="0">
                          <a:solidFill>
                            <a:srgbClr val="000000"/>
                          </a:solidFill>
                          <a:latin typeface="Arial"/>
                        </a:rPr>
                        <a:t>The ability to take both short- and long-term projects with consistent effort. </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a:lnSpc>
                          <a:spcPct val="100000"/>
                        </a:lnSpc>
                        <a:spcBef>
                          <a:spcPts val="0"/>
                        </a:spcBef>
                        <a:spcAft>
                          <a:spcPts val="0"/>
                        </a:spcAft>
                        <a:buClr>
                          <a:srgbClr val="000000"/>
                        </a:buClr>
                        <a:buFont typeface="Calibri,Sans-Serif"/>
                        <a:buChar char="-"/>
                      </a:pPr>
                      <a:r>
                        <a:rPr lang="en-US" sz="1200" b="1" i="0" u="none" strike="noStrike" noProof="0" dirty="0">
                          <a:solidFill>
                            <a:srgbClr val="000000"/>
                          </a:solidFill>
                          <a:latin typeface="Arial"/>
                        </a:rPr>
                        <a:t>Delaying or postponing maintenance and production plans.</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1199740">
                <a:tc>
                  <a:txBody>
                    <a:bodyPr/>
                    <a:lstStyle/>
                    <a:p>
                      <a:pPr marL="0" marR="0" lvl="0" indent="0" algn="l">
                        <a:lnSpc>
                          <a:spcPct val="100000"/>
                        </a:lnSpc>
                        <a:spcBef>
                          <a:spcPts val="0"/>
                        </a:spcBef>
                        <a:spcAft>
                          <a:spcPts val="0"/>
                        </a:spcAft>
                        <a:buNone/>
                      </a:pPr>
                      <a:r>
                        <a:rPr lang="en-US" sz="1200" b="1" i="0" u="none" strike="noStrike" noProof="0" dirty="0">
                          <a:solidFill>
                            <a:srgbClr val="000000"/>
                          </a:solidFill>
                          <a:latin typeface="Arial"/>
                        </a:rPr>
                        <a:t>Delivering the order within 48 hours for local orders. For export orders within 7 working days of confirmed order.</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1" i="0" u="none" strike="noStrike" noProof="0" dirty="0">
                          <a:solidFill>
                            <a:srgbClr val="000000"/>
                          </a:solidFill>
                          <a:latin typeface="Arial"/>
                        </a:rPr>
                        <a:t>Delaying orders and dispatch for customers with poor communication</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1212210">
                <a:tc>
                  <a:txBody>
                    <a:bodyPr/>
                    <a:lstStyle/>
                    <a:p>
                      <a:pPr marL="0" marR="0" lvl="0" indent="0" algn="l">
                        <a:lnSpc>
                          <a:spcPct val="100000"/>
                        </a:lnSpc>
                        <a:spcBef>
                          <a:spcPts val="0"/>
                        </a:spcBef>
                        <a:spcAft>
                          <a:spcPts val="0"/>
                        </a:spcAft>
                        <a:buNone/>
                      </a:pPr>
                      <a:r>
                        <a:rPr lang="en-US" sz="1200" b="1" i="0" u="none" strike="noStrike" noProof="0" dirty="0">
                          <a:solidFill>
                            <a:srgbClr val="000000"/>
                          </a:solidFill>
                          <a:latin typeface="Arial"/>
                        </a:rPr>
                        <a:t>Being on time to meetings and to the work scheduled</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1" i="0" u="none" strike="noStrike" noProof="0" dirty="0">
                          <a:solidFill>
                            <a:srgbClr val="000000"/>
                          </a:solidFill>
                          <a:latin typeface="Arial"/>
                        </a:rPr>
                        <a:t>Missing or postponing meetings. </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bl>
          </a:graphicData>
        </a:graphic>
      </p:graphicFrame>
    </p:spTree>
    <p:extLst>
      <p:ext uri="{BB962C8B-B14F-4D97-AF65-F5344CB8AC3E}">
        <p14:creationId xmlns:p14="http://schemas.microsoft.com/office/powerpoint/2010/main" val="662839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ack text on a white background&#10;&#10;Description automatically generated">
            <a:extLst>
              <a:ext uri="{FF2B5EF4-FFF2-40B4-BE49-F238E27FC236}">
                <a16:creationId xmlns:a16="http://schemas.microsoft.com/office/drawing/2014/main" id="{593BFF4C-FC00-5FF9-A59C-9D7C4123D480}"/>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112489" y="1"/>
            <a:ext cx="5273451" cy="671166"/>
          </a:xfrm>
          <a:prstGeom prst="rect">
            <a:avLst/>
          </a:prstGeom>
        </p:spPr>
      </p:pic>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1956589579"/>
              </p:ext>
            </p:extLst>
          </p:nvPr>
        </p:nvGraphicFramePr>
        <p:xfrm>
          <a:off x="248572" y="726190"/>
          <a:ext cx="9684946" cy="6654470"/>
        </p:xfrm>
        <a:graphic>
          <a:graphicData uri="http://schemas.openxmlformats.org/drawingml/2006/table">
            <a:tbl>
              <a:tblPr firstRow="1" bandRow="1">
                <a:tableStyleId>{2D5ABB26-0587-4C30-8999-92F81FD0307C}</a:tableStyleId>
              </a:tblPr>
              <a:tblGrid>
                <a:gridCol w="4875007">
                  <a:extLst>
                    <a:ext uri="{9D8B030D-6E8A-4147-A177-3AD203B41FA5}">
                      <a16:colId xmlns:a16="http://schemas.microsoft.com/office/drawing/2014/main" val="3313590318"/>
                    </a:ext>
                  </a:extLst>
                </a:gridCol>
                <a:gridCol w="4809939">
                  <a:extLst>
                    <a:ext uri="{9D8B030D-6E8A-4147-A177-3AD203B41FA5}">
                      <a16:colId xmlns:a16="http://schemas.microsoft.com/office/drawing/2014/main" val="1506629949"/>
                    </a:ext>
                  </a:extLst>
                </a:gridCol>
              </a:tblGrid>
              <a:tr h="415905">
                <a:tc>
                  <a:txBody>
                    <a:bodyPr/>
                    <a:lstStyle/>
                    <a:p>
                      <a:r>
                        <a:rPr lang="en-US" sz="1400" b="0" i="0" dirty="0">
                          <a:solidFill>
                            <a:schemeClr val="bg1"/>
                          </a:solidFill>
                          <a:latin typeface="Arial"/>
                          <a:ea typeface="Riforma LL" panose="020B0504020101020102" pitchFamily="34" charset="0"/>
                          <a:cs typeface="Arial"/>
                        </a:rPr>
                        <a:t>Interview Questions to Discover Cool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a:ea typeface="Riforma LL" panose="020B0504020101020102" pitchFamily="34" charset="0"/>
                          <a:cs typeface="Arial"/>
                        </a:rPr>
                        <a:t>Interview Questions to Discover Non-Cool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27707021"/>
                  </a:ext>
                </a:extLst>
              </a:tr>
              <a:tr h="665446">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a:latin typeface="Arial"/>
                          <a:ea typeface="Riforma LL" panose="020B0504020101020102" pitchFamily="34" charset="0"/>
                          <a:cs typeface="Arial"/>
                        </a:rPr>
                        <a:t>Have you ever worked in a Challenging environment? What was the challenge and how did you handle the challenge?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a:ea typeface="Riforma LL" panose="020B0504020101020102" pitchFamily="34" charset="0"/>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731991">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a:latin typeface="Arial"/>
                          <a:ea typeface="Riforma LL" panose="020B0504020101020102" pitchFamily="34" charset="0"/>
                          <a:cs typeface="Arial"/>
                        </a:rPr>
                        <a:t>What is the biggest project you have worked on for your previous company? For example, what was your biggest sale how did you achieve this?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a:ea typeface="Riforma LL" panose="020B0504020101020102" pitchFamily="34" charset="0"/>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964898">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a:latin typeface="Arial"/>
                          <a:ea typeface="Riforma LL" panose="020B0504020101020102" pitchFamily="34" charset="0"/>
                          <a:cs typeface="Arial"/>
                        </a:rPr>
                        <a:t>Can you give us an example of a difficult decision you had to make?</a:t>
                      </a:r>
                      <a:br>
                        <a:rPr lang="en-US" sz="1400" b="0" i="0" dirty="0">
                          <a:latin typeface="Arial"/>
                          <a:ea typeface="Riforma LL" panose="020B0504020101020102" pitchFamily="34" charset="0"/>
                          <a:cs typeface="Arial"/>
                        </a:rPr>
                      </a:br>
                      <a:r>
                        <a:rPr lang="en-US" sz="1400" b="0" i="0" dirty="0">
                          <a:latin typeface="Arial"/>
                          <a:ea typeface="Riforma LL" panose="020B0504020101020102" pitchFamily="34" charset="0"/>
                          <a:cs typeface="Arial"/>
                        </a:rPr>
                        <a:t>Describe a decision where you had to make a difficult ethical decision at work?</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a:ea typeface="Riforma LL" panose="020B0504020101020102" pitchFamily="34" charset="0"/>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632175">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a:latin typeface="Arial"/>
                          <a:ea typeface="Riforma LL" panose="020B0504020101020102" pitchFamily="34" charset="0"/>
                          <a:cs typeface="Arial"/>
                        </a:rPr>
                        <a:t>In your work experience, Can you give us an example of when you were wrong and how you handled the situation?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a:ea typeface="Riforma LL" panose="020B0504020101020102" pitchFamily="34" charset="0"/>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648811">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a:latin typeface="Arial"/>
                          <a:ea typeface="Riforma LL" panose="020B0504020101020102" pitchFamily="34" charset="0"/>
                          <a:cs typeface="Arial"/>
                        </a:rPr>
                        <a:t>How would handle a work conflict with a fellow colleagues?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a:ea typeface="Riforma LL" panose="020B0504020101020102" pitchFamily="34" charset="0"/>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r h="648811">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a:latin typeface="Arial"/>
                          <a:ea typeface="Riforma LL" panose="020B0504020101020102" pitchFamily="34" charset="0"/>
                          <a:cs typeface="Arial"/>
                        </a:rPr>
                        <a:t>What new subject matter have you learnt? How did you learn about it? And what inspired you to learn it?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a:ea typeface="Riforma LL" panose="020B0504020101020102" pitchFamily="34" charset="0"/>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52526878"/>
                  </a:ext>
                </a:extLst>
              </a:tr>
              <a:tr h="648811">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a:latin typeface="Arial"/>
                          <a:ea typeface="Riforma LL" panose="020B0504020101020102" pitchFamily="34" charset="0"/>
                          <a:cs typeface="Arial"/>
                        </a:rPr>
                        <a:t>Is there anything that you had to do that is unethical at work?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latin typeface="Arial"/>
                        <a:ea typeface="Riforma LL" panose="020B0504020101020102" pitchFamily="34" charset="0"/>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60774"/>
                  </a:ext>
                </a:extLst>
              </a:tr>
              <a:tr h="648811">
                <a:tc>
                  <a:txBody>
                    <a:bodyPr/>
                    <a:lstStyle/>
                    <a:p>
                      <a:pPr marL="0" lvl="0" indent="0" algn="l">
                        <a:lnSpc>
                          <a:spcPct val="100000"/>
                        </a:lnSpc>
                        <a:spcBef>
                          <a:spcPts val="0"/>
                        </a:spcBef>
                        <a:spcAft>
                          <a:spcPts val="0"/>
                        </a:spcAft>
                        <a:buNone/>
                      </a:pPr>
                      <a:r>
                        <a:rPr lang="en-US" sz="1400" b="0" i="0" dirty="0">
                          <a:latin typeface="Arial"/>
                          <a:ea typeface="Riforma LL" panose="020B0504020101020102" pitchFamily="34" charset="0"/>
                          <a:cs typeface="Arial"/>
                        </a:rPr>
                        <a:t>Give us an example of a difficult situation you have had at work and how you dealt with it? </a:t>
                      </a:r>
                    </a:p>
                  </a:txBody>
                  <a:tcP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tcPr>
                </a:tc>
                <a:tc>
                  <a:txBody>
                    <a:bodyPr/>
                    <a:lstStyle/>
                    <a:p>
                      <a:pPr marL="0" lvl="0" indent="0" algn="l" defTabSz="913760">
                        <a:lnSpc>
                          <a:spcPct val="100000"/>
                        </a:lnSpc>
                        <a:spcBef>
                          <a:spcPts val="0"/>
                        </a:spcBef>
                        <a:spcAft>
                          <a:spcPts val="0"/>
                        </a:spcAft>
                        <a:buNone/>
                        <a:tabLst/>
                        <a:defRPr/>
                      </a:pPr>
                      <a:endParaRPr lang="en-US" sz="1400" b="0" i="0">
                        <a:latin typeface="Arial"/>
                        <a:ea typeface="Riforma LL" panose="020B0504020101020102" pitchFamily="34" charset="0"/>
                        <a:cs typeface="Arial"/>
                      </a:endParaRPr>
                    </a:p>
                  </a:txBody>
                  <a:tcP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tcPr>
                </a:tc>
                <a:extLst>
                  <a:ext uri="{0D108BD9-81ED-4DB2-BD59-A6C34878D82A}">
                    <a16:rowId xmlns:a16="http://schemas.microsoft.com/office/drawing/2014/main" val="409594982"/>
                  </a:ext>
                </a:extLst>
              </a:tr>
              <a:tr h="648811">
                <a:tc>
                  <a:txBody>
                    <a:bodyPr/>
                    <a:lstStyle/>
                    <a:p>
                      <a:pPr marL="0" lvl="0" indent="0" algn="l">
                        <a:lnSpc>
                          <a:spcPct val="100000"/>
                        </a:lnSpc>
                        <a:spcBef>
                          <a:spcPts val="0"/>
                        </a:spcBef>
                        <a:spcAft>
                          <a:spcPts val="0"/>
                        </a:spcAft>
                        <a:buNone/>
                      </a:pPr>
                      <a:endParaRPr lang="en-US" sz="1400" b="0" i="0">
                        <a:latin typeface="Arial"/>
                        <a:ea typeface="Riforma LL" panose="020B0504020101020102" pitchFamily="34" charset="0"/>
                        <a:cs typeface="Arial"/>
                      </a:endParaRPr>
                    </a:p>
                  </a:txBody>
                  <a:tcP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tcPr>
                </a:tc>
                <a:tc>
                  <a:txBody>
                    <a:bodyPr/>
                    <a:lstStyle/>
                    <a:p>
                      <a:pPr marL="0" lvl="0" indent="0" algn="l" defTabSz="913760">
                        <a:lnSpc>
                          <a:spcPct val="100000"/>
                        </a:lnSpc>
                        <a:spcBef>
                          <a:spcPts val="0"/>
                        </a:spcBef>
                        <a:spcAft>
                          <a:spcPts val="0"/>
                        </a:spcAft>
                        <a:buNone/>
                        <a:tabLst/>
                        <a:defRPr/>
                      </a:pPr>
                      <a:endParaRPr lang="en-US" sz="1400" b="0" i="0">
                        <a:latin typeface="Arial"/>
                        <a:ea typeface="Riforma LL" panose="020B0504020101020102" pitchFamily="34" charset="0"/>
                        <a:cs typeface="Arial"/>
                      </a:endParaRPr>
                    </a:p>
                  </a:txBody>
                  <a:tcP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tcPr>
                </a:tc>
                <a:extLst>
                  <a:ext uri="{0D108BD9-81ED-4DB2-BD59-A6C34878D82A}">
                    <a16:rowId xmlns:a16="http://schemas.microsoft.com/office/drawing/2014/main" val="1505175403"/>
                  </a:ext>
                </a:extLst>
              </a:tr>
            </a:tbl>
          </a:graphicData>
        </a:graphic>
      </p:graphicFrame>
    </p:spTree>
    <p:extLst>
      <p:ext uri="{BB962C8B-B14F-4D97-AF65-F5344CB8AC3E}">
        <p14:creationId xmlns:p14="http://schemas.microsoft.com/office/powerpoint/2010/main" val="2521260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49CE44-6E1A-2728-E184-D8AA5B92C3D9}"/>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15441"/>
          <a:stretch/>
        </p:blipFill>
        <p:spPr>
          <a:xfrm>
            <a:off x="67524" y="86061"/>
            <a:ext cx="5959744" cy="589155"/>
          </a:xfrm>
          <a:prstGeom prst="rect">
            <a:avLst/>
          </a:prstGeom>
        </p:spPr>
      </p:pic>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165847861"/>
              </p:ext>
            </p:extLst>
          </p:nvPr>
        </p:nvGraphicFramePr>
        <p:xfrm>
          <a:off x="113789" y="682704"/>
          <a:ext cx="9998089" cy="6568198"/>
        </p:xfrm>
        <a:graphic>
          <a:graphicData uri="http://schemas.openxmlformats.org/drawingml/2006/table">
            <a:tbl>
              <a:tblPr firstRow="1" bandRow="1">
                <a:tableStyleId>{2D5ABB26-0587-4C30-8999-92F81FD0307C}</a:tableStyleId>
              </a:tblPr>
              <a:tblGrid>
                <a:gridCol w="6074105">
                  <a:extLst>
                    <a:ext uri="{9D8B030D-6E8A-4147-A177-3AD203B41FA5}">
                      <a16:colId xmlns:a16="http://schemas.microsoft.com/office/drawing/2014/main" val="3308902235"/>
                    </a:ext>
                  </a:extLst>
                </a:gridCol>
                <a:gridCol w="2019428">
                  <a:extLst>
                    <a:ext uri="{9D8B030D-6E8A-4147-A177-3AD203B41FA5}">
                      <a16:colId xmlns:a16="http://schemas.microsoft.com/office/drawing/2014/main" val="3313590318"/>
                    </a:ext>
                  </a:extLst>
                </a:gridCol>
                <a:gridCol w="1904556">
                  <a:extLst>
                    <a:ext uri="{9D8B030D-6E8A-4147-A177-3AD203B41FA5}">
                      <a16:colId xmlns:a16="http://schemas.microsoft.com/office/drawing/2014/main" val="674830108"/>
                    </a:ext>
                  </a:extLst>
                </a:gridCol>
              </a:tblGrid>
              <a:tr h="28260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a:ea typeface="Riforma LL" panose="020B0504020101020102" pitchFamily="34" charset="77"/>
                          <a:cs typeface="Arial"/>
                        </a:rPr>
                        <a:t>Idea to implement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400" b="0" i="0" dirty="0">
                          <a:solidFill>
                            <a:schemeClr val="bg1"/>
                          </a:solidFill>
                          <a:latin typeface="Arial"/>
                          <a:ea typeface="Riforma LL" panose="020B0504020101020102" pitchFamily="34" charset="77"/>
                          <a:cs typeface="Arial"/>
                        </a:rPr>
                        <a:t>Who</a:t>
                      </a:r>
                      <a:endParaRPr lang="en-US" sz="1400" b="0" i="0" dirty="0">
                        <a:solidFill>
                          <a:schemeClr val="bg1"/>
                        </a:solidFill>
                        <a:latin typeface="Arial"/>
                        <a:ea typeface="Riforma LL" panose="020B0504020101020102" pitchFamily="34" charset="0"/>
                        <a:cs typeface="Aria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400" b="0" i="0" dirty="0">
                          <a:solidFill>
                            <a:schemeClr val="bg1"/>
                          </a:solidFill>
                          <a:latin typeface="Arial"/>
                          <a:ea typeface="Riforma LL" panose="020B0504020101020102" pitchFamily="34" charset="0"/>
                          <a:cs typeface="Arial"/>
                        </a:rPr>
                        <a:t>When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423905">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77"/>
                          <a:cs typeface="Arial"/>
                        </a:rPr>
                        <a:t>To send birthday messages to all employees - courtesy</a:t>
                      </a: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a:ea typeface="Riforma LL" panose="020B0504020101020102" pitchFamily="34" charset="0"/>
                          <a:cs typeface="Arial"/>
                        </a:rPr>
                        <a:t>Arjun</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a:ea typeface="Riforma LL" panose="020B0504020101020102" pitchFamily="34" charset="0"/>
                          <a:cs typeface="Arial"/>
                        </a:rPr>
                        <a:t>Immediately</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423905">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77"/>
                          <a:cs typeface="Arial"/>
                        </a:rPr>
                        <a:t>Using data to track new customer visits – Curiosity </a:t>
                      </a: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a:ea typeface="Riforma LL" panose="020B0504020101020102" pitchFamily="34" charset="0"/>
                          <a:cs typeface="Arial"/>
                        </a:rPr>
                        <a:t>Arjun</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0"/>
                          <a:cs typeface="Arial"/>
                        </a:rPr>
                        <a:t>Immediately </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593467">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77"/>
                          <a:cs typeface="Arial"/>
                        </a:rPr>
                        <a:t>To Send emails to the best performing team members and highlighting their individual success and learning from them what they did best – on weekly sales calls</a:t>
                      </a:r>
                      <a:br>
                        <a:rPr lang="en-US" sz="1200" b="0" i="0" dirty="0">
                          <a:latin typeface="Arial"/>
                          <a:ea typeface="Riforma LL" panose="020B0504020101020102" pitchFamily="34" charset="77"/>
                          <a:cs typeface="Arial"/>
                        </a:rPr>
                      </a:br>
                      <a:r>
                        <a:rPr lang="en-US" sz="1200" b="0" i="0" dirty="0">
                          <a:latin typeface="Arial"/>
                          <a:ea typeface="Riforma LL" panose="020B0504020101020102" pitchFamily="34" charset="77"/>
                          <a:cs typeface="Arial"/>
                        </a:rPr>
                        <a:t>(Sales - Person of the week!)</a:t>
                      </a: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a:ea typeface="Riforma LL" panose="020B0504020101020102" pitchFamily="34" charset="0"/>
                          <a:cs typeface="Arial"/>
                        </a:rPr>
                        <a:t>Eric</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0"/>
                          <a:cs typeface="Arial"/>
                        </a:rPr>
                        <a:t>Every Monday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423905">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77"/>
                          <a:cs typeface="Arial"/>
                        </a:rPr>
                        <a:t>Being transparent – sharing with the Sales managers their individual data monthly </a:t>
                      </a:r>
                    </a:p>
                    <a:p>
                      <a:pPr marL="0" marR="0" lvl="0" indent="0" algn="l">
                        <a:lnSpc>
                          <a:spcPct val="100000"/>
                        </a:lnSpc>
                        <a:spcBef>
                          <a:spcPts val="0"/>
                        </a:spcBef>
                        <a:spcAft>
                          <a:spcPts val="0"/>
                        </a:spcAft>
                        <a:buClrTx/>
                        <a:buSzTx/>
                        <a:buFontTx/>
                        <a:buNone/>
                      </a:pPr>
                      <a:endParaRPr lang="en-US" sz="1200" b="0" i="0">
                        <a:latin typeface="Arial"/>
                        <a:ea typeface="Riforma LL" panose="020B0504020101020102" pitchFamily="34" charset="77"/>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a:ea typeface="Riforma LL" panose="020B0504020101020102" pitchFamily="34" charset="0"/>
                          <a:cs typeface="Arial"/>
                        </a:rPr>
                        <a:t>Alfred</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a:ea typeface="Riforma LL" panose="020B0504020101020102" pitchFamily="34" charset="0"/>
                          <a:cs typeface="Arial"/>
                        </a:rPr>
                        <a:t>Monthly</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593467">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77"/>
                          <a:cs typeface="Arial"/>
                        </a:rPr>
                        <a:t>Dispatch Meeting – Sales Manager to confirm the product has been delivered and Abhay to confirm the product has been dispatched.</a:t>
                      </a:r>
                      <a:br>
                        <a:rPr lang="en-US" sz="1200" b="0" i="0" dirty="0">
                          <a:latin typeface="Arial"/>
                          <a:ea typeface="Riforma LL" panose="020B0504020101020102" pitchFamily="34" charset="77"/>
                          <a:cs typeface="Arial"/>
                        </a:rPr>
                      </a:br>
                      <a:br>
                        <a:rPr lang="en-US" sz="1200" b="0" i="0" dirty="0">
                          <a:latin typeface="Arial"/>
                          <a:ea typeface="Riforma LL" panose="020B0504020101020102" pitchFamily="34" charset="77"/>
                          <a:cs typeface="Arial"/>
                        </a:rPr>
                      </a:br>
                      <a:r>
                        <a:rPr lang="en-US" sz="1200" b="0" i="0" dirty="0">
                          <a:latin typeface="Arial"/>
                          <a:ea typeface="Riforma LL" panose="020B0504020101020102" pitchFamily="34" charset="77"/>
                          <a:cs typeface="Arial"/>
                        </a:rPr>
                        <a:t>Also a thank you for your order email and text message to be sent.</a:t>
                      </a:r>
                      <a:br>
                        <a:rPr lang="en-US" sz="1200" b="0" i="0" dirty="0">
                          <a:latin typeface="Arial"/>
                          <a:ea typeface="Riforma LL" panose="020B0504020101020102" pitchFamily="34" charset="77"/>
                          <a:cs typeface="Arial"/>
                        </a:rPr>
                      </a:br>
                      <a:endParaRPr lang="en-US" sz="1200" b="0" i="0" dirty="0">
                        <a:latin typeface="Arial"/>
                        <a:ea typeface="Riforma LL" panose="020B0504020101020102" pitchFamily="34" charset="77"/>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0"/>
                          <a:cs typeface="Arial"/>
                        </a:rPr>
                        <a:t>Sales Mangers </a:t>
                      </a:r>
                      <a:br>
                        <a:rPr lang="en-US" sz="1200" b="0" i="0" dirty="0">
                          <a:latin typeface="Arial"/>
                          <a:ea typeface="Riforma LL" panose="020B0504020101020102" pitchFamily="34" charset="0"/>
                          <a:cs typeface="Arial"/>
                        </a:rPr>
                      </a:br>
                      <a:r>
                        <a:rPr lang="en-US" sz="1200" b="0" i="0" dirty="0">
                          <a:latin typeface="Arial"/>
                          <a:ea typeface="Riforma LL" panose="020B0504020101020102" pitchFamily="34" charset="0"/>
                          <a:cs typeface="Arial"/>
                        </a:rPr>
                        <a:t>&amp; Abhay.</a:t>
                      </a:r>
                      <a:br>
                        <a:rPr lang="en-US" sz="1200" b="0" i="0" dirty="0">
                          <a:latin typeface="Arial"/>
                          <a:ea typeface="Riforma LL" panose="020B0504020101020102" pitchFamily="34" charset="0"/>
                          <a:cs typeface="Arial"/>
                        </a:rPr>
                      </a:br>
                      <a:br>
                        <a:rPr lang="en-US" sz="1200" b="0" i="0" dirty="0">
                          <a:latin typeface="Arial"/>
                          <a:ea typeface="Riforma LL" panose="020B0504020101020102" pitchFamily="34" charset="0"/>
                          <a:cs typeface="Arial"/>
                        </a:rPr>
                      </a:br>
                      <a:r>
                        <a:rPr lang="en-US" sz="1200" b="0" i="0" dirty="0" err="1">
                          <a:latin typeface="Arial"/>
                          <a:ea typeface="Riforma LL" panose="020B0504020101020102" pitchFamily="34" charset="0"/>
                          <a:cs typeface="Arial"/>
                        </a:rPr>
                        <a:t>Navishka</a:t>
                      </a:r>
                      <a:r>
                        <a:rPr lang="en-US" sz="1200" b="0" i="0" dirty="0">
                          <a:latin typeface="Arial"/>
                          <a:ea typeface="Riforma LL" panose="020B0504020101020102" pitchFamily="34" charset="0"/>
                          <a:cs typeface="Arial"/>
                        </a:rPr>
                        <a:t>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0"/>
                          <a:cs typeface="Arial"/>
                        </a:rPr>
                        <a:t>Weekly</a:t>
                      </a:r>
                      <a:br>
                        <a:rPr lang="en-US" sz="1200" b="0" i="0" dirty="0">
                          <a:latin typeface="Arial"/>
                          <a:ea typeface="Riforma LL" panose="020B0504020101020102" pitchFamily="34" charset="0"/>
                          <a:cs typeface="Arial"/>
                        </a:rPr>
                      </a:br>
                      <a:r>
                        <a:rPr lang="en-US" sz="1200" b="0" i="0" dirty="0">
                          <a:latin typeface="Arial"/>
                          <a:ea typeface="Riforma LL" panose="020B0504020101020102" pitchFamily="34" charset="0"/>
                          <a:cs typeface="Arial"/>
                        </a:rPr>
                        <a:t>on </a:t>
                      </a:r>
                      <a:r>
                        <a:rPr lang="en-US" sz="1200" b="0" i="0" dirty="0" err="1">
                          <a:latin typeface="Arial"/>
                          <a:ea typeface="Riforma LL" panose="020B0504020101020102" pitchFamily="34" charset="0"/>
                          <a:cs typeface="Arial"/>
                        </a:rPr>
                        <a:t>fridays</a:t>
                      </a:r>
                      <a:endParaRPr lang="en-US" sz="1200" b="0" i="0" dirty="0" err="1">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r h="409774">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77"/>
                          <a:cs typeface="Arial"/>
                        </a:rPr>
                        <a:t>Production Plan calls – weekly (Mathew, Macharia, Abhay, Arjun)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a:ea typeface="Riforma LL" panose="020B0504020101020102" pitchFamily="34" charset="0"/>
                          <a:cs typeface="Arial"/>
                        </a:rPr>
                        <a:t>Baskaran</a:t>
                      </a:r>
                      <a:endParaRPr lang="en-US" sz="1200" b="0" i="0" dirty="0" err="1">
                        <a:latin typeface="Arial"/>
                        <a:ea typeface="Riforma LL" panose="020B0504020101020102" pitchFamily="34" charset="0"/>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0"/>
                          <a:cs typeface="Arial"/>
                        </a:rPr>
                        <a:t>Weekly</a:t>
                      </a:r>
                      <a:br>
                        <a:rPr lang="en-US" sz="1200" b="0" i="0" dirty="0">
                          <a:latin typeface="Arial"/>
                          <a:ea typeface="Riforma LL" panose="020B0504020101020102" pitchFamily="34" charset="0"/>
                          <a:cs typeface="Arial"/>
                        </a:rPr>
                      </a:br>
                      <a:r>
                        <a:rPr lang="en-US" sz="1200" b="0" i="0" dirty="0">
                          <a:latin typeface="Arial"/>
                          <a:ea typeface="Riforma LL" panose="020B0504020101020102" pitchFamily="34" charset="0"/>
                          <a:cs typeface="Arial"/>
                        </a:rPr>
                        <a:t>on Monday</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3557090"/>
                  </a:ext>
                </a:extLst>
              </a:tr>
              <a:tr h="423905">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77"/>
                          <a:cs typeface="Arial"/>
                        </a:rPr>
                        <a:t>Sales and Marketing Calls – Meera, Arjun and whole team</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a:ea typeface="Riforma LL" panose="020B0504020101020102" pitchFamily="34" charset="0"/>
                          <a:cs typeface="Arial"/>
                        </a:rPr>
                        <a:t>Eric</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0"/>
                          <a:cs typeface="Arial"/>
                        </a:rPr>
                        <a:t>Weekly</a:t>
                      </a:r>
                      <a:br>
                        <a:rPr lang="en-US" sz="1200" b="0" i="0" dirty="0">
                          <a:latin typeface="Arial"/>
                          <a:ea typeface="Riforma LL" panose="020B0504020101020102" pitchFamily="34" charset="0"/>
                          <a:cs typeface="Arial"/>
                        </a:rPr>
                      </a:br>
                      <a:r>
                        <a:rPr lang="en-US" sz="1200" b="0" i="0" dirty="0">
                          <a:latin typeface="Arial"/>
                          <a:ea typeface="Riforma LL" panose="020B0504020101020102" pitchFamily="34" charset="0"/>
                          <a:cs typeface="Arial"/>
                        </a:rPr>
                        <a:t>on Monday</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6981743"/>
                  </a:ext>
                </a:extLst>
              </a:tr>
              <a:tr h="494556">
                <a:tc>
                  <a:txBody>
                    <a:bodyPr/>
                    <a:lstStyle/>
                    <a:p>
                      <a:pPr marL="0" lvl="0" indent="0" algn="l">
                        <a:lnSpc>
                          <a:spcPct val="100000"/>
                        </a:lnSpc>
                        <a:spcBef>
                          <a:spcPts val="0"/>
                        </a:spcBef>
                        <a:spcAft>
                          <a:spcPts val="0"/>
                        </a:spcAft>
                        <a:buNone/>
                      </a:pPr>
                      <a:r>
                        <a:rPr lang="en-US" sz="1200" b="0" i="0" dirty="0">
                          <a:latin typeface="Arial"/>
                          <a:ea typeface="Riforma LL" panose="020B0504020101020102" pitchFamily="34" charset="77"/>
                          <a:cs typeface="Arial"/>
                        </a:rPr>
                        <a:t>Employee of the month plan</a:t>
                      </a:r>
                    </a:p>
                  </a:txBody>
                  <a:tcP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tcPr>
                </a:tc>
                <a:tc>
                  <a:txBody>
                    <a:bodyPr/>
                    <a:lstStyle/>
                    <a:p>
                      <a:pPr marL="0" lvl="0" indent="0" algn="l" defTabSz="913760">
                        <a:lnSpc>
                          <a:spcPct val="100000"/>
                        </a:lnSpc>
                        <a:spcBef>
                          <a:spcPts val="0"/>
                        </a:spcBef>
                        <a:spcAft>
                          <a:spcPts val="0"/>
                        </a:spcAft>
                        <a:buNone/>
                        <a:tabLst/>
                        <a:defRPr/>
                      </a:pPr>
                      <a:r>
                        <a:rPr lang="en-US" sz="1200" b="0" i="0" dirty="0">
                          <a:latin typeface="Arial"/>
                          <a:ea typeface="Riforma LL" panose="020B0504020101020102" pitchFamily="34" charset="0"/>
                          <a:cs typeface="Arial"/>
                        </a:rPr>
                        <a:t>Arjun</a:t>
                      </a:r>
                    </a:p>
                  </a:txBody>
                  <a:tcP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tcPr>
                </a:tc>
                <a:tc>
                  <a:txBody>
                    <a:bodyPr/>
                    <a:lstStyle/>
                    <a:p>
                      <a:pPr marL="0" lvl="0" indent="0" algn="l">
                        <a:lnSpc>
                          <a:spcPct val="100000"/>
                        </a:lnSpc>
                        <a:spcBef>
                          <a:spcPts val="0"/>
                        </a:spcBef>
                        <a:spcAft>
                          <a:spcPts val="0"/>
                        </a:spcAft>
                        <a:buNone/>
                      </a:pPr>
                      <a:endParaRPr lang="en-US" sz="1200" b="0" i="0" dirty="0">
                        <a:latin typeface="Arial"/>
                        <a:ea typeface="Riforma LL" panose="020B0504020101020102" pitchFamily="34" charset="0"/>
                        <a:cs typeface="Arial"/>
                      </a:endParaRPr>
                    </a:p>
                  </a:txBody>
                  <a:tcP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tcPr>
                </a:tc>
                <a:extLst>
                  <a:ext uri="{0D108BD9-81ED-4DB2-BD59-A6C34878D82A}">
                    <a16:rowId xmlns:a16="http://schemas.microsoft.com/office/drawing/2014/main" val="3204905259"/>
                  </a:ext>
                </a:extLst>
              </a:tr>
              <a:tr h="494556">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77"/>
                          <a:cs typeface="Arial"/>
                        </a:rPr>
                        <a:t>Printing and placing the Company Value(s) around the office and factory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a:ea typeface="Riforma LL" panose="020B0504020101020102" pitchFamily="34" charset="0"/>
                          <a:cs typeface="Arial"/>
                        </a:rPr>
                        <a:t>Arjun</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0"/>
                          <a:cs typeface="Arial"/>
                        </a:rPr>
                        <a:t>April 30th</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10728161"/>
                  </a:ext>
                </a:extLst>
              </a:tr>
              <a:tr h="494556">
                <a:tc>
                  <a:txBody>
                    <a:bodyPr/>
                    <a:lstStyle/>
                    <a:p>
                      <a:pPr marL="0" lvl="0" indent="0" algn="l">
                        <a:lnSpc>
                          <a:spcPct val="100000"/>
                        </a:lnSpc>
                        <a:spcBef>
                          <a:spcPts val="0"/>
                        </a:spcBef>
                        <a:spcAft>
                          <a:spcPts val="0"/>
                        </a:spcAft>
                        <a:buNone/>
                      </a:pPr>
                      <a:r>
                        <a:rPr lang="en-US" sz="1200" b="0" i="0" dirty="0">
                          <a:latin typeface="Arial"/>
                          <a:ea typeface="Riforma LL" panose="020B0504020101020102" pitchFamily="34" charset="77"/>
                          <a:cs typeface="Arial"/>
                        </a:rPr>
                        <a:t>Sales incentive plan</a:t>
                      </a:r>
                    </a:p>
                  </a:txBody>
                  <a:tcP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tcPr>
                </a:tc>
                <a:tc>
                  <a:txBody>
                    <a:bodyPr/>
                    <a:lstStyle/>
                    <a:p>
                      <a:pPr marL="0" lvl="0" indent="0" algn="l">
                        <a:lnSpc>
                          <a:spcPct val="100000"/>
                        </a:lnSpc>
                        <a:spcBef>
                          <a:spcPts val="0"/>
                        </a:spcBef>
                        <a:spcAft>
                          <a:spcPts val="0"/>
                        </a:spcAft>
                        <a:buNone/>
                      </a:pPr>
                      <a:r>
                        <a:rPr lang="en-US" sz="1200" b="0" i="0" dirty="0">
                          <a:latin typeface="Arial"/>
                          <a:ea typeface="Riforma LL" panose="020B0504020101020102" pitchFamily="34" charset="0"/>
                          <a:cs typeface="Arial"/>
                        </a:rPr>
                        <a:t>Meera and Arjun</a:t>
                      </a:r>
                    </a:p>
                  </a:txBody>
                  <a:tcP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tcPr>
                </a:tc>
                <a:tc>
                  <a:txBody>
                    <a:bodyPr/>
                    <a:lstStyle/>
                    <a:p>
                      <a:pPr marL="0" lvl="0" indent="0" algn="l">
                        <a:lnSpc>
                          <a:spcPct val="100000"/>
                        </a:lnSpc>
                        <a:spcBef>
                          <a:spcPts val="0"/>
                        </a:spcBef>
                        <a:spcAft>
                          <a:spcPts val="0"/>
                        </a:spcAft>
                        <a:buNone/>
                      </a:pPr>
                      <a:endParaRPr lang="en-US" sz="1200" b="0" i="0" dirty="0">
                        <a:latin typeface="Arial"/>
                        <a:ea typeface="Riforma LL" panose="020B0504020101020102" pitchFamily="34" charset="0"/>
                        <a:cs typeface="Arial"/>
                      </a:endParaRPr>
                    </a:p>
                  </a:txBody>
                  <a:tcP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tcPr>
                </a:tc>
                <a:extLst>
                  <a:ext uri="{0D108BD9-81ED-4DB2-BD59-A6C34878D82A}">
                    <a16:rowId xmlns:a16="http://schemas.microsoft.com/office/drawing/2014/main" val="346646471"/>
                  </a:ext>
                </a:extLst>
              </a:tr>
              <a:tr h="423905">
                <a:tc>
                  <a:txBody>
                    <a:bodyPr/>
                    <a:lstStyle/>
                    <a:p>
                      <a:pPr marL="0" marR="0" lvl="0" indent="0" algn="l">
                        <a:lnSpc>
                          <a:spcPct val="100000"/>
                        </a:lnSpc>
                        <a:spcBef>
                          <a:spcPts val="0"/>
                        </a:spcBef>
                        <a:spcAft>
                          <a:spcPts val="0"/>
                        </a:spcAft>
                        <a:buNone/>
                      </a:pPr>
                      <a:r>
                        <a:rPr lang="en-US" sz="1200" b="1" i="0" u="none" strike="noStrike" noProof="0" dirty="0">
                          <a:solidFill>
                            <a:srgbClr val="000000"/>
                          </a:solidFill>
                          <a:latin typeface="Arial"/>
                        </a:rPr>
                        <a:t>Delivering the order within 48 hours for local orders. For export orders within 7 working days of confirmed order.</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a:ea typeface="Riforma LL" panose="020B0504020101020102" pitchFamily="34" charset="0"/>
                          <a:cs typeface="Arial"/>
                        </a:rPr>
                        <a:t>Alfred</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0"/>
                          <a:cs typeface="Arial"/>
                        </a:rPr>
                        <a:t>To track for all orders as soon as possible</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87236550"/>
                  </a:ext>
                </a:extLst>
              </a:tr>
              <a:tr h="423905">
                <a:tc>
                  <a:txBody>
                    <a:bodyPr/>
                    <a:lstStyle/>
                    <a:p>
                      <a:pPr marL="0" lvl="0" indent="0" algn="l">
                        <a:lnSpc>
                          <a:spcPct val="100000"/>
                        </a:lnSpc>
                        <a:spcBef>
                          <a:spcPts val="0"/>
                        </a:spcBef>
                        <a:spcAft>
                          <a:spcPts val="0"/>
                        </a:spcAft>
                        <a:buNone/>
                      </a:pPr>
                      <a:r>
                        <a:rPr lang="en-US" sz="1200" b="1" i="0" u="none" strike="noStrike" noProof="0" dirty="0">
                          <a:solidFill>
                            <a:srgbClr val="000000"/>
                          </a:solidFill>
                          <a:latin typeface="Arial"/>
                        </a:rPr>
                        <a:t>Communicate to each team the Dreams, Values, cool and Non cool </a:t>
                      </a:r>
                      <a:r>
                        <a:rPr lang="en-US" sz="1200" b="1" i="0" u="none" strike="noStrike" noProof="0">
                          <a:solidFill>
                            <a:srgbClr val="000000"/>
                          </a:solidFill>
                          <a:latin typeface="Arial"/>
                        </a:rPr>
                        <a:t>behaviors</a:t>
                      </a:r>
                      <a:r>
                        <a:rPr lang="en-US" sz="1200" b="1" i="0" u="none" strike="noStrike" noProof="0" dirty="0">
                          <a:solidFill>
                            <a:srgbClr val="000000"/>
                          </a:solidFill>
                          <a:latin typeface="Arial"/>
                        </a:rPr>
                        <a:t> to each team</a:t>
                      </a:r>
                    </a:p>
                  </a:txBody>
                  <a:tcP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tcPr>
                </a:tc>
                <a:tc>
                  <a:txBody>
                    <a:bodyPr/>
                    <a:lstStyle/>
                    <a:p>
                      <a:pPr marL="0" lvl="0" indent="0" algn="l">
                        <a:lnSpc>
                          <a:spcPct val="100000"/>
                        </a:lnSpc>
                        <a:spcBef>
                          <a:spcPts val="0"/>
                        </a:spcBef>
                        <a:spcAft>
                          <a:spcPts val="0"/>
                        </a:spcAft>
                        <a:buNone/>
                      </a:pPr>
                      <a:r>
                        <a:rPr lang="en-US" sz="1200" b="0" i="0" dirty="0">
                          <a:latin typeface="Arial"/>
                          <a:ea typeface="Riforma LL" panose="020B0504020101020102" pitchFamily="34" charset="0"/>
                          <a:cs typeface="Arial"/>
                        </a:rPr>
                        <a:t>Each Team Leader</a:t>
                      </a:r>
                    </a:p>
                  </a:txBody>
                  <a:tcP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tcPr>
                </a:tc>
                <a:tc>
                  <a:txBody>
                    <a:bodyPr/>
                    <a:lstStyle/>
                    <a:p>
                      <a:pPr marL="0" lvl="0" indent="0" algn="l">
                        <a:lnSpc>
                          <a:spcPct val="100000"/>
                        </a:lnSpc>
                        <a:spcBef>
                          <a:spcPts val="0"/>
                        </a:spcBef>
                        <a:spcAft>
                          <a:spcPts val="0"/>
                        </a:spcAft>
                        <a:buNone/>
                      </a:pPr>
                      <a:r>
                        <a:rPr lang="en-US" sz="1200" b="0" i="0" dirty="0">
                          <a:latin typeface="Arial"/>
                          <a:ea typeface="Riforma LL" panose="020B0504020101020102" pitchFamily="34" charset="0"/>
                          <a:cs typeface="Arial"/>
                        </a:rPr>
                        <a:t>By April 30th</a:t>
                      </a:r>
                    </a:p>
                  </a:txBody>
                  <a:tcP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tcPr>
                </a:tc>
                <a:extLst>
                  <a:ext uri="{0D108BD9-81ED-4DB2-BD59-A6C34878D82A}">
                    <a16:rowId xmlns:a16="http://schemas.microsoft.com/office/drawing/2014/main" val="2891824147"/>
                  </a:ext>
                </a:extLst>
              </a:tr>
            </a:tbl>
          </a:graphicData>
        </a:graphic>
      </p:graphicFrame>
    </p:spTree>
    <p:extLst>
      <p:ext uri="{BB962C8B-B14F-4D97-AF65-F5344CB8AC3E}">
        <p14:creationId xmlns:p14="http://schemas.microsoft.com/office/powerpoint/2010/main" val="1543771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ack and white sign&#10;&#10;Description automatically generated">
            <a:extLst>
              <a:ext uri="{FF2B5EF4-FFF2-40B4-BE49-F238E27FC236}">
                <a16:creationId xmlns:a16="http://schemas.microsoft.com/office/drawing/2014/main" id="{822232FD-C22F-F23F-4961-1710BB33EBF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13589" b="27671"/>
          <a:stretch/>
        </p:blipFill>
        <p:spPr>
          <a:xfrm>
            <a:off x="89039" y="75304"/>
            <a:ext cx="2686433" cy="419548"/>
          </a:xfrm>
          <a:prstGeom prst="rect">
            <a:avLst/>
          </a:prstGeom>
        </p:spPr>
      </p:pic>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631262811"/>
              </p:ext>
            </p:extLst>
          </p:nvPr>
        </p:nvGraphicFramePr>
        <p:xfrm>
          <a:off x="256819" y="719276"/>
          <a:ext cx="9695564" cy="6529660"/>
        </p:xfrm>
        <a:graphic>
          <a:graphicData uri="http://schemas.openxmlformats.org/drawingml/2006/table">
            <a:tbl>
              <a:tblPr firstRow="1" bandRow="1">
                <a:tableStyleId>{2D5ABB26-0587-4C30-8999-92F81FD0307C}</a:tableStyleId>
              </a:tblPr>
              <a:tblGrid>
                <a:gridCol w="4847782">
                  <a:extLst>
                    <a:ext uri="{9D8B030D-6E8A-4147-A177-3AD203B41FA5}">
                      <a16:colId xmlns:a16="http://schemas.microsoft.com/office/drawing/2014/main" val="3308902235"/>
                    </a:ext>
                  </a:extLst>
                </a:gridCol>
                <a:gridCol w="4847782">
                  <a:extLst>
                    <a:ext uri="{9D8B030D-6E8A-4147-A177-3AD203B41FA5}">
                      <a16:colId xmlns:a16="http://schemas.microsoft.com/office/drawing/2014/main" val="3046643254"/>
                    </a:ext>
                  </a:extLst>
                </a:gridCol>
              </a:tblGrid>
              <a:tr h="390635">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panose="020B0604020202020204" pitchFamily="34" charset="0"/>
                          <a:ea typeface="Riforma LL" panose="020B0504020101020102" pitchFamily="34" charset="77"/>
                          <a:cs typeface="Arial" panose="020B0604020202020204" pitchFamily="34" charset="0"/>
                        </a:rPr>
                        <a:t>Typical behaviors, and ways of doing things in the company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929379839"/>
                  </a:ext>
                </a:extLst>
              </a:tr>
              <a:tr h="390635">
                <a:tc>
                  <a:txBody>
                    <a:bodyPr/>
                    <a:lstStyle/>
                    <a:p>
                      <a:pPr marL="0" marR="0" lvl="0" indent="0" algn="l">
                        <a:lnSpc>
                          <a:spcPct val="100000"/>
                        </a:lnSpc>
                        <a:spcBef>
                          <a:spcPts val="0"/>
                        </a:spcBef>
                        <a:spcAft>
                          <a:spcPts val="0"/>
                        </a:spcAft>
                        <a:buNone/>
                      </a:pPr>
                      <a:endParaRPr lang="en-US" sz="1400" b="0" i="0">
                        <a:solidFill>
                          <a:schemeClr val="tx1"/>
                        </a:solidFill>
                        <a:latin typeface="Arial"/>
                        <a:cs typeface="Aria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tx1"/>
                        </a:solidFill>
                        <a:latin typeface="Arial"/>
                        <a:ea typeface="Riforma LL" panose="020B0504020101020102" pitchFamily="34" charset="77"/>
                        <a:cs typeface="Aria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7487134"/>
                  </a:ext>
                </a:extLst>
              </a:tr>
              <a:tr h="390635">
                <a:tc>
                  <a:txBody>
                    <a:bodyPr/>
                    <a:lstStyle/>
                    <a:p>
                      <a:pPr marL="0" marR="0" lvl="0" indent="0" algn="l" rtl="0" eaLnBrk="1" fontAlgn="auto" latinLnBrk="0" hangingPunct="1">
                        <a:lnSpc>
                          <a:spcPct val="100000"/>
                        </a:lnSpc>
                        <a:spcBef>
                          <a:spcPts val="0"/>
                        </a:spcBef>
                        <a:spcAft>
                          <a:spcPts val="0"/>
                        </a:spcAft>
                        <a:buClrTx/>
                        <a:buSzTx/>
                        <a:buFontTx/>
                        <a:buNone/>
                      </a:pPr>
                      <a:endParaRPr lang="en-US" sz="1400" b="0" i="0">
                        <a:solidFill>
                          <a:schemeClr val="tx1"/>
                        </a:solidFill>
                        <a:latin typeface="Arial"/>
                        <a:ea typeface="Riforma LL" panose="020B0504020101020102" pitchFamily="34" charset="77"/>
                        <a:cs typeface="Aria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tx1"/>
                        </a:solidFill>
                        <a:latin typeface="Arial"/>
                        <a:ea typeface="Riforma LL" panose="020B0504020101020102" pitchFamily="34" charset="77"/>
                        <a:cs typeface="Aria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8554850"/>
                  </a:ext>
                </a:extLst>
              </a:tr>
              <a:tr h="390635">
                <a:tc>
                  <a:txBody>
                    <a:bodyPr/>
                    <a:lstStyle/>
                    <a:p>
                      <a:pPr marL="0" marR="0" lvl="0" indent="0" algn="l" rtl="0" eaLnBrk="1" fontAlgn="auto" latinLnBrk="0" hangingPunct="1">
                        <a:lnSpc>
                          <a:spcPct val="100000"/>
                        </a:lnSpc>
                        <a:spcBef>
                          <a:spcPts val="0"/>
                        </a:spcBef>
                        <a:spcAft>
                          <a:spcPts val="0"/>
                        </a:spcAft>
                        <a:buClrTx/>
                        <a:buSzTx/>
                        <a:buFontTx/>
                        <a:buNone/>
                      </a:pPr>
                      <a:endParaRPr lang="en-US" sz="1400" b="0" i="0">
                        <a:solidFill>
                          <a:schemeClr val="tx1"/>
                        </a:solidFill>
                        <a:latin typeface="Arial"/>
                        <a:ea typeface="Riforma LL" panose="020B0504020101020102" pitchFamily="34" charset="77"/>
                        <a:cs typeface="Aria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tx1"/>
                        </a:solidFill>
                        <a:latin typeface="Arial"/>
                        <a:ea typeface="Riforma LL" panose="020B0504020101020102" pitchFamily="34" charset="77"/>
                        <a:cs typeface="Aria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371749"/>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tx1"/>
                        </a:solidFill>
                        <a:latin typeface="Arial"/>
                        <a:ea typeface="Riforma LL" panose="020B0504020101020102" pitchFamily="34" charset="77"/>
                        <a:cs typeface="Aria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tx1"/>
                        </a:solidFill>
                        <a:latin typeface="Arial"/>
                        <a:ea typeface="Riforma LL" panose="020B0504020101020102" pitchFamily="34" charset="77"/>
                        <a:cs typeface="Aria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015239"/>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tx1"/>
                        </a:solidFill>
                        <a:latin typeface="Arial"/>
                        <a:ea typeface="Riforma LL" panose="020B0504020101020102" pitchFamily="34" charset="77"/>
                        <a:cs typeface="Aria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tx1"/>
                        </a:solidFill>
                        <a:latin typeface="Arial"/>
                        <a:ea typeface="Riforma LL" panose="020B0504020101020102" pitchFamily="34" charset="77"/>
                        <a:cs typeface="Aria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9357261"/>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tx1"/>
                        </a:solidFill>
                        <a:latin typeface="Arial"/>
                        <a:ea typeface="Riforma LL" panose="020B0504020101020102" pitchFamily="34" charset="77"/>
                        <a:cs typeface="Aria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tx1"/>
                        </a:solidFill>
                        <a:latin typeface="Arial"/>
                        <a:ea typeface="Riforma LL" panose="020B0504020101020102" pitchFamily="34" charset="77"/>
                        <a:cs typeface="Aria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133664"/>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tx1"/>
                        </a:solidFill>
                        <a:latin typeface="Arial"/>
                        <a:ea typeface="Riforma LL" panose="020B0504020101020102" pitchFamily="34" charset="77"/>
                        <a:cs typeface="Aria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tx1"/>
                        </a:solidFill>
                        <a:latin typeface="Arial"/>
                        <a:ea typeface="Riforma LL" panose="020B0504020101020102" pitchFamily="34" charset="77"/>
                        <a:cs typeface="Aria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1120663"/>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tx1"/>
                        </a:solidFill>
                        <a:latin typeface="Arial"/>
                        <a:ea typeface="Riforma LL" panose="020B0504020101020102" pitchFamily="34" charset="77"/>
                        <a:cs typeface="Aria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tx1"/>
                        </a:solidFill>
                        <a:latin typeface="Arial"/>
                        <a:ea typeface="Riforma LL" panose="020B0504020101020102" pitchFamily="34" charset="77"/>
                        <a:cs typeface="Aria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844840"/>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0379632"/>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panose="020B0604020202020204" pitchFamily="34" charset="0"/>
                          <a:ea typeface="Riforma LL" panose="020B0504020101020102" pitchFamily="34" charset="77"/>
                          <a:cs typeface="Arial" panose="020B0604020202020204" pitchFamily="34" charset="0"/>
                        </a:rPr>
                        <a:t>Top 5 most commonly observed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panose="020B0604020202020204" pitchFamily="34" charset="0"/>
                          <a:ea typeface="Riforma LL" panose="020B0504020101020102" pitchFamily="34" charset="77"/>
                          <a:cs typeface="Arial" panose="020B0604020202020204" pitchFamily="34" charset="0"/>
                        </a:rPr>
                        <a:t> The 5 company values that these behaviors represent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4465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4465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910689"/>
                  </a:ext>
                </a:extLst>
              </a:tr>
              <a:tr h="4465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650493"/>
                  </a:ext>
                </a:extLst>
              </a:tr>
              <a:tr h="4465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009344"/>
                  </a:ext>
                </a:extLst>
              </a:tr>
              <a:tr h="4465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9891231"/>
                  </a:ext>
                </a:extLst>
              </a:tr>
            </a:tbl>
          </a:graphicData>
        </a:graphic>
      </p:graphicFrame>
    </p:spTree>
    <p:extLst>
      <p:ext uri="{BB962C8B-B14F-4D97-AF65-F5344CB8AC3E}">
        <p14:creationId xmlns:p14="http://schemas.microsoft.com/office/powerpoint/2010/main" val="1820793006"/>
      </p:ext>
    </p:extLst>
  </p:cSld>
  <p:clrMapOvr>
    <a:masterClrMapping/>
  </p:clrMapOvr>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6</Slides>
  <Notes>6</Notes>
  <HiddenSlides>0</HiddenSlides>
  <ScaleCrop>false</ScaleCrop>
  <HeadingPairs>
    <vt:vector size="4" baseType="variant">
      <vt:variant>
        <vt:lpstr>Theme</vt:lpstr>
      </vt:variant>
      <vt:variant>
        <vt:i4>3</vt:i4>
      </vt:variant>
      <vt:variant>
        <vt:lpstr>Slide Titles</vt:lpstr>
      </vt:variant>
      <vt:variant>
        <vt:i4>6</vt:i4>
      </vt:variant>
    </vt:vector>
  </HeadingPairs>
  <TitlesOfParts>
    <vt:vector size="9" baseType="lpstr">
      <vt:lpstr>4_Custom Design</vt:lpstr>
      <vt:lpstr>5_Custom Design</vt:lpstr>
      <vt:lpstr>SOLIDS</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identity</dc:title>
  <dc:creator>Miroslav</dc:creator>
  <cp:revision>41</cp:revision>
  <cp:lastPrinted>2020-02-28T13:07:06Z</cp:lastPrinted>
  <dcterms:created xsi:type="dcterms:W3CDTF">2019-08-22T09:52:59Z</dcterms:created>
  <dcterms:modified xsi:type="dcterms:W3CDTF">2025-04-28T13:32:57Z</dcterms:modified>
</cp:coreProperties>
</file>