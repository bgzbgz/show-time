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77" r:id="rId1"/>
    <p:sldMasterId id="2147484485" r:id="rId2"/>
    <p:sldMasterId id="2147484487" r:id="rId3"/>
  </p:sldMasterIdLst>
  <p:notesMasterIdLst>
    <p:notesMasterId r:id="rId11"/>
  </p:notesMasterIdLst>
  <p:handoutMasterIdLst>
    <p:handoutMasterId r:id="rId12"/>
  </p:handoutMasterIdLst>
  <p:sldIdLst>
    <p:sldId id="2466" r:id="rId4"/>
    <p:sldId id="2420" r:id="rId5"/>
    <p:sldId id="2463" r:id="rId6"/>
    <p:sldId id="2468" r:id="rId7"/>
    <p:sldId id="2470" r:id="rId8"/>
    <p:sldId id="2469" r:id="rId9"/>
    <p:sldId id="2467" r:id="rId10"/>
  </p:sldIdLst>
  <p:sldSz cx="10688638" cy="7562850"/>
  <p:notesSz cx="6954838" cy="9240838"/>
  <p:defaultTextStyle>
    <a:defPPr>
      <a:defRPr lang="en-US"/>
    </a:defPPr>
    <a:lvl1pPr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1pPr>
    <a:lvl2pPr marL="4572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2pPr>
    <a:lvl3pPr marL="9144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3pPr>
    <a:lvl4pPr marL="13716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4pPr>
    <a:lvl5pPr marL="18288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5pPr>
    <a:lvl6pPr marL="2286000" algn="l" defTabSz="914400" rtl="0" eaLnBrk="1" latinLnBrk="0" hangingPunct="1">
      <a:defRPr kern="1200">
        <a:solidFill>
          <a:schemeClr val="tx1"/>
        </a:solidFill>
        <a:latin typeface="PF Square Sans Pro Light" panose="02000506000000020004" pitchFamily="2" charset="0"/>
        <a:ea typeface="+mn-ea"/>
        <a:cs typeface="+mn-cs"/>
      </a:defRPr>
    </a:lvl6pPr>
    <a:lvl7pPr marL="2743200" algn="l" defTabSz="914400" rtl="0" eaLnBrk="1" latinLnBrk="0" hangingPunct="1">
      <a:defRPr kern="1200">
        <a:solidFill>
          <a:schemeClr val="tx1"/>
        </a:solidFill>
        <a:latin typeface="PF Square Sans Pro Light" panose="02000506000000020004" pitchFamily="2" charset="0"/>
        <a:ea typeface="+mn-ea"/>
        <a:cs typeface="+mn-cs"/>
      </a:defRPr>
    </a:lvl7pPr>
    <a:lvl8pPr marL="3200400" algn="l" defTabSz="914400" rtl="0" eaLnBrk="1" latinLnBrk="0" hangingPunct="1">
      <a:defRPr kern="1200">
        <a:solidFill>
          <a:schemeClr val="tx1"/>
        </a:solidFill>
        <a:latin typeface="PF Square Sans Pro Light" panose="02000506000000020004" pitchFamily="2" charset="0"/>
        <a:ea typeface="+mn-ea"/>
        <a:cs typeface="+mn-cs"/>
      </a:defRPr>
    </a:lvl8pPr>
    <a:lvl9pPr marL="3657600" algn="l" defTabSz="914400" rtl="0" eaLnBrk="1" latinLnBrk="0" hangingPunct="1">
      <a:defRPr kern="1200">
        <a:solidFill>
          <a:schemeClr val="tx1"/>
        </a:solidFill>
        <a:latin typeface="PF Square Sans Pro Light" panose="02000506000000020004" pitchFamily="2"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tanas" initials="AY" lastIdx="1" clrIdx="0">
    <p:extLst>
      <p:ext uri="{19B8F6BF-5375-455C-9EA6-DF929625EA0E}">
        <p15:presenceInfo xmlns:p15="http://schemas.microsoft.com/office/powerpoint/2012/main" userId="Atana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69"/>
    <a:srgbClr val="717272"/>
    <a:srgbClr val="3D233B"/>
    <a:srgbClr val="B2B2B2"/>
    <a:srgbClr val="FCC100"/>
    <a:srgbClr val="0D3272"/>
    <a:srgbClr val="B46F59"/>
    <a:srgbClr val="0F85CE"/>
    <a:srgbClr val="EEEDEE"/>
    <a:srgbClr val="89BF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1DDEFF-0D66-5859-4940-B5A9A99B62E0}" v="56" dt="2025-04-22T06:08:13.0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commentAuthors" Target="commentAuthors.xml"/><Relationship Id="rId18" Type="http://schemas.microsoft.com/office/2016/11/relationships/changesInfo" Target="changesInfos/changesInfo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viewProps" Target="viewProps.xml"/><Relationship Id="rId10" Type="http://schemas.openxmlformats.org/officeDocument/2006/relationships/slide" Target="slides/slide7.xml"/><Relationship Id="rId19" Type="http://schemas.microsoft.com/office/2015/10/relationships/revisionInfo" Target="revisionInfo.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anon#eb48056339bc36657fa16d5297038e4ed3df5b8022756a6e272f6791325c883e::" providerId="AD" clId="Web-{541DDEFF-0D66-5859-4940-B5A9A99B62E0}"/>
    <pc:docChg chg="modSld">
      <pc:chgData name="Guest User" userId="S::urn:spo:anon#eb48056339bc36657fa16d5297038e4ed3df5b8022756a6e272f6791325c883e::" providerId="AD" clId="Web-{541DDEFF-0D66-5859-4940-B5A9A99B62E0}" dt="2025-04-22T06:08:13.023" v="53"/>
      <pc:docMkLst>
        <pc:docMk/>
      </pc:docMkLst>
      <pc:sldChg chg="modSp">
        <pc:chgData name="Guest User" userId="S::urn:spo:anon#eb48056339bc36657fa16d5297038e4ed3df5b8022756a6e272f6791325c883e::" providerId="AD" clId="Web-{541DDEFF-0D66-5859-4940-B5A9A99B62E0}" dt="2025-04-22T06:08:13.023" v="53"/>
        <pc:sldMkLst>
          <pc:docMk/>
          <pc:sldMk cId="1820793006" sldId="2466"/>
        </pc:sldMkLst>
        <pc:graphicFrameChg chg="mod modGraphic">
          <ac:chgData name="Guest User" userId="S::urn:spo:anon#eb48056339bc36657fa16d5297038e4ed3df5b8022756a6e272f6791325c883e::" providerId="AD" clId="Web-{541DDEFF-0D66-5859-4940-B5A9A99B62E0}" dt="2025-04-22T06:08:13.023" v="53"/>
          <ac:graphicFrameMkLst>
            <pc:docMk/>
            <pc:sldMk cId="1820793006" sldId="2466"/>
            <ac:graphicFrameMk id="12" creationId="{74CF6476-D2C3-2348-BEC7-148925E380DF}"/>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a:lvl1pPr>
          </a:lstStyle>
          <a:p>
            <a:pPr>
              <a:defRPr/>
            </a:pPr>
            <a:endParaRPr lang="en-US">
              <a:latin typeface="Arial" panose="020B0604020202020204" pitchFamily="34" charset="0"/>
            </a:endParaRPr>
          </a:p>
        </p:txBody>
      </p:sp>
      <p:sp>
        <p:nvSpPr>
          <p:cNvPr id="3" name="Date Placeholder 2"/>
          <p:cNvSpPr>
            <a:spLocks noGrp="1"/>
          </p:cNvSpPr>
          <p:nvPr>
            <p:ph type="dt" sz="quarter" idx="1"/>
          </p:nvPr>
        </p:nvSpPr>
        <p:spPr>
          <a:xfrm>
            <a:off x="3939466" y="0"/>
            <a:ext cx="3013763" cy="463647"/>
          </a:xfrm>
          <a:prstGeom prst="rect">
            <a:avLst/>
          </a:prstGeom>
        </p:spPr>
        <p:txBody>
          <a:bodyPr vert="horz" lIns="92546" tIns="46273" rIns="92546" bIns="46273" rtlCol="0"/>
          <a:lstStyle>
            <a:lvl1pPr algn="r">
              <a:defRPr sz="1200"/>
            </a:lvl1pPr>
          </a:lstStyle>
          <a:p>
            <a:pPr>
              <a:defRPr/>
            </a:pPr>
            <a:fld id="{96457D4A-3A70-4343-9758-775435F7A22E}" type="datetimeFigureOut">
              <a:rPr lang="en-US">
                <a:latin typeface="Arial" panose="020B0604020202020204" pitchFamily="34" charset="0"/>
              </a:rPr>
              <a:pPr>
                <a:defRPr/>
              </a:pPr>
              <a:t>4/21/2025</a:t>
            </a:fld>
            <a:endParaRPr lang="en-US">
              <a:latin typeface="Arial" panose="020B0604020202020204" pitchFamily="34" charset="0"/>
            </a:endParaRPr>
          </a:p>
        </p:txBody>
      </p:sp>
      <p:sp>
        <p:nvSpPr>
          <p:cNvPr id="4" name="Footer Placeholder 3"/>
          <p:cNvSpPr>
            <a:spLocks noGrp="1"/>
          </p:cNvSpPr>
          <p:nvPr>
            <p:ph type="ftr" sz="quarter" idx="2"/>
          </p:nvPr>
        </p:nvSpPr>
        <p:spPr>
          <a:xfrm>
            <a:off x="0" y="8777193"/>
            <a:ext cx="3013763" cy="463646"/>
          </a:xfrm>
          <a:prstGeom prst="rect">
            <a:avLst/>
          </a:prstGeom>
        </p:spPr>
        <p:txBody>
          <a:bodyPr vert="horz" lIns="92546" tIns="46273" rIns="92546" bIns="46273" rtlCol="0" anchor="b"/>
          <a:lstStyle>
            <a:lvl1pPr algn="l">
              <a:defRPr sz="1200"/>
            </a:lvl1pPr>
          </a:lstStyle>
          <a:p>
            <a:pPr>
              <a:defRPr/>
            </a:pPr>
            <a:endParaRPr lang="en-US">
              <a:latin typeface="Arial" panose="020B0604020202020204" pitchFamily="34" charset="0"/>
            </a:endParaRPr>
          </a:p>
        </p:txBody>
      </p:sp>
      <p:sp>
        <p:nvSpPr>
          <p:cNvPr id="5" name="Slide Number Placeholder 4"/>
          <p:cNvSpPr>
            <a:spLocks noGrp="1"/>
          </p:cNvSpPr>
          <p:nvPr>
            <p:ph type="sldNum" sz="quarter" idx="3"/>
          </p:nvPr>
        </p:nvSpPr>
        <p:spPr>
          <a:xfrm>
            <a:off x="3939466" y="8777193"/>
            <a:ext cx="3013763" cy="463646"/>
          </a:xfrm>
          <a:prstGeom prst="rect">
            <a:avLst/>
          </a:prstGeom>
        </p:spPr>
        <p:txBody>
          <a:bodyPr vert="horz" lIns="92546" tIns="46273" rIns="92546" bIns="46273" rtlCol="0" anchor="b"/>
          <a:lstStyle>
            <a:lvl1pPr algn="r">
              <a:defRPr sz="1200"/>
            </a:lvl1pPr>
          </a:lstStyle>
          <a:p>
            <a:pPr>
              <a:defRPr/>
            </a:pPr>
            <a:fld id="{C8683F37-8904-4846-9242-6A858545E9E1}" type="slidenum">
              <a:rPr lang="en-US">
                <a:latin typeface="Arial" panose="020B0604020202020204" pitchFamily="34" charset="0"/>
              </a:rPr>
              <a:pPr>
                <a:defRPr/>
              </a:pPr>
              <a:t>‹#›</a:t>
            </a:fld>
            <a:endParaRPr lang="en-US">
              <a:latin typeface="Arial" panose="020B060402020202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b="0" i="0">
                <a:latin typeface="Arial" panose="020B0604020202020204" pitchFamily="34" charset="0"/>
              </a:defRPr>
            </a:lvl1pPr>
          </a:lstStyle>
          <a:p>
            <a:pPr>
              <a:defRPr/>
            </a:pPr>
            <a:endParaRPr lang="en-US"/>
          </a:p>
        </p:txBody>
      </p:sp>
      <p:sp>
        <p:nvSpPr>
          <p:cNvPr id="3" name="Date Placeholder 2"/>
          <p:cNvSpPr>
            <a:spLocks noGrp="1"/>
          </p:cNvSpPr>
          <p:nvPr>
            <p:ph type="dt" idx="1"/>
          </p:nvPr>
        </p:nvSpPr>
        <p:spPr>
          <a:xfrm>
            <a:off x="3939466" y="0"/>
            <a:ext cx="3013763" cy="463647"/>
          </a:xfrm>
          <a:prstGeom prst="rect">
            <a:avLst/>
          </a:prstGeom>
        </p:spPr>
        <p:txBody>
          <a:bodyPr vert="horz" lIns="92546" tIns="46273" rIns="92546" bIns="46273" rtlCol="0"/>
          <a:lstStyle>
            <a:lvl1pPr algn="r">
              <a:defRPr sz="1200" b="0" i="0">
                <a:latin typeface="Arial" panose="020B0604020202020204" pitchFamily="34" charset="0"/>
              </a:defRPr>
            </a:lvl1pPr>
          </a:lstStyle>
          <a:p>
            <a:pPr>
              <a:defRPr/>
            </a:pPr>
            <a:fld id="{754FBBB8-96E2-494F-B716-7974840A6007}" type="datetimeFigureOut">
              <a:rPr lang="en-US" smtClean="0"/>
              <a:pPr>
                <a:defRPr/>
              </a:pPr>
              <a:t>4/21/2025</a:t>
            </a:fld>
            <a:endParaRPr lang="en-US"/>
          </a:p>
        </p:txBody>
      </p:sp>
      <p:sp>
        <p:nvSpPr>
          <p:cNvPr id="4" name="Slide Image Placeholder 3"/>
          <p:cNvSpPr>
            <a:spLocks noGrp="1" noRot="1" noChangeAspect="1"/>
          </p:cNvSpPr>
          <p:nvPr>
            <p:ph type="sldImg" idx="2"/>
          </p:nvPr>
        </p:nvSpPr>
        <p:spPr>
          <a:xfrm>
            <a:off x="1274763" y="1155700"/>
            <a:ext cx="4405312" cy="3117850"/>
          </a:xfrm>
          <a:prstGeom prst="rect">
            <a:avLst/>
          </a:prstGeom>
          <a:noFill/>
          <a:ln w="12700">
            <a:solidFill>
              <a:prstClr val="black"/>
            </a:solidFill>
          </a:ln>
        </p:spPr>
        <p:txBody>
          <a:bodyPr vert="horz" lIns="92546" tIns="46273" rIns="92546" bIns="46273" rtlCol="0" anchor="ctr"/>
          <a:lstStyle/>
          <a:p>
            <a:pPr lvl="0"/>
            <a:endParaRPr lang="en-US" noProof="0"/>
          </a:p>
        </p:txBody>
      </p:sp>
      <p:sp>
        <p:nvSpPr>
          <p:cNvPr id="5" name="Notes Placeholder 4"/>
          <p:cNvSpPr>
            <a:spLocks noGrp="1"/>
          </p:cNvSpPr>
          <p:nvPr>
            <p:ph type="body" sz="quarter" idx="3"/>
          </p:nvPr>
        </p:nvSpPr>
        <p:spPr>
          <a:xfrm>
            <a:off x="695484" y="4447153"/>
            <a:ext cx="5563870" cy="3638580"/>
          </a:xfrm>
          <a:prstGeom prst="rect">
            <a:avLst/>
          </a:prstGeom>
        </p:spPr>
        <p:txBody>
          <a:bodyPr vert="horz" lIns="92546" tIns="46273" rIns="92546" bIns="46273"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777193"/>
            <a:ext cx="3013763" cy="463646"/>
          </a:xfrm>
          <a:prstGeom prst="rect">
            <a:avLst/>
          </a:prstGeom>
        </p:spPr>
        <p:txBody>
          <a:bodyPr vert="horz" lIns="92546" tIns="46273" rIns="92546" bIns="46273" rtlCol="0" anchor="b"/>
          <a:lstStyle>
            <a:lvl1pPr algn="l">
              <a:defRPr sz="1200" b="0" i="0">
                <a:latin typeface="Arial" panose="020B0604020202020204" pitchFamily="34" charset="0"/>
              </a:defRPr>
            </a:lvl1pPr>
          </a:lstStyle>
          <a:p>
            <a:pPr>
              <a:defRPr/>
            </a:pPr>
            <a:endParaRPr lang="en-US"/>
          </a:p>
        </p:txBody>
      </p:sp>
      <p:sp>
        <p:nvSpPr>
          <p:cNvPr id="7" name="Slide Number Placeholder 6"/>
          <p:cNvSpPr>
            <a:spLocks noGrp="1"/>
          </p:cNvSpPr>
          <p:nvPr>
            <p:ph type="sldNum" sz="quarter" idx="5"/>
          </p:nvPr>
        </p:nvSpPr>
        <p:spPr>
          <a:xfrm>
            <a:off x="3939466" y="8777193"/>
            <a:ext cx="3013763" cy="463646"/>
          </a:xfrm>
          <a:prstGeom prst="rect">
            <a:avLst/>
          </a:prstGeom>
        </p:spPr>
        <p:txBody>
          <a:bodyPr vert="horz" lIns="92546" tIns="46273" rIns="92546" bIns="46273" rtlCol="0" anchor="b"/>
          <a:lstStyle>
            <a:lvl1pPr algn="r">
              <a:defRPr sz="1200" b="0" i="0">
                <a:latin typeface="Arial" panose="020B0604020202020204" pitchFamily="34" charset="0"/>
              </a:defRPr>
            </a:lvl1pPr>
          </a:lstStyle>
          <a:p>
            <a:pPr>
              <a:defRPr/>
            </a:pPr>
            <a:fld id="{D1F6A1A1-8B93-49C9-AFC7-D0DF50B75203}" type="slidenum">
              <a:rPr lang="en-US" smtClean="0"/>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r>
              <a:rPr lang="en-US" sz="1800">
                <a:solidFill>
                  <a:schemeClr val="tx1"/>
                </a:solidFill>
                <a:latin typeface="+mn-lt"/>
                <a:ea typeface="+mn-lt"/>
                <a:cs typeface="+mn-lt"/>
              </a:rPr>
              <a:t>Brainstorm and list all the typical behaviors and ways of doing things in your company.</a:t>
            </a:r>
          </a:p>
          <a:p>
            <a:pPr marL="0" indent="0" algn="l"/>
            <a:endParaRPr lang="en-US" sz="1800">
              <a:solidFill>
                <a:schemeClr val="tx1"/>
              </a:solidFill>
              <a:latin typeface="+mn-lt"/>
              <a:ea typeface="+mn-lt"/>
              <a:cs typeface="+mn-lt"/>
            </a:endParaRPr>
          </a:p>
          <a:p>
            <a:pPr marL="0" indent="0" algn="l"/>
            <a:r>
              <a:rPr lang="en-US" sz="1800">
                <a:solidFill>
                  <a:schemeClr val="tx1"/>
                </a:solidFill>
                <a:latin typeface="+mn-lt"/>
                <a:ea typeface="+mn-lt"/>
                <a:cs typeface="+mn-lt"/>
              </a:rPr>
              <a:t>Identify the value that represents each of them.</a:t>
            </a:r>
          </a:p>
          <a:p>
            <a:pPr marL="0" indent="0" algn="l"/>
            <a:endParaRPr lang="en-US" sz="1800">
              <a:solidFill>
                <a:schemeClr val="tx1"/>
              </a:solidFill>
              <a:latin typeface="+mn-lt"/>
              <a:ea typeface="+mn-lt"/>
              <a:cs typeface="+mn-lt"/>
            </a:endParaRPr>
          </a:p>
          <a:p>
            <a:pPr marL="0" indent="0" algn="l"/>
            <a:r>
              <a:rPr lang="en-US" sz="1800">
                <a:solidFill>
                  <a:schemeClr val="tx1"/>
                </a:solidFill>
                <a:latin typeface="+mn-lt"/>
                <a:ea typeface="+mn-lt"/>
                <a:cs typeface="+mn-lt"/>
              </a:rPr>
              <a:t>Prioritize the 5 most observed behaviors.</a:t>
            </a:r>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1</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456290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r>
              <a:rPr lang="en-US" sz="1200">
                <a:solidFill>
                  <a:schemeClr val="tx1"/>
                </a:solidFill>
                <a:latin typeface="+mn-lt"/>
                <a:ea typeface="+mn-lt"/>
                <a:cs typeface="+mn-lt"/>
              </a:rPr>
              <a:t>Describe the type of people you need in order to achieve your dream. What behaviors/values do you need to adopt?</a:t>
            </a:r>
          </a:p>
          <a:p>
            <a:pPr marL="0" indent="0" algn="l"/>
            <a:r>
              <a:rPr lang="en-US" sz="1200">
                <a:solidFill>
                  <a:schemeClr val="tx1"/>
                </a:solidFill>
                <a:latin typeface="+mn-lt"/>
                <a:ea typeface="+mn-lt"/>
                <a:cs typeface="+mn-lt"/>
              </a:rPr>
              <a:t>• List the current values from the Dream Workshop</a:t>
            </a:r>
          </a:p>
          <a:p>
            <a:pPr marL="0" indent="0" algn="l"/>
            <a:r>
              <a:rPr lang="en-US" sz="1200">
                <a:solidFill>
                  <a:schemeClr val="tx1"/>
                </a:solidFill>
                <a:latin typeface="+mn-lt"/>
                <a:ea typeface="+mn-lt"/>
                <a:cs typeface="+mn-lt"/>
              </a:rPr>
              <a:t>• List the gap between current and needed values</a:t>
            </a:r>
          </a:p>
          <a:p>
            <a:pPr marL="0" indent="0" algn="l"/>
            <a:endParaRPr lang="en-US" sz="1200">
              <a:solidFill>
                <a:schemeClr val="tx1"/>
              </a:solidFill>
              <a:latin typeface="+mn-lt"/>
              <a:ea typeface="+mn-lt"/>
              <a:cs typeface="+mn-lt"/>
            </a:endParaRPr>
          </a:p>
          <a:p>
            <a:pPr marL="0" indent="0" algn="l"/>
            <a:r>
              <a:rPr lang="en-US" sz="1200">
                <a:solidFill>
                  <a:schemeClr val="tx1"/>
                </a:solidFill>
                <a:latin typeface="+mn-lt"/>
                <a:ea typeface="+mn-lt"/>
                <a:cs typeface="+mn-lt"/>
              </a:rPr>
              <a:t>Your Dream</a:t>
            </a:r>
          </a:p>
          <a:p>
            <a:pPr marL="0" indent="0" algn="l"/>
            <a:r>
              <a:rPr lang="en-US" sz="1200">
                <a:solidFill>
                  <a:schemeClr val="tx1"/>
                </a:solidFill>
                <a:latin typeface="+mn-lt"/>
                <a:ea typeface="+mn-lt"/>
                <a:cs typeface="+mn-lt"/>
              </a:rPr>
              <a:t>• Who do you need to become?</a:t>
            </a:r>
          </a:p>
          <a:p>
            <a:pPr marL="0" indent="0" algn="l"/>
            <a:r>
              <a:rPr lang="en-US" sz="1200">
                <a:solidFill>
                  <a:schemeClr val="tx1"/>
                </a:solidFill>
                <a:latin typeface="+mn-lt"/>
                <a:ea typeface="+mn-lt"/>
                <a:cs typeface="+mn-lt"/>
              </a:rPr>
              <a:t>• Who are you currently?</a:t>
            </a:r>
          </a:p>
          <a:p>
            <a:pPr marL="0" indent="0" algn="l"/>
            <a:r>
              <a:rPr lang="en-US" sz="1200">
                <a:solidFill>
                  <a:schemeClr val="tx1"/>
                </a:solidFill>
                <a:latin typeface="+mn-lt"/>
                <a:ea typeface="+mn-lt"/>
                <a:cs typeface="+mn-lt"/>
              </a:rPr>
              <a:t>• What’s the gap?</a:t>
            </a:r>
            <a:endParaRPr lang="en-US" b="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2</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4680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r>
              <a:rPr lang="en-US" sz="1200">
                <a:solidFill>
                  <a:schemeClr val="tx1"/>
                </a:solidFill>
                <a:latin typeface="+mn-lt"/>
                <a:ea typeface="+mn-lt"/>
                <a:cs typeface="+mn-lt"/>
              </a:rPr>
              <a:t>Once you are clear on the dream and the values that you need to abide by, it is time to describe what specific behaviors you want to see or don’t want to see throughout the organization. </a:t>
            </a:r>
          </a:p>
          <a:p>
            <a:pPr marL="0" indent="0" algn="l"/>
            <a:endParaRPr lang="en-US" sz="1200">
              <a:solidFill>
                <a:schemeClr val="tx1"/>
              </a:solidFill>
              <a:latin typeface="+mn-lt"/>
              <a:ea typeface="+mn-lt"/>
              <a:cs typeface="+mn-lt"/>
            </a:endParaRPr>
          </a:p>
          <a:p>
            <a:pPr marL="0" indent="0" algn="l"/>
            <a:r>
              <a:rPr lang="en-US" sz="1200">
                <a:solidFill>
                  <a:schemeClr val="tx1"/>
                </a:solidFill>
                <a:latin typeface="+mn-lt"/>
                <a:ea typeface="+mn-lt"/>
                <a:cs typeface="+mn-lt"/>
              </a:rPr>
              <a:t>This tool will help you prioritize the top five behaviors the company will support and those it never will.</a:t>
            </a:r>
          </a:p>
          <a:p>
            <a:pPr marL="0" indent="0" algn="l"/>
            <a:endParaRPr lang="en-US" sz="1600" b="1">
              <a:solidFill>
                <a:schemeClr val="tx1"/>
              </a:solidFill>
              <a:latin typeface="+mn-lt"/>
              <a:ea typeface="+mn-lt"/>
              <a:cs typeface="+mn-lt"/>
            </a:endParaRPr>
          </a:p>
          <a:p>
            <a:pPr marL="0" indent="0" algn="l"/>
            <a:r>
              <a:rPr lang="en-US" sz="1600" b="1">
                <a:solidFill>
                  <a:schemeClr val="tx1"/>
                </a:solidFill>
                <a:latin typeface="+mn-lt"/>
                <a:ea typeface="+mn-lt"/>
                <a:cs typeface="+mn-lt"/>
              </a:rPr>
              <a:t>How</a:t>
            </a:r>
            <a:endParaRPr lang="en-US" sz="1200" b="1">
              <a:solidFill>
                <a:schemeClr val="tx1"/>
              </a:solidFill>
              <a:latin typeface="+mn-lt"/>
              <a:ea typeface="+mn-lt"/>
              <a:cs typeface="+mn-lt"/>
            </a:endParaRPr>
          </a:p>
          <a:p>
            <a:pPr marL="0" indent="0" algn="l"/>
            <a:endParaRPr lang="en-US" sz="1200">
              <a:solidFill>
                <a:schemeClr val="tx1"/>
              </a:solidFill>
              <a:latin typeface="+mn-lt"/>
              <a:ea typeface="+mn-lt"/>
              <a:cs typeface="+mn-lt"/>
            </a:endParaRPr>
          </a:p>
          <a:p>
            <a:pPr marL="0" indent="0" algn="l"/>
            <a:r>
              <a:rPr lang="en-US" sz="1200">
                <a:solidFill>
                  <a:schemeClr val="tx1"/>
                </a:solidFill>
                <a:latin typeface="+mn-lt"/>
                <a:ea typeface="+mn-lt"/>
                <a:cs typeface="+mn-lt"/>
              </a:rPr>
              <a:t>• List your new five values from the previous exercise</a:t>
            </a:r>
          </a:p>
          <a:p>
            <a:pPr marL="0" indent="0" algn="l"/>
            <a:r>
              <a:rPr lang="en-US" sz="1200">
                <a:solidFill>
                  <a:schemeClr val="tx1"/>
                </a:solidFill>
                <a:latin typeface="+mn-lt"/>
                <a:ea typeface="+mn-lt"/>
                <a:cs typeface="+mn-lt"/>
              </a:rPr>
              <a:t>• List potential cool behaviors associated with each value</a:t>
            </a:r>
          </a:p>
          <a:p>
            <a:pPr marL="0" indent="0" algn="l"/>
            <a:r>
              <a:rPr lang="en-US" sz="1200">
                <a:solidFill>
                  <a:schemeClr val="tx1"/>
                </a:solidFill>
                <a:latin typeface="+mn-lt"/>
                <a:ea typeface="+mn-lt"/>
                <a:cs typeface="+mn-lt"/>
              </a:rPr>
              <a:t>• List potential not-cool behaviors associated with each value</a:t>
            </a:r>
          </a:p>
          <a:p>
            <a:pPr marL="0" indent="0" algn="l"/>
            <a:r>
              <a:rPr lang="en-US" sz="1200">
                <a:solidFill>
                  <a:schemeClr val="tx1"/>
                </a:solidFill>
                <a:latin typeface="+mn-lt"/>
                <a:ea typeface="+mn-lt"/>
                <a:cs typeface="+mn-lt"/>
              </a:rPr>
              <a:t>• Prioritize the top 5 behaviors the company will support</a:t>
            </a:r>
          </a:p>
          <a:p>
            <a:pPr marL="0" indent="0" algn="l"/>
            <a:r>
              <a:rPr lang="en-US" sz="1200">
                <a:solidFill>
                  <a:schemeClr val="tx1"/>
                </a:solidFill>
                <a:latin typeface="+mn-lt"/>
                <a:ea typeface="+mn-lt"/>
                <a:cs typeface="+mn-lt"/>
              </a:rPr>
              <a:t>• List the top 5 behaviors the company will never support</a:t>
            </a:r>
          </a:p>
          <a:p>
            <a:endParaRPr lang="en-US" b="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3</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9767520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r>
              <a:rPr lang="en-US" sz="1200">
                <a:solidFill>
                  <a:schemeClr val="tx1"/>
                </a:solidFill>
                <a:latin typeface="+mn-lt"/>
                <a:ea typeface="+mn-lt"/>
                <a:cs typeface="+mn-lt"/>
              </a:rPr>
              <a:t>Once you are clear on the dream and the values that you need to abide by, it is time to describe what specific behaviors you want to see or don’t want to see throughout the organization. </a:t>
            </a:r>
          </a:p>
          <a:p>
            <a:pPr marL="0" indent="0" algn="l"/>
            <a:endParaRPr lang="en-US" sz="1200">
              <a:solidFill>
                <a:schemeClr val="tx1"/>
              </a:solidFill>
              <a:latin typeface="+mn-lt"/>
              <a:ea typeface="+mn-lt"/>
              <a:cs typeface="+mn-lt"/>
            </a:endParaRPr>
          </a:p>
          <a:p>
            <a:pPr marL="0" indent="0" algn="l"/>
            <a:r>
              <a:rPr lang="en-US" sz="1200">
                <a:solidFill>
                  <a:schemeClr val="tx1"/>
                </a:solidFill>
                <a:latin typeface="+mn-lt"/>
                <a:ea typeface="+mn-lt"/>
                <a:cs typeface="+mn-lt"/>
              </a:rPr>
              <a:t>This tool will help you prioritize the top five behaviors the company will support and those it never will.</a:t>
            </a:r>
          </a:p>
          <a:p>
            <a:pPr marL="0" indent="0" algn="l"/>
            <a:endParaRPr lang="en-US" sz="1600" b="1">
              <a:solidFill>
                <a:schemeClr val="tx1"/>
              </a:solidFill>
              <a:latin typeface="+mn-lt"/>
              <a:ea typeface="+mn-lt"/>
              <a:cs typeface="+mn-lt"/>
            </a:endParaRPr>
          </a:p>
          <a:p>
            <a:pPr marL="0" indent="0" algn="l"/>
            <a:r>
              <a:rPr lang="en-US" sz="1600" b="1">
                <a:solidFill>
                  <a:schemeClr val="tx1"/>
                </a:solidFill>
                <a:latin typeface="+mn-lt"/>
                <a:ea typeface="+mn-lt"/>
                <a:cs typeface="+mn-lt"/>
              </a:rPr>
              <a:t>How</a:t>
            </a:r>
            <a:endParaRPr lang="en-US" sz="1200" b="1">
              <a:solidFill>
                <a:schemeClr val="tx1"/>
              </a:solidFill>
              <a:latin typeface="+mn-lt"/>
              <a:ea typeface="+mn-lt"/>
              <a:cs typeface="+mn-lt"/>
            </a:endParaRPr>
          </a:p>
          <a:p>
            <a:pPr marL="0" indent="0" algn="l"/>
            <a:endParaRPr lang="en-US" sz="1200">
              <a:solidFill>
                <a:schemeClr val="tx1"/>
              </a:solidFill>
              <a:latin typeface="+mn-lt"/>
              <a:ea typeface="+mn-lt"/>
              <a:cs typeface="+mn-lt"/>
            </a:endParaRPr>
          </a:p>
          <a:p>
            <a:pPr marL="0" indent="0" algn="l"/>
            <a:r>
              <a:rPr lang="en-US" sz="1200">
                <a:solidFill>
                  <a:schemeClr val="tx1"/>
                </a:solidFill>
                <a:latin typeface="+mn-lt"/>
                <a:ea typeface="+mn-lt"/>
                <a:cs typeface="+mn-lt"/>
              </a:rPr>
              <a:t>• List your new five values from the previous exercise</a:t>
            </a:r>
          </a:p>
          <a:p>
            <a:pPr marL="0" indent="0" algn="l"/>
            <a:r>
              <a:rPr lang="en-US" sz="1200">
                <a:solidFill>
                  <a:schemeClr val="tx1"/>
                </a:solidFill>
                <a:latin typeface="+mn-lt"/>
                <a:ea typeface="+mn-lt"/>
                <a:cs typeface="+mn-lt"/>
              </a:rPr>
              <a:t>• List potential cool behaviors associated with each value</a:t>
            </a:r>
          </a:p>
          <a:p>
            <a:pPr marL="0" indent="0" algn="l"/>
            <a:r>
              <a:rPr lang="en-US" sz="1200">
                <a:solidFill>
                  <a:schemeClr val="tx1"/>
                </a:solidFill>
                <a:latin typeface="+mn-lt"/>
                <a:ea typeface="+mn-lt"/>
                <a:cs typeface="+mn-lt"/>
              </a:rPr>
              <a:t>• List potential not-cool behaviors associated with each value</a:t>
            </a:r>
          </a:p>
          <a:p>
            <a:pPr marL="0" indent="0" algn="l"/>
            <a:r>
              <a:rPr lang="en-US" sz="1200">
                <a:solidFill>
                  <a:schemeClr val="tx1"/>
                </a:solidFill>
                <a:latin typeface="+mn-lt"/>
                <a:ea typeface="+mn-lt"/>
                <a:cs typeface="+mn-lt"/>
              </a:rPr>
              <a:t>• Prioritize the top 5 behaviors the company will support</a:t>
            </a:r>
          </a:p>
          <a:p>
            <a:pPr marL="0" indent="0" algn="l"/>
            <a:r>
              <a:rPr lang="en-US" sz="1200">
                <a:solidFill>
                  <a:schemeClr val="tx1"/>
                </a:solidFill>
                <a:latin typeface="+mn-lt"/>
                <a:ea typeface="+mn-lt"/>
                <a:cs typeface="+mn-lt"/>
              </a:rPr>
              <a:t>• List the top 5 behaviors the company will never support</a:t>
            </a:r>
          </a:p>
          <a:p>
            <a:endParaRPr lang="en-US" b="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4</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7494814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sz="1200">
                <a:solidFill>
                  <a:schemeClr val="tx1"/>
                </a:solidFill>
              </a:rPr>
              <a:t>Define clear yellow and red lines to ensure everyone in the organization abides by the values. </a:t>
            </a:r>
          </a:p>
          <a:p>
            <a:pPr algn="l"/>
            <a:endParaRPr lang="en-GB" sz="1200">
              <a:solidFill>
                <a:schemeClr val="tx1"/>
              </a:solidFill>
            </a:endParaRPr>
          </a:p>
          <a:p>
            <a:pPr algn="l"/>
            <a:r>
              <a:rPr lang="en-GB" sz="1200">
                <a:solidFill>
                  <a:schemeClr val="tx1"/>
                </a:solidFill>
              </a:rPr>
              <a:t>Outline all the situations in which you will either give a warning or terminate (YELLOW OR RED</a:t>
            </a:r>
            <a:r>
              <a:rPr lang="en-GB" sz="1200" baseline="0">
                <a:solidFill>
                  <a:schemeClr val="tx1"/>
                </a:solidFill>
              </a:rPr>
              <a:t> cards)</a:t>
            </a:r>
            <a:r>
              <a:rPr lang="en-GB" sz="1200">
                <a:solidFill>
                  <a:schemeClr val="tx1"/>
                </a:solidFill>
              </a:rPr>
              <a:t>. </a:t>
            </a:r>
          </a:p>
          <a:p>
            <a:pPr algn="l"/>
            <a:endParaRPr lang="en-GB" sz="1200">
              <a:solidFill>
                <a:schemeClr val="tx1"/>
              </a:solidFill>
            </a:endParaRPr>
          </a:p>
          <a:p>
            <a:pPr algn="l"/>
            <a:r>
              <a:rPr lang="en-GB" sz="1200">
                <a:solidFill>
                  <a:schemeClr val="tx1"/>
                </a:solidFill>
              </a:rPr>
              <a:t>- Yellow lines require an immediate discussion with the employee.</a:t>
            </a:r>
          </a:p>
          <a:p>
            <a:pPr algn="l"/>
            <a:endParaRPr lang="en-GB" sz="1200">
              <a:solidFill>
                <a:schemeClr val="tx1"/>
              </a:solidFill>
            </a:endParaRPr>
          </a:p>
          <a:p>
            <a:pPr algn="l"/>
            <a:r>
              <a:rPr lang="en-GB" sz="1200">
                <a:solidFill>
                  <a:schemeClr val="tx1"/>
                </a:solidFill>
              </a:rPr>
              <a:t>- Red lines represent a severe misalignment with values and are a firing alert.</a:t>
            </a:r>
          </a:p>
          <a:p>
            <a:pPr algn="l"/>
            <a:endParaRPr lang="en-GB" sz="1200">
              <a:solidFill>
                <a:schemeClr val="tx1"/>
              </a:solidFill>
            </a:endParaRPr>
          </a:p>
          <a:p>
            <a:pPr algn="l"/>
            <a:r>
              <a:rPr lang="en-GB" sz="1200">
                <a:solidFill>
                  <a:schemeClr val="tx1"/>
                </a:solidFill>
              </a:rPr>
              <a:t>Do not think about how hard it will be to replace certain positions at this stage.</a:t>
            </a:r>
          </a:p>
          <a:p>
            <a:endParaRPr lang="en-US" b="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5</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3428638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r>
              <a:rPr lang="en-US" sz="1200">
                <a:solidFill>
                  <a:schemeClr val="tx1"/>
                </a:solidFill>
                <a:latin typeface="+mn-lt"/>
                <a:ea typeface="+mn-lt"/>
                <a:cs typeface="+mn-lt"/>
              </a:rPr>
              <a:t>The biggest mistake that most companies make is recruiting for skills. If you want like-minded people working together, search for values that fit instead. </a:t>
            </a:r>
          </a:p>
          <a:p>
            <a:pPr marL="0" indent="0" algn="l"/>
            <a:endParaRPr lang="en-US" sz="1200">
              <a:solidFill>
                <a:schemeClr val="tx1"/>
              </a:solidFill>
              <a:latin typeface="+mn-lt"/>
              <a:ea typeface="+mn-lt"/>
              <a:cs typeface="+mn-lt"/>
            </a:endParaRPr>
          </a:p>
          <a:p>
            <a:pPr marL="0" indent="0" algn="l"/>
            <a:r>
              <a:rPr lang="en-US" sz="1200">
                <a:solidFill>
                  <a:schemeClr val="tx1"/>
                </a:solidFill>
                <a:latin typeface="+mn-lt"/>
                <a:ea typeface="+mn-lt"/>
                <a:cs typeface="+mn-lt"/>
              </a:rPr>
              <a:t>Create a list of questions you will use to determine this fit right at the recruitment stage. </a:t>
            </a:r>
          </a:p>
          <a:p>
            <a:pPr marL="0" indent="0" algn="l"/>
            <a:endParaRPr lang="en-US" sz="1200">
              <a:solidFill>
                <a:schemeClr val="tx1"/>
              </a:solidFill>
              <a:latin typeface="+mn-lt"/>
              <a:ea typeface="+mn-lt"/>
              <a:cs typeface="+mn-lt"/>
            </a:endParaRPr>
          </a:p>
          <a:p>
            <a:pPr marL="0" indent="0" algn="l"/>
            <a:r>
              <a:rPr lang="en-US" sz="1200">
                <a:solidFill>
                  <a:schemeClr val="tx1"/>
                </a:solidFill>
                <a:latin typeface="+mn-lt"/>
                <a:ea typeface="+mn-lt"/>
                <a:cs typeface="+mn-lt"/>
              </a:rPr>
              <a:t>Make sure to be specific and avoid hypothetical questions (ex. How would you deal with a conflict with a co-worker?) as they give the candidate a chance to spin the yarn. </a:t>
            </a:r>
          </a:p>
          <a:p>
            <a:pPr marL="0" indent="0" algn="l"/>
            <a:endParaRPr lang="en-US" sz="1200">
              <a:solidFill>
                <a:schemeClr val="tx1"/>
              </a:solidFill>
              <a:latin typeface="+mn-lt"/>
              <a:ea typeface="+mn-lt"/>
              <a:cs typeface="+mn-lt"/>
            </a:endParaRPr>
          </a:p>
          <a:p>
            <a:pPr marL="0" indent="0" algn="l"/>
            <a:endParaRPr lang="en-US" sz="1200">
              <a:solidFill>
                <a:schemeClr val="tx1"/>
              </a:solidFill>
              <a:latin typeface="+mn-lt"/>
              <a:ea typeface="+mn-lt"/>
              <a:cs typeface="+mn-lt"/>
            </a:endParaRPr>
          </a:p>
          <a:p>
            <a:endParaRPr lang="en-US" b="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6</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0574604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a:solidFill>
                  <a:schemeClr val="tx1"/>
                </a:solidFill>
                <a:latin typeface="+mn-lt"/>
                <a:ea typeface="+mn-lt"/>
                <a:cs typeface="+mn-lt"/>
              </a:rPr>
              <a:t>Decide together on a list of actions, a time frame, and each item's owners.</a:t>
            </a:r>
          </a:p>
          <a:p>
            <a:endParaRPr lang="en-US" b="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7</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21995594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_WHITE_1_Column">
    <p:bg>
      <p:bgPr>
        <a:solidFill>
          <a:schemeClr val="bg1"/>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008A13D0-3BCD-4BB0-BBD9-82A143453ABB}"/>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1" name="Title 1">
            <a:extLst>
              <a:ext uri="{FF2B5EF4-FFF2-40B4-BE49-F238E27FC236}">
                <a16:creationId xmlns:a16="http://schemas.microsoft.com/office/drawing/2014/main" id="{3B23B763-A5C1-42F2-8C36-991BE4392B02}"/>
              </a:ext>
            </a:extLst>
          </p:cNvPr>
          <p:cNvSpPr>
            <a:spLocks noGrp="1"/>
          </p:cNvSpPr>
          <p:nvPr>
            <p:ph type="title" hasCustomPrompt="1"/>
          </p:nvPr>
        </p:nvSpPr>
        <p:spPr>
          <a:xfrm>
            <a:off x="89039" y="211686"/>
            <a:ext cx="6413361"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3" name="Text Placeholder 6">
            <a:extLst>
              <a:ext uri="{FF2B5EF4-FFF2-40B4-BE49-F238E27FC236}">
                <a16:creationId xmlns:a16="http://schemas.microsoft.com/office/drawing/2014/main" id="{3D492883-CEFA-48D9-82FE-FFF05D50C1A1}"/>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4" name="Text Placeholder 6">
            <a:extLst>
              <a:ext uri="{FF2B5EF4-FFF2-40B4-BE49-F238E27FC236}">
                <a16:creationId xmlns:a16="http://schemas.microsoft.com/office/drawing/2014/main" id="{160B517C-D02E-418D-9BBC-9C696114B9E2}"/>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Tree>
    <p:extLst>
      <p:ext uri="{BB962C8B-B14F-4D97-AF65-F5344CB8AC3E}">
        <p14:creationId xmlns:p14="http://schemas.microsoft.com/office/powerpoint/2010/main" val="3136651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1_WHITE_3_Columns">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E605F26-4D64-48C5-91DE-316421CEFFD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CAA9396D-D545-40BB-A96E-15D1D00FEF33}"/>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2" name="Text Placeholder 3">
            <a:extLst>
              <a:ext uri="{FF2B5EF4-FFF2-40B4-BE49-F238E27FC236}">
                <a16:creationId xmlns:a16="http://schemas.microsoft.com/office/drawing/2014/main" id="{790ED9B7-58AC-4043-9142-FF3240533DDC}"/>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3" name="Text Placeholder 3">
            <a:extLst>
              <a:ext uri="{FF2B5EF4-FFF2-40B4-BE49-F238E27FC236}">
                <a16:creationId xmlns:a16="http://schemas.microsoft.com/office/drawing/2014/main" id="{0785E554-45BF-45C0-BE18-09DC5042AD0A}"/>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F87CAF4F-2976-42B9-9211-872B429210EB}"/>
              </a:ext>
            </a:extLst>
          </p:cNvPr>
          <p:cNvSpPr>
            <a:spLocks noGrp="1"/>
          </p:cNvSpPr>
          <p:nvPr>
            <p:ph type="title" hasCustomPrompt="1"/>
          </p:nvPr>
        </p:nvSpPr>
        <p:spPr>
          <a:xfrm>
            <a:off x="89040" y="211686"/>
            <a:ext cx="9664560"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7" name="Text Placeholder 6">
            <a:extLst>
              <a:ext uri="{FF2B5EF4-FFF2-40B4-BE49-F238E27FC236}">
                <a16:creationId xmlns:a16="http://schemas.microsoft.com/office/drawing/2014/main" id="{2BBF17B5-7E65-4AD3-8DEB-7B67AC5D8D2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8" name="Text Placeholder 6">
            <a:extLst>
              <a:ext uri="{FF2B5EF4-FFF2-40B4-BE49-F238E27FC236}">
                <a16:creationId xmlns:a16="http://schemas.microsoft.com/office/drawing/2014/main" id="{EF716833-C3B9-451E-AEEC-00810D952DC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cxnSp>
        <p:nvCxnSpPr>
          <p:cNvPr id="15" name="Straight Connector 14">
            <a:extLst>
              <a:ext uri="{FF2B5EF4-FFF2-40B4-BE49-F238E27FC236}">
                <a16:creationId xmlns:a16="http://schemas.microsoft.com/office/drawing/2014/main" id="{5E09AF21-1D01-4A78-848B-3D56CF13DD49}"/>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7815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2_YELLOW_1_Column">
    <p:bg>
      <p:bgPr>
        <a:solidFill>
          <a:srgbClr val="FFF469"/>
        </a:solidFill>
        <a:effectLst/>
      </p:bgPr>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C419244-6A72-468C-BE04-2F16A87D3855}"/>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AC6C8BBF-37E2-4AD1-B2B9-E44C74F8A856}"/>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5" name="Text Placeholder 6">
            <a:extLst>
              <a:ext uri="{FF2B5EF4-FFF2-40B4-BE49-F238E27FC236}">
                <a16:creationId xmlns:a16="http://schemas.microsoft.com/office/drawing/2014/main" id="{9523522C-9005-410B-AF7F-A8B2A7F24D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6" name="Text Placeholder 6">
            <a:extLst>
              <a:ext uri="{FF2B5EF4-FFF2-40B4-BE49-F238E27FC236}">
                <a16:creationId xmlns:a16="http://schemas.microsoft.com/office/drawing/2014/main" id="{53CB7819-CA7C-4E96-8FED-04E6770D482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Tree>
    <p:extLst>
      <p:ext uri="{BB962C8B-B14F-4D97-AF65-F5344CB8AC3E}">
        <p14:creationId xmlns:p14="http://schemas.microsoft.com/office/powerpoint/2010/main" val="2540665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2_YELLOW_3_Columns">
    <p:bg>
      <p:bgPr>
        <a:solidFill>
          <a:srgbClr val="FFF469"/>
        </a:solidFill>
        <a:effectLst/>
      </p:bgPr>
    </p:bg>
    <p:spTree>
      <p:nvGrpSpPr>
        <p:cNvPr id="1" name=""/>
        <p:cNvGrpSpPr/>
        <p:nvPr/>
      </p:nvGrpSpPr>
      <p:grpSpPr>
        <a:xfrm>
          <a:off x="0" y="0"/>
          <a:ext cx="0" cy="0"/>
          <a:chOff x="0" y="0"/>
          <a:chExt cx="0" cy="0"/>
        </a:xfrm>
      </p:grpSpPr>
      <p:sp>
        <p:nvSpPr>
          <p:cNvPr id="26" name="Text Placeholder 3">
            <a:extLst>
              <a:ext uri="{FF2B5EF4-FFF2-40B4-BE49-F238E27FC236}">
                <a16:creationId xmlns:a16="http://schemas.microsoft.com/office/drawing/2014/main" id="{85CFEAE5-2C79-483A-9F2A-7CA1F7998FA9}"/>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7" name="Text Placeholder 3">
            <a:extLst>
              <a:ext uri="{FF2B5EF4-FFF2-40B4-BE49-F238E27FC236}">
                <a16:creationId xmlns:a16="http://schemas.microsoft.com/office/drawing/2014/main" id="{5EBA1EA9-A8DC-4D3F-B15C-D3F14A5BE72F}"/>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8" name="Text Placeholder 3">
            <a:extLst>
              <a:ext uri="{FF2B5EF4-FFF2-40B4-BE49-F238E27FC236}">
                <a16:creationId xmlns:a16="http://schemas.microsoft.com/office/drawing/2014/main" id="{87F7E3D7-9398-4897-B295-EFECEEA7B4AC}"/>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9" name="Title 1">
            <a:extLst>
              <a:ext uri="{FF2B5EF4-FFF2-40B4-BE49-F238E27FC236}">
                <a16:creationId xmlns:a16="http://schemas.microsoft.com/office/drawing/2014/main" id="{C1E188E1-B49E-4206-8810-90976EF46CBB}"/>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30" name="Text Placeholder 6">
            <a:extLst>
              <a:ext uri="{FF2B5EF4-FFF2-40B4-BE49-F238E27FC236}">
                <a16:creationId xmlns:a16="http://schemas.microsoft.com/office/drawing/2014/main" id="{CFFC5C64-34AC-45B4-82C3-D38A6DD8F9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31" name="Text Placeholder 6">
            <a:extLst>
              <a:ext uri="{FF2B5EF4-FFF2-40B4-BE49-F238E27FC236}">
                <a16:creationId xmlns:a16="http://schemas.microsoft.com/office/drawing/2014/main" id="{D32105DB-B08C-473C-9085-4569BB194315}"/>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cxnSp>
        <p:nvCxnSpPr>
          <p:cNvPr id="33" name="Straight Connector 32">
            <a:extLst>
              <a:ext uri="{FF2B5EF4-FFF2-40B4-BE49-F238E27FC236}">
                <a16:creationId xmlns:a16="http://schemas.microsoft.com/office/drawing/2014/main" id="{E2B4FC65-313B-4904-9E70-D2F504FE3015}"/>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C26847E-2609-4D88-8E24-E1A3AC0B1CD7}"/>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0188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3_GRAY_1_Column">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D1CE943E-6192-4416-9391-8750CC83F148}"/>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853C5F3F-A020-4B73-8BCB-81BBC801C8E3}"/>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5" name="Text Placeholder 6">
            <a:extLst>
              <a:ext uri="{FF2B5EF4-FFF2-40B4-BE49-F238E27FC236}">
                <a16:creationId xmlns:a16="http://schemas.microsoft.com/office/drawing/2014/main" id="{BCA05F99-4213-4A1B-80EF-6865BAEB6A55}"/>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6" name="Text Placeholder 6">
            <a:extLst>
              <a:ext uri="{FF2B5EF4-FFF2-40B4-BE49-F238E27FC236}">
                <a16:creationId xmlns:a16="http://schemas.microsoft.com/office/drawing/2014/main" id="{0611D512-228A-4A7A-BAEE-2E359F63F564}"/>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Tree>
    <p:extLst>
      <p:ext uri="{BB962C8B-B14F-4D97-AF65-F5344CB8AC3E}">
        <p14:creationId xmlns:p14="http://schemas.microsoft.com/office/powerpoint/2010/main" val="658940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3_GRAY_3_Columns">
    <p:spTree>
      <p:nvGrpSpPr>
        <p:cNvPr id="1" name=""/>
        <p:cNvGrpSpPr/>
        <p:nvPr/>
      </p:nvGrpSpPr>
      <p:grpSpPr>
        <a:xfrm>
          <a:off x="0" y="0"/>
          <a:ext cx="0" cy="0"/>
          <a:chOff x="0" y="0"/>
          <a:chExt cx="0" cy="0"/>
        </a:xfrm>
      </p:grpSpPr>
      <p:sp>
        <p:nvSpPr>
          <p:cNvPr id="27" name="Text Placeholder 3">
            <a:extLst>
              <a:ext uri="{FF2B5EF4-FFF2-40B4-BE49-F238E27FC236}">
                <a16:creationId xmlns:a16="http://schemas.microsoft.com/office/drawing/2014/main" id="{A07D3AB2-BCE1-480F-9B30-FEEC092EEBCF}"/>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8" name="Text Placeholder 3">
            <a:extLst>
              <a:ext uri="{FF2B5EF4-FFF2-40B4-BE49-F238E27FC236}">
                <a16:creationId xmlns:a16="http://schemas.microsoft.com/office/drawing/2014/main" id="{3CD35721-3F94-4497-A9CF-05F4CE92CBD7}"/>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9" name="Text Placeholder 3">
            <a:extLst>
              <a:ext uri="{FF2B5EF4-FFF2-40B4-BE49-F238E27FC236}">
                <a16:creationId xmlns:a16="http://schemas.microsoft.com/office/drawing/2014/main" id="{0A2E42A9-BAF3-4ACF-B65B-7312185AF307}"/>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30" name="Title 1">
            <a:extLst>
              <a:ext uri="{FF2B5EF4-FFF2-40B4-BE49-F238E27FC236}">
                <a16:creationId xmlns:a16="http://schemas.microsoft.com/office/drawing/2014/main" id="{6E86ADE4-0FED-4737-A21C-43DD7E11615A}"/>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31" name="Text Placeholder 6">
            <a:extLst>
              <a:ext uri="{FF2B5EF4-FFF2-40B4-BE49-F238E27FC236}">
                <a16:creationId xmlns:a16="http://schemas.microsoft.com/office/drawing/2014/main" id="{B670390E-C295-409C-9125-4F0E458152CB}"/>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32" name="Text Placeholder 6">
            <a:extLst>
              <a:ext uri="{FF2B5EF4-FFF2-40B4-BE49-F238E27FC236}">
                <a16:creationId xmlns:a16="http://schemas.microsoft.com/office/drawing/2014/main" id="{DDF8C45D-78F4-4204-9E51-5D7A5C47DD38}"/>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cxnSp>
        <p:nvCxnSpPr>
          <p:cNvPr id="34" name="Straight Connector 33">
            <a:extLst>
              <a:ext uri="{FF2B5EF4-FFF2-40B4-BE49-F238E27FC236}">
                <a16:creationId xmlns:a16="http://schemas.microsoft.com/office/drawing/2014/main" id="{07EB0BA1-BF1E-4A77-BEFB-EB78C0DEC3A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C5D4724-2CB4-4AFF-8DD9-64B236206E92}"/>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7964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1386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4104472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4780CF0-BF2E-40B4-BEED-FD5E71A80684}"/>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93BA56B-7C0E-4B20-9289-03EB1A5350A5}"/>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drawing&#10;&#10;Description automatically generated">
            <a:extLst>
              <a:ext uri="{FF2B5EF4-FFF2-40B4-BE49-F238E27FC236}">
                <a16:creationId xmlns:a16="http://schemas.microsoft.com/office/drawing/2014/main" id="{ECEB2386-34D3-4552-844E-0436D69143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1241675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60645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9815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63923B3-00BE-4E8D-9E38-6B2A4C67CE11}"/>
              </a:ext>
            </a:extLst>
          </p:cNvPr>
          <p:cNvCxnSpPr>
            <a:cxnSpLocks/>
          </p:cNvCxnSpPr>
          <p:nvPr userDrawn="1"/>
        </p:nvCxnSpPr>
        <p:spPr>
          <a:xfrm flipH="1">
            <a:off x="0" y="540000"/>
            <a:ext cx="106886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2A36A96-9814-4886-AB9D-FADB7A8ADE6F}"/>
              </a:ext>
            </a:extLst>
          </p:cNvPr>
          <p:cNvCxnSpPr>
            <a:cxnSpLocks/>
          </p:cNvCxnSpPr>
          <p:nvPr userDrawn="1"/>
        </p:nvCxnSpPr>
        <p:spPr>
          <a:xfrm flipV="1">
            <a:off x="10151019" y="540001"/>
            <a:ext cx="0" cy="702285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Description automatically generated">
            <a:extLst>
              <a:ext uri="{FF2B5EF4-FFF2-40B4-BE49-F238E27FC236}">
                <a16:creationId xmlns:a16="http://schemas.microsoft.com/office/drawing/2014/main" id="{C544D797-E0FF-4B76-B599-4C8F8DFD1D6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6" y="180978"/>
            <a:ext cx="720183" cy="292098"/>
          </a:xfrm>
          <a:prstGeom prst="rect">
            <a:avLst/>
          </a:prstGeom>
        </p:spPr>
      </p:pic>
    </p:spTree>
    <p:extLst>
      <p:ext uri="{BB962C8B-B14F-4D97-AF65-F5344CB8AC3E}">
        <p14:creationId xmlns:p14="http://schemas.microsoft.com/office/powerpoint/2010/main" val="28126857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1621194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heme" Target="../theme/theme3.xml"/><Relationship Id="rId5" Type="http://schemas.openxmlformats.org/officeDocument/2006/relationships/slideLayout" Target="../slideLayouts/slideLayout13.xml"/><Relationship Id="rId4"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B2B2B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C719B31-4871-4EFE-8DF2-35AA8563A755}"/>
              </a:ext>
            </a:extLst>
          </p:cNvPr>
          <p:cNvCxnSpPr>
            <a:cxnSpLocks/>
          </p:cNvCxnSpPr>
          <p:nvPr userDrawn="1"/>
        </p:nvCxnSpPr>
        <p:spPr>
          <a:xfrm flipH="1">
            <a:off x="1" y="540000"/>
            <a:ext cx="1014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07B7B6-C623-4615-80FF-40DAB454DA05}"/>
              </a:ext>
            </a:extLst>
          </p:cNvPr>
          <p:cNvCxnSpPr>
            <a:cxnSpLocks/>
          </p:cNvCxnSpPr>
          <p:nvPr userDrawn="1"/>
        </p:nvCxnSpPr>
        <p:spPr>
          <a:xfrm flipV="1">
            <a:off x="10151019" y="1"/>
            <a:ext cx="0" cy="756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3EB7827E-DBA0-4429-998C-31F1FE0D3DE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53620" y="180975"/>
            <a:ext cx="257218" cy="285750"/>
          </a:xfrm>
          <a:prstGeom prst="rect">
            <a:avLst/>
          </a:prstGeom>
        </p:spPr>
      </p:pic>
    </p:spTree>
    <p:extLst>
      <p:ext uri="{BB962C8B-B14F-4D97-AF65-F5344CB8AC3E}">
        <p14:creationId xmlns:p14="http://schemas.microsoft.com/office/powerpoint/2010/main" val="3433518930"/>
      </p:ext>
    </p:extLst>
  </p:cSld>
  <p:clrMap bg1="lt1" tx1="dk1" bg2="lt2" tx2="dk2" accent1="accent1" accent2="accent2" accent3="accent3" accent4="accent4" accent5="accent5" accent6="accent6" hlink="hlink" folHlink="folHlink"/>
  <p:sldLayoutIdLst>
    <p:sldLayoutId id="2147484478" r:id="rId1"/>
    <p:sldLayoutId id="2147484479" r:id="rId2"/>
    <p:sldLayoutId id="2147484480" r:id="rId3"/>
    <p:sldLayoutId id="2147484481" r:id="rId4"/>
    <p:sldLayoutId id="2147484482" r:id="rId5"/>
    <p:sldLayoutId id="2147484483" r:id="rId6"/>
    <p:sldLayoutId id="2147484484" r:id="rId7"/>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2">
          <p15:clr>
            <a:srgbClr val="F26B43"/>
          </p15:clr>
        </p15:guide>
        <p15:guide id="2" pos="558">
          <p15:clr>
            <a:srgbClr val="F26B43"/>
          </p15:clr>
        </p15:guide>
        <p15:guide id="3" pos="6623">
          <p15:clr>
            <a:srgbClr val="F26B43"/>
          </p15:clr>
        </p15:guide>
        <p15:guide id="4" pos="112">
          <p15:clr>
            <a:srgbClr val="F26B43"/>
          </p15:clr>
        </p15:guide>
        <p15:guide id="5" pos="629">
          <p15:clr>
            <a:srgbClr val="F26B43"/>
          </p15:clr>
        </p15:guide>
        <p15:guide id="6" pos="1080">
          <p15:clr>
            <a:srgbClr val="F26B43"/>
          </p15:clr>
        </p15:guide>
        <p15:guide id="7" pos="1148">
          <p15:clr>
            <a:srgbClr val="F26B43"/>
          </p15:clr>
        </p15:guide>
        <p15:guide id="8" pos="1599">
          <p15:clr>
            <a:srgbClr val="F26B43"/>
          </p15:clr>
        </p15:guide>
        <p15:guide id="9" pos="1667">
          <p15:clr>
            <a:srgbClr val="F26B43"/>
          </p15:clr>
        </p15:guide>
        <p15:guide id="10" pos="2122">
          <p15:clr>
            <a:srgbClr val="F26B43"/>
          </p15:clr>
        </p15:guide>
        <p15:guide id="11" pos="2188">
          <p15:clr>
            <a:srgbClr val="F26B43"/>
          </p15:clr>
        </p15:guide>
        <p15:guide id="12" pos="2709">
          <p15:clr>
            <a:srgbClr val="F26B43"/>
          </p15:clr>
        </p15:guide>
        <p15:guide id="13" pos="2640">
          <p15:clr>
            <a:srgbClr val="F26B43"/>
          </p15:clr>
        </p15:guide>
        <p15:guide id="14" pos="3160">
          <p15:clr>
            <a:srgbClr val="F26B43"/>
          </p15:clr>
        </p15:guide>
        <p15:guide id="15" pos="3228">
          <p15:clr>
            <a:srgbClr val="F26B43"/>
          </p15:clr>
        </p15:guide>
        <p15:guide id="16" pos="3681">
          <p15:clr>
            <a:srgbClr val="F26B43"/>
          </p15:clr>
        </p15:guide>
        <p15:guide id="17" pos="3747">
          <p15:clr>
            <a:srgbClr val="F26B43"/>
          </p15:clr>
        </p15:guide>
        <p15:guide id="18" pos="4200">
          <p15:clr>
            <a:srgbClr val="F26B43"/>
          </p15:clr>
        </p15:guide>
        <p15:guide id="19" pos="4267">
          <p15:clr>
            <a:srgbClr val="F26B43"/>
          </p15:clr>
        </p15:guide>
        <p15:guide id="20" pos="4720">
          <p15:clr>
            <a:srgbClr val="F26B43"/>
          </p15:clr>
        </p15:guide>
        <p15:guide id="21" pos="4789">
          <p15:clr>
            <a:srgbClr val="F26B43"/>
          </p15:clr>
        </p15:guide>
        <p15:guide id="22" pos="5240">
          <p15:clr>
            <a:srgbClr val="F26B43"/>
          </p15:clr>
        </p15:guide>
        <p15:guide id="23" pos="5308">
          <p15:clr>
            <a:srgbClr val="F26B43"/>
          </p15:clr>
        </p15:guide>
        <p15:guide id="24" pos="5761">
          <p15:clr>
            <a:srgbClr val="F26B43"/>
          </p15:clr>
        </p15:guide>
        <p15:guide id="25" pos="5830">
          <p15:clr>
            <a:srgbClr val="F26B43"/>
          </p15:clr>
        </p15:guide>
        <p15:guide id="26" pos="2154">
          <p15:clr>
            <a:srgbClr val="F26B43"/>
          </p15:clr>
        </p15:guide>
        <p15:guide id="27" pos="4233">
          <p15:clr>
            <a:srgbClr val="F26B43"/>
          </p15:clr>
        </p15:guide>
        <p15:guide id="28" orient="horz" pos="2515">
          <p15:clr>
            <a:srgbClr val="F26B43"/>
          </p15:clr>
        </p15:guide>
        <p15:guide id="30" orient="horz" pos="113" userDrawn="1">
          <p15:clr>
            <a:srgbClr val="F26B43"/>
          </p15:clr>
        </p15:guide>
        <p15:guide id="31" orient="horz" pos="4648">
          <p15:clr>
            <a:srgbClr val="F26B43"/>
          </p15:clr>
        </p15:guide>
        <p15:guide id="32" pos="6282">
          <p15:clr>
            <a:srgbClr val="F26B43"/>
          </p15:clr>
        </p15:guide>
        <p15:guide id="33" orient="horz" pos="2549">
          <p15:clr>
            <a:srgbClr val="F26B43"/>
          </p15:clr>
        </p15:guide>
        <p15:guide id="34" orient="horz" pos="171" userDrawn="1">
          <p15:clr>
            <a:srgbClr val="F26B43"/>
          </p15:clr>
        </p15:guide>
        <p15:guide id="35" orient="horz" pos="250" userDrawn="1">
          <p15:clr>
            <a:srgbClr val="F26B43"/>
          </p15:clr>
        </p15:guide>
        <p15:guide id="36" orient="horz" pos="32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3B884B5F-D4D6-48A4-A902-0EB670CA2015}"/>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6C769BA-B1FD-442A-ADCF-17897CEAADF0}"/>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descr="A picture containing drawing&#10;&#10;Description automatically generated">
            <a:extLst>
              <a:ext uri="{FF2B5EF4-FFF2-40B4-BE49-F238E27FC236}">
                <a16:creationId xmlns:a16="http://schemas.microsoft.com/office/drawing/2014/main" id="{DC5CF2D2-0F1A-4C0F-BDD7-47F42973452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2571242831"/>
      </p:ext>
    </p:extLst>
  </p:cSld>
  <p:clrMap bg1="lt1" tx1="dk1" bg2="lt2" tx2="dk2" accent1="accent1" accent2="accent2" accent3="accent3" accent4="accent4" accent5="accent5" accent6="accent6" hlink="hlink" folHlink="folHlink"/>
  <p:sldLayoutIdLst>
    <p:sldLayoutId id="2147484486" r:id="rId1"/>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6582343"/>
      </p:ext>
    </p:extLst>
  </p:cSld>
  <p:clrMap bg1="lt1" tx1="dk1" bg2="lt2" tx2="dk2" accent1="accent1" accent2="accent2" accent3="accent3" accent4="accent4" accent5="accent5" accent6="accent6" hlink="hlink" folHlink="folHlink"/>
  <p:sldLayoutIdLst>
    <p:sldLayoutId id="2147483648" r:id="rId1"/>
    <p:sldLayoutId id="2147484488" r:id="rId2"/>
    <p:sldLayoutId id="2147483649" r:id="rId3"/>
    <p:sldLayoutId id="2147484489" r:id="rId4"/>
    <p:sldLayoutId id="2147484490"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ack and white sign&#10;&#10;Description automatically generated">
            <a:extLst>
              <a:ext uri="{FF2B5EF4-FFF2-40B4-BE49-F238E27FC236}">
                <a16:creationId xmlns:a16="http://schemas.microsoft.com/office/drawing/2014/main" id="{822232FD-C22F-F23F-4961-1710BB33EBF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t="13589" b="27671"/>
          <a:stretch/>
        </p:blipFill>
        <p:spPr>
          <a:xfrm>
            <a:off x="89039" y="75304"/>
            <a:ext cx="2686433" cy="419548"/>
          </a:xfrm>
          <a:prstGeom prst="rect">
            <a:avLst/>
          </a:prstGeom>
        </p:spPr>
      </p:pic>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4172011838"/>
              </p:ext>
            </p:extLst>
          </p:nvPr>
        </p:nvGraphicFramePr>
        <p:xfrm>
          <a:off x="256819" y="719276"/>
          <a:ext cx="9695564" cy="6529660"/>
        </p:xfrm>
        <a:graphic>
          <a:graphicData uri="http://schemas.openxmlformats.org/drawingml/2006/table">
            <a:tbl>
              <a:tblPr firstRow="1" bandRow="1">
                <a:tableStyleId>{2D5ABB26-0587-4C30-8999-92F81FD0307C}</a:tableStyleId>
              </a:tblPr>
              <a:tblGrid>
                <a:gridCol w="4847782">
                  <a:extLst>
                    <a:ext uri="{9D8B030D-6E8A-4147-A177-3AD203B41FA5}">
                      <a16:colId xmlns:a16="http://schemas.microsoft.com/office/drawing/2014/main" val="3308902235"/>
                    </a:ext>
                  </a:extLst>
                </a:gridCol>
                <a:gridCol w="4847782">
                  <a:extLst>
                    <a:ext uri="{9D8B030D-6E8A-4147-A177-3AD203B41FA5}">
                      <a16:colId xmlns:a16="http://schemas.microsoft.com/office/drawing/2014/main" val="3046643254"/>
                    </a:ext>
                  </a:extLst>
                </a:gridCol>
              </a:tblGrid>
              <a:tr h="390635">
                <a:tc gridSpan="2">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panose="020B0604020202020204" pitchFamily="34" charset="0"/>
                          <a:ea typeface="Riforma LL" panose="020B0504020101020102" pitchFamily="34" charset="77"/>
                          <a:cs typeface="Arial" panose="020B0604020202020204" pitchFamily="34" charset="0"/>
                        </a:rPr>
                        <a:t>Typical behaviors, and ways of doing things in the company</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929379839"/>
                  </a:ext>
                </a:extLst>
              </a:tr>
              <a:tr h="390635">
                <a:tc>
                  <a:txBody>
                    <a:bodyPr/>
                    <a:lstStyle/>
                    <a:p>
                      <a:pPr marL="0" marR="0" lvl="0" indent="0" algn="l" defTabSz="913760">
                        <a:lnSpc>
                          <a:spcPct val="100000"/>
                        </a:lnSpc>
                        <a:spcBef>
                          <a:spcPts val="0"/>
                        </a:spcBef>
                        <a:spcAft>
                          <a:spcPts val="0"/>
                        </a:spcAft>
                        <a:buNone/>
                        <a:tabLst/>
                        <a:defRPr/>
                      </a:pPr>
                      <a:endParaRPr lang="en-US" sz="1400" b="0" i="0">
                        <a:solidFill>
                          <a:schemeClr val="bg1"/>
                        </a:solidFill>
                        <a:latin typeface="Arial"/>
                        <a:cs typeface="Aria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7487134"/>
                  </a:ext>
                </a:extLst>
              </a:tr>
              <a:tr h="390635">
                <a:tc>
                  <a:txBody>
                    <a:bodyPr/>
                    <a:lstStyle/>
                    <a:p>
                      <a:pPr marL="0" marR="0" lvl="0" indent="0" algn="l" defTabSz="913760">
                        <a:lnSpc>
                          <a:spcPct val="100000"/>
                        </a:lnSpc>
                        <a:spcBef>
                          <a:spcPts val="0"/>
                        </a:spcBef>
                        <a:spcAft>
                          <a:spcPts val="0"/>
                        </a:spcAft>
                        <a:buNone/>
                        <a:tabLst/>
                        <a:defRPr/>
                      </a:pPr>
                      <a:endParaRPr lang="en-US" sz="1400" b="0" i="0">
                        <a:solidFill>
                          <a:srgbClr val="FF0000"/>
                        </a:solidFill>
                        <a:latin typeface="Arial"/>
                        <a:cs typeface="Aria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8554850"/>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371749"/>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015239"/>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9357261"/>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7133664"/>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71120663"/>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844840"/>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0379632"/>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panose="020B0604020202020204" pitchFamily="34" charset="0"/>
                          <a:ea typeface="Riforma LL" panose="020B0504020101020102" pitchFamily="34" charset="77"/>
                          <a:cs typeface="Arial" panose="020B0604020202020204" pitchFamily="34" charset="0"/>
                        </a:rPr>
                        <a:t>Top 5 most commonly observed behaviors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panose="020B0604020202020204" pitchFamily="34" charset="0"/>
                          <a:ea typeface="Riforma LL" panose="020B0504020101020102" pitchFamily="34" charset="77"/>
                          <a:cs typeface="Arial" panose="020B0604020202020204" pitchFamily="34" charset="0"/>
                        </a:rPr>
                        <a:t> The 5 company values that these behaviors represent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4465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4465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910689"/>
                  </a:ext>
                </a:extLst>
              </a:tr>
              <a:tr h="4465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650493"/>
                  </a:ext>
                </a:extLst>
              </a:tr>
              <a:tr h="4465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009344"/>
                  </a:ext>
                </a:extLst>
              </a:tr>
              <a:tr h="4465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9891231"/>
                  </a:ext>
                </a:extLst>
              </a:tr>
            </a:tbl>
          </a:graphicData>
        </a:graphic>
      </p:graphicFrame>
    </p:spTree>
    <p:extLst>
      <p:ext uri="{BB962C8B-B14F-4D97-AF65-F5344CB8AC3E}">
        <p14:creationId xmlns:p14="http://schemas.microsoft.com/office/powerpoint/2010/main" val="1820793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7624B64-7AAF-9ED2-FC73-2EF925D5DD10}"/>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t="22620" b="20133"/>
          <a:stretch/>
        </p:blipFill>
        <p:spPr>
          <a:xfrm>
            <a:off x="108212" y="96819"/>
            <a:ext cx="5786977" cy="398034"/>
          </a:xfrm>
          <a:prstGeom prst="rect">
            <a:avLst/>
          </a:prstGeom>
        </p:spPr>
      </p:pic>
      <p:graphicFrame>
        <p:nvGraphicFramePr>
          <p:cNvPr id="18" name="Table 17">
            <a:extLst>
              <a:ext uri="{FF2B5EF4-FFF2-40B4-BE49-F238E27FC236}">
                <a16:creationId xmlns:a16="http://schemas.microsoft.com/office/drawing/2014/main" id="{1F74CD5A-9F80-0549-8844-6BFF5ADE70C7}"/>
              </a:ext>
            </a:extLst>
          </p:cNvPr>
          <p:cNvGraphicFramePr>
            <a:graphicFrameLocks noGrp="1" noDrilldown="1" noMove="1" noResize="1"/>
          </p:cNvGraphicFramePr>
          <p:nvPr>
            <p:extLst>
              <p:ext uri="{D42A27DB-BD31-4B8C-83A1-F6EECF244321}">
                <p14:modId xmlns:p14="http://schemas.microsoft.com/office/powerpoint/2010/main" val="3554592310"/>
              </p:ext>
            </p:extLst>
          </p:nvPr>
        </p:nvGraphicFramePr>
        <p:xfrm>
          <a:off x="248067" y="762788"/>
          <a:ext cx="9664560" cy="6529126"/>
        </p:xfrm>
        <a:graphic>
          <a:graphicData uri="http://schemas.openxmlformats.org/drawingml/2006/table">
            <a:tbl>
              <a:tblPr firstRow="1" bandRow="1">
                <a:tableStyleId>{2D5ABB26-0587-4C30-8999-92F81FD0307C}</a:tableStyleId>
              </a:tblPr>
              <a:tblGrid>
                <a:gridCol w="9664560">
                  <a:extLst>
                    <a:ext uri="{9D8B030D-6E8A-4147-A177-3AD203B41FA5}">
                      <a16:colId xmlns:a16="http://schemas.microsoft.com/office/drawing/2014/main" val="3313590318"/>
                    </a:ext>
                  </a:extLst>
                </a:gridCol>
              </a:tblGrid>
              <a:tr h="416655">
                <a:tc>
                  <a:txBody>
                    <a:bodyPr/>
                    <a:lstStyle/>
                    <a:p>
                      <a:r>
                        <a:rPr lang="en-US" sz="1400" b="0" i="0">
                          <a:solidFill>
                            <a:schemeClr val="bg1"/>
                          </a:solidFill>
                          <a:latin typeface="Arial" panose="020B0604020202020204" pitchFamily="34" charset="0"/>
                          <a:ea typeface="Riforma LL" panose="020B0504020101020102" pitchFamily="34" charset="0"/>
                          <a:cs typeface="Arial" panose="020B0604020202020204" pitchFamily="34" charset="0"/>
                        </a:rPr>
                        <a:t>Your dream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1828262">
                <a:tc>
                  <a:txBody>
                    <a:bodyPr/>
                    <a:lstStyle/>
                    <a:p>
                      <a:r>
                        <a:rPr lang="en-US" sz="1200" b="0" i="0">
                          <a:latin typeface="Arial" panose="020B0604020202020204" pitchFamily="34" charset="0"/>
                          <a:ea typeface="Riforma LL" panose="020B0504020101020102" pitchFamily="34" charset="0"/>
                          <a:cs typeface="Arial" panose="020B0604020202020204" pitchFamily="34" charset="0"/>
                        </a:rPr>
                        <a:t>Copy-paste a reminder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421709">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bg1"/>
                          </a:solidFill>
                          <a:effectLst/>
                          <a:uLnTx/>
                          <a:uFillTx/>
                          <a:latin typeface="Arial" panose="020B0604020202020204" pitchFamily="34" charset="0"/>
                          <a:ea typeface="Riforma LL" panose="020B0504020101020102" pitchFamily="34" charset="0"/>
                          <a:cs typeface="Arial" panose="020B0604020202020204" pitchFamily="34" charset="0"/>
                        </a:rPr>
                        <a:t>What are the required values for a team to achieve this dream </a:t>
                      </a: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895863688"/>
                  </a:ext>
                </a:extLst>
              </a:tr>
              <a:tr h="1801497">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22781455"/>
                  </a:ext>
                </a:extLst>
              </a:tr>
              <a:tr h="398262">
                <a:tc>
                  <a:txBody>
                    <a:bodyPr/>
                    <a:lstStyle/>
                    <a:p>
                      <a:pPr algn="l" rtl="0" fontAlgn="ctr"/>
                      <a:r>
                        <a:rPr lang="en-GB" sz="1600" b="0" i="0" u="none" strike="noStrike">
                          <a:solidFill>
                            <a:srgbClr val="FFFFFF"/>
                          </a:solidFill>
                          <a:effectLst/>
                          <a:latin typeface="Calibri "/>
                        </a:rPr>
                        <a:t>What is the gap between the aspirational values (previous response) and the current company values</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265844164"/>
                  </a:ext>
                </a:extLst>
              </a:tr>
              <a:tr h="1662741">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2377547"/>
                  </a:ext>
                </a:extLst>
              </a:tr>
            </a:tbl>
          </a:graphicData>
        </a:graphic>
      </p:graphicFrame>
    </p:spTree>
    <p:extLst>
      <p:ext uri="{BB962C8B-B14F-4D97-AF65-F5344CB8AC3E}">
        <p14:creationId xmlns:p14="http://schemas.microsoft.com/office/powerpoint/2010/main" val="18770476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E640A1A-9979-6CB5-E593-CAA9FCD475F9}"/>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t="14375" b="25473"/>
          <a:stretch/>
        </p:blipFill>
        <p:spPr>
          <a:xfrm>
            <a:off x="79208" y="88490"/>
            <a:ext cx="6911528" cy="422787"/>
          </a:xfrm>
          <a:prstGeom prst="rect">
            <a:avLst/>
          </a:prstGeom>
        </p:spPr>
      </p:pic>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3070258384"/>
              </p:ext>
            </p:extLst>
          </p:nvPr>
        </p:nvGraphicFramePr>
        <p:xfrm>
          <a:off x="276084" y="729008"/>
          <a:ext cx="9664560" cy="6622156"/>
        </p:xfrm>
        <a:graphic>
          <a:graphicData uri="http://schemas.openxmlformats.org/drawingml/2006/table">
            <a:tbl>
              <a:tblPr firstRow="1" bandRow="1">
                <a:tableStyleId>{2D5ABB26-0587-4C30-8999-92F81FD0307C}</a:tableStyleId>
              </a:tblPr>
              <a:tblGrid>
                <a:gridCol w="2648607">
                  <a:extLst>
                    <a:ext uri="{9D8B030D-6E8A-4147-A177-3AD203B41FA5}">
                      <a16:colId xmlns:a16="http://schemas.microsoft.com/office/drawing/2014/main" val="3308902235"/>
                    </a:ext>
                  </a:extLst>
                </a:gridCol>
                <a:gridCol w="3524194">
                  <a:extLst>
                    <a:ext uri="{9D8B030D-6E8A-4147-A177-3AD203B41FA5}">
                      <a16:colId xmlns:a16="http://schemas.microsoft.com/office/drawing/2014/main" val="3313590318"/>
                    </a:ext>
                  </a:extLst>
                </a:gridCol>
                <a:gridCol w="3491759">
                  <a:extLst>
                    <a:ext uri="{9D8B030D-6E8A-4147-A177-3AD203B41FA5}">
                      <a16:colId xmlns:a16="http://schemas.microsoft.com/office/drawing/2014/main" val="1506629949"/>
                    </a:ext>
                  </a:extLst>
                </a:gridCol>
              </a:tblGrid>
              <a:tr h="442073">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panose="020B0604020202020204" pitchFamily="34" charset="0"/>
                          <a:ea typeface="Riforma LL" panose="020B0504020101020102" pitchFamily="34" charset="77"/>
                          <a:cs typeface="Arial" panose="020B0604020202020204" pitchFamily="34" charset="0"/>
                        </a:rPr>
                        <a:t>Company values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sz="1200" b="0" i="0">
                          <a:solidFill>
                            <a:schemeClr val="bg1"/>
                          </a:solidFill>
                          <a:latin typeface="Arial" panose="020B0604020202020204" pitchFamily="34" charset="0"/>
                          <a:ea typeface="Riforma LL" panose="020B0504020101020102" pitchFamily="34" charset="0"/>
                          <a:cs typeface="Arial" panose="020B0604020202020204" pitchFamily="34" charset="0"/>
                        </a:rPr>
                        <a:t>Cool Behaviors this value represents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tc>
                  <a:txBody>
                    <a:bodyPr/>
                    <a:lstStyle/>
                    <a:p>
                      <a:r>
                        <a:rPr lang="en-US" sz="1200" b="0" i="0">
                          <a:solidFill>
                            <a:schemeClr val="bg1"/>
                          </a:solidFill>
                          <a:latin typeface="Arial" panose="020B0604020202020204" pitchFamily="34" charset="0"/>
                          <a:ea typeface="Riforma LL" panose="020B0504020101020102" pitchFamily="34" charset="0"/>
                          <a:cs typeface="Arial" panose="020B0604020202020204" pitchFamily="34" charset="0"/>
                        </a:rPr>
                        <a:t>Non-Cool Behaviors associated with this value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927707021"/>
                  </a:ext>
                </a:extLst>
              </a:tr>
              <a:tr h="105453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7366893"/>
                  </a:ext>
                </a:extLst>
              </a:tr>
              <a:tr h="102861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58142"/>
                  </a:ext>
                </a:extLst>
              </a:tr>
              <a:tr h="1029583">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97929077"/>
                  </a:ext>
                </a:extLst>
              </a:tr>
              <a:tr h="101803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2712036"/>
                  </a:ext>
                </a:extLst>
              </a:tr>
              <a:tr h="102861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911036"/>
                  </a:ext>
                </a:extLst>
              </a:tr>
              <a:tr h="1020702">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33557090"/>
                  </a:ext>
                </a:extLst>
              </a:tr>
            </a:tbl>
          </a:graphicData>
        </a:graphic>
      </p:graphicFrame>
    </p:spTree>
    <p:extLst>
      <p:ext uri="{BB962C8B-B14F-4D97-AF65-F5344CB8AC3E}">
        <p14:creationId xmlns:p14="http://schemas.microsoft.com/office/powerpoint/2010/main" val="3110103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279AD69-02F7-7152-A53E-668687ACE443}"/>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t="13810" b="23275"/>
          <a:stretch/>
        </p:blipFill>
        <p:spPr>
          <a:xfrm>
            <a:off x="89040" y="88490"/>
            <a:ext cx="6907029" cy="403123"/>
          </a:xfrm>
          <a:prstGeom prst="rect">
            <a:avLst/>
          </a:prstGeom>
        </p:spPr>
      </p:pic>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1769272212"/>
              </p:ext>
            </p:extLst>
          </p:nvPr>
        </p:nvGraphicFramePr>
        <p:xfrm>
          <a:off x="276084" y="729008"/>
          <a:ext cx="9664560" cy="6493427"/>
        </p:xfrm>
        <a:graphic>
          <a:graphicData uri="http://schemas.openxmlformats.org/drawingml/2006/table">
            <a:tbl>
              <a:tblPr firstRow="1" bandRow="1">
                <a:tableStyleId>{2D5ABB26-0587-4C30-8999-92F81FD0307C}</a:tableStyleId>
              </a:tblPr>
              <a:tblGrid>
                <a:gridCol w="4854620">
                  <a:extLst>
                    <a:ext uri="{9D8B030D-6E8A-4147-A177-3AD203B41FA5}">
                      <a16:colId xmlns:a16="http://schemas.microsoft.com/office/drawing/2014/main" val="3313590318"/>
                    </a:ext>
                  </a:extLst>
                </a:gridCol>
                <a:gridCol w="4809940">
                  <a:extLst>
                    <a:ext uri="{9D8B030D-6E8A-4147-A177-3AD203B41FA5}">
                      <a16:colId xmlns:a16="http://schemas.microsoft.com/office/drawing/2014/main" val="1506629949"/>
                    </a:ext>
                  </a:extLst>
                </a:gridCol>
              </a:tblGrid>
              <a:tr h="413158">
                <a:tc>
                  <a:txBody>
                    <a:bodyPr/>
                    <a:lstStyle/>
                    <a:p>
                      <a:r>
                        <a:rPr lang="en-US" sz="1400" b="0" i="0">
                          <a:solidFill>
                            <a:schemeClr val="bg1"/>
                          </a:solidFill>
                          <a:latin typeface="Arial" panose="020B0604020202020204" pitchFamily="34" charset="0"/>
                          <a:ea typeface="Riforma LL" panose="020B0504020101020102" pitchFamily="34" charset="0"/>
                          <a:cs typeface="Arial" panose="020B0604020202020204" pitchFamily="34" charset="0"/>
                        </a:rPr>
                        <a:t>The 5 Most important Cool Behaviors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tc>
                  <a:txBody>
                    <a:bodyPr/>
                    <a:lstStyle/>
                    <a:p>
                      <a:pPr marL="0" marR="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panose="020B0604020202020204" pitchFamily="34" charset="0"/>
                          <a:ea typeface="Riforma LL" panose="020B0504020101020102" pitchFamily="34" charset="0"/>
                          <a:cs typeface="Arial" panose="020B0604020202020204" pitchFamily="34" charset="0"/>
                        </a:rPr>
                        <a:t>The 5 Most important Non-Cool Behaviors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927707021"/>
                  </a:ext>
                </a:extLst>
              </a:tr>
              <a:tr h="1242759">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7366893"/>
                  </a:ext>
                </a:extLst>
              </a:tr>
              <a:tr h="121221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58142"/>
                  </a:ext>
                </a:extLst>
              </a:tr>
              <a:tr h="121335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97929077"/>
                  </a:ext>
                </a:extLst>
              </a:tr>
              <a:tr h="119974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2712036"/>
                  </a:ext>
                </a:extLst>
              </a:tr>
              <a:tr h="121221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911036"/>
                  </a:ext>
                </a:extLst>
              </a:tr>
            </a:tbl>
          </a:graphicData>
        </a:graphic>
      </p:graphicFrame>
    </p:spTree>
    <p:extLst>
      <p:ext uri="{BB962C8B-B14F-4D97-AF65-F5344CB8AC3E}">
        <p14:creationId xmlns:p14="http://schemas.microsoft.com/office/powerpoint/2010/main" val="6628393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ack text on a white background&#10;&#10;Description automatically generated">
            <a:extLst>
              <a:ext uri="{FF2B5EF4-FFF2-40B4-BE49-F238E27FC236}">
                <a16:creationId xmlns:a16="http://schemas.microsoft.com/office/drawing/2014/main" id="{F8D57A5D-AA64-C283-8806-7BD312DB52B6}"/>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t="14812"/>
          <a:stretch/>
        </p:blipFill>
        <p:spPr>
          <a:xfrm>
            <a:off x="110556" y="75304"/>
            <a:ext cx="1821657" cy="556833"/>
          </a:xfrm>
          <a:prstGeom prst="rect">
            <a:avLst/>
          </a:prstGeom>
        </p:spPr>
      </p:pic>
      <p:graphicFrame>
        <p:nvGraphicFramePr>
          <p:cNvPr id="2" name="Table 1">
            <a:extLst>
              <a:ext uri="{FF2B5EF4-FFF2-40B4-BE49-F238E27FC236}">
                <a16:creationId xmlns:a16="http://schemas.microsoft.com/office/drawing/2014/main" id="{2B69F258-3FBC-CE9B-438A-ECF368A7F320}"/>
              </a:ext>
            </a:extLst>
          </p:cNvPr>
          <p:cNvGraphicFramePr>
            <a:graphicFrameLocks noGrp="1"/>
          </p:cNvGraphicFramePr>
          <p:nvPr>
            <p:extLst>
              <p:ext uri="{D42A27DB-BD31-4B8C-83A1-F6EECF244321}">
                <p14:modId xmlns:p14="http://schemas.microsoft.com/office/powerpoint/2010/main" val="1308194240"/>
              </p:ext>
            </p:extLst>
          </p:nvPr>
        </p:nvGraphicFramePr>
        <p:xfrm>
          <a:off x="276084" y="795130"/>
          <a:ext cx="9664560" cy="6230018"/>
        </p:xfrm>
        <a:graphic>
          <a:graphicData uri="http://schemas.openxmlformats.org/drawingml/2006/table">
            <a:tbl>
              <a:tblPr firstRow="1" bandRow="1">
                <a:tableStyleId>{2D5ABB26-0587-4C30-8999-92F81FD0307C}</a:tableStyleId>
              </a:tblPr>
              <a:tblGrid>
                <a:gridCol w="4854620">
                  <a:extLst>
                    <a:ext uri="{9D8B030D-6E8A-4147-A177-3AD203B41FA5}">
                      <a16:colId xmlns:a16="http://schemas.microsoft.com/office/drawing/2014/main" val="3313590318"/>
                    </a:ext>
                  </a:extLst>
                </a:gridCol>
                <a:gridCol w="4809940">
                  <a:extLst>
                    <a:ext uri="{9D8B030D-6E8A-4147-A177-3AD203B41FA5}">
                      <a16:colId xmlns:a16="http://schemas.microsoft.com/office/drawing/2014/main" val="1506629949"/>
                    </a:ext>
                  </a:extLst>
                </a:gridCol>
              </a:tblGrid>
              <a:tr h="397566">
                <a:tc>
                  <a:txBody>
                    <a:bodyPr/>
                    <a:lstStyle/>
                    <a:p>
                      <a:r>
                        <a:rPr lang="en-US" sz="1400" b="0" i="0">
                          <a:solidFill>
                            <a:schemeClr val="tx1"/>
                          </a:solidFill>
                          <a:latin typeface="Arial" panose="020B0604020202020204" pitchFamily="34" charset="0"/>
                          <a:ea typeface="Riforma LL" panose="020B0504020101020102" pitchFamily="34" charset="0"/>
                          <a:cs typeface="Arial" panose="020B0604020202020204" pitchFamily="34" charset="0"/>
                        </a:rPr>
                        <a:t>Yellow Lines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0" marR="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panose="020B0604020202020204" pitchFamily="34" charset="0"/>
                          <a:ea typeface="Riforma LL" panose="020B0504020101020102" pitchFamily="34" charset="0"/>
                          <a:cs typeface="Arial" panose="020B0604020202020204" pitchFamily="34" charset="0"/>
                        </a:rPr>
                        <a:t>Red Lines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927707021"/>
                  </a:ext>
                </a:extLst>
              </a:tr>
              <a:tr h="1192107">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7366893"/>
                  </a:ext>
                </a:extLst>
              </a:tr>
              <a:tr h="1162803">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58142"/>
                  </a:ext>
                </a:extLst>
              </a:tr>
              <a:tr h="1163897">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97929077"/>
                  </a:ext>
                </a:extLst>
              </a:tr>
              <a:tr h="1150842">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2712036"/>
                  </a:ext>
                </a:extLst>
              </a:tr>
              <a:tr h="1162803">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911036"/>
                  </a:ext>
                </a:extLst>
              </a:tr>
            </a:tbl>
          </a:graphicData>
        </a:graphic>
      </p:graphicFrame>
    </p:spTree>
    <p:extLst>
      <p:ext uri="{BB962C8B-B14F-4D97-AF65-F5344CB8AC3E}">
        <p14:creationId xmlns:p14="http://schemas.microsoft.com/office/powerpoint/2010/main" val="37910916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ack text on a white background&#10;&#10;Description automatically generated">
            <a:extLst>
              <a:ext uri="{FF2B5EF4-FFF2-40B4-BE49-F238E27FC236}">
                <a16:creationId xmlns:a16="http://schemas.microsoft.com/office/drawing/2014/main" id="{593BFF4C-FC00-5FF9-A59C-9D7C4123D480}"/>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112489" y="1"/>
            <a:ext cx="5273451" cy="671166"/>
          </a:xfrm>
          <a:prstGeom prst="rect">
            <a:avLst/>
          </a:prstGeom>
        </p:spPr>
      </p:pic>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nvGraphicFramePr>
        <p:xfrm>
          <a:off x="276084" y="729008"/>
          <a:ext cx="9664560" cy="6427166"/>
        </p:xfrm>
        <a:graphic>
          <a:graphicData uri="http://schemas.openxmlformats.org/drawingml/2006/table">
            <a:tbl>
              <a:tblPr firstRow="1" bandRow="1">
                <a:tableStyleId>{2D5ABB26-0587-4C30-8999-92F81FD0307C}</a:tableStyleId>
              </a:tblPr>
              <a:tblGrid>
                <a:gridCol w="4854620">
                  <a:extLst>
                    <a:ext uri="{9D8B030D-6E8A-4147-A177-3AD203B41FA5}">
                      <a16:colId xmlns:a16="http://schemas.microsoft.com/office/drawing/2014/main" val="3313590318"/>
                    </a:ext>
                  </a:extLst>
                </a:gridCol>
                <a:gridCol w="4809940">
                  <a:extLst>
                    <a:ext uri="{9D8B030D-6E8A-4147-A177-3AD203B41FA5}">
                      <a16:colId xmlns:a16="http://schemas.microsoft.com/office/drawing/2014/main" val="1506629949"/>
                    </a:ext>
                  </a:extLst>
                </a:gridCol>
              </a:tblGrid>
              <a:tr h="399174">
                <a:tc>
                  <a:txBody>
                    <a:bodyPr/>
                    <a:lstStyle/>
                    <a:p>
                      <a:r>
                        <a:rPr lang="en-US" sz="1400" b="0" i="0">
                          <a:solidFill>
                            <a:schemeClr val="bg1"/>
                          </a:solidFill>
                          <a:latin typeface="Arial" panose="020B0604020202020204" pitchFamily="34" charset="0"/>
                          <a:ea typeface="Riforma LL" panose="020B0504020101020102" pitchFamily="34" charset="0"/>
                          <a:cs typeface="Arial" panose="020B0604020202020204" pitchFamily="34" charset="0"/>
                        </a:rPr>
                        <a:t>Interview Questions to Discover Cool Behaviors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tc>
                  <a:txBody>
                    <a:bodyPr/>
                    <a:lstStyle/>
                    <a:p>
                      <a:pPr marL="0" marR="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panose="020B0604020202020204" pitchFamily="34" charset="0"/>
                          <a:ea typeface="Riforma LL" panose="020B0504020101020102" pitchFamily="34" charset="0"/>
                          <a:cs typeface="Arial" panose="020B0604020202020204" pitchFamily="34" charset="0"/>
                        </a:rPr>
                        <a:t>Interview Questions to Discover Non-Cool Behaviors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927707021"/>
                  </a:ext>
                </a:extLst>
              </a:tr>
              <a:tr h="617012">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7366893"/>
                  </a:ext>
                </a:extLst>
              </a:tr>
              <a:tr h="60184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58142"/>
                  </a:ext>
                </a:extLst>
              </a:tr>
              <a:tr h="602411">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97929077"/>
                  </a:ext>
                </a:extLst>
              </a:tr>
              <a:tr h="59565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2712036"/>
                  </a:ext>
                </a:extLst>
              </a:tr>
              <a:tr h="60184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911036"/>
                  </a:ext>
                </a:extLst>
              </a:tr>
              <a:tr h="60184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52526878"/>
                  </a:ext>
                </a:extLst>
              </a:tr>
              <a:tr h="60184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60774"/>
                  </a:ext>
                </a:extLst>
              </a:tr>
              <a:tr h="60184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01432355"/>
                  </a:ext>
                </a:extLst>
              </a:tr>
              <a:tr h="60184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0390714"/>
                  </a:ext>
                </a:extLst>
              </a:tr>
              <a:tr h="60184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38077906"/>
                  </a:ext>
                </a:extLst>
              </a:tr>
            </a:tbl>
          </a:graphicData>
        </a:graphic>
      </p:graphicFrame>
    </p:spTree>
    <p:extLst>
      <p:ext uri="{BB962C8B-B14F-4D97-AF65-F5344CB8AC3E}">
        <p14:creationId xmlns:p14="http://schemas.microsoft.com/office/powerpoint/2010/main" val="25212603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49CE44-6E1A-2728-E184-D8AA5B92C3D9}"/>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t="15441"/>
          <a:stretch/>
        </p:blipFill>
        <p:spPr>
          <a:xfrm>
            <a:off x="67524" y="86061"/>
            <a:ext cx="5959744" cy="589155"/>
          </a:xfrm>
          <a:prstGeom prst="rect">
            <a:avLst/>
          </a:prstGeom>
        </p:spPr>
      </p:pic>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1722049370"/>
              </p:ext>
            </p:extLst>
          </p:nvPr>
        </p:nvGraphicFramePr>
        <p:xfrm>
          <a:off x="276084" y="729011"/>
          <a:ext cx="9664560" cy="6654394"/>
        </p:xfrm>
        <a:graphic>
          <a:graphicData uri="http://schemas.openxmlformats.org/drawingml/2006/table">
            <a:tbl>
              <a:tblPr firstRow="1" bandRow="1">
                <a:tableStyleId>{2D5ABB26-0587-4C30-8999-92F81FD0307C}</a:tableStyleId>
              </a:tblPr>
              <a:tblGrid>
                <a:gridCol w="5871476">
                  <a:extLst>
                    <a:ext uri="{9D8B030D-6E8A-4147-A177-3AD203B41FA5}">
                      <a16:colId xmlns:a16="http://schemas.microsoft.com/office/drawing/2014/main" val="3308902235"/>
                    </a:ext>
                  </a:extLst>
                </a:gridCol>
                <a:gridCol w="1952062">
                  <a:extLst>
                    <a:ext uri="{9D8B030D-6E8A-4147-A177-3AD203B41FA5}">
                      <a16:colId xmlns:a16="http://schemas.microsoft.com/office/drawing/2014/main" val="3313590318"/>
                    </a:ext>
                  </a:extLst>
                </a:gridCol>
                <a:gridCol w="1841022">
                  <a:extLst>
                    <a:ext uri="{9D8B030D-6E8A-4147-A177-3AD203B41FA5}">
                      <a16:colId xmlns:a16="http://schemas.microsoft.com/office/drawing/2014/main" val="674830108"/>
                    </a:ext>
                  </a:extLst>
                </a:gridCol>
              </a:tblGrid>
              <a:tr h="272562">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panose="020B0604020202020204" pitchFamily="34" charset="0"/>
                          <a:ea typeface="Riforma LL" panose="020B0504020101020102" pitchFamily="34" charset="77"/>
                          <a:cs typeface="Arial" panose="020B0604020202020204" pitchFamily="34" charset="0"/>
                        </a:rPr>
                        <a:t>Idea to implement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sz="1400" b="0" i="0">
                          <a:solidFill>
                            <a:schemeClr val="bg1"/>
                          </a:solidFill>
                          <a:latin typeface="Arial" panose="020B0604020202020204" pitchFamily="34" charset="0"/>
                          <a:ea typeface="Riforma LL" panose="020B0504020101020102" pitchFamily="34" charset="77"/>
                          <a:cs typeface="Arial" panose="020B0604020202020204" pitchFamily="34" charset="0"/>
                        </a:rPr>
                        <a:t>Who</a:t>
                      </a:r>
                      <a:endParaRPr lang="en-US" sz="1400" b="0" i="0">
                        <a:solidFill>
                          <a:schemeClr val="bg1"/>
                        </a:solidFill>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sz="1400" b="0" i="0">
                          <a:solidFill>
                            <a:schemeClr val="bg1"/>
                          </a:solidFill>
                          <a:latin typeface="Arial" panose="020B0604020202020204" pitchFamily="34" charset="0"/>
                          <a:ea typeface="Riforma LL" panose="020B0504020101020102" pitchFamily="34" charset="0"/>
                          <a:cs typeface="Arial" panose="020B0604020202020204" pitchFamily="34" charset="0"/>
                        </a:rPr>
                        <a:t>When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475031">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7366893"/>
                  </a:ext>
                </a:extLst>
              </a:tr>
              <a:tr h="46335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58142"/>
                  </a:ext>
                </a:extLst>
              </a:tr>
              <a:tr h="463791">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97929077"/>
                  </a:ext>
                </a:extLst>
              </a:tr>
              <a:tr h="458588">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2712036"/>
                  </a:ext>
                </a:extLst>
              </a:tr>
              <a:tr h="46335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911036"/>
                  </a:ext>
                </a:extLst>
              </a:tr>
              <a:tr h="45979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33557090"/>
                  </a:ext>
                </a:extLst>
              </a:tr>
              <a:tr h="46335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16981743"/>
                  </a:ext>
                </a:extLst>
              </a:tr>
              <a:tr h="54390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10728161"/>
                  </a:ext>
                </a:extLst>
              </a:tr>
              <a:tr h="54390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87125558"/>
                  </a:ext>
                </a:extLst>
              </a:tr>
              <a:tr h="54390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59884543"/>
                  </a:ext>
                </a:extLst>
              </a:tr>
              <a:tr h="54390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86119861"/>
                  </a:ext>
                </a:extLst>
              </a:tr>
              <a:tr h="46335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89613438"/>
                  </a:ext>
                </a:extLst>
              </a:tr>
              <a:tr h="46335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87236550"/>
                  </a:ext>
                </a:extLst>
              </a:tr>
            </a:tbl>
          </a:graphicData>
        </a:graphic>
      </p:graphicFrame>
    </p:spTree>
    <p:extLst>
      <p:ext uri="{BB962C8B-B14F-4D97-AF65-F5344CB8AC3E}">
        <p14:creationId xmlns:p14="http://schemas.microsoft.com/office/powerpoint/2010/main" val="1543771418"/>
      </p:ext>
    </p:extLst>
  </p:cSld>
  <p:clrMapOvr>
    <a:masterClrMapping/>
  </p:clrMapOvr>
</p:sld>
</file>

<file path=ppt/theme/theme1.xml><?xml version="1.0" encoding="utf-8"?>
<a:theme xmlns:a="http://schemas.openxmlformats.org/drawingml/2006/main" name="4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OLID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7</Slides>
  <Notes>7</Notes>
  <HiddenSlides>0</HiddenSlides>
  <ScaleCrop>false</ScaleCrop>
  <HeadingPairs>
    <vt:vector size="4" baseType="variant">
      <vt:variant>
        <vt:lpstr>Theme</vt:lpstr>
      </vt:variant>
      <vt:variant>
        <vt:i4>3</vt:i4>
      </vt:variant>
      <vt:variant>
        <vt:lpstr>Slide Titles</vt:lpstr>
      </vt:variant>
      <vt:variant>
        <vt:i4>7</vt:i4>
      </vt:variant>
    </vt:vector>
  </HeadingPairs>
  <TitlesOfParts>
    <vt:vector size="10" baseType="lpstr">
      <vt:lpstr>4_Custom Design</vt:lpstr>
      <vt:lpstr>5_Custom Design</vt:lpstr>
      <vt:lpstr>SOLIDS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identity</dc:title>
  <dc:creator>Miroslav</dc:creator>
  <cp:revision>1</cp:revision>
  <cp:lastPrinted>2020-02-28T13:07:06Z</cp:lastPrinted>
  <dcterms:created xsi:type="dcterms:W3CDTF">2019-08-22T09:52:59Z</dcterms:created>
  <dcterms:modified xsi:type="dcterms:W3CDTF">2025-04-22T06:08:52Z</dcterms:modified>
</cp:coreProperties>
</file>