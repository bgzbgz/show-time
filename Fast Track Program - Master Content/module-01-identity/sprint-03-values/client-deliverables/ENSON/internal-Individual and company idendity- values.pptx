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1"/>
  </p:notesMasterIdLst>
  <p:handoutMasterIdLst>
    <p:handoutMasterId r:id="rId12"/>
  </p:handoutMasterIdLst>
  <p:sldIdLst>
    <p:sldId id="2466" r:id="rId4"/>
    <p:sldId id="2420" r:id="rId5"/>
    <p:sldId id="2463" r:id="rId6"/>
    <p:sldId id="2468" r:id="rId7"/>
    <p:sldId id="2470" r:id="rId8"/>
    <p:sldId id="2469" r:id="rId9"/>
    <p:sldId id="2467" r:id="rId10"/>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E86335-CC6D-5957-C7C4-82FC1454C71D}" v="8261" dt="2024-10-24T09:31:55.9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59" autoAdjust="0"/>
    <p:restoredTop sz="84150" autoAdjust="0"/>
  </p:normalViewPr>
  <p:slideViewPr>
    <p:cSldViewPr snapToGrid="0">
      <p:cViewPr varScale="1">
        <p:scale>
          <a:sx n="96" d="100"/>
          <a:sy n="96" d="100"/>
        </p:scale>
        <p:origin x="2336"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ść" userId="S::urn:spo:anon#7e4754e1e998c5e2e77bcc7736f7e8fa6a6458ca734a571bd9fb9b3ec950cd02::" providerId="AD" clId="Web-{F0E86335-CC6D-5957-C7C4-82FC1454C71D}"/>
    <pc:docChg chg="modSld">
      <pc:chgData name="Gość" userId="S::urn:spo:anon#7e4754e1e998c5e2e77bcc7736f7e8fa6a6458ca734a571bd9fb9b3ec950cd02::" providerId="AD" clId="Web-{F0E86335-CC6D-5957-C7C4-82FC1454C71D}" dt="2024-10-24T09:24:00.246" v="8133"/>
      <pc:docMkLst>
        <pc:docMk/>
      </pc:docMkLst>
      <pc:sldChg chg="modSp">
        <pc:chgData name="Gość" userId="S::urn:spo:anon#7e4754e1e998c5e2e77bcc7736f7e8fa6a6458ca734a571bd9fb9b3ec950cd02::" providerId="AD" clId="Web-{F0E86335-CC6D-5957-C7C4-82FC1454C71D}" dt="2024-10-24T07:59:35.226" v="2407"/>
        <pc:sldMkLst>
          <pc:docMk/>
          <pc:sldMk cId="1877047662" sldId="2420"/>
        </pc:sldMkLst>
        <pc:graphicFrameChg chg="mod modGraphic">
          <ac:chgData name="Gość" userId="S::urn:spo:anon#7e4754e1e998c5e2e77bcc7736f7e8fa6a6458ca734a571bd9fb9b3ec950cd02::" providerId="AD" clId="Web-{F0E86335-CC6D-5957-C7C4-82FC1454C71D}" dt="2024-10-24T07:59:35.226" v="2407"/>
          <ac:graphicFrameMkLst>
            <pc:docMk/>
            <pc:sldMk cId="1877047662" sldId="2420"/>
            <ac:graphicFrameMk id="18" creationId="{1F74CD5A-9F80-0549-8844-6BFF5ADE70C7}"/>
          </ac:graphicFrameMkLst>
        </pc:graphicFrameChg>
      </pc:sldChg>
      <pc:sldChg chg="modSp">
        <pc:chgData name="Gość" userId="S::urn:spo:anon#7e4754e1e998c5e2e77bcc7736f7e8fa6a6458ca734a571bd9fb9b3ec950cd02::" providerId="AD" clId="Web-{F0E86335-CC6D-5957-C7C4-82FC1454C71D}" dt="2024-10-24T08:24:44.788" v="4697"/>
        <pc:sldMkLst>
          <pc:docMk/>
          <pc:sldMk cId="3110103477" sldId="2463"/>
        </pc:sldMkLst>
        <pc:graphicFrameChg chg="mod modGraphic">
          <ac:chgData name="Gość" userId="S::urn:spo:anon#7e4754e1e998c5e2e77bcc7736f7e8fa6a6458ca734a571bd9fb9b3ec950cd02::" providerId="AD" clId="Web-{F0E86335-CC6D-5957-C7C4-82FC1454C71D}" dt="2024-10-24T08:24:44.788" v="4697"/>
          <ac:graphicFrameMkLst>
            <pc:docMk/>
            <pc:sldMk cId="3110103477" sldId="2463"/>
            <ac:graphicFrameMk id="12" creationId="{74CF6476-D2C3-2348-BEC7-148925E380DF}"/>
          </ac:graphicFrameMkLst>
        </pc:graphicFrameChg>
      </pc:sldChg>
      <pc:sldChg chg="modSp">
        <pc:chgData name="Gość" userId="S::urn:spo:anon#7e4754e1e998c5e2e77bcc7736f7e8fa6a6458ca734a571bd9fb9b3ec950cd02::" providerId="AD" clId="Web-{F0E86335-CC6D-5957-C7C4-82FC1454C71D}" dt="2024-10-24T08:00:58.572" v="2487"/>
        <pc:sldMkLst>
          <pc:docMk/>
          <pc:sldMk cId="1820793006" sldId="2466"/>
        </pc:sldMkLst>
        <pc:graphicFrameChg chg="mod modGraphic">
          <ac:chgData name="Gość" userId="S::urn:spo:anon#7e4754e1e998c5e2e77bcc7736f7e8fa6a6458ca734a571bd9fb9b3ec950cd02::" providerId="AD" clId="Web-{F0E86335-CC6D-5957-C7C4-82FC1454C71D}" dt="2024-10-24T08:00:58.572" v="2487"/>
          <ac:graphicFrameMkLst>
            <pc:docMk/>
            <pc:sldMk cId="1820793006" sldId="2466"/>
            <ac:graphicFrameMk id="12" creationId="{74CF6476-D2C3-2348-BEC7-148925E380DF}"/>
          </ac:graphicFrameMkLst>
        </pc:graphicFrameChg>
      </pc:sldChg>
      <pc:sldChg chg="modSp">
        <pc:chgData name="Gość" userId="S::urn:spo:anon#7e4754e1e998c5e2e77bcc7736f7e8fa6a6458ca734a571bd9fb9b3ec950cd02::" providerId="AD" clId="Web-{F0E86335-CC6D-5957-C7C4-82FC1454C71D}" dt="2024-10-24T09:24:00.246" v="8133"/>
        <pc:sldMkLst>
          <pc:docMk/>
          <pc:sldMk cId="1543771418" sldId="2467"/>
        </pc:sldMkLst>
        <pc:graphicFrameChg chg="mod modGraphic">
          <ac:chgData name="Gość" userId="S::urn:spo:anon#7e4754e1e998c5e2e77bcc7736f7e8fa6a6458ca734a571bd9fb9b3ec950cd02::" providerId="AD" clId="Web-{F0E86335-CC6D-5957-C7C4-82FC1454C71D}" dt="2024-10-24T09:24:00.246" v="8133"/>
          <ac:graphicFrameMkLst>
            <pc:docMk/>
            <pc:sldMk cId="1543771418" sldId="2467"/>
            <ac:graphicFrameMk id="12" creationId="{74CF6476-D2C3-2348-BEC7-148925E380DF}"/>
          </ac:graphicFrameMkLst>
        </pc:graphicFrameChg>
      </pc:sldChg>
      <pc:sldChg chg="modSp">
        <pc:chgData name="Gość" userId="S::urn:spo:anon#7e4754e1e998c5e2e77bcc7736f7e8fa6a6458ca734a571bd9fb9b3ec950cd02::" providerId="AD" clId="Web-{F0E86335-CC6D-5957-C7C4-82FC1454C71D}" dt="2024-10-24T09:03:24.693" v="6767"/>
        <pc:sldMkLst>
          <pc:docMk/>
          <pc:sldMk cId="662839316" sldId="2468"/>
        </pc:sldMkLst>
        <pc:graphicFrameChg chg="mod modGraphic">
          <ac:chgData name="Gość" userId="S::urn:spo:anon#7e4754e1e998c5e2e77bcc7736f7e8fa6a6458ca734a571bd9fb9b3ec950cd02::" providerId="AD" clId="Web-{F0E86335-CC6D-5957-C7C4-82FC1454C71D}" dt="2024-10-24T09:03:24.693" v="6767"/>
          <ac:graphicFrameMkLst>
            <pc:docMk/>
            <pc:sldMk cId="662839316" sldId="2468"/>
            <ac:graphicFrameMk id="12" creationId="{74CF6476-D2C3-2348-BEC7-148925E380DF}"/>
          </ac:graphicFrameMkLst>
        </pc:graphicFrameChg>
      </pc:sldChg>
      <pc:sldChg chg="modSp">
        <pc:chgData name="Gość" userId="S::urn:spo:anon#7e4754e1e998c5e2e77bcc7736f7e8fa6a6458ca734a571bd9fb9b3ec950cd02::" providerId="AD" clId="Web-{F0E86335-CC6D-5957-C7C4-82FC1454C71D}" dt="2024-10-24T09:10:41.504" v="7719"/>
        <pc:sldMkLst>
          <pc:docMk/>
          <pc:sldMk cId="2521260324" sldId="2469"/>
        </pc:sldMkLst>
        <pc:graphicFrameChg chg="mod modGraphic">
          <ac:chgData name="Gość" userId="S::urn:spo:anon#7e4754e1e998c5e2e77bcc7736f7e8fa6a6458ca734a571bd9fb9b3ec950cd02::" providerId="AD" clId="Web-{F0E86335-CC6D-5957-C7C4-82FC1454C71D}" dt="2024-10-24T09:10:41.504" v="7719"/>
          <ac:graphicFrameMkLst>
            <pc:docMk/>
            <pc:sldMk cId="2521260324" sldId="2469"/>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10/24/2024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10/24/2024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800" dirty="0">
                <a:solidFill>
                  <a:schemeClr val="tx1"/>
                </a:solidFill>
                <a:latin typeface="+mn-lt"/>
                <a:ea typeface="+mn-lt"/>
                <a:cs typeface="+mn-lt"/>
              </a:rPr>
              <a:t>Brainstorm and list all the typical behaviors and ways of doing things in your company.</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Identify the value that represents each of them.</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Prioritize the 5 most observed behaviors.</a:t>
            </a:r>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Describe the type of people you need in order to achieve your dream. What behaviors/values do you need to adopt?</a:t>
            </a:r>
          </a:p>
          <a:p>
            <a:pPr marL="0" indent="0" algn="l"/>
            <a:r>
              <a:rPr lang="en-US" sz="1200" dirty="0">
                <a:solidFill>
                  <a:schemeClr val="tx1"/>
                </a:solidFill>
                <a:latin typeface="+mn-lt"/>
                <a:ea typeface="+mn-lt"/>
                <a:cs typeface="+mn-lt"/>
              </a:rPr>
              <a:t>• List the current values from the Dream Workshop</a:t>
            </a:r>
          </a:p>
          <a:p>
            <a:pPr marL="0" indent="0" algn="l"/>
            <a:r>
              <a:rPr lang="en-US" sz="1200" dirty="0">
                <a:solidFill>
                  <a:schemeClr val="tx1"/>
                </a:solidFill>
                <a:latin typeface="+mn-lt"/>
                <a:ea typeface="+mn-lt"/>
                <a:cs typeface="+mn-lt"/>
              </a:rPr>
              <a:t>• List the gap between current and needed values</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Your Dream</a:t>
            </a:r>
          </a:p>
          <a:p>
            <a:pPr marL="0" indent="0" algn="l"/>
            <a:r>
              <a:rPr lang="en-US" sz="1200" dirty="0">
                <a:solidFill>
                  <a:schemeClr val="tx1"/>
                </a:solidFill>
                <a:latin typeface="+mn-lt"/>
                <a:ea typeface="+mn-lt"/>
                <a:cs typeface="+mn-lt"/>
              </a:rPr>
              <a:t>• Who do you need to become?</a:t>
            </a:r>
          </a:p>
          <a:p>
            <a:pPr marL="0" indent="0" algn="l"/>
            <a:r>
              <a:rPr lang="en-US" sz="1200" dirty="0">
                <a:solidFill>
                  <a:schemeClr val="tx1"/>
                </a:solidFill>
                <a:latin typeface="+mn-lt"/>
                <a:ea typeface="+mn-lt"/>
                <a:cs typeface="+mn-lt"/>
              </a:rPr>
              <a:t>• Who are you currently?</a:t>
            </a:r>
          </a:p>
          <a:p>
            <a:pPr marL="0" indent="0" algn="l"/>
            <a:r>
              <a:rPr lang="en-US" sz="1200" dirty="0">
                <a:solidFill>
                  <a:schemeClr val="tx1"/>
                </a:solidFill>
                <a:latin typeface="+mn-lt"/>
                <a:ea typeface="+mn-lt"/>
                <a:cs typeface="+mn-lt"/>
              </a:rPr>
              <a:t>• What’s the gap?</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74948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200" dirty="0">
                <a:solidFill>
                  <a:schemeClr val="tx1"/>
                </a:solidFill>
              </a:rPr>
              <a:t>Define clear yellow and red lines to ensure everyone in the organization abides by the values. </a:t>
            </a:r>
          </a:p>
          <a:p>
            <a:pPr algn="l"/>
            <a:endParaRPr lang="en-GB" sz="1200" dirty="0">
              <a:solidFill>
                <a:schemeClr val="tx1"/>
              </a:solidFill>
            </a:endParaRPr>
          </a:p>
          <a:p>
            <a:pPr algn="l"/>
            <a:r>
              <a:rPr lang="en-GB" sz="1200" dirty="0">
                <a:solidFill>
                  <a:schemeClr val="tx1"/>
                </a:solidFill>
              </a:rPr>
              <a:t>Outline all the situations in which you will either give a warning or terminate (YELLOW OR RED</a:t>
            </a:r>
            <a:r>
              <a:rPr lang="en-GB" sz="1200" baseline="0" dirty="0">
                <a:solidFill>
                  <a:schemeClr val="tx1"/>
                </a:solidFill>
              </a:rPr>
              <a:t> cards)</a:t>
            </a:r>
            <a:r>
              <a:rPr lang="en-GB" sz="1200" dirty="0">
                <a:solidFill>
                  <a:schemeClr val="tx1"/>
                </a:solidFill>
              </a:rPr>
              <a:t>. </a:t>
            </a:r>
          </a:p>
          <a:p>
            <a:pPr algn="l"/>
            <a:endParaRPr lang="en-GB" sz="1200" dirty="0">
              <a:solidFill>
                <a:schemeClr val="tx1"/>
              </a:solidFill>
            </a:endParaRPr>
          </a:p>
          <a:p>
            <a:pPr algn="l"/>
            <a:r>
              <a:rPr lang="en-GB" sz="1200" dirty="0">
                <a:solidFill>
                  <a:schemeClr val="tx1"/>
                </a:solidFill>
              </a:rPr>
              <a:t>- Yellow lines require an immediate discussion with the employee.</a:t>
            </a:r>
          </a:p>
          <a:p>
            <a:pPr algn="l"/>
            <a:endParaRPr lang="en-GB" sz="1200" dirty="0">
              <a:solidFill>
                <a:schemeClr val="tx1"/>
              </a:solidFill>
            </a:endParaRPr>
          </a:p>
          <a:p>
            <a:pPr algn="l"/>
            <a:r>
              <a:rPr lang="en-GB" sz="1200" dirty="0">
                <a:solidFill>
                  <a:schemeClr val="tx1"/>
                </a:solidFill>
              </a:rPr>
              <a:t>- Red lines represent a severe misalignment with values and are a firing alert.</a:t>
            </a:r>
          </a:p>
          <a:p>
            <a:pPr algn="l"/>
            <a:endParaRPr lang="en-GB" sz="1200" dirty="0">
              <a:solidFill>
                <a:schemeClr val="tx1"/>
              </a:solidFill>
            </a:endParaRPr>
          </a:p>
          <a:p>
            <a:pPr algn="l"/>
            <a:r>
              <a:rPr lang="en-GB" sz="1200" dirty="0">
                <a:solidFill>
                  <a:schemeClr val="tx1"/>
                </a:solidFill>
              </a:rPr>
              <a:t>Do not think about how hard it will be to replace certain positions at this stage.</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42863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The biggest mistake that most companies make is recruiting for skills. If you want like-minded people working together, search for values that fit instead.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Create a list of questions you will use to determine this fit right at the recruitment stage.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Make sure to be specific and avoid hypothetical questions (ex. How would you deal with a conflict with a co-worker?) as they give the candidate a chance to spin the yarn. </a:t>
            </a:r>
          </a:p>
          <a:p>
            <a:pPr marL="0" indent="0" algn="l"/>
            <a:endParaRPr lang="en-US" sz="1200"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05746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chemeClr val="tx1"/>
                </a:solidFill>
                <a:latin typeface="+mn-lt"/>
                <a:ea typeface="+mn-lt"/>
                <a:cs typeface="+mn-lt"/>
              </a:rPr>
              <a:t>Decide together on a list of actions, a time frame, and each item's owners.</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7</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199559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64841078"/>
              </p:ext>
            </p:extLst>
          </p:nvPr>
        </p:nvGraphicFramePr>
        <p:xfrm>
          <a:off x="256819" y="719276"/>
          <a:ext cx="9695564" cy="6882725"/>
        </p:xfrm>
        <a:graphic>
          <a:graphicData uri="http://schemas.openxmlformats.org/drawingml/2006/table">
            <a:tbl>
              <a:tblPr firstRow="1" bandRow="1">
                <a:tableStyleId>{2D5ABB26-0587-4C30-8999-92F81FD0307C}</a:tableStyleId>
              </a:tblPr>
              <a:tblGrid>
                <a:gridCol w="4847782">
                  <a:extLst>
                    <a:ext uri="{9D8B030D-6E8A-4147-A177-3AD203B41FA5}">
                      <a16:colId xmlns:a16="http://schemas.microsoft.com/office/drawing/2014/main" val="3308902235"/>
                    </a:ext>
                  </a:extLst>
                </a:gridCol>
                <a:gridCol w="4847782">
                  <a:extLst>
                    <a:ext uri="{9D8B030D-6E8A-4147-A177-3AD203B41FA5}">
                      <a16:colId xmlns:a16="http://schemas.microsoft.com/office/drawing/2014/main" val="3046643254"/>
                    </a:ext>
                  </a:extLst>
                </a:gridCol>
              </a:tblGrid>
              <a:tr h="39063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Typical behaviors, and ways of doing things in the company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9379839"/>
                  </a:ext>
                </a:extLst>
              </a:tr>
              <a:tr h="390635">
                <a:tc>
                  <a:txBody>
                    <a:bodyPr/>
                    <a:lstStyle/>
                    <a:p>
                      <a:pPr marL="0" marR="0" lvl="0" indent="0" algn="l">
                        <a:lnSpc>
                          <a:spcPct val="100000"/>
                        </a:lnSpc>
                        <a:spcBef>
                          <a:spcPts val="0"/>
                        </a:spcBef>
                        <a:spcAft>
                          <a:spcPts val="0"/>
                        </a:spcAft>
                        <a:buNone/>
                      </a:pPr>
                      <a:r>
                        <a:rPr lang="en-US" sz="1400" b="0" i="0" dirty="0" err="1">
                          <a:solidFill>
                            <a:schemeClr val="bg1"/>
                          </a:solidFill>
                          <a:latin typeface="Arial"/>
                          <a:cs typeface="Arial"/>
                        </a:rPr>
                        <a:t>KSz</a:t>
                      </a:r>
                      <a:r>
                        <a:rPr lang="pl-PL" dirty="0"/>
                        <a:t>Szukanie niekonwencjonalnych </a:t>
                      </a:r>
                      <a:r>
                        <a:rPr lang="pl-PL" dirty="0" err="1"/>
                        <a:t>rozwiązan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400" b="0" i="0" dirty="0" err="1">
                          <a:solidFill>
                            <a:schemeClr val="tx1"/>
                          </a:solidFill>
                          <a:latin typeface="Arial"/>
                          <a:cs typeface="Arial"/>
                        </a:rPr>
                        <a:t>Braki</a:t>
                      </a:r>
                      <a:r>
                        <a:rPr lang="en-US" sz="1400" b="0" i="0" dirty="0">
                          <a:solidFill>
                            <a:schemeClr val="tx1"/>
                          </a:solidFill>
                          <a:latin typeface="Arial"/>
                          <a:cs typeface="Arial"/>
                        </a:rPr>
                        <a:t> </a:t>
                      </a:r>
                      <a:r>
                        <a:rPr lang="en-US" sz="1400" b="0" i="0" dirty="0" err="1">
                          <a:solidFill>
                            <a:schemeClr val="tx1"/>
                          </a:solidFill>
                          <a:latin typeface="Arial"/>
                          <a:cs typeface="Arial"/>
                        </a:rPr>
                        <a:t>konsewkencji</a:t>
                      </a:r>
                      <a:r>
                        <a:rPr lang="en-US" sz="1400" b="0" i="0" dirty="0">
                          <a:solidFill>
                            <a:schemeClr val="tx1"/>
                          </a:solidFill>
                          <a:latin typeface="Arial"/>
                          <a:cs typeface="Arial"/>
                        </a:rPr>
                        <a:t> w </a:t>
                      </a:r>
                      <a:r>
                        <a:rPr lang="en-US" sz="1400" b="0" i="0" dirty="0" err="1">
                          <a:solidFill>
                            <a:schemeClr val="tx1"/>
                          </a:solidFill>
                          <a:latin typeface="Arial"/>
                          <a:cs typeface="Arial"/>
                        </a:rPr>
                        <a:t>działaniu</a:t>
                      </a:r>
                      <a:r>
                        <a:rPr lang="en-US" sz="1400" b="0" i="0" dirty="0">
                          <a:solidFill>
                            <a:schemeClr val="tx1"/>
                          </a:solidFill>
                          <a:latin typeface="Arial"/>
                          <a:cs typeface="Arial"/>
                        </a:rPr>
                        <a:t> </a:t>
                      </a:r>
                      <a:endParaRPr lang="pl-PL"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7487134"/>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r>
                        <a:rPr lang="pl-PL" dirty="0"/>
                        <a:t>Ponad przeciętne zaangażowanie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Braki</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decyzyjności</a:t>
                      </a:r>
                      <a:r>
                        <a:rPr lang="en-US" sz="1400" b="0" i="0" dirty="0">
                          <a:solidFill>
                            <a:schemeClr val="tx1"/>
                          </a:solidFill>
                          <a:latin typeface="Arial"/>
                          <a:ea typeface="Riforma LL" panose="020B0504020101020102" pitchFamily="34" charset="77"/>
                          <a:cs typeface="Arial"/>
                        </a:rPr>
                        <a:t> - </a:t>
                      </a:r>
                      <a:r>
                        <a:rPr lang="en-US" sz="1400" b="0" i="0" dirty="0" err="1">
                          <a:solidFill>
                            <a:schemeClr val="tx1"/>
                          </a:solidFill>
                          <a:latin typeface="Arial"/>
                          <a:ea typeface="Riforma LL" panose="020B0504020101020102" pitchFamily="34" charset="77"/>
                          <a:cs typeface="Arial"/>
                        </a:rPr>
                        <a:t>proces</a:t>
                      </a:r>
                      <a:r>
                        <a:rPr lang="en-US" sz="1400" b="0" i="0" dirty="0">
                          <a:solidFill>
                            <a:schemeClr val="tx1"/>
                          </a:solidFill>
                          <a:latin typeface="Arial"/>
                          <a:ea typeface="Riforma LL" panose="020B0504020101020102" pitchFamily="34" charset="77"/>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8554850"/>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Podeśjście</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właścicielskie</a:t>
                      </a:r>
                      <a:r>
                        <a:rPr lang="en-US" sz="1400" b="0" i="0" dirty="0">
                          <a:solidFill>
                            <a:schemeClr val="tx1"/>
                          </a:solidFill>
                          <a:latin typeface="Arial"/>
                          <a:ea typeface="Riforma LL" panose="020B0504020101020102" pitchFamily="34" charset="77"/>
                          <a:cs typeface="Arial"/>
                        </a:rPr>
                        <a:t> - founders mind </a:t>
                      </a: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Braki</a:t>
                      </a:r>
                      <a:r>
                        <a:rPr lang="en-US" sz="1400" b="0" i="0" dirty="0">
                          <a:solidFill>
                            <a:schemeClr val="tx1"/>
                          </a:solidFill>
                          <a:latin typeface="Arial"/>
                          <a:ea typeface="Riforma LL" panose="020B0504020101020102" pitchFamily="34" charset="77"/>
                          <a:cs typeface="Arial"/>
                        </a:rPr>
                        <a:t> w </a:t>
                      </a:r>
                      <a:r>
                        <a:rPr lang="en-US" sz="1400" b="0" i="0" dirty="0" err="1">
                          <a:solidFill>
                            <a:schemeClr val="tx1"/>
                          </a:solidFill>
                          <a:latin typeface="Arial"/>
                          <a:ea typeface="Riforma LL" panose="020B0504020101020102" pitchFamily="34" charset="77"/>
                          <a:cs typeface="Arial"/>
                        </a:rPr>
                        <a:t>egzakucji</a:t>
                      </a:r>
                      <a:r>
                        <a:rPr lang="en-US" sz="1400" b="0" i="0" dirty="0">
                          <a:solidFill>
                            <a:schemeClr val="tx1"/>
                          </a:solidFill>
                          <a:latin typeface="Arial"/>
                          <a:ea typeface="Riforma LL" panose="020B0504020101020102" pitchFamily="34" charset="77"/>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71749"/>
                  </a:ext>
                </a:extLst>
              </a:tr>
              <a:tr h="390635">
                <a:tc>
                  <a:txBody>
                    <a:bodyPr/>
                    <a:lstStyle/>
                    <a:p>
                      <a:pPr marL="0" marR="0" lvl="0" indent="0" algn="l">
                        <a:lnSpc>
                          <a:spcPct val="100000"/>
                        </a:lnSpc>
                        <a:spcBef>
                          <a:spcPts val="0"/>
                        </a:spcBef>
                        <a:spcAft>
                          <a:spcPts val="0"/>
                        </a:spcAft>
                        <a:buNone/>
                      </a:pPr>
                      <a:r>
                        <a:rPr lang="en-US" sz="1400" b="0" i="0" dirty="0" err="1">
                          <a:solidFill>
                            <a:schemeClr val="tx1"/>
                          </a:solidFill>
                          <a:latin typeface="Arial"/>
                          <a:cs typeface="Arial"/>
                        </a:rPr>
                        <a:t>Innowacyjne</a:t>
                      </a:r>
                      <a:r>
                        <a:rPr lang="en-US" sz="1400" b="0" i="0" dirty="0">
                          <a:solidFill>
                            <a:schemeClr val="tx1"/>
                          </a:solidFill>
                          <a:latin typeface="Arial"/>
                          <a:cs typeface="Arial"/>
                        </a:rPr>
                        <a:t> </a:t>
                      </a:r>
                      <a:r>
                        <a:rPr lang="en-US" sz="1400" b="0" i="0" dirty="0" err="1">
                          <a:solidFill>
                            <a:schemeClr val="tx1"/>
                          </a:solidFill>
                          <a:latin typeface="Arial"/>
                          <a:cs typeface="Arial"/>
                        </a:rPr>
                        <a:t>podejście</a:t>
                      </a:r>
                      <a:r>
                        <a:rPr lang="en-US" sz="1400" b="0" i="0" dirty="0">
                          <a:solidFill>
                            <a:schemeClr val="tx1"/>
                          </a:solidFill>
                          <a:latin typeface="Arial"/>
                          <a:cs typeface="Arial"/>
                        </a:rPr>
                        <a:t> - passion for technology and innovation</a:t>
                      </a:r>
                      <a:endParaRPr lang="en-US" sz="1400" b="0" i="0" dirty="0">
                        <a:solidFill>
                          <a:schemeClr val="bg1"/>
                        </a:solidFill>
                        <a:latin typeface="Arial"/>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Dbamy</a:t>
                      </a:r>
                      <a:r>
                        <a:rPr lang="en-US" sz="1400" b="0" i="0" dirty="0">
                          <a:solidFill>
                            <a:schemeClr val="tx1"/>
                          </a:solidFill>
                          <a:latin typeface="Arial"/>
                          <a:ea typeface="Riforma LL" panose="020B0504020101020102" pitchFamily="34" charset="77"/>
                          <a:cs typeface="Arial"/>
                        </a:rPr>
                        <a:t> o </a:t>
                      </a:r>
                      <a:r>
                        <a:rPr lang="en-US" sz="1400" b="0" i="0" dirty="0" err="1">
                          <a:solidFill>
                            <a:schemeClr val="tx1"/>
                          </a:solidFill>
                          <a:latin typeface="Arial"/>
                          <a:ea typeface="Riforma LL" panose="020B0504020101020102" pitchFamily="34" charset="77"/>
                          <a:cs typeface="Arial"/>
                        </a:rPr>
                        <a:t>siebie</a:t>
                      </a:r>
                      <a:r>
                        <a:rPr lang="en-US" sz="1400" b="0" i="0" dirty="0">
                          <a:solidFill>
                            <a:schemeClr val="tx1"/>
                          </a:solidFill>
                          <a:latin typeface="Arial"/>
                          <a:ea typeface="Riforma LL" panose="020B0504020101020102" pitchFamily="34" charset="77"/>
                          <a:cs typeface="Arial"/>
                        </a:rPr>
                        <a:t> </a:t>
                      </a: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015239"/>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Współpraca</a:t>
                      </a:r>
                      <a:r>
                        <a:rPr lang="en-US" sz="1400" b="0" i="0" dirty="0">
                          <a:solidFill>
                            <a:schemeClr val="tx1"/>
                          </a:solidFill>
                          <a:latin typeface="Arial"/>
                          <a:ea typeface="Riforma LL" panose="020B0504020101020102" pitchFamily="34" charset="77"/>
                          <a:cs typeface="Arial"/>
                        </a:rPr>
                        <a:t> - team spirit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Docenamy</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inne</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punkty</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widzenia</a:t>
                      </a:r>
                      <a:r>
                        <a:rPr lang="en-US" sz="1400" b="0" i="0" dirty="0">
                          <a:solidFill>
                            <a:schemeClr val="tx1"/>
                          </a:solidFill>
                          <a:latin typeface="Arial"/>
                          <a:ea typeface="Riforma LL" panose="020B0504020101020102" pitchFamily="34" charset="77"/>
                          <a:cs typeface="Arial"/>
                        </a:rPr>
                        <a:t> </a:t>
                      </a: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357261"/>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Odwaga</a:t>
                      </a:r>
                      <a:r>
                        <a:rPr lang="en-US" sz="1400" b="0" i="0" dirty="0">
                          <a:solidFill>
                            <a:schemeClr val="tx1"/>
                          </a:solidFill>
                          <a:latin typeface="Arial"/>
                          <a:ea typeface="Riforma LL" panose="020B0504020101020102" pitchFamily="34" charset="77"/>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Optymizm</a:t>
                      </a:r>
                      <a:r>
                        <a:rPr lang="en-US" sz="1400" b="0" i="0" dirty="0">
                          <a:solidFill>
                            <a:schemeClr val="tx1"/>
                          </a:solidFill>
                          <a:latin typeface="Arial"/>
                          <a:ea typeface="Riforma LL" panose="020B0504020101020102" pitchFamily="34" charset="77"/>
                          <a:cs typeface="Arial"/>
                        </a:rPr>
                        <a:t> </a:t>
                      </a: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7133664"/>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Chęć</a:t>
                      </a:r>
                      <a:r>
                        <a:rPr lang="en-US" sz="1400" b="0" i="0" dirty="0">
                          <a:solidFill>
                            <a:schemeClr val="tx1"/>
                          </a:solidFill>
                          <a:latin typeface="Arial"/>
                          <a:ea typeface="Riforma LL" panose="020B0504020101020102" pitchFamily="34" charset="77"/>
                          <a:cs typeface="Arial"/>
                        </a:rPr>
                        <a:t> do </a:t>
                      </a:r>
                      <a:r>
                        <a:rPr lang="en-US" sz="1400" b="0" i="0" dirty="0" err="1">
                          <a:solidFill>
                            <a:schemeClr val="tx1"/>
                          </a:solidFill>
                          <a:latin typeface="Arial"/>
                          <a:ea typeface="Riforma LL" panose="020B0504020101020102" pitchFamily="34" charset="77"/>
                          <a:cs typeface="Arial"/>
                        </a:rPr>
                        <a:t>uczenia</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się</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i</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samorozwoju</a:t>
                      </a:r>
                      <a:r>
                        <a:rPr lang="en-US" sz="1400" b="0" i="0" dirty="0">
                          <a:solidFill>
                            <a:schemeClr val="tx1"/>
                          </a:solidFill>
                          <a:latin typeface="Arial"/>
                          <a:ea typeface="Riforma LL" panose="020B0504020101020102" pitchFamily="34" charset="77"/>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tx1"/>
                          </a:solidFill>
                          <a:latin typeface="Arial"/>
                          <a:ea typeface="Riforma LL" panose="020B0504020101020102" pitchFamily="34" charset="77"/>
                          <a:cs typeface="Arial"/>
                        </a:rPr>
                        <a:t>Wiara w </a:t>
                      </a:r>
                      <a:r>
                        <a:rPr lang="en-US" sz="1400" b="0" i="0" dirty="0" err="1">
                          <a:solidFill>
                            <a:schemeClr val="tx1"/>
                          </a:solidFill>
                          <a:latin typeface="Arial"/>
                          <a:ea typeface="Riforma LL" panose="020B0504020101020102" pitchFamily="34" charset="77"/>
                          <a:cs typeface="Arial"/>
                        </a:rPr>
                        <a:t>firmę</a:t>
                      </a:r>
                      <a:r>
                        <a:rPr lang="en-US" sz="1400" b="0" i="0" dirty="0">
                          <a:solidFill>
                            <a:schemeClr val="tx1"/>
                          </a:solidFill>
                          <a:latin typeface="Arial"/>
                          <a:ea typeface="Riforma LL" panose="020B0504020101020102" pitchFamily="34" charset="77"/>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1120663"/>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Obssesed</a:t>
                      </a:r>
                      <a:r>
                        <a:rPr lang="en-US" sz="1400" b="0" i="0" dirty="0">
                          <a:solidFill>
                            <a:schemeClr val="tx1"/>
                          </a:solidFill>
                          <a:latin typeface="Arial"/>
                          <a:ea typeface="Riforma LL" panose="020B0504020101020102" pitchFamily="34" charset="77"/>
                          <a:cs typeface="Arial"/>
                        </a:rPr>
                        <a:t> by the client </a:t>
                      </a: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Elastyczne</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podejście</a:t>
                      </a:r>
                      <a:r>
                        <a:rPr lang="en-US" sz="1400" b="0" i="0" dirty="0">
                          <a:solidFill>
                            <a:schemeClr val="tx1"/>
                          </a:solidFill>
                          <a:latin typeface="Arial"/>
                          <a:ea typeface="Riforma LL" panose="020B0504020101020102" pitchFamily="34" charset="77"/>
                          <a:cs typeface="Arial"/>
                        </a:rPr>
                        <a:t> </a:t>
                      </a: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844840"/>
                  </a:ext>
                </a:extLst>
              </a:tr>
              <a:tr h="390635">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Uczicwość</a:t>
                      </a:r>
                      <a:r>
                        <a:rPr lang="en-US" sz="1400" b="0" i="0" dirty="0">
                          <a:solidFill>
                            <a:schemeClr val="tx1"/>
                          </a:solidFill>
                          <a:latin typeface="Arial"/>
                          <a:ea typeface="Riforma LL" panose="020B0504020101020102" pitchFamily="34" charset="77"/>
                          <a:cs typeface="Arial"/>
                        </a:rPr>
                        <a:t> - </a:t>
                      </a:r>
                      <a:r>
                        <a:rPr lang="en-US" sz="1400" b="0" i="0" dirty="0" err="1">
                          <a:solidFill>
                            <a:schemeClr val="tx1"/>
                          </a:solidFill>
                          <a:latin typeface="Arial"/>
                          <a:ea typeface="Riforma LL" panose="020B0504020101020102" pitchFamily="34" charset="77"/>
                          <a:cs typeface="Arial"/>
                        </a:rPr>
                        <a:t>transparentnosć</a:t>
                      </a:r>
                      <a:r>
                        <a:rPr lang="en-US" sz="1400" b="0" i="0" dirty="0">
                          <a:solidFill>
                            <a:schemeClr val="tx1"/>
                          </a:solidFill>
                          <a:latin typeface="Arial"/>
                          <a:ea typeface="Riforma LL" panose="020B0504020101020102" pitchFamily="34" charset="77"/>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err="1">
                          <a:solidFill>
                            <a:schemeClr val="tx1"/>
                          </a:solidFill>
                          <a:latin typeface="Arial"/>
                          <a:ea typeface="Riforma LL" panose="020B0504020101020102" pitchFamily="34" charset="77"/>
                          <a:cs typeface="Arial"/>
                        </a:rPr>
                        <a:t>Dbamy</a:t>
                      </a:r>
                      <a:r>
                        <a:rPr lang="en-US" sz="1400" b="0" i="0" dirty="0">
                          <a:solidFill>
                            <a:schemeClr val="tx1"/>
                          </a:solidFill>
                          <a:latin typeface="Arial"/>
                          <a:ea typeface="Riforma LL" panose="020B0504020101020102" pitchFamily="34" charset="77"/>
                          <a:cs typeface="Arial"/>
                        </a:rPr>
                        <a:t> o </a:t>
                      </a:r>
                      <a:r>
                        <a:rPr lang="en-US" sz="1400" b="0" i="0" dirty="0" err="1">
                          <a:solidFill>
                            <a:schemeClr val="tx1"/>
                          </a:solidFill>
                          <a:latin typeface="Arial"/>
                          <a:ea typeface="Riforma LL" panose="020B0504020101020102" pitchFamily="34" charset="77"/>
                          <a:cs typeface="Arial"/>
                        </a:rPr>
                        <a:t>wynik</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finansowy</a:t>
                      </a:r>
                      <a:r>
                        <a:rPr lang="en-US" sz="1400" b="0" i="0" dirty="0">
                          <a:solidFill>
                            <a:schemeClr val="tx1"/>
                          </a:solidFill>
                          <a:latin typeface="Arial"/>
                          <a:ea typeface="Riforma LL" panose="020B0504020101020102" pitchFamily="34" charset="77"/>
                          <a:cs typeface="Arial"/>
                        </a:rPr>
                        <a:t> </a:t>
                      </a:r>
                      <a:r>
                        <a:rPr lang="en-US" sz="1400" b="0" i="0" dirty="0" err="1">
                          <a:solidFill>
                            <a:schemeClr val="tx1"/>
                          </a:solidFill>
                          <a:latin typeface="Arial"/>
                          <a:ea typeface="Riforma LL" panose="020B0504020101020102" pitchFamily="34" charset="77"/>
                          <a:cs typeface="Arial"/>
                        </a:rPr>
                        <a:t>firmy</a:t>
                      </a:r>
                      <a:r>
                        <a:rPr lang="en-US" sz="1400" b="0" i="0" dirty="0">
                          <a:solidFill>
                            <a:schemeClr val="tx1"/>
                          </a:solidFill>
                          <a:latin typeface="Arial"/>
                          <a:ea typeface="Riforma LL" panose="020B0504020101020102" pitchFamily="34" charset="77"/>
                          <a:cs typeface="Arial"/>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379632"/>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Top 5 most commonly observed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 The 5 company values that these behaviors represent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4653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solidFill>
                            <a:schemeClr val="tx1"/>
                          </a:solidFill>
                          <a:latin typeface="Arial"/>
                          <a:ea typeface="Riforma LL" panose="020B0504020101020102" pitchFamily="34" charset="77"/>
                          <a:cs typeface="Arial"/>
                        </a:rPr>
                        <a:t>Dbałość</a:t>
                      </a:r>
                      <a:r>
                        <a:rPr lang="en-US" sz="1200" b="0" i="0" dirty="0">
                          <a:solidFill>
                            <a:schemeClr val="tx1"/>
                          </a:solidFill>
                          <a:latin typeface="Arial"/>
                          <a:ea typeface="Riforma LL" panose="020B0504020101020102" pitchFamily="34" charset="77"/>
                          <a:cs typeface="Arial"/>
                        </a:rPr>
                        <a:t> </a:t>
                      </a:r>
                      <a:r>
                        <a:rPr lang="en-US" sz="1200" b="0" i="0" dirty="0" err="1">
                          <a:solidFill>
                            <a:schemeClr val="tx1"/>
                          </a:solidFill>
                          <a:latin typeface="Arial"/>
                          <a:ea typeface="Riforma LL" panose="020B0504020101020102" pitchFamily="34" charset="77"/>
                          <a:cs typeface="Arial"/>
                        </a:rPr>
                        <a:t>koszty</a:t>
                      </a:r>
                      <a:r>
                        <a:rPr lang="en-US" sz="1200" b="0" i="0" dirty="0">
                          <a:solidFill>
                            <a:schemeClr val="tx1"/>
                          </a:solidFill>
                          <a:latin typeface="Arial"/>
                          <a:ea typeface="Riforma LL" panose="020B0504020101020102" pitchFamily="34" charset="77"/>
                          <a:cs typeface="Arial"/>
                        </a:rPr>
                        <a:t>, </a:t>
                      </a:r>
                      <a:r>
                        <a:rPr lang="en-US" sz="1200" b="0" i="0" dirty="0" err="1">
                          <a:solidFill>
                            <a:schemeClr val="tx1"/>
                          </a:solidFill>
                          <a:latin typeface="Arial"/>
                          <a:ea typeface="Riforma LL" panose="020B0504020101020102" pitchFamily="34" charset="77"/>
                          <a:cs typeface="Arial"/>
                        </a:rPr>
                        <a:t>wynik</a:t>
                      </a:r>
                      <a:r>
                        <a:rPr lang="en-US" sz="1200" b="0" i="0" dirty="0">
                          <a:solidFill>
                            <a:schemeClr val="tx1"/>
                          </a:solidFill>
                          <a:latin typeface="Arial"/>
                          <a:ea typeface="Riforma LL" panose="020B0504020101020102" pitchFamily="34" charset="77"/>
                          <a:cs typeface="Arial"/>
                        </a:rPr>
                        <a:t> </a:t>
                      </a:r>
                      <a:r>
                        <a:rPr lang="en-US" sz="1200" b="0" i="0" dirty="0" err="1">
                          <a:solidFill>
                            <a:schemeClr val="tx1"/>
                          </a:solidFill>
                          <a:latin typeface="Arial"/>
                          <a:ea typeface="Riforma LL" panose="020B0504020101020102" pitchFamily="34" charset="77"/>
                          <a:cs typeface="Arial"/>
                        </a:rPr>
                        <a:t>finansowy</a:t>
                      </a:r>
                      <a:r>
                        <a:rPr lang="en-US" sz="1200" b="0" i="0" dirty="0">
                          <a:solidFill>
                            <a:schemeClr val="tx1"/>
                          </a:solidFill>
                          <a:latin typeface="Arial"/>
                          <a:ea typeface="Riforma LL" panose="020B0504020101020102" pitchFamily="34" charset="77"/>
                          <a:cs typeface="Arial"/>
                        </a:rPr>
                        <a:t> </a:t>
                      </a:r>
                      <a:r>
                        <a:rPr lang="en-US" sz="1200" b="0" i="0" dirty="0" err="1">
                          <a:solidFill>
                            <a:schemeClr val="tx1"/>
                          </a:solidFill>
                          <a:latin typeface="Arial"/>
                          <a:ea typeface="Riforma LL" panose="020B0504020101020102" pitchFamily="34" charset="77"/>
                          <a:cs typeface="Arial"/>
                        </a:rPr>
                        <a:t>firmy</a:t>
                      </a:r>
                      <a:r>
                        <a:rPr lang="en-US" sz="1200" b="0" i="0" dirty="0">
                          <a:solidFill>
                            <a:schemeClr val="tx1"/>
                          </a:solidFill>
                          <a:latin typeface="Arial"/>
                          <a:ea typeface="Riforma LL" panose="020B0504020101020102" pitchFamily="34" charset="77"/>
                          <a:cs typeface="Arial"/>
                        </a:rPr>
                        <a:t>, </a:t>
                      </a:r>
                      <a:r>
                        <a:rPr lang="en-US" sz="1200" b="0" i="0" dirty="0" err="1">
                          <a:solidFill>
                            <a:schemeClr val="tx1"/>
                          </a:solidFill>
                          <a:latin typeface="Arial"/>
                          <a:ea typeface="Riforma LL" panose="020B0504020101020102" pitchFamily="34" charset="77"/>
                          <a:cs typeface="Arial"/>
                        </a:rPr>
                        <a:t>szacunek</a:t>
                      </a:r>
                      <a:r>
                        <a:rPr lang="en-US" sz="1200" b="0" i="0" dirty="0">
                          <a:solidFill>
                            <a:schemeClr val="tx1"/>
                          </a:solidFill>
                          <a:latin typeface="Arial"/>
                          <a:ea typeface="Riforma LL" panose="020B0504020101020102" pitchFamily="34" charset="77"/>
                          <a:cs typeface="Arial"/>
                        </a:rPr>
                        <a:t> </a:t>
                      </a:r>
                      <a:r>
                        <a:rPr lang="en-US" sz="1200" b="0" i="0" dirty="0" err="1">
                          <a:solidFill>
                            <a:schemeClr val="tx1"/>
                          </a:solidFill>
                          <a:latin typeface="Arial"/>
                          <a:ea typeface="Riforma LL" panose="020B0504020101020102" pitchFamily="34" charset="77"/>
                          <a:cs typeface="Arial"/>
                        </a:rPr>
                        <a:t>dla</a:t>
                      </a:r>
                      <a:r>
                        <a:rPr lang="en-US" sz="1200" b="0" i="0" dirty="0">
                          <a:solidFill>
                            <a:schemeClr val="tx1"/>
                          </a:solidFill>
                          <a:latin typeface="Arial"/>
                          <a:ea typeface="Riforma LL" panose="020B0504020101020102" pitchFamily="34" charset="77"/>
                          <a:cs typeface="Arial"/>
                        </a:rPr>
                        <a:t> </a:t>
                      </a:r>
                      <a:r>
                        <a:rPr lang="en-US" sz="1200" b="0" i="0" dirty="0" err="1">
                          <a:solidFill>
                            <a:schemeClr val="tx1"/>
                          </a:solidFill>
                          <a:latin typeface="Arial"/>
                          <a:ea typeface="Riforma LL" panose="020B0504020101020102" pitchFamily="34" charset="77"/>
                          <a:cs typeface="Arial"/>
                        </a:rPr>
                        <a:t>pieniędzy</a:t>
                      </a:r>
                      <a:r>
                        <a:rPr lang="en-US" sz="1200" b="0" i="0" dirty="0">
                          <a:solidFill>
                            <a:schemeClr val="tx1"/>
                          </a:solidFill>
                          <a:latin typeface="Arial"/>
                          <a:ea typeface="Riforma LL" panose="020B0504020101020102" pitchFamily="34" charset="77"/>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a:latin typeface="Arial"/>
                        </a:rPr>
                        <a:t>Founders Mentality</a:t>
                      </a: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4653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77"/>
                          <a:cs typeface="Arial"/>
                        </a:rPr>
                        <a:t>Szukanie</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niekonwencjonalnych</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rozwiązan</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kreatywne</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rozwiązaywnie</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problemów</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uczymy</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się</a:t>
                      </a:r>
                      <a:r>
                        <a:rPr lang="en-US" sz="1200" b="0" i="0" dirty="0">
                          <a:latin typeface="Arial"/>
                          <a:ea typeface="Riforma LL" panose="020B0504020101020102" pitchFamily="34" charset="77"/>
                          <a:cs typeface="Arial"/>
                        </a:rPr>
                        <a:t> I </a:t>
                      </a:r>
                      <a:r>
                        <a:rPr lang="en-US" sz="1200" b="0" i="0" dirty="0" err="1">
                          <a:latin typeface="Arial"/>
                          <a:ea typeface="Riforma LL" panose="020B0504020101020102" pitchFamily="34" charset="77"/>
                          <a:cs typeface="Arial"/>
                        </a:rPr>
                        <a:t>doskonalimy</a:t>
                      </a:r>
                      <a:r>
                        <a:rPr lang="en-US" sz="1200" b="0" i="0" dirty="0">
                          <a:latin typeface="Arial"/>
                          <a:ea typeface="Riforma LL" panose="020B0504020101020102" pitchFamily="34" charset="77"/>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err="1">
                          <a:latin typeface="Arial"/>
                        </a:rPr>
                        <a:t>Innowacyjność</a:t>
                      </a:r>
                      <a:r>
                        <a:rPr lang="en-US" sz="1200" b="0" i="0" u="none" strike="noStrike" noProof="0" dirty="0">
                          <a:latin typeface="Arial"/>
                        </a:rPr>
                        <a:t> - </a:t>
                      </a:r>
                      <a:r>
                        <a:rPr lang="en-US" sz="1200" b="0" i="0" u="none" strike="noStrike" noProof="0" dirty="0" err="1">
                          <a:latin typeface="Arial"/>
                        </a:rPr>
                        <a:t>kreatywność</a:t>
                      </a:r>
                      <a:r>
                        <a:rPr lang="en-US" sz="1200" b="0" i="0" u="none" strike="noStrike" noProof="0" dirty="0">
                          <a:latin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0689"/>
                  </a:ext>
                </a:extLst>
              </a:tr>
              <a:tr h="446535">
                <a:tc>
                  <a:txBody>
                    <a:bodyPr/>
                    <a:lstStyle/>
                    <a:p>
                      <a:pPr marL="0" marR="0" lvl="0" indent="0" algn="l" rtl="0" eaLnBrk="1" fontAlgn="auto" latinLnBrk="0" hangingPunct="1">
                        <a:lnSpc>
                          <a:spcPct val="100000"/>
                        </a:lnSpc>
                        <a:spcBef>
                          <a:spcPts val="0"/>
                        </a:spcBef>
                        <a:spcAft>
                          <a:spcPts val="0"/>
                        </a:spcAft>
                        <a:buClrTx/>
                        <a:buSzTx/>
                        <a:buFontTx/>
                        <a:buNone/>
                      </a:pPr>
                      <a:r>
                        <a:rPr lang="pl-PL" sz="1200" dirty="0"/>
                        <a:t>Na pierwszym </a:t>
                      </a:r>
                      <a:r>
                        <a:rPr lang="pl-PL" sz="1200" dirty="0" err="1"/>
                        <a:t>miescu</a:t>
                      </a:r>
                      <a:r>
                        <a:rPr lang="pl-PL" sz="1200" dirty="0"/>
                        <a:t> stawiamy klienta, słuchamy ich potrzeb, dopasowujemy naszą ofertę, aby spełnić oczekiwania klienta – nawet jeśli nie jest jeszcze świadomy swoich potrzeb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err="1">
                          <a:latin typeface="Arial"/>
                        </a:rPr>
                        <a:t>Obsseded</a:t>
                      </a:r>
                      <a:r>
                        <a:rPr lang="en-US" sz="1200" b="0" i="0" u="none" strike="noStrike" noProof="0" dirty="0">
                          <a:latin typeface="Arial"/>
                        </a:rPr>
                        <a:t> by the client </a:t>
                      </a: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650493"/>
                  </a:ext>
                </a:extLst>
              </a:tr>
              <a:tr h="44653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77"/>
                          <a:cs typeface="Arial"/>
                        </a:rPr>
                        <a:t>Dbamy</a:t>
                      </a:r>
                      <a:r>
                        <a:rPr lang="en-US" sz="1200" b="0" i="0" dirty="0">
                          <a:latin typeface="Arial"/>
                          <a:ea typeface="Riforma LL" panose="020B0504020101020102" pitchFamily="34" charset="77"/>
                          <a:cs typeface="Arial"/>
                        </a:rPr>
                        <a:t> o </a:t>
                      </a:r>
                      <a:r>
                        <a:rPr lang="en-US" sz="1200" b="0" i="0" dirty="0" err="1">
                          <a:latin typeface="Arial"/>
                          <a:ea typeface="Riforma LL" panose="020B0504020101020102" pitchFamily="34" charset="77"/>
                          <a:cs typeface="Arial"/>
                        </a:rPr>
                        <a:t>siebie</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pomagazmy</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sobie</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nie</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tylko</a:t>
                      </a:r>
                      <a:r>
                        <a:rPr lang="en-US" sz="1200" b="0" i="0" dirty="0">
                          <a:latin typeface="Arial"/>
                          <a:ea typeface="Riforma LL" panose="020B0504020101020102" pitchFamily="34" charset="77"/>
                          <a:cs typeface="Arial"/>
                        </a:rPr>
                        <a:t> w </a:t>
                      </a:r>
                      <a:r>
                        <a:rPr lang="en-US" sz="1200" b="0" i="0" dirty="0" err="1">
                          <a:latin typeface="Arial"/>
                          <a:ea typeface="Riforma LL" panose="020B0504020101020102" pitchFamily="34" charset="77"/>
                          <a:cs typeface="Arial"/>
                        </a:rPr>
                        <a:t>pracy</a:t>
                      </a:r>
                      <a:r>
                        <a:rPr lang="en-US" sz="1200" b="0" i="0" dirty="0">
                          <a:latin typeface="Arial"/>
                          <a:ea typeface="Riforma LL" panose="020B0504020101020102" pitchFamily="34" charset="77"/>
                          <a:cs typeface="Arial"/>
                        </a:rPr>
                        <a:t>, ale I </a:t>
                      </a:r>
                      <a:r>
                        <a:rPr lang="en-US" sz="1200" b="0" i="0" dirty="0" err="1">
                          <a:latin typeface="Arial"/>
                          <a:ea typeface="Riforma LL" panose="020B0504020101020102" pitchFamily="34" charset="77"/>
                          <a:cs typeface="Arial"/>
                        </a:rPr>
                        <a:t>na</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gruncie</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prywatnym</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słuchamy</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się</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brak</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polityki</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wew</a:t>
                      </a:r>
                      <a:r>
                        <a:rPr lang="en-US" sz="1200" b="0" i="0" dirty="0">
                          <a:latin typeface="Arial"/>
                          <a:ea typeface="Riforma LL" panose="020B0504020101020102" pitchFamily="34" charset="77"/>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a:latin typeface="Arial"/>
                        </a:rPr>
                        <a:t>Team spirit </a:t>
                      </a: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9344"/>
                  </a:ext>
                </a:extLst>
              </a:tr>
              <a:tr h="44653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Wiara w </a:t>
                      </a:r>
                      <a:r>
                        <a:rPr lang="en-US" sz="1200" b="0" i="0" dirty="0" err="1">
                          <a:latin typeface="Arial"/>
                          <a:ea typeface="Riforma LL" panose="020B0504020101020102" pitchFamily="34" charset="77"/>
                          <a:cs typeface="Arial"/>
                        </a:rPr>
                        <a:t>ludzi</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firmę</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utożsamiamy</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się</a:t>
                      </a:r>
                      <a:r>
                        <a:rPr lang="en-US" sz="1200" b="0" i="0" dirty="0">
                          <a:latin typeface="Arial"/>
                          <a:ea typeface="Riforma LL" panose="020B0504020101020102" pitchFamily="34" charset="77"/>
                          <a:cs typeface="Arial"/>
                        </a:rPr>
                        <a:t> z </a:t>
                      </a:r>
                      <a:r>
                        <a:rPr lang="en-US" sz="1200" b="0" i="0" dirty="0" err="1">
                          <a:latin typeface="Arial"/>
                          <a:ea typeface="Riforma LL" panose="020B0504020101020102" pitchFamily="34" charset="77"/>
                          <a:cs typeface="Arial"/>
                        </a:rPr>
                        <a:t>firmą</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dołączają</a:t>
                      </a:r>
                      <a:r>
                        <a:rPr lang="en-US" sz="1200" b="0" i="0" dirty="0">
                          <a:latin typeface="Arial"/>
                          <a:ea typeface="Riforma LL" panose="020B0504020101020102" pitchFamily="34" charset="77"/>
                          <a:cs typeface="Arial"/>
                        </a:rPr>
                        <a:t> do </a:t>
                      </a:r>
                      <a:r>
                        <a:rPr lang="en-US" sz="1200" b="0" i="0" dirty="0" err="1">
                          <a:latin typeface="Arial"/>
                          <a:ea typeface="Riforma LL" panose="020B0504020101020102" pitchFamily="34" charset="77"/>
                          <a:cs typeface="Arial"/>
                        </a:rPr>
                        <a:t>nas</a:t>
                      </a:r>
                      <a:r>
                        <a:rPr lang="en-US" sz="1200" b="0" i="0" dirty="0">
                          <a:latin typeface="Arial"/>
                          <a:ea typeface="Riforma LL" panose="020B0504020101020102" pitchFamily="34" charset="77"/>
                          <a:cs typeface="Arial"/>
                        </a:rPr>
                        <a:t> ci, </a:t>
                      </a:r>
                      <a:r>
                        <a:rPr lang="en-US" sz="1200" b="0" i="0" dirty="0" err="1">
                          <a:latin typeface="Arial"/>
                          <a:ea typeface="Riforma LL" panose="020B0504020101020102" pitchFamily="34" charset="77"/>
                          <a:cs typeface="Arial"/>
                        </a:rPr>
                        <a:t>którzy</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wierzą</a:t>
                      </a:r>
                      <a:r>
                        <a:rPr lang="en-US" sz="1200" b="0" i="0" dirty="0">
                          <a:latin typeface="Arial"/>
                          <a:ea typeface="Riforma LL" panose="020B0504020101020102" pitchFamily="34" charset="77"/>
                          <a:cs typeface="Arial"/>
                        </a:rPr>
                        <a:t> w </a:t>
                      </a:r>
                      <a:r>
                        <a:rPr lang="en-US" sz="1200" b="0" i="0" dirty="0" err="1">
                          <a:latin typeface="Arial"/>
                          <a:ea typeface="Riforma LL" panose="020B0504020101020102" pitchFamily="34" charset="77"/>
                          <a:cs typeface="Arial"/>
                        </a:rPr>
                        <a:t>firmę</a:t>
                      </a:r>
                      <a:r>
                        <a:rPr lang="en-US" sz="1200" b="0" i="0" dirty="0">
                          <a:latin typeface="Arial"/>
                          <a:ea typeface="Riforma LL" panose="020B0504020101020102" pitchFamily="34" charset="77"/>
                          <a:cs typeface="Arial"/>
                        </a:rPr>
                        <a:t> I </a:t>
                      </a:r>
                      <a:r>
                        <a:rPr lang="en-US" sz="1200" b="0" i="0" dirty="0" err="1">
                          <a:latin typeface="Arial"/>
                          <a:ea typeface="Riforma LL" panose="020B0504020101020102" pitchFamily="34" charset="77"/>
                          <a:cs typeface="Arial"/>
                        </a:rPr>
                        <a:t>jej</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kierunkek</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że</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robimy</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coś</a:t>
                      </a:r>
                      <a:r>
                        <a:rPr lang="en-US" sz="1200" b="0" i="0" dirty="0">
                          <a:latin typeface="Arial"/>
                          <a:ea typeface="Riforma LL" panose="020B0504020101020102" pitchFamily="34" charset="77"/>
                          <a:cs typeface="Arial"/>
                        </a:rPr>
                        <a:t> </a:t>
                      </a:r>
                      <a:r>
                        <a:rPr lang="en-US" sz="1200" b="0" i="0" dirty="0" err="1">
                          <a:latin typeface="Arial"/>
                          <a:ea typeface="Riforma LL" panose="020B0504020101020102" pitchFamily="34" charset="77"/>
                          <a:cs typeface="Arial"/>
                        </a:rPr>
                        <a:t>ważnego</a:t>
                      </a:r>
                      <a:r>
                        <a:rPr lang="en-US" sz="1200" b="0" i="0" dirty="0">
                          <a:latin typeface="Arial"/>
                          <a:ea typeface="Riforma LL" panose="020B0504020101020102" pitchFamily="34" charset="77"/>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a:latin typeface="Arial"/>
                        </a:rPr>
                        <a:t>Wiara w </a:t>
                      </a:r>
                      <a:r>
                        <a:rPr lang="en-US" sz="1200" b="0" i="0" u="none" strike="noStrike" noProof="0" dirty="0" err="1">
                          <a:latin typeface="Arial"/>
                        </a:rPr>
                        <a:t>firmę</a:t>
                      </a:r>
                      <a:r>
                        <a:rPr lang="en-US" sz="1200" b="0" i="0" u="none" strike="noStrike" noProof="0" dirty="0">
                          <a:latin typeface="Arial"/>
                        </a:rPr>
                        <a:t> - </a:t>
                      </a:r>
                      <a:r>
                        <a:rPr lang="en-US" sz="1200" b="0" i="0" u="none" strike="noStrike" noProof="0" dirty="0" err="1">
                          <a:latin typeface="Arial"/>
                        </a:rPr>
                        <a:t>optymizm</a:t>
                      </a:r>
                      <a:r>
                        <a:rPr lang="en-US" sz="1200" b="0" i="0" u="none" strike="noStrike" noProof="0" dirty="0">
                          <a:latin typeface="Arial"/>
                        </a:rPr>
                        <a:t> </a:t>
                      </a: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891231"/>
                  </a:ext>
                </a:extLst>
              </a:tr>
            </a:tbl>
          </a:graphicData>
        </a:graphic>
      </p:graphicFrame>
      <p:sp>
        <p:nvSpPr>
          <p:cNvPr id="2" name="Title 4">
            <a:extLst>
              <a:ext uri="{FF2B5EF4-FFF2-40B4-BE49-F238E27FC236}">
                <a16:creationId xmlns:a16="http://schemas.microsoft.com/office/drawing/2014/main" id="{8F063217-5D9D-21EA-7649-2D8B26A10C9C}"/>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Company values </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182079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2912643213"/>
              </p:ext>
            </p:extLst>
          </p:nvPr>
        </p:nvGraphicFramePr>
        <p:xfrm>
          <a:off x="248067" y="762788"/>
          <a:ext cx="9664560" cy="6529126"/>
        </p:xfrm>
        <a:graphic>
          <a:graphicData uri="http://schemas.openxmlformats.org/drawingml/2006/table">
            <a:tbl>
              <a:tblPr firstRow="1" bandRow="1">
                <a:tableStyleId>{2D5ABB26-0587-4C30-8999-92F81FD0307C}</a:tableStyleId>
              </a:tblPr>
              <a:tblGrid>
                <a:gridCol w="9664560">
                  <a:extLst>
                    <a:ext uri="{9D8B030D-6E8A-4147-A177-3AD203B41FA5}">
                      <a16:colId xmlns:a16="http://schemas.microsoft.com/office/drawing/2014/main" val="3313590318"/>
                    </a:ext>
                  </a:extLst>
                </a:gridCol>
              </a:tblGrid>
              <a:tr h="416655">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Your dream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pPr lvl="0" algn="l">
                        <a:lnSpc>
                          <a:spcPct val="100000"/>
                        </a:lnSpc>
                        <a:spcBef>
                          <a:spcPts val="0"/>
                        </a:spcBef>
                        <a:spcAft>
                          <a:spcPts val="0"/>
                        </a:spcAft>
                        <a:buNone/>
                      </a:pPr>
                      <a:r>
                        <a:rPr lang="en-US" sz="1000" b="0" i="0" u="none" strike="noStrike" noProof="0" dirty="0"/>
                        <a:t>We are revolutionizing the energy world by empowering individuals and</a:t>
                      </a:r>
                      <a:endParaRPr lang="pl-PL" dirty="0"/>
                    </a:p>
                    <a:p>
                      <a:pPr lvl="0" algn="l">
                        <a:lnSpc>
                          <a:spcPct val="100000"/>
                        </a:lnSpc>
                        <a:spcBef>
                          <a:spcPts val="0"/>
                        </a:spcBef>
                        <a:spcAft>
                          <a:spcPts val="0"/>
                        </a:spcAft>
                        <a:buNone/>
                      </a:pPr>
                      <a:r>
                        <a:rPr lang="en-US" sz="1000" b="0" i="0" u="none" strike="noStrike" noProof="0" dirty="0"/>
                        <a:t>businesses to control, share, and thrive with affordable, green energy—led by a visionary team</a:t>
                      </a:r>
                      <a:endParaRPr lang="en-US" dirty="0"/>
                    </a:p>
                    <a:p>
                      <a:pPr lvl="0" algn="l">
                        <a:lnSpc>
                          <a:spcPct val="100000"/>
                        </a:lnSpc>
                        <a:spcBef>
                          <a:spcPts val="0"/>
                        </a:spcBef>
                        <a:spcAft>
                          <a:spcPts val="0"/>
                        </a:spcAft>
                        <a:buNone/>
                      </a:pPr>
                      <a:r>
                        <a:rPr lang="en-US" sz="1000" b="0" i="0" u="none" strike="noStrike" noProof="0" dirty="0"/>
                        <a:t>writing the future of energy.</a:t>
                      </a:r>
                      <a:endParaRPr lang="en-US" dirty="0"/>
                    </a:p>
                    <a:p>
                      <a:pPr lvl="0">
                        <a:buNone/>
                      </a:pP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 are the required values for a team to achieve this dream </a:t>
                      </a:r>
                      <a:endPar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Innowacyjne</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podeście</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odwaga</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kreatywność</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pasja</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I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wiara</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w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sukces</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team spirit,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zaufanie</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konsekwencja</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elastyczność</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zwinność</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otwartość</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na</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r>
                        <a:rPr lang="en-US" sz="1200" b="0" i="0" u="none" strike="noStrike" kern="1200" cap="none" spc="0" normalizeH="0" baseline="0" noProof="0" dirty="0" err="1">
                          <a:ln>
                            <a:noFill/>
                          </a:ln>
                          <a:solidFill>
                            <a:prstClr val="black"/>
                          </a:solidFill>
                          <a:effectLst/>
                          <a:uLnTx/>
                          <a:uFillTx/>
                          <a:latin typeface="Arial"/>
                          <a:ea typeface="Riforma LL" panose="020B0504020101020102" pitchFamily="34" charset="0"/>
                          <a:cs typeface="Arial"/>
                        </a:rPr>
                        <a:t>technologię</a:t>
                      </a:r>
                      <a:r>
                        <a:rPr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rPr>
                        <a:t>. </a:t>
                      </a:r>
                      <a:endParaRPr kumimoji="0" lang="en-US" sz="1200" b="0" i="0" u="none" strike="noStrike" kern="1200" cap="none" spc="0" normalizeH="0" baseline="0" noProof="0" dirty="0">
                        <a:ln>
                          <a:noFill/>
                        </a:ln>
                        <a:solidFill>
                          <a:prstClr val="black"/>
                        </a:solidFill>
                        <a:effectLst/>
                        <a:uLnTx/>
                        <a:uFillTx/>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algn="l" rtl="0" fontAlgn="ctr"/>
                      <a:r>
                        <a:rPr lang="en-GB" sz="1600" b="0" i="0" u="none" strike="noStrike" dirty="0">
                          <a:solidFill>
                            <a:srgbClr val="FFFFFF"/>
                          </a:solidFill>
                          <a:effectLst/>
                          <a:latin typeface="Calibri "/>
                        </a:rPr>
                        <a:t>What is the gap between the aspirational values (previous response) and the current company values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Konsekwencja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wiara</a:t>
                      </a:r>
                      <a:r>
                        <a:rPr lang="en-US" sz="1200" b="0" i="0" dirty="0">
                          <a:latin typeface="Arial"/>
                          <a:ea typeface="Riforma LL" panose="020B0504020101020102" pitchFamily="34" charset="0"/>
                          <a:cs typeface="Arial"/>
                        </a:rPr>
                        <a:t> w </a:t>
                      </a:r>
                      <a:r>
                        <a:rPr lang="en-US" sz="1200" b="0" i="0" dirty="0" err="1">
                          <a:latin typeface="Arial"/>
                          <a:ea typeface="Riforma LL" panose="020B0504020101020102" pitchFamily="34" charset="0"/>
                          <a:cs typeface="Arial"/>
                        </a:rPr>
                        <a:t>ludzi</a:t>
                      </a:r>
                      <a:r>
                        <a:rPr lang="en-US" sz="1200" b="0" i="0" dirty="0">
                          <a:latin typeface="Arial"/>
                          <a:ea typeface="Riforma LL" panose="020B0504020101020102" pitchFamily="34" charset="0"/>
                          <a:cs typeface="Arial"/>
                        </a:rPr>
                        <a:t>, data collect and </a:t>
                      </a:r>
                      <a:r>
                        <a:rPr lang="en-US" sz="1200" b="0" i="0" dirty="0" err="1">
                          <a:latin typeface="Arial"/>
                          <a:ea typeface="Riforma LL" panose="020B0504020101020102" pitchFamily="34" charset="0"/>
                          <a:cs typeface="Arial"/>
                        </a:rPr>
                        <a:t>driveen</a:t>
                      </a:r>
                      <a:r>
                        <a:rPr lang="en-US" sz="1200" b="0" i="0" dirty="0">
                          <a:latin typeface="Arial"/>
                          <a:ea typeface="Riforma LL" panose="020B0504020101020102" pitchFamily="34" charset="0"/>
                          <a:cs typeface="Arial"/>
                        </a:rPr>
                        <a:t>, operational </a:t>
                      </a:r>
                      <a:r>
                        <a:rPr lang="en-US" sz="1200" b="0" i="0" dirty="0" err="1">
                          <a:latin typeface="Arial"/>
                          <a:ea typeface="Riforma LL" panose="020B0504020101020102" pitchFamily="34" charset="0"/>
                          <a:cs typeface="Arial"/>
                        </a:rPr>
                        <a:t>effectivnes</a:t>
                      </a:r>
                      <a:r>
                        <a:rPr lang="en-US" sz="1200" b="0" i="0" dirty="0">
                          <a:latin typeface="Arial"/>
                          <a:ea typeface="Riforma LL" panose="020B0504020101020102" pitchFamily="34" charset="0"/>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sp>
        <p:nvSpPr>
          <p:cNvPr id="3" name="Title 4">
            <a:extLst>
              <a:ext uri="{FF2B5EF4-FFF2-40B4-BE49-F238E27FC236}">
                <a16:creationId xmlns:a16="http://schemas.microsoft.com/office/drawing/2014/main" id="{6E581B47-6022-F0F7-087C-8DC3AE5F8F81}"/>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CURRENT AND ASPIRATIONAL VALUES GAP </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18770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651477753"/>
              </p:ext>
            </p:extLst>
          </p:nvPr>
        </p:nvGraphicFramePr>
        <p:xfrm>
          <a:off x="276084" y="729008"/>
          <a:ext cx="9664560" cy="7292786"/>
        </p:xfrm>
        <a:graphic>
          <a:graphicData uri="http://schemas.openxmlformats.org/drawingml/2006/table">
            <a:tbl>
              <a:tblPr firstRow="1" bandRow="1">
                <a:tableStyleId>{2D5ABB26-0587-4C30-8999-92F81FD0307C}</a:tableStyleId>
              </a:tblPr>
              <a:tblGrid>
                <a:gridCol w="2648607">
                  <a:extLst>
                    <a:ext uri="{9D8B030D-6E8A-4147-A177-3AD203B41FA5}">
                      <a16:colId xmlns:a16="http://schemas.microsoft.com/office/drawing/2014/main" val="3308902235"/>
                    </a:ext>
                  </a:extLst>
                </a:gridCol>
                <a:gridCol w="3524194">
                  <a:extLst>
                    <a:ext uri="{9D8B030D-6E8A-4147-A177-3AD203B41FA5}">
                      <a16:colId xmlns:a16="http://schemas.microsoft.com/office/drawing/2014/main" val="3313590318"/>
                    </a:ext>
                  </a:extLst>
                </a:gridCol>
                <a:gridCol w="3491759">
                  <a:extLst>
                    <a:ext uri="{9D8B030D-6E8A-4147-A177-3AD203B41FA5}">
                      <a16:colId xmlns:a16="http://schemas.microsoft.com/office/drawing/2014/main" val="1506629949"/>
                    </a:ext>
                  </a:extLst>
                </a:gridCol>
              </a:tblGrid>
              <a:tr h="44207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Company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Cool Behaviors this value represents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Non-Cool Behaviors associated with this value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054536">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Founders Mentality</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Dbałość</a:t>
                      </a:r>
                      <a:r>
                        <a:rPr lang="en-US" sz="1200" b="0" i="0" dirty="0">
                          <a:latin typeface="Arial"/>
                          <a:ea typeface="Riforma LL" panose="020B0504020101020102" pitchFamily="34" charset="0"/>
                          <a:cs typeface="Arial"/>
                        </a:rPr>
                        <a:t> o </a:t>
                      </a:r>
                      <a:r>
                        <a:rPr lang="en-US" sz="1200" b="0" i="0" dirty="0" err="1">
                          <a:latin typeface="Arial"/>
                          <a:ea typeface="Riforma LL" panose="020B0504020101020102" pitchFamily="34" charset="0"/>
                          <a:cs typeface="Arial"/>
                        </a:rPr>
                        <a:t>wynik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finansowy</a:t>
                      </a:r>
                      <a:r>
                        <a:rPr lang="en-US" sz="1200" b="0" i="0" dirty="0">
                          <a:latin typeface="Arial"/>
                          <a:ea typeface="Riforma LL" panose="020B0504020101020102" pitchFamily="34" charset="0"/>
                          <a:cs typeface="Arial"/>
                        </a:rPr>
                        <a:t> jak o </a:t>
                      </a:r>
                      <a:r>
                        <a:rPr lang="en-US" sz="1200" b="0" i="0" dirty="0" err="1">
                          <a:latin typeface="Arial"/>
                          <a:ea typeface="Riforma LL" panose="020B0504020101020102" pitchFamily="34" charset="0"/>
                          <a:cs typeface="Arial"/>
                        </a:rPr>
                        <a:t>własną</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firmę</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odpowiedzialność</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zespołu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każdy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powinien</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czuć</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się</a:t>
                      </a:r>
                      <a:r>
                        <a:rPr lang="en-US" sz="1200" b="0" i="0" dirty="0">
                          <a:latin typeface="Arial"/>
                          <a:ea typeface="Riforma LL" panose="020B0504020101020102" pitchFamily="34" charset="0"/>
                          <a:cs typeface="Arial"/>
                        </a:rPr>
                        <a:t> jak </a:t>
                      </a:r>
                      <a:r>
                        <a:rPr lang="en-US" sz="1200" b="0" i="0" dirty="0" err="1">
                          <a:latin typeface="Arial"/>
                          <a:ea typeface="Riforma LL" panose="020B0504020101020102" pitchFamily="34" charset="0"/>
                          <a:cs typeface="Arial"/>
                        </a:rPr>
                        <a:t>właściciel</a:t>
                      </a:r>
                      <a:r>
                        <a:rPr lang="en-US" sz="1200" b="0" i="0" dirty="0">
                          <a:latin typeface="Arial"/>
                          <a:ea typeface="Riforma LL" panose="020B0504020101020102" pitchFamily="34" charset="0"/>
                          <a:cs typeface="Arial"/>
                        </a:rPr>
                        <a:t> a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jak </a:t>
                      </a:r>
                      <a:r>
                        <a:rPr lang="en-US" sz="1200" b="0" i="0" dirty="0" err="1">
                          <a:latin typeface="Arial"/>
                          <a:ea typeface="Riforma LL" panose="020B0504020101020102" pitchFamily="34" charset="0"/>
                          <a:cs typeface="Arial"/>
                        </a:rPr>
                        <a:t>pracownik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przedsiębiorczość</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orientacja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rozwój</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siebie</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zespołu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inwestujemy</a:t>
                      </a:r>
                      <a:r>
                        <a:rPr lang="en-US" sz="1200" b="0" i="0" dirty="0">
                          <a:latin typeface="Arial"/>
                          <a:ea typeface="Riforma LL" panose="020B0504020101020102" pitchFamily="34" charset="0"/>
                          <a:cs typeface="Arial"/>
                        </a:rPr>
                        <a:t> w </a:t>
                      </a:r>
                      <a:r>
                        <a:rPr lang="en-US" sz="1200" b="0" i="0" dirty="0" err="1">
                          <a:latin typeface="Arial"/>
                          <a:ea typeface="Riforma LL" panose="020B0504020101020102" pitchFamily="34" charset="0"/>
                          <a:cs typeface="Arial"/>
                        </a:rPr>
                        <a:t>rozwój</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ludzi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healthly</a:t>
                      </a:r>
                      <a:r>
                        <a:rPr lang="en-US" sz="1200" b="0" i="0" dirty="0">
                          <a:latin typeface="Arial"/>
                          <a:ea typeface="Riforma LL" panose="020B0504020101020102" pitchFamily="34" charset="0"/>
                          <a:cs typeface="Arial"/>
                        </a:rPr>
                        <a:t> market </a:t>
                      </a:r>
                      <a:r>
                        <a:rPr lang="en-US" sz="1200" b="0" i="0" dirty="0" err="1">
                          <a:latin typeface="Arial"/>
                          <a:ea typeface="Riforma LL" panose="020B0504020101020102" pitchFamily="34" charset="0"/>
                          <a:cs typeface="Arial"/>
                        </a:rPr>
                        <a:t>competion</a:t>
                      </a:r>
                      <a:r>
                        <a:rPr lang="en-US" sz="1200" b="0" i="0" dirty="0">
                          <a:latin typeface="Arial"/>
                          <a:ea typeface="Riforma LL" panose="020B0504020101020102" pitchFamily="34" charset="0"/>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Nie </a:t>
                      </a:r>
                      <a:r>
                        <a:rPr lang="en-US" sz="1200" b="0" i="0" dirty="0" err="1">
                          <a:latin typeface="Arial"/>
                          <a:ea typeface="Riforma LL" panose="020B0504020101020102" pitchFamily="34" charset="0"/>
                          <a:cs typeface="Arial"/>
                        </a:rPr>
                        <a:t>używamy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danych</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skupienie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osobistych</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korzyściach</a:t>
                      </a:r>
                      <a:r>
                        <a:rPr lang="en-US" sz="1200" b="0" i="0" dirty="0">
                          <a:latin typeface="Arial"/>
                          <a:ea typeface="Riforma LL" panose="020B0504020101020102" pitchFamily="34" charset="0"/>
                          <a:cs typeface="Arial"/>
                        </a:rPr>
                        <a:t>, micro </a:t>
                      </a:r>
                      <a:r>
                        <a:rPr lang="en-US" sz="1200" b="0" i="0" dirty="0" err="1">
                          <a:latin typeface="Arial"/>
                          <a:ea typeface="Riforma LL" panose="020B0504020101020102" pitchFamily="34" charset="0"/>
                          <a:cs typeface="Arial"/>
                        </a:rPr>
                        <a:t>managamnet</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efektywności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kosztowej</a:t>
                      </a:r>
                      <a:r>
                        <a:rPr lang="en-US" sz="1200" b="0" i="0" dirty="0">
                          <a:latin typeface="Arial"/>
                          <a:ea typeface="Riforma LL" panose="020B0504020101020102" pitchFamily="34" charset="0"/>
                          <a:cs typeface="Arial"/>
                        </a:rPr>
                        <a:t> –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zastanaiwanie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się</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nad</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wydatkami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zbyt</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duże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skupienie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kosztach</a:t>
                      </a:r>
                      <a:endParaRPr lang="en-US" sz="1200" b="0" i="0" dirty="0" err="1">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028614">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77"/>
                          <a:cs typeface="Arial"/>
                        </a:rPr>
                        <a:t>Innowacyjność</a:t>
                      </a:r>
                      <a:r>
                        <a:rPr lang="en-US" sz="1200" b="0" i="0" dirty="0">
                          <a:latin typeface="Arial"/>
                          <a:ea typeface="Riforma LL" panose="020B0504020101020102" pitchFamily="34" charset="77"/>
                          <a:cs typeface="Arial"/>
                        </a:rPr>
                        <a:t> - </a:t>
                      </a:r>
                      <a:r>
                        <a:rPr lang="en-US" sz="1200" b="0" i="0" dirty="0" err="1">
                          <a:latin typeface="Arial"/>
                          <a:ea typeface="Riforma LL" panose="020B0504020101020102" pitchFamily="34" charset="77"/>
                          <a:cs typeface="Arial"/>
                        </a:rPr>
                        <a:t>kreatywność</a:t>
                      </a:r>
                      <a:r>
                        <a:rPr lang="en-US" sz="1200" b="0" i="0" dirty="0">
                          <a:latin typeface="Arial"/>
                          <a:ea typeface="Riforma LL" panose="020B0504020101020102" pitchFamily="34" charset="77"/>
                          <a:cs typeface="Arial"/>
                        </a:rPr>
                        <a:t> </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Otwartość</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technologię</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zmiany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dzielnie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się</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pomysłami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elastyczność</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niekonwencjonalne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podejście</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opór</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przed</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zmianami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egzakucji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blokowanie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nowych</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pomysłów</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decyzyjności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focusu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priorytetów</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ryzykowna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przemyślana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innowacyjność</a:t>
                      </a: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029583">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77"/>
                          <a:cs typeface="Arial"/>
                        </a:rPr>
                        <a:t>Obssesed</a:t>
                      </a:r>
                      <a:r>
                        <a:rPr lang="en-US" sz="1200" b="0" i="0" dirty="0">
                          <a:latin typeface="Arial"/>
                          <a:ea typeface="Riforma LL" panose="020B0504020101020102" pitchFamily="34" charset="77"/>
                          <a:cs typeface="Arial"/>
                        </a:rPr>
                        <a:t> by the client </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Elastyczne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podejście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słuchanie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klientów</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zrozumienie</a:t>
                      </a:r>
                      <a:r>
                        <a:rPr lang="en-US" sz="1200" b="0" i="0" dirty="0">
                          <a:latin typeface="Arial"/>
                          <a:ea typeface="Riforma LL" panose="020B0504020101020102" pitchFamily="34" charset="0"/>
                          <a:cs typeface="Arial"/>
                        </a:rPr>
                        <a:t> ich </a:t>
                      </a:r>
                      <a:r>
                        <a:rPr lang="en-US" sz="1200" b="0" i="0" dirty="0" err="1">
                          <a:latin typeface="Arial"/>
                          <a:ea typeface="Riforma LL" panose="020B0504020101020102" pitchFamily="34" charset="0"/>
                          <a:cs typeface="Arial"/>
                        </a:rPr>
                        <a:t>potrzeb</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szukanie</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kreowanie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nowych</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rozwiazan</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wdrażanie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uwag</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klientów</a:t>
                      </a:r>
                      <a:r>
                        <a:rPr lang="en-US" sz="1200" b="0" i="0" dirty="0">
                          <a:latin typeface="Arial"/>
                          <a:ea typeface="Riforma LL" panose="020B0504020101020102" pitchFamily="34" charset="0"/>
                          <a:cs typeface="Arial"/>
                        </a:rPr>
                        <a:t> do </a:t>
                      </a:r>
                      <a:r>
                        <a:rPr lang="en-US" sz="1200" b="0" i="0" dirty="0" err="1">
                          <a:latin typeface="Arial"/>
                          <a:ea typeface="Riforma LL" panose="020B0504020101020102" pitchFamily="34" charset="0"/>
                          <a:cs typeface="Arial"/>
                        </a:rPr>
                        <a:t>oferty</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procesów</a:t>
                      </a:r>
                      <a:endParaRPr lang="en-US" sz="1200" b="0" i="0" dirty="0" err="1">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Nie </a:t>
                      </a:r>
                      <a:r>
                        <a:rPr lang="en-US" sz="1200" b="0" i="0" dirty="0" err="1">
                          <a:latin typeface="Arial"/>
                          <a:ea typeface="Riforma LL" panose="020B0504020101020102" pitchFamily="34" charset="0"/>
                          <a:cs typeface="Arial"/>
                        </a:rPr>
                        <a:t>wdrażanie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uwag</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klientów</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zbyt</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duzę</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skupienie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klientach</a:t>
                      </a:r>
                      <a:r>
                        <a:rPr lang="en-US" sz="1200" b="0" i="0" dirty="0">
                          <a:latin typeface="Arial"/>
                          <a:ea typeface="Riforma LL" panose="020B0504020101020102" pitchFamily="34" charset="0"/>
                          <a:cs typeface="Arial"/>
                        </a:rPr>
                        <a:t> ze </a:t>
                      </a:r>
                      <a:r>
                        <a:rPr lang="en-US" sz="1200" b="0" i="0" dirty="0" err="1">
                          <a:latin typeface="Arial"/>
                          <a:ea typeface="Riforma LL" panose="020B0504020101020102" pitchFamily="34" charset="0"/>
                          <a:cs typeface="Arial"/>
                        </a:rPr>
                        <a:t>szkodą</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dla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firmy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patrzenie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konkurencje</a:t>
                      </a:r>
                      <a:r>
                        <a:rPr lang="en-US" sz="1200" b="0" i="0" dirty="0">
                          <a:latin typeface="Arial"/>
                          <a:ea typeface="Riforma LL" panose="020B0504020101020102" pitchFamily="34" charset="0"/>
                          <a:cs typeface="Arial"/>
                        </a:rPr>
                        <a:t> - </a:t>
                      </a:r>
                      <a:r>
                        <a:rPr lang="en-US" sz="1200" b="0" i="0" dirty="0" err="1">
                          <a:latin typeface="Arial"/>
                          <a:ea typeface="Riforma LL" panose="020B0504020101020102" pitchFamily="34" charset="0"/>
                          <a:cs typeface="Arial"/>
                        </a:rPr>
                        <a:t>zdobycie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klienta</a:t>
                      </a:r>
                      <a:r>
                        <a:rPr lang="en-US" sz="1200" b="0" i="0" dirty="0">
                          <a:latin typeface="Arial"/>
                          <a:ea typeface="Riforma LL" panose="020B0504020101020102" pitchFamily="34" charset="0"/>
                          <a:cs typeface="Arial"/>
                        </a:rPr>
                        <a:t> za </a:t>
                      </a:r>
                      <a:r>
                        <a:rPr lang="en-US" sz="1200" b="0" i="0" dirty="0" err="1">
                          <a:latin typeface="Arial"/>
                          <a:ea typeface="Riforma LL" panose="020B0504020101020102" pitchFamily="34" charset="0"/>
                          <a:cs typeface="Arial"/>
                        </a:rPr>
                        <a:t>wszelką</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cenę</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018034">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Team Spirit </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Współpraca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wzajemna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pomoc</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tylko</a:t>
                      </a:r>
                      <a:r>
                        <a:rPr lang="en-US" sz="1200" b="0" i="0" dirty="0">
                          <a:latin typeface="Arial"/>
                          <a:ea typeface="Riforma LL" panose="020B0504020101020102" pitchFamily="34" charset="0"/>
                          <a:cs typeface="Arial"/>
                        </a:rPr>
                        <a:t> w </a:t>
                      </a:r>
                      <a:r>
                        <a:rPr lang="en-US" sz="1200" b="0" i="0" dirty="0" err="1">
                          <a:latin typeface="Arial"/>
                          <a:ea typeface="Riforma LL" panose="020B0504020101020102" pitchFamily="34" charset="0"/>
                          <a:cs typeface="Arial"/>
                        </a:rPr>
                        <a:t>pracy</a:t>
                      </a:r>
                      <a:r>
                        <a:rPr lang="en-US" sz="1200" b="0" i="0" dirty="0">
                          <a:latin typeface="Arial"/>
                          <a:ea typeface="Riforma LL" panose="020B0504020101020102" pitchFamily="34" charset="0"/>
                          <a:cs typeface="Arial"/>
                        </a:rPr>
                        <a:t> ale I </a:t>
                      </a:r>
                      <a:r>
                        <a:rPr lang="en-US" sz="1200" b="0" i="0" dirty="0" err="1">
                          <a:latin typeface="Arial"/>
                          <a:ea typeface="Riforma LL" panose="020B0504020101020102" pitchFamily="34" charset="0"/>
                          <a:cs typeface="Arial"/>
                        </a:rPr>
                        <a:t>poza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szacunek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poczucie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wspólnego</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sukcesu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poczucie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zaufania</a:t>
                      </a:r>
                      <a:r>
                        <a:rPr lang="en-US" sz="1200" b="0" i="0" dirty="0">
                          <a:latin typeface="Arial"/>
                          <a:ea typeface="Riforma LL" panose="020B0504020101020102" pitchFamily="34" charset="0"/>
                          <a:cs typeface="Arial"/>
                        </a:rPr>
                        <a:t> w </a:t>
                      </a:r>
                      <a:r>
                        <a:rPr lang="en-US" sz="1200" b="0" i="0" dirty="0" err="1">
                          <a:latin typeface="Arial"/>
                          <a:ea typeface="Riforma LL" panose="020B0504020101020102" pitchFamily="34" charset="0"/>
                          <a:cs typeface="Arial"/>
                        </a:rPr>
                        <a:t>zespole</a:t>
                      </a:r>
                      <a:r>
                        <a:rPr lang="en-US" sz="1200" b="0" i="0" dirty="0">
                          <a:latin typeface="Arial"/>
                          <a:ea typeface="Riforma LL" panose="020B0504020101020102" pitchFamily="34" charset="0"/>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Zbyt</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duża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dbałość</a:t>
                      </a:r>
                      <a:r>
                        <a:rPr lang="en-US" sz="1200" b="0" i="0" dirty="0">
                          <a:latin typeface="Arial"/>
                          <a:ea typeface="Riforma LL" panose="020B0504020101020102" pitchFamily="34" charset="0"/>
                          <a:cs typeface="Arial"/>
                        </a:rPr>
                        <a:t> o </a:t>
                      </a:r>
                      <a:r>
                        <a:rPr lang="en-US" sz="1200" b="0" i="0" dirty="0" err="1">
                          <a:latin typeface="Arial"/>
                          <a:ea typeface="Riforma LL" panose="020B0504020101020102" pitchFamily="34" charset="0"/>
                          <a:cs typeface="Arial"/>
                        </a:rPr>
                        <a:t>zespół</a:t>
                      </a:r>
                      <a:r>
                        <a:rPr lang="en-US" sz="1200" b="0" i="0" dirty="0">
                          <a:latin typeface="Arial"/>
                          <a:ea typeface="Riforma LL" panose="020B0504020101020102" pitchFamily="34" charset="0"/>
                          <a:cs typeface="Arial"/>
                        </a:rPr>
                        <a:t> - </a:t>
                      </a:r>
                      <a:r>
                        <a:rPr lang="en-US" sz="1200" b="0" i="0" dirty="0" err="1">
                          <a:latin typeface="Arial"/>
                          <a:ea typeface="Riforma LL" panose="020B0504020101020102" pitchFamily="34" charset="0"/>
                          <a:cs typeface="Arial"/>
                        </a:rPr>
                        <a:t>jeśli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jednostka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generuje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wyników</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lub</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(performance) </a:t>
                      </a:r>
                      <a:r>
                        <a:rPr lang="en-US" sz="1200" b="0" i="0" dirty="0" err="1">
                          <a:latin typeface="Arial"/>
                          <a:ea typeface="Riforma LL" panose="020B0504020101020102" pitchFamily="34" charset="0"/>
                          <a:cs typeface="Arial"/>
                        </a:rPr>
                        <a:t>reprezentuje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wartości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odpowiedzialności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indywidualnej</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poświęcenia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jednostki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dla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zespołu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przedkładanie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wyników</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ponad</a:t>
                      </a:r>
                      <a:r>
                        <a:rPr lang="en-US" sz="1200" b="0" i="0" dirty="0">
                          <a:latin typeface="Arial"/>
                          <a:ea typeface="Riforma LL" panose="020B0504020101020102" pitchFamily="34" charset="0"/>
                          <a:cs typeface="Arial"/>
                        </a:rPr>
                        <a:t> Values,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słuchanie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się</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nawzajem</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feedback, </a:t>
                      </a:r>
                      <a:r>
                        <a:rPr lang="en-US" sz="1200" b="0" i="0" dirty="0" err="1">
                          <a:latin typeface="Arial"/>
                          <a:ea typeface="Riforma LL" panose="020B0504020101020102" pitchFamily="34" charset="0"/>
                          <a:cs typeface="Arial"/>
                        </a:rPr>
                        <a:t>brak</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doceniania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jednostek</a:t>
                      </a:r>
                      <a:r>
                        <a:rPr lang="en-US" sz="1200" b="0" i="0" dirty="0">
                          <a:latin typeface="Arial"/>
                          <a:ea typeface="Riforma LL" panose="020B0504020101020102" pitchFamily="34" charset="0"/>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028614">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Wiara – </a:t>
                      </a:r>
                      <a:r>
                        <a:rPr lang="en-US" sz="1200" b="0" i="0" dirty="0" err="1">
                          <a:latin typeface="Arial"/>
                          <a:ea typeface="Riforma LL" panose="020B0504020101020102" pitchFamily="34" charset="77"/>
                          <a:cs typeface="Arial"/>
                        </a:rPr>
                        <a:t>optymizm</a:t>
                      </a:r>
                      <a:r>
                        <a:rPr lang="en-US" sz="1200" b="0" i="0" dirty="0">
                          <a:latin typeface="Arial"/>
                          <a:ea typeface="Riforma LL" panose="020B0504020101020102" pitchFamily="34" charset="77"/>
                          <a:cs typeface="Arial"/>
                        </a:rPr>
                        <a:t> </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Wiare w </a:t>
                      </a:r>
                      <a:r>
                        <a:rPr lang="en-US" sz="1200" b="0" i="0" dirty="0" err="1">
                          <a:latin typeface="Arial"/>
                          <a:ea typeface="Riforma LL" panose="020B0504020101020102" pitchFamily="34" charset="0"/>
                          <a:cs typeface="Arial"/>
                        </a:rPr>
                        <a:t>sukces</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mimo</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trudności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otwarta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komunikacja</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Przesadna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wiara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dostrzeganie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ryzyk</a:t>
                      </a:r>
                      <a:r>
                        <a:rPr lang="en-US" sz="1200" b="0" i="0" dirty="0">
                          <a:latin typeface="Arial"/>
                          <a:ea typeface="Riforma LL" panose="020B0504020101020102" pitchFamily="34" charset="0"/>
                          <a:cs typeface="Arial"/>
                        </a:rPr>
                        <a:t>, overpromise.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102070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TURN VALUES INTO BEHAVIORS [page 1 out of 2]</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323721744"/>
              </p:ext>
            </p:extLst>
          </p:nvPr>
        </p:nvGraphicFramePr>
        <p:xfrm>
          <a:off x="276084" y="729008"/>
          <a:ext cx="9664560" cy="6493427"/>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413158">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242759">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Otwartość</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technologię</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zmiany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Elastyczne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kreatywne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podejście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szukanie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nowych</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rozwiązan</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opartych</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technologii</a:t>
                      </a:r>
                      <a:r>
                        <a:rPr lang="en-US" sz="1200" b="0" i="0" dirty="0">
                          <a:latin typeface="Arial"/>
                          <a:ea typeface="Riforma LL" panose="020B0504020101020102" pitchFamily="34" charset="0"/>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Kreatywne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podejście</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wprowadzanie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zmian</a:t>
                      </a:r>
                      <a:r>
                        <a:rPr lang="en-US" sz="1200" b="0" i="0" dirty="0">
                          <a:latin typeface="Arial"/>
                          <a:ea typeface="Riforma LL" panose="020B0504020101020102" pitchFamily="34" charset="0"/>
                          <a:cs typeface="Arial"/>
                        </a:rPr>
                        <a:t> bez </a:t>
                      </a:r>
                      <a:r>
                        <a:rPr lang="en-US" sz="1200" b="0" i="0" dirty="0" err="1">
                          <a:latin typeface="Arial"/>
                          <a:ea typeface="Riforma LL" panose="020B0504020101020102" pitchFamily="34" charset="0"/>
                          <a:cs typeface="Arial"/>
                        </a:rPr>
                        <a:t>zebrania</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analizy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danych</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efektów</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wdrożenia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nowego</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pomysłu</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212210">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Przedsiębiorczosć</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rozumiana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jako</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rozwój</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siebie</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firmy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Efektywne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zarządzania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zasobami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firmy</a:t>
                      </a:r>
                      <a:r>
                        <a:rPr lang="en-US" sz="1200" b="0" i="0" dirty="0">
                          <a:latin typeface="Arial"/>
                          <a:ea typeface="Riforma LL" panose="020B0504020101020102" pitchFamily="34" charset="0"/>
                          <a:cs typeface="Arial"/>
                        </a:rPr>
                        <a:t> z </a:t>
                      </a:r>
                      <a:r>
                        <a:rPr lang="en-US" sz="1200" b="0" i="0" dirty="0" err="1">
                          <a:latin typeface="Arial"/>
                          <a:ea typeface="Riforma LL" panose="020B0504020101020102" pitchFamily="34" charset="0"/>
                          <a:cs typeface="Arial"/>
                        </a:rPr>
                        <a:t>orientacją</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wynik</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Brak </a:t>
                      </a:r>
                      <a:r>
                        <a:rPr lang="en-US" sz="1200" b="0" i="0" dirty="0" err="1">
                          <a:latin typeface="Arial"/>
                          <a:ea typeface="Riforma LL" panose="020B0504020101020102" pitchFamily="34" charset="0"/>
                          <a:cs typeface="Arial"/>
                        </a:rPr>
                        <a:t>proaktywności</a:t>
                      </a:r>
                      <a:r>
                        <a:rPr lang="en-US" sz="1200" b="0" i="0" dirty="0">
                          <a:latin typeface="Arial"/>
                          <a:ea typeface="Riforma LL" panose="020B0504020101020102" pitchFamily="34" charset="0"/>
                          <a:cs typeface="Arial"/>
                        </a:rPr>
                        <a:t> w </a:t>
                      </a:r>
                      <a:r>
                        <a:rPr lang="en-US" sz="1200" b="0" i="0" dirty="0" err="1">
                          <a:latin typeface="Arial"/>
                          <a:ea typeface="Riforma LL" panose="020B0504020101020102" pitchFamily="34" charset="0"/>
                          <a:cs typeface="Arial"/>
                        </a:rPr>
                        <a:t>celu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zakocznie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zadania</a:t>
                      </a:r>
                      <a:r>
                        <a:rPr lang="en-US" sz="1200" b="0" i="0" dirty="0">
                          <a:latin typeface="Arial"/>
                          <a:ea typeface="Riforma LL" panose="020B0504020101020102" pitchFamily="34" charset="0"/>
                          <a:cs typeface="Arial"/>
                        </a:rPr>
                        <a:t>. </a:t>
                      </a:r>
                      <a:endParaRPr lang="en-US" sz="1200" b="0" i="0" dirty="0">
                        <a:latin typeface="Arial"/>
                        <a:cs typeface="Arial"/>
                      </a:endParaRPr>
                    </a:p>
                    <a:p>
                      <a:pPr marL="0" marR="0" lvl="0" indent="0" algn="l">
                        <a:lnSpc>
                          <a:spcPct val="100000"/>
                        </a:lnSpc>
                        <a:spcBef>
                          <a:spcPts val="0"/>
                        </a:spcBef>
                        <a:spcAft>
                          <a:spcPts val="0"/>
                        </a:spcAft>
                        <a:buClrTx/>
                        <a:buSzTx/>
                        <a:buFontTx/>
                        <a:buNone/>
                      </a:pPr>
                      <a:endParaRPr lang="en-US" sz="1200" b="0" i="0" dirty="0">
                        <a:latin typeface="Arial"/>
                        <a:ea typeface="Riforma LL" panose="020B0504020101020102" pitchFamily="34" charset="0"/>
                        <a:cs typeface="Arial"/>
                      </a:endParaRPr>
                    </a:p>
                    <a:p>
                      <a:pPr marL="0" marR="0" lvl="0" indent="0" algn="l">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Brak </a:t>
                      </a:r>
                      <a:r>
                        <a:rPr lang="en-US" sz="1200" b="0" i="0" dirty="0" err="1">
                          <a:latin typeface="Arial"/>
                          <a:ea typeface="Riforma LL" panose="020B0504020101020102" pitchFamily="34" charset="0"/>
                          <a:cs typeface="Arial"/>
                        </a:rPr>
                        <a:t>odpowiedzialnosci</a:t>
                      </a:r>
                      <a:r>
                        <a:rPr lang="en-US" sz="1200" b="0" i="0" dirty="0">
                          <a:latin typeface="Arial"/>
                          <a:ea typeface="Riforma LL" panose="020B0504020101020102" pitchFamily="34" charset="0"/>
                          <a:cs typeface="Arial"/>
                        </a:rPr>
                        <a:t> za </a:t>
                      </a:r>
                      <a:r>
                        <a:rPr lang="en-US" sz="1200" b="0" i="0" dirty="0" err="1">
                          <a:latin typeface="Arial"/>
                          <a:ea typeface="Riforma LL" panose="020B0504020101020102" pitchFamily="34" charset="0"/>
                          <a:cs typeface="Arial"/>
                        </a:rPr>
                        <a:t>decyzje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jakości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zakoczonego</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zadania</a:t>
                      </a:r>
                      <a:r>
                        <a:rPr lang="en-US" sz="1200" b="0" i="0" dirty="0">
                          <a:latin typeface="Arial"/>
                          <a:ea typeface="Riforma LL" panose="020B0504020101020102" pitchFamily="34" charset="0"/>
                          <a:cs typeface="Arial"/>
                        </a:rPr>
                        <a:t>. </a:t>
                      </a:r>
                      <a:endParaRPr lang="en-US" sz="1200" b="0" i="0">
                        <a:latin typeface="Arial"/>
                        <a:cs typeface="Arial"/>
                      </a:endParaRPr>
                    </a:p>
                    <a:p>
                      <a:pPr marL="0" marR="0" lvl="0" indent="0" algn="l">
                        <a:lnSpc>
                          <a:spcPct val="100000"/>
                        </a:lnSpc>
                        <a:spcBef>
                          <a:spcPts val="0"/>
                        </a:spcBef>
                        <a:spcAft>
                          <a:spcPts val="0"/>
                        </a:spcAft>
                        <a:buClrTx/>
                        <a:buSzTx/>
                        <a:buFontTx/>
                        <a:buNone/>
                      </a:pPr>
                      <a:endParaRPr lang="en-US" sz="1200" b="0" i="0" dirty="0">
                        <a:latin typeface="Arial"/>
                        <a:ea typeface="Riforma LL" panose="020B0504020101020102" pitchFamily="34" charset="0"/>
                        <a:cs typeface="Arial"/>
                      </a:endParaRPr>
                    </a:p>
                    <a:p>
                      <a:pPr marL="0" marR="0" lvl="0" indent="0" algn="l">
                        <a:lnSpc>
                          <a:spcPct val="100000"/>
                        </a:lnSpc>
                        <a:spcBef>
                          <a:spcPts val="0"/>
                        </a:spcBef>
                        <a:spcAft>
                          <a:spcPts val="0"/>
                        </a:spcAft>
                        <a:buClrTx/>
                        <a:buSzTx/>
                        <a:buFontTx/>
                        <a:buNone/>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213350">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Słuchanie</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zrozumienie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potrzeb</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klienta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kreowanie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nowych</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efektywnych</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rozwiązan</a:t>
                      </a:r>
                      <a:r>
                        <a:rPr lang="en-US" sz="1200" b="0" i="0" dirty="0">
                          <a:latin typeface="Arial"/>
                          <a:ea typeface="Riforma LL" panose="020B0504020101020102" pitchFamily="34" charset="0"/>
                          <a:cs typeface="Arial"/>
                        </a:rPr>
                        <a:t> z </a:t>
                      </a:r>
                      <a:r>
                        <a:rPr lang="en-US" sz="1200" b="0" i="0" dirty="0" err="1">
                          <a:latin typeface="Arial"/>
                          <a:ea typeface="Riforma LL" panose="020B0504020101020102" pitchFamily="34" charset="0"/>
                          <a:cs typeface="Arial"/>
                        </a:rPr>
                        <a:t>korzyścia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dla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klientów</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firmy</a:t>
                      </a:r>
                      <a:r>
                        <a:rPr lang="en-US" sz="1200" b="0" i="0" dirty="0">
                          <a:latin typeface="Arial"/>
                          <a:ea typeface="Riforma LL" panose="020B0504020101020102" pitchFamily="34" charset="0"/>
                          <a:cs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Nie </a:t>
                      </a:r>
                      <a:r>
                        <a:rPr lang="en-US" sz="1200" b="0" i="0" dirty="0" err="1">
                          <a:latin typeface="Arial"/>
                          <a:ea typeface="Riforma LL" panose="020B0504020101020102" pitchFamily="34" charset="0"/>
                          <a:cs typeface="Arial"/>
                        </a:rPr>
                        <a:t>słuchanie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uwag</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klientów</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dopasowanie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oferty</a:t>
                      </a:r>
                      <a:r>
                        <a:rPr lang="en-US" sz="1200" b="0" i="0" dirty="0">
                          <a:latin typeface="Arial"/>
                          <a:ea typeface="Riforma LL" panose="020B0504020101020102" pitchFamily="34" charset="0"/>
                          <a:cs typeface="Arial"/>
                        </a:rPr>
                        <a:t> do ich </a:t>
                      </a:r>
                      <a:r>
                        <a:rPr lang="en-US" sz="1200" b="0" i="0" dirty="0" err="1">
                          <a:latin typeface="Arial"/>
                          <a:ea typeface="Riforma LL" panose="020B0504020101020102" pitchFamily="34" charset="0"/>
                          <a:cs typeface="Arial"/>
                        </a:rPr>
                        <a:t>potrzeb</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99740">
                <a:tc>
                  <a:txBody>
                    <a:bodyPr/>
                    <a:lstStyle/>
                    <a:p>
                      <a:pPr marL="0" marR="0" lvl="0" indent="0" algn="l">
                        <a:lnSpc>
                          <a:spcPct val="100000"/>
                        </a:lnSpc>
                        <a:spcBef>
                          <a:spcPts val="0"/>
                        </a:spcBef>
                        <a:spcAft>
                          <a:spcPts val="0"/>
                        </a:spcAft>
                        <a:buNone/>
                      </a:pPr>
                      <a:r>
                        <a:rPr lang="en-US" sz="1200" b="0" i="0" u="none" strike="noStrike" noProof="0" dirty="0" err="1">
                          <a:latin typeface="Arial"/>
                        </a:rPr>
                        <a:t>Wzajemna</a:t>
                      </a:r>
                      <a:r>
                        <a:rPr lang="en-US" sz="1200" b="0" i="0" u="none" strike="noStrike" noProof="0" dirty="0">
                          <a:latin typeface="Arial"/>
                        </a:rPr>
                        <a:t> </a:t>
                      </a:r>
                      <a:r>
                        <a:rPr lang="en-US" sz="1200" b="0" i="0" u="none" strike="noStrike" noProof="0" dirty="0" err="1">
                          <a:latin typeface="Arial"/>
                        </a:rPr>
                        <a:t>współpraca</a:t>
                      </a:r>
                      <a:r>
                        <a:rPr lang="en-US" sz="1200" b="0" i="0" u="none" strike="noStrike" noProof="0" dirty="0">
                          <a:latin typeface="Arial"/>
                        </a:rPr>
                        <a:t> I </a:t>
                      </a:r>
                      <a:r>
                        <a:rPr lang="en-US" sz="1200" b="0" i="0" u="none" strike="noStrike" noProof="0" dirty="0" err="1">
                          <a:latin typeface="Arial"/>
                        </a:rPr>
                        <a:t>szacunek</a:t>
                      </a:r>
                      <a:r>
                        <a:rPr lang="en-US" sz="1200" b="0" i="0" u="none" strike="noStrike" noProof="0" dirty="0">
                          <a:latin typeface="Arial"/>
                        </a:rPr>
                        <a:t>. </a:t>
                      </a:r>
                      <a:r>
                        <a:rPr lang="en-US" sz="1200" b="0" i="0" u="none" strike="noStrike" noProof="0" dirty="0" err="1">
                          <a:latin typeface="Arial"/>
                        </a:rPr>
                        <a:t>Pomoc</a:t>
                      </a:r>
                      <a:r>
                        <a:rPr lang="en-US" sz="1200" b="0" i="0" u="none" strike="noStrike" noProof="0" dirty="0">
                          <a:latin typeface="Arial"/>
                        </a:rPr>
                        <a:t> </a:t>
                      </a:r>
                      <a:r>
                        <a:rPr lang="en-US" sz="1200" b="0" i="0" u="none" strike="noStrike" noProof="0" dirty="0" err="1">
                          <a:latin typeface="Arial"/>
                        </a:rPr>
                        <a:t>nie</a:t>
                      </a:r>
                      <a:r>
                        <a:rPr lang="en-US" sz="1200" b="0" i="0" u="none" strike="noStrike" noProof="0" dirty="0">
                          <a:latin typeface="Arial"/>
                        </a:rPr>
                        <a:t> </a:t>
                      </a:r>
                      <a:r>
                        <a:rPr lang="en-US" sz="1200" b="0" i="0" u="none" strike="noStrike" noProof="0" dirty="0" err="1">
                          <a:latin typeface="Arial"/>
                        </a:rPr>
                        <a:t>tylko</a:t>
                      </a:r>
                      <a:r>
                        <a:rPr lang="en-US" sz="1200" b="0" i="0" u="none" strike="noStrike" noProof="0" dirty="0">
                          <a:latin typeface="Arial"/>
                        </a:rPr>
                        <a:t> w </a:t>
                      </a:r>
                      <a:r>
                        <a:rPr lang="en-US" sz="1200" b="0" i="0" u="none" strike="noStrike" noProof="0" dirty="0" err="1">
                          <a:latin typeface="Arial"/>
                        </a:rPr>
                        <a:t>pracy</a:t>
                      </a:r>
                      <a:r>
                        <a:rPr lang="en-US" sz="1200" b="0" i="0" u="none" strike="noStrike" noProof="0" dirty="0">
                          <a:latin typeface="Arial"/>
                        </a:rPr>
                        <a:t> ale </a:t>
                      </a:r>
                      <a:r>
                        <a:rPr lang="en-US" sz="1200" b="0" i="0" u="none" strike="noStrike" noProof="0" dirty="0" err="1">
                          <a:latin typeface="Arial"/>
                        </a:rPr>
                        <a:t>i</a:t>
                      </a:r>
                      <a:r>
                        <a:rPr lang="en-US" sz="1200" b="0" i="0" u="none" strike="noStrike" noProof="0" dirty="0">
                          <a:latin typeface="Arial"/>
                        </a:rPr>
                        <a:t> </a:t>
                      </a:r>
                      <a:r>
                        <a:rPr lang="en-US" sz="1200" b="0" i="0" u="none" strike="noStrike" noProof="0" dirty="0" err="1">
                          <a:latin typeface="Arial"/>
                        </a:rPr>
                        <a:t>poza</a:t>
                      </a:r>
                      <a:r>
                        <a:rPr lang="en-US" sz="1200" b="0" i="0" u="none" strike="noStrike" noProof="0" dirty="0">
                          <a:latin typeface="Arial"/>
                        </a:rPr>
                        <a:t>. </a:t>
                      </a:r>
                      <a:r>
                        <a:rPr lang="en-US" sz="1200" b="0" i="0" u="none" strike="noStrike" noProof="0" dirty="0" err="1">
                          <a:latin typeface="Arial"/>
                        </a:rPr>
                        <a:t>Poczucie</a:t>
                      </a:r>
                      <a:r>
                        <a:rPr lang="en-US" sz="1200" b="0" i="0" u="none" strike="noStrike" noProof="0" dirty="0">
                          <a:latin typeface="Arial"/>
                        </a:rPr>
                        <a:t> </a:t>
                      </a:r>
                      <a:r>
                        <a:rPr lang="en-US" sz="1200" b="0" i="0" u="none" strike="noStrike" noProof="0" dirty="0" err="1">
                          <a:latin typeface="Arial"/>
                        </a:rPr>
                        <a:t>wspólnego</a:t>
                      </a:r>
                      <a:r>
                        <a:rPr lang="en-US" sz="1200" b="0" i="0" u="none" strike="noStrike" noProof="0" dirty="0">
                          <a:latin typeface="Arial"/>
                        </a:rPr>
                        <a:t> </a:t>
                      </a:r>
                      <a:r>
                        <a:rPr lang="en-US" sz="1200" b="0" i="0" u="none" strike="noStrike" noProof="0" dirty="0" err="1">
                          <a:latin typeface="Arial"/>
                        </a:rPr>
                        <a:t>sukcesu</a:t>
                      </a:r>
                      <a:r>
                        <a:rPr lang="en-US" sz="1200" b="0" i="0" u="none" strike="noStrike" noProof="0" dirty="0">
                          <a:latin typeface="Arial"/>
                        </a:rPr>
                        <a:t> I </a:t>
                      </a:r>
                      <a:r>
                        <a:rPr lang="en-US" sz="1200" b="0" i="0" u="none" strike="noStrike" noProof="0" dirty="0" err="1">
                          <a:latin typeface="Arial"/>
                        </a:rPr>
                        <a:t>zaufanie</a:t>
                      </a:r>
                      <a:r>
                        <a:rPr lang="en-US" sz="1200" b="0" i="0" u="none" strike="noStrike" noProof="0" dirty="0">
                          <a:latin typeface="Arial"/>
                        </a:rPr>
                        <a:t> w </a:t>
                      </a:r>
                      <a:r>
                        <a:rPr lang="en-US" sz="1200" b="0" i="0" u="none" strike="noStrike" noProof="0" dirty="0" err="1">
                          <a:latin typeface="Arial"/>
                        </a:rPr>
                        <a:t>zespole</a:t>
                      </a:r>
                      <a:r>
                        <a:rPr lang="en-US" sz="1200" b="0" i="0" u="none" strike="noStrike" noProof="0" dirty="0">
                          <a:latin typeface="Arial"/>
                        </a:rPr>
                        <a:t> </a:t>
                      </a: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err="1">
                          <a:latin typeface="Arial"/>
                        </a:rPr>
                        <a:t>Skupienie</a:t>
                      </a:r>
                      <a:r>
                        <a:rPr lang="en-US" sz="1200" b="0" i="0" u="none" strike="noStrike" noProof="0" dirty="0">
                          <a:latin typeface="Arial"/>
                        </a:rPr>
                        <a:t> </a:t>
                      </a:r>
                      <a:r>
                        <a:rPr lang="en-US" sz="1200" b="0" i="0" u="none" strike="noStrike" noProof="0" dirty="0" err="1">
                          <a:latin typeface="Arial"/>
                        </a:rPr>
                        <a:t>sie</a:t>
                      </a:r>
                      <a:r>
                        <a:rPr lang="en-US" sz="1200" b="0" i="0" u="none" strike="noStrike" noProof="0" dirty="0">
                          <a:latin typeface="Arial"/>
                        </a:rPr>
                        <a:t> </a:t>
                      </a:r>
                      <a:r>
                        <a:rPr lang="en-US" sz="1200" b="0" i="0" u="none" strike="noStrike" noProof="0" dirty="0" err="1">
                          <a:latin typeface="Arial"/>
                        </a:rPr>
                        <a:t>na</a:t>
                      </a:r>
                      <a:r>
                        <a:rPr lang="en-US" sz="1200" b="0" i="0" u="none" strike="noStrike" noProof="0" dirty="0">
                          <a:latin typeface="Arial"/>
                        </a:rPr>
                        <a:t> </a:t>
                      </a:r>
                      <a:r>
                        <a:rPr lang="en-US" sz="1200" b="0" i="0" u="none" strike="noStrike" noProof="0" dirty="0" err="1">
                          <a:latin typeface="Arial"/>
                        </a:rPr>
                        <a:t>osobistych</a:t>
                      </a:r>
                      <a:r>
                        <a:rPr lang="en-US" sz="1200" b="0" i="0" u="none" strike="noStrike" noProof="0" dirty="0">
                          <a:latin typeface="Arial"/>
                        </a:rPr>
                        <a:t> </a:t>
                      </a:r>
                      <a:r>
                        <a:rPr lang="en-US" sz="1200" b="0" i="0" u="none" strike="noStrike" noProof="0" dirty="0" err="1">
                          <a:latin typeface="Arial"/>
                        </a:rPr>
                        <a:t>korzyściach</a:t>
                      </a:r>
                      <a:r>
                        <a:rPr lang="en-US" sz="1200" b="0" i="0" u="none" strike="noStrike" noProof="0" dirty="0">
                          <a:latin typeface="Arial"/>
                        </a:rPr>
                        <a:t>,</a:t>
                      </a: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212210">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Wiara w Dream </a:t>
                      </a:r>
                      <a:r>
                        <a:rPr lang="en-US" sz="1200" b="0" i="0" err="1">
                          <a:latin typeface="Arial"/>
                          <a:ea typeface="Riforma LL" panose="020B0504020101020102" pitchFamily="34" charset="0"/>
                          <a:cs typeface="Arial"/>
                        </a:rPr>
                        <a:t>firmy</a:t>
                      </a:r>
                      <a:r>
                        <a:rPr lang="en-US" sz="1200" b="0" i="0" dirty="0">
                          <a:latin typeface="Arial"/>
                          <a:ea typeface="Riforma LL" panose="020B0504020101020102" pitchFamily="34" charset="0"/>
                          <a:cs typeface="Arial"/>
                        </a:rPr>
                        <a:t>. </a:t>
                      </a:r>
                    </a:p>
                    <a:p>
                      <a:pPr marL="0" marR="0" lvl="0" indent="0" algn="l">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Motywacja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zespołu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optymizm</a:t>
                      </a:r>
                      <a:r>
                        <a:rPr lang="en-US" sz="1200" b="0" i="0" dirty="0">
                          <a:latin typeface="Arial"/>
                          <a:ea typeface="Riforma LL" panose="020B0504020101020102" pitchFamily="34" charset="0"/>
                          <a:cs typeface="Arial"/>
                        </a:rPr>
                        <a:t> I </a:t>
                      </a:r>
                      <a:r>
                        <a:rPr lang="en-US" sz="1200" b="0" i="0" dirty="0" err="1">
                          <a:latin typeface="Arial"/>
                          <a:ea typeface="Riforma LL" panose="020B0504020101020102" pitchFamily="34" charset="0"/>
                          <a:cs typeface="Arial"/>
                        </a:rPr>
                        <a:t>konsekwencja</a:t>
                      </a:r>
                      <a:r>
                        <a:rPr lang="en-US" sz="1200" b="0" i="0" dirty="0">
                          <a:latin typeface="Arial"/>
                          <a:ea typeface="Riforma LL" panose="020B0504020101020102" pitchFamily="34" charset="0"/>
                          <a:cs typeface="Arial"/>
                        </a:rPr>
                        <a:t> w </a:t>
                      </a:r>
                      <a:r>
                        <a:rPr lang="en-US" sz="1200" b="0" i="0" dirty="0" err="1">
                          <a:latin typeface="Arial"/>
                          <a:ea typeface="Riforma LL" panose="020B0504020101020102" pitchFamily="34" charset="0"/>
                          <a:cs typeface="Arial"/>
                        </a:rPr>
                        <a:t>dążeniu</a:t>
                      </a:r>
                      <a:r>
                        <a:rPr lang="en-US" sz="1200" b="0" i="0" dirty="0">
                          <a:latin typeface="Arial"/>
                          <a:ea typeface="Riforma LL" panose="020B0504020101020102" pitchFamily="34" charset="0"/>
                          <a:cs typeface="Arial"/>
                        </a:rPr>
                        <a:t> do dream.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err="1">
                          <a:latin typeface="Arial"/>
                        </a:rPr>
                        <a:t>skupienie</a:t>
                      </a:r>
                      <a:r>
                        <a:rPr lang="en-US" sz="1200" b="0" i="0" u="none" strike="noStrike" noProof="0" dirty="0">
                          <a:latin typeface="Arial"/>
                        </a:rPr>
                        <a:t> </a:t>
                      </a:r>
                      <a:r>
                        <a:rPr lang="en-US" sz="1200" b="0" i="0" u="none" strike="noStrike" noProof="0" dirty="0" err="1">
                          <a:latin typeface="Arial"/>
                        </a:rPr>
                        <a:t>się</a:t>
                      </a:r>
                      <a:r>
                        <a:rPr lang="en-US" sz="1200" b="0" i="0" u="none" strike="noStrike" noProof="0" dirty="0">
                          <a:latin typeface="Arial"/>
                        </a:rPr>
                        <a:t> </a:t>
                      </a:r>
                      <a:r>
                        <a:rPr lang="en-US" sz="1200" b="0" i="0" u="none" strike="noStrike" noProof="0" dirty="0" err="1">
                          <a:latin typeface="Arial"/>
                        </a:rPr>
                        <a:t>tylko</a:t>
                      </a:r>
                      <a:r>
                        <a:rPr lang="en-US" sz="1200" b="0" i="0" u="none" strike="noStrike" noProof="0" dirty="0">
                          <a:latin typeface="Arial"/>
                        </a:rPr>
                        <a:t> </a:t>
                      </a:r>
                      <a:r>
                        <a:rPr lang="en-US" sz="1200" b="0" i="0" u="none" strike="noStrike" noProof="0" dirty="0" err="1">
                          <a:latin typeface="Arial"/>
                        </a:rPr>
                        <a:t>na</a:t>
                      </a:r>
                      <a:r>
                        <a:rPr lang="en-US" sz="1200" b="0" i="0" u="none" strike="noStrike" noProof="0" dirty="0">
                          <a:latin typeface="Arial"/>
                        </a:rPr>
                        <a:t> </a:t>
                      </a:r>
                      <a:r>
                        <a:rPr lang="en-US" sz="1200" b="0" i="0" u="none" strike="noStrike" noProof="0" dirty="0" err="1">
                          <a:latin typeface="Arial"/>
                        </a:rPr>
                        <a:t>swoim</a:t>
                      </a:r>
                      <a:r>
                        <a:rPr lang="en-US" sz="1200" b="0" i="0" u="none" strike="noStrike" noProof="0" dirty="0">
                          <a:latin typeface="Arial"/>
                        </a:rPr>
                        <a:t> </a:t>
                      </a:r>
                      <a:r>
                        <a:rPr lang="en-US" sz="1200" b="0" i="0" u="none" strike="noStrike" noProof="0" dirty="0" err="1">
                          <a:latin typeface="Arial"/>
                        </a:rPr>
                        <a:t>zadaniu</a:t>
                      </a:r>
                      <a:r>
                        <a:rPr lang="en-US" sz="1200" b="0" i="0" u="none" strike="noStrike" noProof="0" dirty="0">
                          <a:latin typeface="Arial"/>
                        </a:rPr>
                        <a:t> bez </a:t>
                      </a:r>
                      <a:r>
                        <a:rPr lang="en-US" sz="1200" b="0" i="0" u="none" strike="noStrike" noProof="0" dirty="0" err="1">
                          <a:latin typeface="Arial"/>
                        </a:rPr>
                        <a:t>zrozumienia</a:t>
                      </a:r>
                      <a:r>
                        <a:rPr lang="en-US" sz="1200" b="0" i="0" u="none" strike="noStrike" noProof="0" dirty="0">
                          <a:latin typeface="Arial"/>
                        </a:rPr>
                        <a:t> Dream I </a:t>
                      </a:r>
                      <a:r>
                        <a:rPr lang="en-US" sz="1200" b="0" i="0" u="none" strike="noStrike" noProof="0" dirty="0" err="1">
                          <a:latin typeface="Arial"/>
                        </a:rPr>
                        <a:t>swojej</a:t>
                      </a:r>
                      <a:r>
                        <a:rPr lang="en-US" sz="1200" b="0" i="0" u="none" strike="noStrike" noProof="0" dirty="0">
                          <a:latin typeface="Arial"/>
                        </a:rPr>
                        <a:t> </a:t>
                      </a:r>
                      <a:r>
                        <a:rPr lang="en-US" sz="1200" b="0" i="0" u="none" strike="noStrike" noProof="0" dirty="0" err="1">
                          <a:latin typeface="Arial"/>
                        </a:rPr>
                        <a:t>roli</a:t>
                      </a:r>
                      <a:r>
                        <a:rPr lang="en-US" sz="1200" b="0" i="0" u="none" strike="noStrike" noProof="0" dirty="0">
                          <a:latin typeface="Arial"/>
                        </a:rPr>
                        <a:t> w </a:t>
                      </a:r>
                      <a:r>
                        <a:rPr lang="en-US" sz="1200" b="0" i="0" u="none" strike="noStrike" noProof="0" dirty="0" err="1">
                          <a:latin typeface="Arial"/>
                        </a:rPr>
                        <a:t>organizacji</a:t>
                      </a:r>
                      <a:r>
                        <a:rPr lang="en-US" sz="1200" b="0" i="0" u="none" strike="noStrike" noProof="0" dirty="0">
                          <a:latin typeface="Arial"/>
                        </a:rPr>
                        <a:t>.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TURN VALUES INTO BEHAVIORS [page 2 out of 2]</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66283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Red lines</a:t>
            </a:r>
            <a:endParaRPr lang="en-BG" sz="3600" b="0" dirty="0">
              <a:latin typeface="Plaak 3 Trial Regular" panose="02000000000000000000" pitchFamily="2" charset="0"/>
            </a:endParaRPr>
          </a:p>
        </p:txBody>
      </p:sp>
      <p:graphicFrame>
        <p:nvGraphicFramePr>
          <p:cNvPr id="2" name="Table 1">
            <a:extLst>
              <a:ext uri="{FF2B5EF4-FFF2-40B4-BE49-F238E27FC236}">
                <a16:creationId xmlns:a16="http://schemas.microsoft.com/office/drawing/2014/main" id="{2B69F258-3FBC-CE9B-438A-ECF368A7F320}"/>
              </a:ext>
            </a:extLst>
          </p:cNvPr>
          <p:cNvGraphicFramePr>
            <a:graphicFrameLocks noGrp="1"/>
          </p:cNvGraphicFramePr>
          <p:nvPr>
            <p:extLst>
              <p:ext uri="{D42A27DB-BD31-4B8C-83A1-F6EECF244321}">
                <p14:modId xmlns:p14="http://schemas.microsoft.com/office/powerpoint/2010/main" val="1308194240"/>
              </p:ext>
            </p:extLst>
          </p:nvPr>
        </p:nvGraphicFramePr>
        <p:xfrm>
          <a:off x="276084" y="795130"/>
          <a:ext cx="9664560" cy="6230018"/>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7566">
                <a:tc>
                  <a:txBody>
                    <a:bodyPr/>
                    <a:lstStyle/>
                    <a:p>
                      <a:r>
                        <a:rPr lang="en-US" sz="1400" b="0" i="0" dirty="0">
                          <a:solidFill>
                            <a:schemeClr val="tx1"/>
                          </a:solidFill>
                          <a:latin typeface="Arial" panose="020B0604020202020204" pitchFamily="34" charset="0"/>
                          <a:ea typeface="Riforma LL" panose="020B0504020101020102" pitchFamily="34" charset="0"/>
                          <a:cs typeface="Arial" panose="020B0604020202020204" pitchFamily="34" charset="0"/>
                        </a:rPr>
                        <a:t>Yellow Lines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Red Lines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119210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163897">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5084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1628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bl>
          </a:graphicData>
        </a:graphic>
      </p:graphicFrame>
    </p:spTree>
    <p:extLst>
      <p:ext uri="{BB962C8B-B14F-4D97-AF65-F5344CB8AC3E}">
        <p14:creationId xmlns:p14="http://schemas.microsoft.com/office/powerpoint/2010/main" val="379109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003913841"/>
              </p:ext>
            </p:extLst>
          </p:nvPr>
        </p:nvGraphicFramePr>
        <p:xfrm>
          <a:off x="276084" y="729008"/>
          <a:ext cx="9664560" cy="6427166"/>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9174">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617012">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Opowiedz</a:t>
                      </a:r>
                      <a:r>
                        <a:rPr lang="en-US" sz="1200" b="0" i="0" dirty="0">
                          <a:latin typeface="Arial"/>
                          <a:ea typeface="Riforma LL" panose="020B0504020101020102" pitchFamily="34" charset="0"/>
                          <a:cs typeface="Arial"/>
                        </a:rPr>
                        <a:t> o </a:t>
                      </a:r>
                      <a:r>
                        <a:rPr lang="en-US" sz="1200" b="0" i="0" dirty="0" err="1">
                          <a:latin typeface="Arial"/>
                          <a:ea typeface="Riforma LL" panose="020B0504020101020102" pitchFamily="34" charset="0"/>
                          <a:cs typeface="Arial"/>
                        </a:rPr>
                        <a:t>zdaniu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którego</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dokoczyłeś</a:t>
                      </a:r>
                      <a:r>
                        <a:rPr lang="en-US" sz="1200" b="0" i="0" dirty="0">
                          <a:latin typeface="Arial"/>
                          <a:ea typeface="Riforma LL" panose="020B0504020101020102" pitchFamily="34" charset="0"/>
                          <a:cs typeface="Arial"/>
                        </a:rPr>
                        <a:t> z </a:t>
                      </a:r>
                      <a:r>
                        <a:rPr lang="en-US" sz="1200" b="0" i="0" dirty="0" err="1">
                          <a:latin typeface="Arial"/>
                          <a:ea typeface="Riforma LL" panose="020B0504020101020102" pitchFamily="34" charset="0"/>
                          <a:cs typeface="Arial"/>
                        </a:rPr>
                        <a:t>powodu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zaniedbania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innego</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działu</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Co </a:t>
                      </a:r>
                      <a:r>
                        <a:rPr lang="en-US" sz="1200" b="0" i="0" dirty="0" err="1">
                          <a:latin typeface="Arial"/>
                          <a:ea typeface="Riforma LL" panose="020B0504020101020102" pitchFamily="34" charset="0"/>
                          <a:cs typeface="Arial"/>
                        </a:rPr>
                        <a:t>powie</a:t>
                      </a:r>
                      <a:r>
                        <a:rPr lang="en-US" sz="1200" b="0" i="0" dirty="0">
                          <a:latin typeface="Arial"/>
                          <a:ea typeface="Riforma LL" panose="020B0504020101020102" pitchFamily="34" charset="0"/>
                          <a:cs typeface="Arial"/>
                        </a:rPr>
                        <a:t> o </a:t>
                      </a:r>
                      <a:r>
                        <a:rPr lang="en-US" sz="1200" b="0" i="0" dirty="0" err="1">
                          <a:latin typeface="Arial"/>
                          <a:ea typeface="Riforma LL" panose="020B0504020101020102" pitchFamily="34" charset="0"/>
                          <a:cs typeface="Arial"/>
                        </a:rPr>
                        <a:t>tobie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ostatni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przełożony</a:t>
                      </a:r>
                      <a:r>
                        <a:rPr lang="en-US" sz="1200" b="0" i="0" dirty="0">
                          <a:latin typeface="Arial"/>
                          <a:ea typeface="Riforma LL" panose="020B0504020101020102" pitchFamily="34" charset="0"/>
                          <a:cs typeface="Arial"/>
                        </a:rPr>
                        <a:t> ?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0184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Opowiedz</a:t>
                      </a:r>
                      <a:r>
                        <a:rPr lang="en-US" sz="1200" b="0" i="0" dirty="0">
                          <a:latin typeface="Arial"/>
                          <a:ea typeface="Riforma LL" panose="020B0504020101020102" pitchFamily="34" charset="0"/>
                          <a:cs typeface="Arial"/>
                        </a:rPr>
                        <a:t> o </a:t>
                      </a:r>
                      <a:r>
                        <a:rPr lang="en-US" sz="1200" b="0" i="0" dirty="0" err="1">
                          <a:latin typeface="Arial"/>
                          <a:ea typeface="Riforma LL" panose="020B0504020101020102" pitchFamily="34" charset="0"/>
                          <a:cs typeface="Arial"/>
                        </a:rPr>
                        <a:t>sytuacji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kiedy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musiałeś</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brać</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odpowiedzialnlość</a:t>
                      </a:r>
                      <a:r>
                        <a:rPr lang="en-US" sz="1200" b="0" i="0" dirty="0">
                          <a:latin typeface="Arial"/>
                          <a:ea typeface="Riforma LL" panose="020B0504020101020102" pitchFamily="34" charset="0"/>
                          <a:cs typeface="Arial"/>
                        </a:rPr>
                        <a:t> za </a:t>
                      </a:r>
                      <a:r>
                        <a:rPr lang="en-US" sz="1200" b="0" i="0" dirty="0" err="1">
                          <a:latin typeface="Arial"/>
                          <a:ea typeface="Riforma LL" panose="020B0504020101020102" pitchFamily="34" charset="0"/>
                          <a:cs typeface="Arial"/>
                        </a:rPr>
                        <a:t>swoje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błędy</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Co </a:t>
                      </a:r>
                      <a:r>
                        <a:rPr lang="en-US" sz="1200" b="0" i="0" dirty="0" err="1">
                          <a:latin typeface="Arial"/>
                          <a:ea typeface="Riforma LL" panose="020B0504020101020102" pitchFamily="34" charset="0"/>
                          <a:cs typeface="Arial"/>
                        </a:rPr>
                        <a:t>powiesz</a:t>
                      </a:r>
                      <a:r>
                        <a:rPr lang="en-US" sz="1200" b="0" i="0" dirty="0">
                          <a:latin typeface="Arial"/>
                          <a:ea typeface="Riforma LL" panose="020B0504020101020102" pitchFamily="34" charset="0"/>
                          <a:cs typeface="Arial"/>
                        </a:rPr>
                        <a:t> o </a:t>
                      </a:r>
                      <a:r>
                        <a:rPr lang="en-US" sz="1200" b="0" i="0" dirty="0" err="1">
                          <a:latin typeface="Arial"/>
                          <a:ea typeface="Riforma LL" panose="020B0504020101020102" pitchFamily="34" charset="0"/>
                          <a:cs typeface="Arial"/>
                        </a:rPr>
                        <a:t>swoim</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ostatnim</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przełożonym</a:t>
                      </a:r>
                      <a:r>
                        <a:rPr lang="en-US" sz="1200" b="0" i="0" dirty="0">
                          <a:latin typeface="Arial"/>
                          <a:ea typeface="Riforma LL" panose="020B0504020101020102" pitchFamily="34" charset="0"/>
                          <a:cs typeface="Arial"/>
                        </a:rPr>
                        <a:t> ?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02411">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Opowiedz</a:t>
                      </a:r>
                      <a:r>
                        <a:rPr lang="en-US" sz="1200" b="0" i="0" dirty="0">
                          <a:latin typeface="Arial"/>
                          <a:ea typeface="Riforma LL" panose="020B0504020101020102" pitchFamily="34" charset="0"/>
                          <a:cs typeface="Arial"/>
                        </a:rPr>
                        <a:t> o </a:t>
                      </a:r>
                      <a:r>
                        <a:rPr lang="en-US" sz="1200" b="0" i="0" dirty="0" err="1">
                          <a:latin typeface="Arial"/>
                          <a:ea typeface="Riforma LL" panose="020B0504020101020102" pitchFamily="34" charset="0"/>
                          <a:cs typeface="Arial"/>
                        </a:rPr>
                        <a:t>sytuacji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kiedy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musiałeś</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dać</a:t>
                      </a:r>
                      <a:r>
                        <a:rPr lang="en-US" sz="1200" b="0" i="0" dirty="0">
                          <a:latin typeface="Arial"/>
                          <a:ea typeface="Riforma LL" panose="020B0504020101020102" pitchFamily="34" charset="0"/>
                          <a:cs typeface="Arial"/>
                        </a:rPr>
                        <a:t> feedback </a:t>
                      </a:r>
                      <a:r>
                        <a:rPr lang="en-US" sz="1200" b="0" i="0" dirty="0" err="1">
                          <a:latin typeface="Arial"/>
                          <a:ea typeface="Riforma LL" panose="020B0504020101020102" pitchFamily="34" charset="0"/>
                          <a:cs typeface="Arial"/>
                        </a:rPr>
                        <a:t>przełożonemu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że</a:t>
                      </a:r>
                      <a:r>
                        <a:rPr lang="en-US" sz="1200" b="0" i="0" dirty="0">
                          <a:latin typeface="Arial"/>
                          <a:ea typeface="Riforma LL" panose="020B0504020101020102" pitchFamily="34" charset="0"/>
                          <a:cs typeface="Arial"/>
                        </a:rPr>
                        <a:t> on </a:t>
                      </a:r>
                      <a:r>
                        <a:rPr lang="en-US" sz="1200" b="0" i="0" dirty="0" err="1">
                          <a:latin typeface="Arial"/>
                          <a:ea typeface="Riforma LL" panose="020B0504020101020102" pitchFamily="34" charset="0"/>
                          <a:cs typeface="Arial"/>
                        </a:rPr>
                        <a:t>popełnił</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błąd</a:t>
                      </a:r>
                      <a:r>
                        <a:rPr lang="en-US" sz="1200" b="0" i="0" dirty="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595654">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Jak </a:t>
                      </a:r>
                      <a:r>
                        <a:rPr lang="en-US" sz="1200" b="0" i="0" dirty="0" err="1">
                          <a:latin typeface="Arial"/>
                          <a:ea typeface="Riforma LL" panose="020B0504020101020102" pitchFamily="34" charset="0"/>
                          <a:cs typeface="Arial"/>
                        </a:rPr>
                        <a:t>rozwiązałeś</a:t>
                      </a:r>
                      <a:r>
                        <a:rPr lang="en-US" sz="1200" b="0" i="0" dirty="0">
                          <a:latin typeface="Arial"/>
                          <a:ea typeface="Riforma LL" panose="020B0504020101020102" pitchFamily="34" charset="0"/>
                          <a:cs typeface="Arial"/>
                        </a:rPr>
                        <a:t> problem, </a:t>
                      </a:r>
                      <a:r>
                        <a:rPr lang="en-US" sz="1200" b="0" i="0" dirty="0" err="1">
                          <a:latin typeface="Arial"/>
                          <a:ea typeface="Riforma LL" panose="020B0504020101020102" pitchFamily="34" charset="0"/>
                          <a:cs typeface="Arial"/>
                        </a:rPr>
                        <a:t>jeśli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członkowie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zespołu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zgadzali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się</a:t>
                      </a:r>
                      <a:r>
                        <a:rPr lang="en-US" sz="1200" b="0" i="0" dirty="0">
                          <a:latin typeface="Arial"/>
                          <a:ea typeface="Riforma LL" panose="020B0504020101020102" pitchFamily="34" charset="0"/>
                          <a:cs typeface="Arial"/>
                        </a:rPr>
                        <a:t> z </a:t>
                      </a:r>
                      <a:r>
                        <a:rPr lang="en-US" sz="1200" b="0" i="0" dirty="0" err="1">
                          <a:latin typeface="Arial"/>
                          <a:ea typeface="Riforma LL" panose="020B0504020101020102" pitchFamily="34" charset="0"/>
                          <a:cs typeface="Arial"/>
                        </a:rPr>
                        <a:t>twoimi</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pomysłami</a:t>
                      </a:r>
                      <a:r>
                        <a:rPr lang="en-US" sz="1200" b="0" i="0" dirty="0">
                          <a:latin typeface="Arial"/>
                          <a:ea typeface="Riforma LL" panose="020B0504020101020102" pitchFamily="34" charset="0"/>
                          <a:cs typeface="Arial"/>
                        </a:rPr>
                        <a:t> ?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0184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Jakie </a:t>
                      </a:r>
                      <a:r>
                        <a:rPr lang="en-US" sz="1200" b="0" i="0" err="1">
                          <a:latin typeface="Arial"/>
                          <a:ea typeface="Riforma LL" panose="020B0504020101020102" pitchFamily="34" charset="0"/>
                          <a:cs typeface="Arial"/>
                        </a:rPr>
                        <a:t>wartości</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są</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dla</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ciebie</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najważniejsze</a:t>
                      </a:r>
                      <a:r>
                        <a:rPr lang="en-US" sz="1200" b="0" i="0" dirty="0">
                          <a:latin typeface="Arial"/>
                          <a:ea typeface="Riforma LL" panose="020B0504020101020102" pitchFamily="34" charset="0"/>
                          <a:cs typeface="Arial"/>
                        </a:rPr>
                        <a:t> w </a:t>
                      </a:r>
                      <a:r>
                        <a:rPr lang="en-US" sz="1200" b="0" i="0" err="1">
                          <a:latin typeface="Arial"/>
                          <a:ea typeface="Riforma LL" panose="020B0504020101020102" pitchFamily="34" charset="0"/>
                          <a:cs typeface="Arial"/>
                        </a:rPr>
                        <a:t>pracy</a:t>
                      </a:r>
                      <a:r>
                        <a:rPr lang="en-US" sz="1200" b="0" i="0" dirty="0">
                          <a:latin typeface="Arial"/>
                          <a:ea typeface="Riforma LL" panose="020B0504020101020102" pitchFamily="34" charset="0"/>
                          <a:cs typeface="Arial"/>
                        </a:rPr>
                        <a:t> ? </a:t>
                      </a:r>
                      <a:r>
                        <a:rPr lang="en-US" sz="1200" b="0" i="0" err="1">
                          <a:latin typeface="Arial"/>
                          <a:ea typeface="Riforma LL" panose="020B0504020101020102" pitchFamily="34" charset="0"/>
                          <a:cs typeface="Arial"/>
                        </a:rPr>
                        <a:t>Podaj</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przykłady</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zachowan</a:t>
                      </a:r>
                      <a:r>
                        <a:rPr lang="en-US" sz="1200" b="0" i="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0184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Jak jest </a:t>
                      </a:r>
                      <a:r>
                        <a:rPr lang="en-US" sz="1200" b="0" i="0" err="1">
                          <a:latin typeface="Arial"/>
                          <a:ea typeface="Riforma LL" panose="020B0504020101020102" pitchFamily="34" charset="0"/>
                          <a:cs typeface="Arial"/>
                        </a:rPr>
                        <a:t>Twoja</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rola</a:t>
                      </a:r>
                      <a:r>
                        <a:rPr lang="en-US" sz="1200" b="0" i="0" dirty="0">
                          <a:latin typeface="Arial"/>
                          <a:ea typeface="Riforma LL" panose="020B0504020101020102" pitchFamily="34" charset="0"/>
                          <a:cs typeface="Arial"/>
                        </a:rPr>
                        <a:t> w </a:t>
                      </a:r>
                      <a:r>
                        <a:rPr lang="en-US" sz="1200" b="0" i="0" err="1">
                          <a:latin typeface="Arial"/>
                          <a:ea typeface="Riforma LL" panose="020B0504020101020102" pitchFamily="34" charset="0"/>
                          <a:cs typeface="Arial"/>
                        </a:rPr>
                        <a:t>organizacji</a:t>
                      </a:r>
                      <a:r>
                        <a:rPr lang="en-US" sz="1200" b="0" i="0" dirty="0">
                          <a:latin typeface="Arial"/>
                          <a:ea typeface="Riforma LL" panose="020B0504020101020102" pitchFamily="34" charset="0"/>
                          <a:cs typeface="Arial"/>
                        </a:rPr>
                        <a:t> w </a:t>
                      </a:r>
                      <a:r>
                        <a:rPr lang="en-US" sz="1200" b="0" i="0" err="1">
                          <a:latin typeface="Arial"/>
                          <a:ea typeface="Riforma LL" panose="020B0504020101020102" pitchFamily="34" charset="0"/>
                          <a:cs typeface="Arial"/>
                        </a:rPr>
                        <a:t>osiąganiu</a:t>
                      </a:r>
                      <a:r>
                        <a:rPr lang="en-US" sz="1200" b="0" i="0">
                          <a:latin typeface="Arial"/>
                          <a:ea typeface="Riforma LL" panose="020B0504020101020102" pitchFamily="34" charset="0"/>
                          <a:cs typeface="Arial"/>
                        </a:rPr>
                        <a:t> I </a:t>
                      </a:r>
                      <a:r>
                        <a:rPr lang="en-US" sz="1200" b="0" i="0" err="1">
                          <a:latin typeface="Arial"/>
                          <a:ea typeface="Riforma LL" panose="020B0504020101020102" pitchFamily="34" charset="0"/>
                          <a:cs typeface="Arial"/>
                        </a:rPr>
                        <a:t>poprawie</a:t>
                      </a:r>
                      <a:r>
                        <a:rPr lang="en-US" sz="1200" b="0" i="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wyników</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firmy</a:t>
                      </a:r>
                      <a:r>
                        <a:rPr lang="en-US" sz="1200" b="0" i="0" dirty="0">
                          <a:latin typeface="Arial"/>
                          <a:ea typeface="Riforma LL" panose="020B0504020101020102" pitchFamily="34" charset="0"/>
                          <a:cs typeface="Arial"/>
                        </a:rPr>
                        <a:t> ?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2526878"/>
                  </a:ext>
                </a:extLst>
              </a:tr>
              <a:tr h="60184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err="1">
                          <a:latin typeface="Arial"/>
                          <a:ea typeface="Riforma LL" panose="020B0504020101020102" pitchFamily="34" charset="0"/>
                          <a:cs typeface="Arial"/>
                        </a:rPr>
                        <a:t>Jakiego</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pomysłu</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nie</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udało</a:t>
                      </a:r>
                      <a:r>
                        <a:rPr lang="en-US" sz="1200" b="0" i="0" dirty="0">
                          <a:latin typeface="Arial"/>
                          <a:ea typeface="Riforma LL" panose="020B0504020101020102" pitchFamily="34" charset="0"/>
                          <a:cs typeface="Arial"/>
                        </a:rPr>
                        <a:t> Ci </a:t>
                      </a:r>
                      <a:r>
                        <a:rPr lang="en-US" sz="1200" b="0" i="0" err="1">
                          <a:latin typeface="Arial"/>
                          <a:ea typeface="Riforma LL" panose="020B0504020101020102" pitchFamily="34" charset="0"/>
                          <a:cs typeface="Arial"/>
                        </a:rPr>
                        <a:t>się</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zrealizować</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mimo</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że</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miałeś</a:t>
                      </a:r>
                      <a:r>
                        <a:rPr lang="en-US" sz="1200" b="0" i="0" dirty="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przekonanie</a:t>
                      </a:r>
                      <a:r>
                        <a:rPr lang="en-US" sz="1200" b="0" i="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że</a:t>
                      </a:r>
                      <a:r>
                        <a:rPr lang="en-US" sz="1200" b="0" i="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był</a:t>
                      </a:r>
                      <a:r>
                        <a:rPr lang="en-US" sz="1200" b="0" i="0">
                          <a:latin typeface="Arial"/>
                          <a:ea typeface="Riforma LL" panose="020B0504020101020102" pitchFamily="34" charset="0"/>
                          <a:cs typeface="Arial"/>
                        </a:rPr>
                        <a:t> </a:t>
                      </a:r>
                      <a:r>
                        <a:rPr lang="en-US" sz="1200" b="0" i="0" err="1">
                          <a:latin typeface="Arial"/>
                          <a:ea typeface="Riforma LL" panose="020B0504020101020102" pitchFamily="34" charset="0"/>
                          <a:cs typeface="Arial"/>
                        </a:rPr>
                        <a:t>innowacyjny</a:t>
                      </a:r>
                      <a:r>
                        <a:rPr lang="en-US" sz="1200" b="0" i="0">
                          <a:latin typeface="Arial"/>
                          <a:ea typeface="Riforma LL" panose="020B0504020101020102" pitchFamily="34" charset="0"/>
                          <a:cs typeface="Arial"/>
                        </a:rPr>
                        <a:t> I </a:t>
                      </a:r>
                      <a:r>
                        <a:rPr lang="en-US" sz="1200" b="0" i="0" err="1">
                          <a:latin typeface="Arial"/>
                          <a:ea typeface="Riforma LL" panose="020B0504020101020102" pitchFamily="34" charset="0"/>
                          <a:cs typeface="Arial"/>
                        </a:rPr>
                        <a:t>dobry</a:t>
                      </a:r>
                      <a:r>
                        <a:rPr lang="en-US" sz="1200" b="0" i="0">
                          <a:latin typeface="Arial"/>
                          <a:ea typeface="Riforma LL" panose="020B0504020101020102" pitchFamily="34" charset="0"/>
                          <a:cs typeface="Arial"/>
                        </a:rPr>
                        <a: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60774"/>
                  </a:ext>
                </a:extLst>
              </a:tr>
              <a:tr h="60184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Czy</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zawsze</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osiągasz</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efetky</a:t>
                      </a:r>
                      <a:r>
                        <a:rPr lang="en-US" sz="1200" b="0" i="0" dirty="0">
                          <a:latin typeface="Arial"/>
                          <a:ea typeface="Riforma LL" panose="020B0504020101020102" pitchFamily="34" charset="0"/>
                          <a:cs typeface="Arial"/>
                        </a:rPr>
                        <a:t> bez </a:t>
                      </a:r>
                      <a:r>
                        <a:rPr lang="en-US" sz="1200" b="0" i="0" dirty="0" err="1">
                          <a:latin typeface="Arial"/>
                          <a:ea typeface="Riforma LL" panose="020B0504020101020102" pitchFamily="34" charset="0"/>
                          <a:cs typeface="Arial"/>
                        </a:rPr>
                        <a:t>względu</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koszty</a:t>
                      </a:r>
                      <a:r>
                        <a:rPr lang="en-US" sz="1200" b="0" i="0" dirty="0">
                          <a:latin typeface="Arial"/>
                          <a:ea typeface="Riforma LL" panose="020B0504020101020102" pitchFamily="34" charset="0"/>
                          <a:cs typeface="Arial"/>
                        </a:rPr>
                        <a:t> ?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01432355"/>
                  </a:ext>
                </a:extLst>
              </a:tr>
              <a:tr h="601845">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err="1">
                          <a:latin typeface="Arial"/>
                          <a:ea typeface="Riforma LL" panose="020B0504020101020102" pitchFamily="34" charset="0"/>
                          <a:cs typeface="Arial"/>
                        </a:rPr>
                        <a:t>Zapytać</a:t>
                      </a:r>
                      <a:r>
                        <a:rPr lang="en-US" sz="1200" b="0" i="0" dirty="0">
                          <a:latin typeface="Arial"/>
                          <a:ea typeface="Riforma LL" panose="020B0504020101020102" pitchFamily="34" charset="0"/>
                          <a:cs typeface="Arial"/>
                        </a:rPr>
                        <a:t> chat GPT </a:t>
                      </a:r>
                      <a:r>
                        <a:rPr lang="en-US" sz="1200" b="0" i="0" dirty="0" err="1">
                          <a:latin typeface="Arial"/>
                          <a:ea typeface="Riforma LL" panose="020B0504020101020102" pitchFamily="34" charset="0"/>
                          <a:cs typeface="Arial"/>
                        </a:rPr>
                        <a:t>na</a:t>
                      </a:r>
                      <a:r>
                        <a:rPr lang="en-US" sz="1200" b="0" i="0" dirty="0">
                          <a:latin typeface="Arial"/>
                          <a:ea typeface="Riforma LL" panose="020B0504020101020102" pitchFamily="34" charset="0"/>
                          <a:cs typeface="Arial"/>
                        </a:rPr>
                        <a:t> </a:t>
                      </a:r>
                      <a:r>
                        <a:rPr lang="en-US" sz="1200" b="0" i="0" dirty="0" err="1">
                          <a:latin typeface="Arial"/>
                          <a:ea typeface="Riforma LL" panose="020B0504020101020102" pitchFamily="34" charset="0"/>
                          <a:cs typeface="Arial"/>
                        </a:rPr>
                        <a:t>podstawie</a:t>
                      </a:r>
                      <a:r>
                        <a:rPr lang="en-US" sz="1200" b="0" i="0" dirty="0">
                          <a:latin typeface="Arial"/>
                          <a:ea typeface="Riforma LL" panose="020B0504020101020102" pitchFamily="34" charset="0"/>
                          <a:cs typeface="Arial"/>
                        </a:rPr>
                        <a:t> values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390714"/>
                  </a:ext>
                </a:extLst>
              </a:tr>
              <a:tr h="6018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8077906"/>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RECRUITMENT VALUES QUESTIONNAIRE</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252126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908574715"/>
              </p:ext>
            </p:extLst>
          </p:nvPr>
        </p:nvGraphicFramePr>
        <p:xfrm>
          <a:off x="276084" y="729011"/>
          <a:ext cx="9664560" cy="6654394"/>
        </p:xfrm>
        <a:graphic>
          <a:graphicData uri="http://schemas.openxmlformats.org/drawingml/2006/table">
            <a:tbl>
              <a:tblPr firstRow="1" bandRow="1">
                <a:tableStyleId>{2D5ABB26-0587-4C30-8999-92F81FD0307C}</a:tableStyleId>
              </a:tblPr>
              <a:tblGrid>
                <a:gridCol w="5871476">
                  <a:extLst>
                    <a:ext uri="{9D8B030D-6E8A-4147-A177-3AD203B41FA5}">
                      <a16:colId xmlns:a16="http://schemas.microsoft.com/office/drawing/2014/main" val="3308902235"/>
                    </a:ext>
                  </a:extLst>
                </a:gridCol>
                <a:gridCol w="1952062">
                  <a:extLst>
                    <a:ext uri="{9D8B030D-6E8A-4147-A177-3AD203B41FA5}">
                      <a16:colId xmlns:a16="http://schemas.microsoft.com/office/drawing/2014/main" val="3313590318"/>
                    </a:ext>
                  </a:extLst>
                </a:gridCol>
                <a:gridCol w="1841022">
                  <a:extLst>
                    <a:ext uri="{9D8B030D-6E8A-4147-A177-3AD203B41FA5}">
                      <a16:colId xmlns:a16="http://schemas.microsoft.com/office/drawing/2014/main" val="674830108"/>
                    </a:ext>
                  </a:extLst>
                </a:gridCol>
              </a:tblGrid>
              <a:tr h="2725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Idea to implement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Who</a:t>
                      </a:r>
                      <a:endPar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75031">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77"/>
                          <a:cs typeface="Arial"/>
                        </a:rPr>
                        <a:t>Grupa </a:t>
                      </a:r>
                      <a:r>
                        <a:rPr lang="en-US" sz="1200" b="0" i="0" dirty="0" err="1">
                          <a:latin typeface="Arial"/>
                          <a:ea typeface="Riforma LL" panose="020B0504020101020102" pitchFamily="34" charset="77"/>
                          <a:cs typeface="Arial"/>
                        </a:rPr>
                        <a:t>reprezentacyjna</a:t>
                      </a:r>
                      <a:r>
                        <a:rPr lang="en-US" sz="1200" b="0" i="0" dirty="0">
                          <a:latin typeface="Arial"/>
                          <a:ea typeface="Riforma LL" panose="020B0504020101020102" pitchFamily="34" charset="77"/>
                          <a:cs typeface="Arial"/>
                        </a:rPr>
                        <a:t> – </a:t>
                      </a:r>
                      <a:r>
                        <a:rPr lang="en-US" sz="1200" b="0" i="0" dirty="0" err="1">
                          <a:latin typeface="Arial"/>
                          <a:ea typeface="Riforma LL" panose="020B0504020101020102" pitchFamily="34" charset="77"/>
                          <a:cs typeface="Arial"/>
                        </a:rPr>
                        <a:t>konsultacja</a:t>
                      </a:r>
                      <a:r>
                        <a:rPr lang="en-US" sz="1200" b="0" i="0" dirty="0">
                          <a:latin typeface="Arial"/>
                          <a:ea typeface="Riforma LL" panose="020B0504020101020102" pitchFamily="34" charset="77"/>
                          <a:cs typeface="Arial"/>
                        </a:rPr>
                        <a:t> Dream I Values  - Trade </a:t>
                      </a: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Paweł / Ewa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0"/>
                          <a:cs typeface="Arial"/>
                        </a:rPr>
                        <a:t>19/11</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463354">
                <a:tc>
                  <a:txBody>
                    <a:bodyPr/>
                    <a:lstStyle/>
                    <a:p>
                      <a:pPr marL="0" marR="0" lvl="0" indent="0" algn="l">
                        <a:lnSpc>
                          <a:spcPct val="100000"/>
                        </a:lnSpc>
                        <a:spcBef>
                          <a:spcPts val="0"/>
                        </a:spcBef>
                        <a:spcAft>
                          <a:spcPts val="0"/>
                        </a:spcAft>
                        <a:buNone/>
                      </a:pPr>
                      <a:r>
                        <a:rPr lang="en-US" sz="1200" b="0" i="0" u="none" strike="noStrike" noProof="0" dirty="0">
                          <a:latin typeface="Arial"/>
                        </a:rPr>
                        <a:t>Grupa </a:t>
                      </a:r>
                      <a:r>
                        <a:rPr lang="en-US" sz="1200" b="0" i="0" u="none" strike="noStrike" noProof="0" dirty="0" err="1">
                          <a:latin typeface="Arial"/>
                        </a:rPr>
                        <a:t>reprezentacyjna</a:t>
                      </a:r>
                      <a:r>
                        <a:rPr lang="en-US" sz="1200" b="0" i="0" u="none" strike="noStrike" noProof="0" dirty="0">
                          <a:latin typeface="Arial"/>
                        </a:rPr>
                        <a:t> – </a:t>
                      </a:r>
                      <a:r>
                        <a:rPr lang="en-US" sz="1200" b="0" i="0" u="none" strike="noStrike" noProof="0" dirty="0" err="1">
                          <a:latin typeface="Arial"/>
                        </a:rPr>
                        <a:t>konsultacja</a:t>
                      </a:r>
                      <a:r>
                        <a:rPr lang="en-US" sz="1200" b="0" i="0" u="none" strike="noStrike" noProof="0" dirty="0">
                          <a:latin typeface="Arial"/>
                        </a:rPr>
                        <a:t> Dream I Values  - Solutions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dirty="0">
                          <a:latin typeface="Arial"/>
                          <a:ea typeface="Riforma LL" panose="020B0504020101020102" pitchFamily="34" charset="0"/>
                          <a:cs typeface="Arial"/>
                        </a:rPr>
                        <a:t>Michał W / Patryk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0"/>
                          <a:cs typeface="Arial"/>
                        </a:rPr>
                        <a:t>19/11</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463791">
                <a:tc>
                  <a:txBody>
                    <a:bodyPr/>
                    <a:lstStyle/>
                    <a:p>
                      <a:pPr marL="0" marR="0" lvl="0" indent="0" algn="l">
                        <a:lnSpc>
                          <a:spcPct val="100000"/>
                        </a:lnSpc>
                        <a:spcBef>
                          <a:spcPts val="0"/>
                        </a:spcBef>
                        <a:spcAft>
                          <a:spcPts val="0"/>
                        </a:spcAft>
                        <a:buNone/>
                      </a:pPr>
                      <a:r>
                        <a:rPr lang="en-US" sz="1200" b="0" i="0" u="none" strike="noStrike" noProof="0" dirty="0">
                          <a:latin typeface="Arial"/>
                        </a:rPr>
                        <a:t>Grupa </a:t>
                      </a:r>
                      <a:r>
                        <a:rPr lang="en-US" sz="1200" b="0" i="0" u="none" strike="noStrike" noProof="0" err="1">
                          <a:latin typeface="Arial"/>
                        </a:rPr>
                        <a:t>reprezentacyjna</a:t>
                      </a:r>
                      <a:r>
                        <a:rPr lang="en-US" sz="1200" b="0" i="0" u="none" strike="noStrike" noProof="0" dirty="0">
                          <a:latin typeface="Arial"/>
                        </a:rPr>
                        <a:t> – </a:t>
                      </a:r>
                      <a:r>
                        <a:rPr lang="en-US" sz="1200" b="0" i="0" u="none" strike="noStrike" noProof="0" err="1">
                          <a:latin typeface="Arial"/>
                        </a:rPr>
                        <a:t>konsultacja</a:t>
                      </a:r>
                      <a:r>
                        <a:rPr lang="en-US" sz="1200" b="0" i="0" u="none" strike="noStrike" noProof="0">
                          <a:latin typeface="Arial"/>
                        </a:rPr>
                        <a:t> Dream I Values  - Enson </a:t>
                      </a:r>
                      <a:endParaRPr lang="pl-PL"/>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Piotr K / Ernest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19/11</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458588">
                <a:tc>
                  <a:txBody>
                    <a:bodyPr/>
                    <a:lstStyle/>
                    <a:p>
                      <a:pPr marL="0" marR="0" lvl="0" indent="0" algn="l">
                        <a:lnSpc>
                          <a:spcPct val="100000"/>
                        </a:lnSpc>
                        <a:spcBef>
                          <a:spcPts val="0"/>
                        </a:spcBef>
                        <a:spcAft>
                          <a:spcPts val="0"/>
                        </a:spcAft>
                        <a:buNone/>
                      </a:pPr>
                      <a:r>
                        <a:rPr lang="en-US" sz="1200" b="0" i="0" u="none" strike="noStrike" noProof="0" dirty="0">
                          <a:latin typeface="Arial"/>
                        </a:rPr>
                        <a:t>Grupa </a:t>
                      </a:r>
                      <a:r>
                        <a:rPr lang="en-US" sz="1200" b="0" i="0" u="none" strike="noStrike" noProof="0" dirty="0" err="1">
                          <a:latin typeface="Arial"/>
                        </a:rPr>
                        <a:t>reprezentacyjna</a:t>
                      </a:r>
                      <a:r>
                        <a:rPr lang="en-US" sz="1200" b="0" i="0" u="none" strike="noStrike" noProof="0" dirty="0">
                          <a:latin typeface="Arial"/>
                        </a:rPr>
                        <a:t> – </a:t>
                      </a:r>
                      <a:r>
                        <a:rPr lang="en-US" sz="1200" b="0" i="0" u="none" strike="noStrike" noProof="0" dirty="0" err="1">
                          <a:latin typeface="Arial"/>
                        </a:rPr>
                        <a:t>konsultacja</a:t>
                      </a:r>
                      <a:r>
                        <a:rPr lang="en-US" sz="1200" b="0" i="0" u="none" strike="noStrike" noProof="0" dirty="0">
                          <a:latin typeface="Arial"/>
                        </a:rPr>
                        <a:t> Dream I Values  - </a:t>
                      </a:r>
                      <a:r>
                        <a:rPr lang="en-US" sz="1200" b="0" i="0" u="none" strike="noStrike" noProof="0" dirty="0" err="1">
                          <a:latin typeface="Arial"/>
                        </a:rPr>
                        <a:t>Obrót</a:t>
                      </a:r>
                      <a:r>
                        <a:rPr lang="en-US" sz="1200" b="0" i="0" u="none" strike="noStrike" noProof="0" dirty="0">
                          <a:latin typeface="Arial"/>
                        </a:rPr>
                        <a:t> </a:t>
                      </a: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200" b="0" i="0">
                          <a:latin typeface="Arial"/>
                          <a:ea typeface="Riforma LL" panose="020B0504020101020102" pitchFamily="34" charset="0"/>
                          <a:cs typeface="Arial"/>
                        </a:rPr>
                        <a:t>Daniel / Piotr K </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latin typeface="Arial"/>
                          <a:ea typeface="Riforma LL" panose="020B0504020101020102" pitchFamily="34" charset="0"/>
                          <a:cs typeface="Arial"/>
                        </a:rPr>
                        <a:t>19/11</a:t>
                      </a: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45979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25558"/>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59884543"/>
                  </a:ext>
                </a:extLst>
              </a:tr>
              <a:tr h="54390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6119861"/>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46335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dirty="0">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BG" sz="3600" b="0" dirty="0">
                <a:latin typeface="Plaak 3 Trial Regular" panose="02000000000000000000" pitchFamily="2" charset="0"/>
              </a:rPr>
              <a:t>Dream and values communication plan </a:t>
            </a:r>
          </a:p>
        </p:txBody>
      </p:sp>
    </p:spTree>
    <p:extLst>
      <p:ext uri="{BB962C8B-B14F-4D97-AF65-F5344CB8AC3E}">
        <p14:creationId xmlns:p14="http://schemas.microsoft.com/office/powerpoint/2010/main" val="1543771418"/>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10852</TotalTime>
  <Words>640</Words>
  <Application>Microsoft Office PowerPoint</Application>
  <PresentationFormat>Niestandardowy</PresentationFormat>
  <Paragraphs>84</Paragraphs>
  <Slides>7</Slides>
  <Notes>7</Notes>
  <HiddenSlides>0</HiddenSlides>
  <MMClips>0</MMClips>
  <ScaleCrop>false</ScaleCrop>
  <HeadingPairs>
    <vt:vector size="4" baseType="variant">
      <vt:variant>
        <vt:lpstr>Motyw</vt:lpstr>
      </vt:variant>
      <vt:variant>
        <vt:i4>3</vt:i4>
      </vt:variant>
      <vt:variant>
        <vt:lpstr>Tytuły slajdów</vt:lpstr>
      </vt:variant>
      <vt:variant>
        <vt:i4>7</vt:i4>
      </vt:variant>
    </vt:vector>
  </HeadingPairs>
  <TitlesOfParts>
    <vt:vector size="10" baseType="lpstr">
      <vt:lpstr>4_Custom Design</vt:lpstr>
      <vt:lpstr>5_Custom Design</vt:lpstr>
      <vt:lpstr>SOLIDS</vt:lpstr>
      <vt:lpstr>Company values </vt:lpstr>
      <vt:lpstr>CURRENT AND ASPIRATIONAL VALUES GAP </vt:lpstr>
      <vt:lpstr>TURN VALUES INTO BEHAVIORS [page 1 out of 2]</vt:lpstr>
      <vt:lpstr>TURN VALUES INTO BEHAVIORS [page 2 out of 2]</vt:lpstr>
      <vt:lpstr>Red lines</vt:lpstr>
      <vt:lpstr>RECRUITMENT VALUES QUESTIONNAIRE</vt:lpstr>
      <vt:lpstr>Dream and values communication plan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Ana-Maria Nankova</cp:lastModifiedBy>
  <cp:revision>1235</cp:revision>
  <cp:lastPrinted>2020-02-28T13:07:06Z</cp:lastPrinted>
  <dcterms:created xsi:type="dcterms:W3CDTF">2019-08-22T09:52:59Z</dcterms:created>
  <dcterms:modified xsi:type="dcterms:W3CDTF">2024-10-24T09:32:01Z</dcterms:modified>
</cp:coreProperties>
</file>