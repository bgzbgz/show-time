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77" r:id="rId1"/>
    <p:sldMasterId id="2147484485" r:id="rId2"/>
    <p:sldMasterId id="2147484487" r:id="rId3"/>
  </p:sldMasterIdLst>
  <p:notesMasterIdLst>
    <p:notesMasterId r:id="rId11"/>
  </p:notesMasterIdLst>
  <p:handoutMasterIdLst>
    <p:handoutMasterId r:id="rId12"/>
  </p:handoutMasterIdLst>
  <p:sldIdLst>
    <p:sldId id="2466" r:id="rId4"/>
    <p:sldId id="2420" r:id="rId5"/>
    <p:sldId id="2463" r:id="rId6"/>
    <p:sldId id="2468" r:id="rId7"/>
    <p:sldId id="2470" r:id="rId8"/>
    <p:sldId id="2469" r:id="rId9"/>
    <p:sldId id="2467" r:id="rId10"/>
  </p:sldIdLst>
  <p:sldSz cx="10688638" cy="7562850"/>
  <p:notesSz cx="6954838" cy="9240838"/>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tanas" initials="AY" lastIdx="1" clrIdx="0">
    <p:extLst>
      <p:ext uri="{19B8F6BF-5375-455C-9EA6-DF929625EA0E}">
        <p15:presenceInfo xmlns:p15="http://schemas.microsoft.com/office/powerpoint/2012/main" userId="Atan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69"/>
    <a:srgbClr val="717272"/>
    <a:srgbClr val="3D233B"/>
    <a:srgbClr val="B2B2B2"/>
    <a:srgbClr val="FCC100"/>
    <a:srgbClr val="0D3272"/>
    <a:srgbClr val="B46F59"/>
    <a:srgbClr val="0F85CE"/>
    <a:srgbClr val="EEEDEE"/>
    <a:srgbClr val="89B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F443E9-9B47-08F2-25A6-1F9BB5B2EFFC}" v="3" dt="2024-10-08T11:10:46.952"/>
    <p1510:client id="{7F88D1C3-BC54-A93D-36A1-2B732A55A927}" v="843" dt="2024-10-08T03:33:21.0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759" autoAdjust="0"/>
    <p:restoredTop sz="84150" autoAdjust="0"/>
  </p:normalViewPr>
  <p:slideViewPr>
    <p:cSldViewPr snapToGrid="0">
      <p:cViewPr varScale="1">
        <p:scale>
          <a:sx n="96" d="100"/>
          <a:sy n="96" d="100"/>
        </p:scale>
        <p:origin x="2336" y="19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84" d="100"/>
          <a:sy n="84" d="100"/>
        </p:scale>
        <p:origin x="2226"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commentAuthors" Target="commentAuthors.xml"/><Relationship Id="rId18" Type="http://schemas.microsoft.com/office/2016/11/relationships/changesInfo" Target="changesInfos/changesInfo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viewProps" Target="viewProps.xml"/><Relationship Id="rId10" Type="http://schemas.openxmlformats.org/officeDocument/2006/relationships/slide" Target="slides/slide7.xml"/><Relationship Id="rId19" Type="http://schemas.microsoft.com/office/2015/10/relationships/revisionInfo" Target="revisionInfo.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anon#b31d96b2f107ef39c58701f9a3d0d5c7eeed386e8d9c6bb1118bef90ca681a8b::" providerId="AD" clId="Web-{7F88D1C3-BC54-A93D-36A1-2B732A55A927}"/>
    <pc:docChg chg="modSld">
      <pc:chgData name="Guest User" userId="S::urn:spo:anon#b31d96b2f107ef39c58701f9a3d0d5c7eeed386e8d9c6bb1118bef90ca681a8b::" providerId="AD" clId="Web-{7F88D1C3-BC54-A93D-36A1-2B732A55A927}" dt="2024-10-08T03:33:21.039" v="686"/>
      <pc:docMkLst>
        <pc:docMk/>
      </pc:docMkLst>
      <pc:sldChg chg="modSp">
        <pc:chgData name="Guest User" userId="S::urn:spo:anon#b31d96b2f107ef39c58701f9a3d0d5c7eeed386e8d9c6bb1118bef90ca681a8b::" providerId="AD" clId="Web-{7F88D1C3-BC54-A93D-36A1-2B732A55A927}" dt="2024-10-08T03:23:11.043" v="570"/>
        <pc:sldMkLst>
          <pc:docMk/>
          <pc:sldMk cId="1877047662" sldId="2420"/>
        </pc:sldMkLst>
        <pc:graphicFrameChg chg="mod modGraphic">
          <ac:chgData name="Guest User" userId="S::urn:spo:anon#b31d96b2f107ef39c58701f9a3d0d5c7eeed386e8d9c6bb1118bef90ca681a8b::" providerId="AD" clId="Web-{7F88D1C3-BC54-A93D-36A1-2B732A55A927}" dt="2024-10-08T03:23:11.043" v="570"/>
          <ac:graphicFrameMkLst>
            <pc:docMk/>
            <pc:sldMk cId="1877047662" sldId="2420"/>
            <ac:graphicFrameMk id="18" creationId="{1F74CD5A-9F80-0549-8844-6BFF5ADE70C7}"/>
          </ac:graphicFrameMkLst>
        </pc:graphicFrameChg>
      </pc:sldChg>
      <pc:sldChg chg="addSp delSp modSp">
        <pc:chgData name="Guest User" userId="S::urn:spo:anon#b31d96b2f107ef39c58701f9a3d0d5c7eeed386e8d9c6bb1118bef90ca681a8b::" providerId="AD" clId="Web-{7F88D1C3-BC54-A93D-36A1-2B732A55A927}" dt="2024-10-08T03:11:04.606" v="333" actId="1076"/>
        <pc:sldMkLst>
          <pc:docMk/>
          <pc:sldMk cId="3110103477" sldId="2463"/>
        </pc:sldMkLst>
        <pc:spChg chg="mod">
          <ac:chgData name="Guest User" userId="S::urn:spo:anon#b31d96b2f107ef39c58701f9a3d0d5c7eeed386e8d9c6bb1118bef90ca681a8b::" providerId="AD" clId="Web-{7F88D1C3-BC54-A93D-36A1-2B732A55A927}" dt="2024-10-08T03:11:04.606" v="333" actId="1076"/>
          <ac:spMkLst>
            <pc:docMk/>
            <pc:sldMk cId="3110103477" sldId="2463"/>
            <ac:spMk id="5" creationId="{CA9C2DA3-07D1-5F35-0D15-F9AB69CA94E6}"/>
          </ac:spMkLst>
        </pc:spChg>
        <pc:graphicFrameChg chg="add del mod modGraphic">
          <ac:chgData name="Guest User" userId="S::urn:spo:anon#b31d96b2f107ef39c58701f9a3d0d5c7eeed386e8d9c6bb1118bef90ca681a8b::" providerId="AD" clId="Web-{7F88D1C3-BC54-A93D-36A1-2B732A55A927}" dt="2024-10-08T03:04:24.723" v="160"/>
          <ac:graphicFrameMkLst>
            <pc:docMk/>
            <pc:sldMk cId="3110103477" sldId="2463"/>
            <ac:graphicFrameMk id="3" creationId="{7DC0C113-7D7A-95E5-1C3D-5518E5D5BA2B}"/>
          </ac:graphicFrameMkLst>
        </pc:graphicFrameChg>
        <pc:graphicFrameChg chg="add mod modGraphic">
          <ac:chgData name="Guest User" userId="S::urn:spo:anon#b31d96b2f107ef39c58701f9a3d0d5c7eeed386e8d9c6bb1118bef90ca681a8b::" providerId="AD" clId="Web-{7F88D1C3-BC54-A93D-36A1-2B732A55A927}" dt="2024-10-08T03:10:55.950" v="332" actId="1076"/>
          <ac:graphicFrameMkLst>
            <pc:docMk/>
            <pc:sldMk cId="3110103477" sldId="2463"/>
            <ac:graphicFrameMk id="6" creationId="{A7967F25-90B7-D40B-AF4A-6DC115215459}"/>
          </ac:graphicFrameMkLst>
        </pc:graphicFrameChg>
        <pc:graphicFrameChg chg="mod modGraphic">
          <ac:chgData name="Guest User" userId="S::urn:spo:anon#b31d96b2f107ef39c58701f9a3d0d5c7eeed386e8d9c6bb1118bef90ca681a8b::" providerId="AD" clId="Web-{7F88D1C3-BC54-A93D-36A1-2B732A55A927}" dt="2024-10-08T03:10:32.184" v="327" actId="1076"/>
          <ac:graphicFrameMkLst>
            <pc:docMk/>
            <pc:sldMk cId="3110103477" sldId="2463"/>
            <ac:graphicFrameMk id="12" creationId="{74CF6476-D2C3-2348-BEC7-148925E380DF}"/>
          </ac:graphicFrameMkLst>
        </pc:graphicFrameChg>
      </pc:sldChg>
      <pc:sldChg chg="addSp delSp modSp">
        <pc:chgData name="Guest User" userId="S::urn:spo:anon#b31d96b2f107ef39c58701f9a3d0d5c7eeed386e8d9c6bb1118bef90ca681a8b::" providerId="AD" clId="Web-{7F88D1C3-BC54-A93D-36A1-2B732A55A927}" dt="2024-10-08T03:02:41.174" v="124"/>
        <pc:sldMkLst>
          <pc:docMk/>
          <pc:sldMk cId="1820793006" sldId="2466"/>
        </pc:sldMkLst>
        <pc:graphicFrameChg chg="add del mod">
          <ac:chgData name="Guest User" userId="S::urn:spo:anon#b31d96b2f107ef39c58701f9a3d0d5c7eeed386e8d9c6bb1118bef90ca681a8b::" providerId="AD" clId="Web-{7F88D1C3-BC54-A93D-36A1-2B732A55A927}" dt="2024-10-08T02:58:34.966" v="3"/>
          <ac:graphicFrameMkLst>
            <pc:docMk/>
            <pc:sldMk cId="1820793006" sldId="2466"/>
            <ac:graphicFrameMk id="4" creationId="{DA367660-7B31-C22C-4E95-62669FBEAEBF}"/>
          </ac:graphicFrameMkLst>
        </pc:graphicFrameChg>
        <pc:graphicFrameChg chg="mod modGraphic">
          <ac:chgData name="Guest User" userId="S::urn:spo:anon#b31d96b2f107ef39c58701f9a3d0d5c7eeed386e8d9c6bb1118bef90ca681a8b::" providerId="AD" clId="Web-{7F88D1C3-BC54-A93D-36A1-2B732A55A927}" dt="2024-10-08T03:02:41.174" v="124"/>
          <ac:graphicFrameMkLst>
            <pc:docMk/>
            <pc:sldMk cId="1820793006" sldId="2466"/>
            <ac:graphicFrameMk id="12" creationId="{74CF6476-D2C3-2348-BEC7-148925E380DF}"/>
          </ac:graphicFrameMkLst>
        </pc:graphicFrameChg>
      </pc:sldChg>
      <pc:sldChg chg="addSp delSp modSp">
        <pc:chgData name="Guest User" userId="S::urn:spo:anon#b31d96b2f107ef39c58701f9a3d0d5c7eeed386e8d9c6bb1118bef90ca681a8b::" providerId="AD" clId="Web-{7F88D1C3-BC54-A93D-36A1-2B732A55A927}" dt="2024-10-08T03:24:13.247" v="596"/>
        <pc:sldMkLst>
          <pc:docMk/>
          <pc:sldMk cId="662839316" sldId="2468"/>
        </pc:sldMkLst>
        <pc:spChg chg="mod">
          <ac:chgData name="Guest User" userId="S::urn:spo:anon#b31d96b2f107ef39c58701f9a3d0d5c7eeed386e8d9c6bb1118bef90ca681a8b::" providerId="AD" clId="Web-{7F88D1C3-BC54-A93D-36A1-2B732A55A927}" dt="2024-10-08T03:14:17.110" v="387" actId="20577"/>
          <ac:spMkLst>
            <pc:docMk/>
            <pc:sldMk cId="662839316" sldId="2468"/>
            <ac:spMk id="5" creationId="{CA9C2DA3-07D1-5F35-0D15-F9AB69CA94E6}"/>
          </ac:spMkLst>
        </pc:spChg>
        <pc:graphicFrameChg chg="add del mod modGraphic">
          <ac:chgData name="Guest User" userId="S::urn:spo:anon#b31d96b2f107ef39c58701f9a3d0d5c7eeed386e8d9c6bb1118bef90ca681a8b::" providerId="AD" clId="Web-{7F88D1C3-BC54-A93D-36A1-2B732A55A927}" dt="2024-10-08T03:24:13.247" v="596"/>
          <ac:graphicFrameMkLst>
            <pc:docMk/>
            <pc:sldMk cId="662839316" sldId="2468"/>
            <ac:graphicFrameMk id="3" creationId="{6699819D-000B-7B9C-DD37-2A26EA39CA1C}"/>
          </ac:graphicFrameMkLst>
        </pc:graphicFrameChg>
        <pc:graphicFrameChg chg="mod modGraphic">
          <ac:chgData name="Guest User" userId="S::urn:spo:anon#b31d96b2f107ef39c58701f9a3d0d5c7eeed386e8d9c6bb1118bef90ca681a8b::" providerId="AD" clId="Web-{7F88D1C3-BC54-A93D-36A1-2B732A55A927}" dt="2024-10-08T03:24:10.716" v="595"/>
          <ac:graphicFrameMkLst>
            <pc:docMk/>
            <pc:sldMk cId="662839316" sldId="2468"/>
            <ac:graphicFrameMk id="12" creationId="{74CF6476-D2C3-2348-BEC7-148925E380DF}"/>
          </ac:graphicFrameMkLst>
        </pc:graphicFrameChg>
      </pc:sldChg>
      <pc:sldChg chg="modSp">
        <pc:chgData name="Guest User" userId="S::urn:spo:anon#b31d96b2f107ef39c58701f9a3d0d5c7eeed386e8d9c6bb1118bef90ca681a8b::" providerId="AD" clId="Web-{7F88D1C3-BC54-A93D-36A1-2B732A55A927}" dt="2024-10-08T03:33:21.039" v="686"/>
        <pc:sldMkLst>
          <pc:docMk/>
          <pc:sldMk cId="2521260324" sldId="2469"/>
        </pc:sldMkLst>
        <pc:graphicFrameChg chg="mod modGraphic">
          <ac:chgData name="Guest User" userId="S::urn:spo:anon#b31d96b2f107ef39c58701f9a3d0d5c7eeed386e8d9c6bb1118bef90ca681a8b::" providerId="AD" clId="Web-{7F88D1C3-BC54-A93D-36A1-2B732A55A927}" dt="2024-10-08T03:33:21.039" v="686"/>
          <ac:graphicFrameMkLst>
            <pc:docMk/>
            <pc:sldMk cId="2521260324" sldId="2469"/>
            <ac:graphicFrameMk id="12" creationId="{74CF6476-D2C3-2348-BEC7-148925E380DF}"/>
          </ac:graphicFrameMkLst>
        </pc:graphicFrameChg>
      </pc:sldChg>
      <pc:sldChg chg="modSp">
        <pc:chgData name="Guest User" userId="S::urn:spo:anon#b31d96b2f107ef39c58701f9a3d0d5c7eeed386e8d9c6bb1118bef90ca681a8b::" providerId="AD" clId="Web-{7F88D1C3-BC54-A93D-36A1-2B732A55A927}" dt="2024-10-08T03:21:04.493" v="459"/>
        <pc:sldMkLst>
          <pc:docMk/>
          <pc:sldMk cId="3791091601" sldId="2470"/>
        </pc:sldMkLst>
        <pc:graphicFrameChg chg="mod modGraphic">
          <ac:chgData name="Guest User" userId="S::urn:spo:anon#b31d96b2f107ef39c58701f9a3d0d5c7eeed386e8d9c6bb1118bef90ca681a8b::" providerId="AD" clId="Web-{7F88D1C3-BC54-A93D-36A1-2B732A55A927}" dt="2024-10-08T03:21:04.493" v="459"/>
          <ac:graphicFrameMkLst>
            <pc:docMk/>
            <pc:sldMk cId="3791091601" sldId="2470"/>
            <ac:graphicFrameMk id="2" creationId="{2B69F258-3FBC-CE9B-438A-ECF368A7F320}"/>
          </ac:graphicFrameMkLst>
        </pc:graphicFrameChg>
      </pc:sldChg>
    </pc:docChg>
  </pc:docChgLst>
  <pc:docChgLst>
    <pc:chgData name="Guest User" userId="S::urn:spo:anon#b31d96b2f107ef39c58701f9a3d0d5c7eeed386e8d9c6bb1118bef90ca681a8b::" providerId="AD" clId="Web-{6DF443E9-9B47-08F2-25A6-1F9BB5B2EFFC}"/>
    <pc:docChg chg="modSld">
      <pc:chgData name="Guest User" userId="S::urn:spo:anon#b31d96b2f107ef39c58701f9a3d0d5c7eeed386e8d9c6bb1118bef90ca681a8b::" providerId="AD" clId="Web-{6DF443E9-9B47-08F2-25A6-1F9BB5B2EFFC}" dt="2024-10-08T11:10:46.952" v="2" actId="1076"/>
      <pc:docMkLst>
        <pc:docMk/>
      </pc:docMkLst>
      <pc:sldChg chg="addSp delSp modSp">
        <pc:chgData name="Guest User" userId="S::urn:spo:anon#b31d96b2f107ef39c58701f9a3d0d5c7eeed386e8d9c6bb1118bef90ca681a8b::" providerId="AD" clId="Web-{6DF443E9-9B47-08F2-25A6-1F9BB5B2EFFC}" dt="2024-10-08T11:10:46.952" v="2" actId="1076"/>
        <pc:sldMkLst>
          <pc:docMk/>
          <pc:sldMk cId="1543771418" sldId="2467"/>
        </pc:sldMkLst>
        <pc:graphicFrameChg chg="add mod">
          <ac:chgData name="Guest User" userId="S::urn:spo:anon#b31d96b2f107ef39c58701f9a3d0d5c7eeed386e8d9c6bb1118bef90ca681a8b::" providerId="AD" clId="Web-{6DF443E9-9B47-08F2-25A6-1F9BB5B2EFFC}" dt="2024-10-08T11:10:46.952" v="2" actId="1076"/>
          <ac:graphicFrameMkLst>
            <pc:docMk/>
            <pc:sldMk cId="1543771418" sldId="2467"/>
            <ac:graphicFrameMk id="3" creationId="{90518C0E-A689-254C-7BF9-175C4FED86A9}"/>
          </ac:graphicFrameMkLst>
        </pc:graphicFrameChg>
        <pc:graphicFrameChg chg="del">
          <ac:chgData name="Guest User" userId="S::urn:spo:anon#b31d96b2f107ef39c58701f9a3d0d5c7eeed386e8d9c6bb1118bef90ca681a8b::" providerId="AD" clId="Web-{6DF443E9-9B47-08F2-25A6-1F9BB5B2EFFC}" dt="2024-10-08T11:10:32.342" v="0"/>
          <ac:graphicFrameMkLst>
            <pc:docMk/>
            <pc:sldMk cId="1543771418" sldId="2467"/>
            <ac:graphicFrameMk id="12" creationId="{74CF6476-D2C3-2348-BEC7-148925E380DF}"/>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pPr>
              <a:defRPr/>
            </a:pPr>
            <a:endParaRPr lang="en-US" dirty="0">
              <a:latin typeface="Arial" panose="020B0604020202020204" pitchFamily="34" charset="0"/>
            </a:endParaRPr>
          </a:p>
        </p:txBody>
      </p:sp>
      <p:sp>
        <p:nvSpPr>
          <p:cNvPr id="3" name="Date Placeholder 2"/>
          <p:cNvSpPr>
            <a:spLocks noGrp="1"/>
          </p:cNvSpPr>
          <p:nvPr>
            <p:ph type="dt" sz="quarter" idx="1"/>
          </p:nvPr>
        </p:nvSpPr>
        <p:spPr>
          <a:xfrm>
            <a:off x="3939466" y="0"/>
            <a:ext cx="3013763" cy="463647"/>
          </a:xfrm>
          <a:prstGeom prst="rect">
            <a:avLst/>
          </a:prstGeom>
        </p:spPr>
        <p:txBody>
          <a:bodyPr vert="horz" lIns="92546" tIns="46273" rIns="92546" bIns="46273" rtlCol="0"/>
          <a:lstStyle>
            <a:lvl1pPr algn="r">
              <a:defRPr sz="1200"/>
            </a:lvl1pPr>
          </a:lstStyle>
          <a:p>
            <a:pPr>
              <a:defRPr/>
            </a:pPr>
            <a:fld id="{96457D4A-3A70-4343-9758-775435F7A22E}" type="datetimeFigureOut">
              <a:rPr lang="en-US">
                <a:latin typeface="Arial" panose="020B0604020202020204" pitchFamily="34" charset="0"/>
              </a:rPr>
              <a:pPr>
                <a:defRPr/>
              </a:pPr>
              <a:t>10/8/2024</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0" y="8777193"/>
            <a:ext cx="3013763" cy="463646"/>
          </a:xfrm>
          <a:prstGeom prst="rect">
            <a:avLst/>
          </a:prstGeom>
        </p:spPr>
        <p:txBody>
          <a:bodyPr vert="horz" lIns="92546" tIns="46273" rIns="92546" bIns="46273" rtlCol="0" anchor="b"/>
          <a:lstStyle>
            <a:lvl1pPr algn="l">
              <a:defRPr sz="1200"/>
            </a:lvl1pPr>
          </a:lstStyle>
          <a:p>
            <a:pPr>
              <a:defRPr/>
            </a:pPr>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3939466" y="8777193"/>
            <a:ext cx="3013763" cy="463646"/>
          </a:xfrm>
          <a:prstGeom prst="rect">
            <a:avLst/>
          </a:prstGeom>
        </p:spPr>
        <p:txBody>
          <a:bodyPr vert="horz" lIns="92546" tIns="46273" rIns="92546" bIns="46273" rtlCol="0" anchor="b"/>
          <a:lstStyle>
            <a:lvl1pPr algn="r">
              <a:defRPr sz="1200"/>
            </a:lvl1pPr>
          </a:lstStyle>
          <a:p>
            <a:pPr>
              <a:defRPr/>
            </a:pPr>
            <a:fld id="{C8683F37-8904-4846-9242-6A858545E9E1}" type="slidenum">
              <a:rPr lang="en-US">
                <a:latin typeface="Arial" panose="020B0604020202020204" pitchFamily="34" charset="0"/>
              </a:rPr>
              <a:pPr>
                <a:defRPr/>
              </a:pPr>
              <a:t>‹#›</a:t>
            </a:fld>
            <a:endParaRPr lang="en-US" dirty="0">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b="0" i="0">
                <a:latin typeface="Arial" panose="020B0604020202020204" pitchFamily="34" charset="0"/>
              </a:defRPr>
            </a:lvl1pPr>
          </a:lstStyle>
          <a:p>
            <a:pPr>
              <a:defRPr/>
            </a:pPr>
            <a:endParaRPr lang="en-US" dirty="0"/>
          </a:p>
        </p:txBody>
      </p:sp>
      <p:sp>
        <p:nvSpPr>
          <p:cNvPr id="3" name="Date Placeholder 2"/>
          <p:cNvSpPr>
            <a:spLocks noGrp="1"/>
          </p:cNvSpPr>
          <p:nvPr>
            <p:ph type="dt" idx="1"/>
          </p:nvPr>
        </p:nvSpPr>
        <p:spPr>
          <a:xfrm>
            <a:off x="3939466" y="0"/>
            <a:ext cx="3013763" cy="463647"/>
          </a:xfrm>
          <a:prstGeom prst="rect">
            <a:avLst/>
          </a:prstGeom>
        </p:spPr>
        <p:txBody>
          <a:bodyPr vert="horz" lIns="92546" tIns="46273" rIns="92546" bIns="46273" rtlCol="0"/>
          <a:lstStyle>
            <a:lvl1pPr algn="r">
              <a:defRPr sz="1200" b="0" i="0">
                <a:latin typeface="Arial" panose="020B0604020202020204" pitchFamily="34" charset="0"/>
              </a:defRPr>
            </a:lvl1pPr>
          </a:lstStyle>
          <a:p>
            <a:pPr>
              <a:defRPr/>
            </a:pPr>
            <a:fld id="{754FBBB8-96E2-494F-B716-7974840A6007}" type="datetimeFigureOut">
              <a:rPr lang="en-US" smtClean="0"/>
              <a:pPr>
                <a:defRPr/>
              </a:pPr>
              <a:t>10/8/2024</a:t>
            </a:fld>
            <a:endParaRPr lang="en-US" dirty="0"/>
          </a:p>
        </p:txBody>
      </p:sp>
      <p:sp>
        <p:nvSpPr>
          <p:cNvPr id="4" name="Slide Image Placeholder 3"/>
          <p:cNvSpPr>
            <a:spLocks noGrp="1" noRot="1" noChangeAspect="1"/>
          </p:cNvSpPr>
          <p:nvPr>
            <p:ph type="sldImg" idx="2"/>
          </p:nvPr>
        </p:nvSpPr>
        <p:spPr>
          <a:xfrm>
            <a:off x="1274763" y="1155700"/>
            <a:ext cx="4405312" cy="3117850"/>
          </a:xfrm>
          <a:prstGeom prst="rect">
            <a:avLst/>
          </a:prstGeom>
          <a:noFill/>
          <a:ln w="12700">
            <a:solidFill>
              <a:prstClr val="black"/>
            </a:solidFill>
          </a:ln>
        </p:spPr>
        <p:txBody>
          <a:bodyPr vert="horz" lIns="92546" tIns="46273" rIns="92546" bIns="46273" rtlCol="0" anchor="ctr"/>
          <a:lstStyle/>
          <a:p>
            <a:pPr lvl="0"/>
            <a:endParaRPr lang="en-US" noProof="0"/>
          </a:p>
        </p:txBody>
      </p:sp>
      <p:sp>
        <p:nvSpPr>
          <p:cNvPr id="5" name="Notes Placeholder 4"/>
          <p:cNvSpPr>
            <a:spLocks noGrp="1"/>
          </p:cNvSpPr>
          <p:nvPr>
            <p:ph type="body" sz="quarter" idx="3"/>
          </p:nvPr>
        </p:nvSpPr>
        <p:spPr>
          <a:xfrm>
            <a:off x="695484" y="4447153"/>
            <a:ext cx="5563870" cy="3638580"/>
          </a:xfrm>
          <a:prstGeom prst="rect">
            <a:avLst/>
          </a:prstGeom>
        </p:spPr>
        <p:txBody>
          <a:bodyPr vert="horz" lIns="92546" tIns="46273" rIns="92546" bIns="46273"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7193"/>
            <a:ext cx="3013763" cy="463646"/>
          </a:xfrm>
          <a:prstGeom prst="rect">
            <a:avLst/>
          </a:prstGeom>
        </p:spPr>
        <p:txBody>
          <a:bodyPr vert="horz" lIns="92546" tIns="46273" rIns="92546" bIns="46273" rtlCol="0" anchor="b"/>
          <a:lstStyle>
            <a:lvl1pPr algn="l">
              <a:defRPr sz="1200" b="0" i="0">
                <a:latin typeface="Arial" panose="020B0604020202020204" pitchFamily="34" charset="0"/>
              </a:defRPr>
            </a:lvl1pPr>
          </a:lstStyle>
          <a:p>
            <a:pPr>
              <a:defRPr/>
            </a:pPr>
            <a:endParaRPr lang="en-US" dirty="0"/>
          </a:p>
        </p:txBody>
      </p:sp>
      <p:sp>
        <p:nvSpPr>
          <p:cNvPr id="7" name="Slide Number Placeholder 6"/>
          <p:cNvSpPr>
            <a:spLocks noGrp="1"/>
          </p:cNvSpPr>
          <p:nvPr>
            <p:ph type="sldNum" sz="quarter" idx="5"/>
          </p:nvPr>
        </p:nvSpPr>
        <p:spPr>
          <a:xfrm>
            <a:off x="3939466" y="8777193"/>
            <a:ext cx="3013763" cy="463646"/>
          </a:xfrm>
          <a:prstGeom prst="rect">
            <a:avLst/>
          </a:prstGeom>
        </p:spPr>
        <p:txBody>
          <a:bodyPr vert="horz" lIns="92546" tIns="46273" rIns="92546" bIns="46273" rtlCol="0" anchor="b"/>
          <a:lstStyle>
            <a:lvl1pPr algn="r">
              <a:defRPr sz="1200" b="0" i="0">
                <a:latin typeface="Arial" panose="020B0604020202020204" pitchFamily="34" charset="0"/>
              </a:defRPr>
            </a:lvl1pPr>
          </a:lstStyle>
          <a:p>
            <a:pPr>
              <a:defRPr/>
            </a:pPr>
            <a:fld id="{D1F6A1A1-8B93-49C9-AFC7-D0DF50B75203}" type="slidenum">
              <a:rPr lang="en-US" smtClean="0"/>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800" dirty="0">
                <a:solidFill>
                  <a:schemeClr val="tx1"/>
                </a:solidFill>
                <a:latin typeface="+mn-lt"/>
                <a:ea typeface="+mn-lt"/>
                <a:cs typeface="+mn-lt"/>
              </a:rPr>
              <a:t>Brainstorm and list all the typical behaviors and ways of doing things in your company.</a:t>
            </a:r>
          </a:p>
          <a:p>
            <a:pPr marL="0" indent="0" algn="l"/>
            <a:endParaRPr lang="en-US" sz="1800" dirty="0">
              <a:solidFill>
                <a:schemeClr val="tx1"/>
              </a:solidFill>
              <a:latin typeface="+mn-lt"/>
              <a:ea typeface="+mn-lt"/>
              <a:cs typeface="+mn-lt"/>
            </a:endParaRPr>
          </a:p>
          <a:p>
            <a:pPr marL="0" indent="0" algn="l"/>
            <a:r>
              <a:rPr lang="en-US" sz="1800" dirty="0">
                <a:solidFill>
                  <a:schemeClr val="tx1"/>
                </a:solidFill>
                <a:latin typeface="+mn-lt"/>
                <a:ea typeface="+mn-lt"/>
                <a:cs typeface="+mn-lt"/>
              </a:rPr>
              <a:t>Identify the value that represents each of them.</a:t>
            </a:r>
          </a:p>
          <a:p>
            <a:pPr marL="0" indent="0" algn="l"/>
            <a:endParaRPr lang="en-US" sz="1800" dirty="0">
              <a:solidFill>
                <a:schemeClr val="tx1"/>
              </a:solidFill>
              <a:latin typeface="+mn-lt"/>
              <a:ea typeface="+mn-lt"/>
              <a:cs typeface="+mn-lt"/>
            </a:endParaRPr>
          </a:p>
          <a:p>
            <a:pPr marL="0" indent="0" algn="l"/>
            <a:r>
              <a:rPr lang="en-US" sz="1800" dirty="0">
                <a:solidFill>
                  <a:schemeClr val="tx1"/>
                </a:solidFill>
                <a:latin typeface="+mn-lt"/>
                <a:ea typeface="+mn-lt"/>
                <a:cs typeface="+mn-lt"/>
              </a:rPr>
              <a:t>Prioritize the 5 most observed behaviors.</a:t>
            </a:r>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1</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45629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200" dirty="0">
                <a:solidFill>
                  <a:schemeClr val="tx1"/>
                </a:solidFill>
                <a:latin typeface="+mn-lt"/>
                <a:ea typeface="+mn-lt"/>
                <a:cs typeface="+mn-lt"/>
              </a:rPr>
              <a:t>Describe the type of people you need in order to achieve your dream. What behaviors/values do you need to adopt?</a:t>
            </a:r>
          </a:p>
          <a:p>
            <a:pPr marL="0" indent="0" algn="l"/>
            <a:r>
              <a:rPr lang="en-US" sz="1200" dirty="0">
                <a:solidFill>
                  <a:schemeClr val="tx1"/>
                </a:solidFill>
                <a:latin typeface="+mn-lt"/>
                <a:ea typeface="+mn-lt"/>
                <a:cs typeface="+mn-lt"/>
              </a:rPr>
              <a:t>• List the current values from the Dream Workshop</a:t>
            </a:r>
          </a:p>
          <a:p>
            <a:pPr marL="0" indent="0" algn="l"/>
            <a:r>
              <a:rPr lang="en-US" sz="1200" dirty="0">
                <a:solidFill>
                  <a:schemeClr val="tx1"/>
                </a:solidFill>
                <a:latin typeface="+mn-lt"/>
                <a:ea typeface="+mn-lt"/>
                <a:cs typeface="+mn-lt"/>
              </a:rPr>
              <a:t>• List the gap between current and needed values</a:t>
            </a: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Your Dream</a:t>
            </a:r>
          </a:p>
          <a:p>
            <a:pPr marL="0" indent="0" algn="l"/>
            <a:r>
              <a:rPr lang="en-US" sz="1200" dirty="0">
                <a:solidFill>
                  <a:schemeClr val="tx1"/>
                </a:solidFill>
                <a:latin typeface="+mn-lt"/>
                <a:ea typeface="+mn-lt"/>
                <a:cs typeface="+mn-lt"/>
              </a:rPr>
              <a:t>• Who do you need to become?</a:t>
            </a:r>
          </a:p>
          <a:p>
            <a:pPr marL="0" indent="0" algn="l"/>
            <a:r>
              <a:rPr lang="en-US" sz="1200" dirty="0">
                <a:solidFill>
                  <a:schemeClr val="tx1"/>
                </a:solidFill>
                <a:latin typeface="+mn-lt"/>
                <a:ea typeface="+mn-lt"/>
                <a:cs typeface="+mn-lt"/>
              </a:rPr>
              <a:t>• Who are you currently?</a:t>
            </a:r>
          </a:p>
          <a:p>
            <a:pPr marL="0" indent="0" algn="l"/>
            <a:r>
              <a:rPr lang="en-US" sz="1200" dirty="0">
                <a:solidFill>
                  <a:schemeClr val="tx1"/>
                </a:solidFill>
                <a:latin typeface="+mn-lt"/>
                <a:ea typeface="+mn-lt"/>
                <a:cs typeface="+mn-lt"/>
              </a:rPr>
              <a:t>• What’s the gap?</a:t>
            </a:r>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2</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4680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200" dirty="0">
                <a:solidFill>
                  <a:schemeClr val="tx1"/>
                </a:solidFill>
                <a:latin typeface="+mn-lt"/>
                <a:ea typeface="+mn-lt"/>
                <a:cs typeface="+mn-lt"/>
              </a:rPr>
              <a:t>Once you are clear on the dream and the values that you need to abide by, it is time to describe what specific behaviors you want to see or don’t want to see throughout the organization. </a:t>
            </a: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This tool will help you prioritize the top five behaviors the company will support and those it never will.</a:t>
            </a:r>
          </a:p>
          <a:p>
            <a:pPr marL="0" indent="0" algn="l"/>
            <a:endParaRPr lang="en-US" sz="1600" b="1" dirty="0">
              <a:solidFill>
                <a:schemeClr val="tx1"/>
              </a:solidFill>
              <a:latin typeface="+mn-lt"/>
              <a:ea typeface="+mn-lt"/>
              <a:cs typeface="+mn-lt"/>
            </a:endParaRPr>
          </a:p>
          <a:p>
            <a:pPr marL="0" indent="0" algn="l"/>
            <a:r>
              <a:rPr lang="en-US" sz="1600" b="1" dirty="0">
                <a:solidFill>
                  <a:schemeClr val="tx1"/>
                </a:solidFill>
                <a:latin typeface="+mn-lt"/>
                <a:ea typeface="+mn-lt"/>
                <a:cs typeface="+mn-lt"/>
              </a:rPr>
              <a:t>How</a:t>
            </a:r>
            <a:endParaRPr lang="en-US" sz="1200" b="1" dirty="0">
              <a:solidFill>
                <a:schemeClr val="tx1"/>
              </a:solidFill>
              <a:latin typeface="+mn-lt"/>
              <a:ea typeface="+mn-lt"/>
              <a:cs typeface="+mn-lt"/>
            </a:endParaRP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 List your new five values from the previous exercise</a:t>
            </a:r>
          </a:p>
          <a:p>
            <a:pPr marL="0" indent="0" algn="l"/>
            <a:r>
              <a:rPr lang="en-US" sz="1200" dirty="0">
                <a:solidFill>
                  <a:schemeClr val="tx1"/>
                </a:solidFill>
                <a:latin typeface="+mn-lt"/>
                <a:ea typeface="+mn-lt"/>
                <a:cs typeface="+mn-lt"/>
              </a:rPr>
              <a:t>• List potential cool behaviors associated with each value</a:t>
            </a:r>
          </a:p>
          <a:p>
            <a:pPr marL="0" indent="0" algn="l"/>
            <a:r>
              <a:rPr lang="en-US" sz="1200" dirty="0">
                <a:solidFill>
                  <a:schemeClr val="tx1"/>
                </a:solidFill>
                <a:latin typeface="+mn-lt"/>
                <a:ea typeface="+mn-lt"/>
                <a:cs typeface="+mn-lt"/>
              </a:rPr>
              <a:t>• List potential not-cool behaviors associated with each value</a:t>
            </a:r>
          </a:p>
          <a:p>
            <a:pPr marL="0" indent="0" algn="l"/>
            <a:r>
              <a:rPr lang="en-US" sz="1200" dirty="0">
                <a:solidFill>
                  <a:schemeClr val="tx1"/>
                </a:solidFill>
                <a:latin typeface="+mn-lt"/>
                <a:ea typeface="+mn-lt"/>
                <a:cs typeface="+mn-lt"/>
              </a:rPr>
              <a:t>• Prioritize the top 5 behaviors the company will support</a:t>
            </a:r>
          </a:p>
          <a:p>
            <a:pPr marL="0" indent="0" algn="l"/>
            <a:r>
              <a:rPr lang="en-US" sz="1200" dirty="0">
                <a:solidFill>
                  <a:schemeClr val="tx1"/>
                </a:solidFill>
                <a:latin typeface="+mn-lt"/>
                <a:ea typeface="+mn-lt"/>
                <a:cs typeface="+mn-lt"/>
              </a:rPr>
              <a:t>• List the top 5 behaviors the company will never support</a:t>
            </a:r>
          </a:p>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3</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976752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200" dirty="0">
                <a:solidFill>
                  <a:schemeClr val="tx1"/>
                </a:solidFill>
                <a:latin typeface="+mn-lt"/>
                <a:ea typeface="+mn-lt"/>
                <a:cs typeface="+mn-lt"/>
              </a:rPr>
              <a:t>Once you are clear on the dream and the values that you need to abide by, it is time to describe what specific behaviors you want to see or don’t want to see throughout the organization. </a:t>
            </a: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This tool will help you prioritize the top five behaviors the company will support and those it never will.</a:t>
            </a:r>
          </a:p>
          <a:p>
            <a:pPr marL="0" indent="0" algn="l"/>
            <a:endParaRPr lang="en-US" sz="1600" b="1" dirty="0">
              <a:solidFill>
                <a:schemeClr val="tx1"/>
              </a:solidFill>
              <a:latin typeface="+mn-lt"/>
              <a:ea typeface="+mn-lt"/>
              <a:cs typeface="+mn-lt"/>
            </a:endParaRPr>
          </a:p>
          <a:p>
            <a:pPr marL="0" indent="0" algn="l"/>
            <a:r>
              <a:rPr lang="en-US" sz="1600" b="1" dirty="0">
                <a:solidFill>
                  <a:schemeClr val="tx1"/>
                </a:solidFill>
                <a:latin typeface="+mn-lt"/>
                <a:ea typeface="+mn-lt"/>
                <a:cs typeface="+mn-lt"/>
              </a:rPr>
              <a:t>How</a:t>
            </a:r>
            <a:endParaRPr lang="en-US" sz="1200" b="1" dirty="0">
              <a:solidFill>
                <a:schemeClr val="tx1"/>
              </a:solidFill>
              <a:latin typeface="+mn-lt"/>
              <a:ea typeface="+mn-lt"/>
              <a:cs typeface="+mn-lt"/>
            </a:endParaRP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 List your new five values from the previous exercise</a:t>
            </a:r>
          </a:p>
          <a:p>
            <a:pPr marL="0" indent="0" algn="l"/>
            <a:r>
              <a:rPr lang="en-US" sz="1200" dirty="0">
                <a:solidFill>
                  <a:schemeClr val="tx1"/>
                </a:solidFill>
                <a:latin typeface="+mn-lt"/>
                <a:ea typeface="+mn-lt"/>
                <a:cs typeface="+mn-lt"/>
              </a:rPr>
              <a:t>• List potential cool behaviors associated with each value</a:t>
            </a:r>
          </a:p>
          <a:p>
            <a:pPr marL="0" indent="0" algn="l"/>
            <a:r>
              <a:rPr lang="en-US" sz="1200" dirty="0">
                <a:solidFill>
                  <a:schemeClr val="tx1"/>
                </a:solidFill>
                <a:latin typeface="+mn-lt"/>
                <a:ea typeface="+mn-lt"/>
                <a:cs typeface="+mn-lt"/>
              </a:rPr>
              <a:t>• List potential not-cool behaviors associated with each value</a:t>
            </a:r>
          </a:p>
          <a:p>
            <a:pPr marL="0" indent="0" algn="l"/>
            <a:r>
              <a:rPr lang="en-US" sz="1200" dirty="0">
                <a:solidFill>
                  <a:schemeClr val="tx1"/>
                </a:solidFill>
                <a:latin typeface="+mn-lt"/>
                <a:ea typeface="+mn-lt"/>
                <a:cs typeface="+mn-lt"/>
              </a:rPr>
              <a:t>• Prioritize the top 5 behaviors the company will support</a:t>
            </a:r>
          </a:p>
          <a:p>
            <a:pPr marL="0" indent="0" algn="l"/>
            <a:r>
              <a:rPr lang="en-US" sz="1200" dirty="0">
                <a:solidFill>
                  <a:schemeClr val="tx1"/>
                </a:solidFill>
                <a:latin typeface="+mn-lt"/>
                <a:ea typeface="+mn-lt"/>
                <a:cs typeface="+mn-lt"/>
              </a:rPr>
              <a:t>• List the top 5 behaviors the company will never support</a:t>
            </a:r>
          </a:p>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4</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749481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sz="1200" dirty="0">
                <a:solidFill>
                  <a:schemeClr val="tx1"/>
                </a:solidFill>
              </a:rPr>
              <a:t>Define clear yellow and red lines to ensure everyone in the organization abides by the values. </a:t>
            </a:r>
          </a:p>
          <a:p>
            <a:pPr algn="l"/>
            <a:endParaRPr lang="en-GB" sz="1200" dirty="0">
              <a:solidFill>
                <a:schemeClr val="tx1"/>
              </a:solidFill>
            </a:endParaRPr>
          </a:p>
          <a:p>
            <a:pPr algn="l"/>
            <a:r>
              <a:rPr lang="en-GB" sz="1200" dirty="0">
                <a:solidFill>
                  <a:schemeClr val="tx1"/>
                </a:solidFill>
              </a:rPr>
              <a:t>Outline all the situations in which you will either give a warning or terminate (YELLOW OR RED</a:t>
            </a:r>
            <a:r>
              <a:rPr lang="en-GB" sz="1200" baseline="0" dirty="0">
                <a:solidFill>
                  <a:schemeClr val="tx1"/>
                </a:solidFill>
              </a:rPr>
              <a:t> cards)</a:t>
            </a:r>
            <a:r>
              <a:rPr lang="en-GB" sz="1200" dirty="0">
                <a:solidFill>
                  <a:schemeClr val="tx1"/>
                </a:solidFill>
              </a:rPr>
              <a:t>. </a:t>
            </a:r>
          </a:p>
          <a:p>
            <a:pPr algn="l"/>
            <a:endParaRPr lang="en-GB" sz="1200" dirty="0">
              <a:solidFill>
                <a:schemeClr val="tx1"/>
              </a:solidFill>
            </a:endParaRPr>
          </a:p>
          <a:p>
            <a:pPr algn="l"/>
            <a:r>
              <a:rPr lang="en-GB" sz="1200" dirty="0">
                <a:solidFill>
                  <a:schemeClr val="tx1"/>
                </a:solidFill>
              </a:rPr>
              <a:t>- Yellow lines require an immediate discussion with the employee.</a:t>
            </a:r>
          </a:p>
          <a:p>
            <a:pPr algn="l"/>
            <a:endParaRPr lang="en-GB" sz="1200" dirty="0">
              <a:solidFill>
                <a:schemeClr val="tx1"/>
              </a:solidFill>
            </a:endParaRPr>
          </a:p>
          <a:p>
            <a:pPr algn="l"/>
            <a:r>
              <a:rPr lang="en-GB" sz="1200" dirty="0">
                <a:solidFill>
                  <a:schemeClr val="tx1"/>
                </a:solidFill>
              </a:rPr>
              <a:t>- Red lines represent a severe misalignment with values and are a firing alert.</a:t>
            </a:r>
          </a:p>
          <a:p>
            <a:pPr algn="l"/>
            <a:endParaRPr lang="en-GB" sz="1200" dirty="0">
              <a:solidFill>
                <a:schemeClr val="tx1"/>
              </a:solidFill>
            </a:endParaRPr>
          </a:p>
          <a:p>
            <a:pPr algn="l"/>
            <a:r>
              <a:rPr lang="en-GB" sz="1200" dirty="0">
                <a:solidFill>
                  <a:schemeClr val="tx1"/>
                </a:solidFill>
              </a:rPr>
              <a:t>Do not think about how hard it will be to replace certain positions at this stage.</a:t>
            </a:r>
          </a:p>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5</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3428638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r>
              <a:rPr lang="en-US" sz="1200" dirty="0">
                <a:solidFill>
                  <a:schemeClr val="tx1"/>
                </a:solidFill>
                <a:latin typeface="+mn-lt"/>
                <a:ea typeface="+mn-lt"/>
                <a:cs typeface="+mn-lt"/>
              </a:rPr>
              <a:t>The biggest mistake that most companies make is recruiting for skills. If you want like-minded people working together, search for values that fit instead. </a:t>
            </a: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Create a list of questions you will use to determine this fit right at the recruitment stage. </a:t>
            </a:r>
          </a:p>
          <a:p>
            <a:pPr marL="0" indent="0" algn="l"/>
            <a:endParaRPr lang="en-US" sz="1200" dirty="0">
              <a:solidFill>
                <a:schemeClr val="tx1"/>
              </a:solidFill>
              <a:latin typeface="+mn-lt"/>
              <a:ea typeface="+mn-lt"/>
              <a:cs typeface="+mn-lt"/>
            </a:endParaRPr>
          </a:p>
          <a:p>
            <a:pPr marL="0" indent="0" algn="l"/>
            <a:r>
              <a:rPr lang="en-US" sz="1200" dirty="0">
                <a:solidFill>
                  <a:schemeClr val="tx1"/>
                </a:solidFill>
                <a:latin typeface="+mn-lt"/>
                <a:ea typeface="+mn-lt"/>
                <a:cs typeface="+mn-lt"/>
              </a:rPr>
              <a:t>Make sure to be specific and avoid hypothetical questions (ex. How would you deal with a conflict with a co-worker?) as they give the candidate a chance to spin the yarn. </a:t>
            </a:r>
          </a:p>
          <a:p>
            <a:pPr marL="0" indent="0" algn="l"/>
            <a:endParaRPr lang="en-US" sz="1200" dirty="0">
              <a:solidFill>
                <a:schemeClr val="tx1"/>
              </a:solidFill>
              <a:latin typeface="+mn-lt"/>
              <a:ea typeface="+mn-lt"/>
              <a:cs typeface="+mn-lt"/>
            </a:endParaRPr>
          </a:p>
          <a:p>
            <a:pPr marL="0" indent="0" algn="l"/>
            <a:endParaRPr lang="en-US" sz="1200" dirty="0">
              <a:solidFill>
                <a:schemeClr val="tx1"/>
              </a:solidFill>
              <a:latin typeface="+mn-lt"/>
              <a:ea typeface="+mn-lt"/>
              <a:cs typeface="+mn-lt"/>
            </a:endParaRPr>
          </a:p>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6</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0574604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solidFill>
                  <a:schemeClr val="tx1"/>
                </a:solidFill>
                <a:latin typeface="+mn-lt"/>
                <a:ea typeface="+mn-lt"/>
                <a:cs typeface="+mn-lt"/>
              </a:rPr>
              <a:t>Decide together on a list of actions, a time frame, and each item's owners.</a:t>
            </a:r>
          </a:p>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7</a:t>
            </a:fld>
            <a:endParaRPr kumimoji="0" lang="en-US" sz="120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1995594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3136651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815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2540665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0188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658940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96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386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4104472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241675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645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9815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2812685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162119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433518930"/>
      </p:ext>
    </p:extLst>
  </p:cSld>
  <p:clrMap bg1="lt1" tx1="dk1" bg2="lt2" tx2="dk2" accent1="accent1" accent2="accent2" accent3="accent3" accent4="accent4" accent5="accent5" accent6="accent6" hlink="hlink" folHlink="folHlink"/>
  <p:sldLayoutIdLst>
    <p:sldLayoutId id="2147484478" r:id="rId1"/>
    <p:sldLayoutId id="2147484479" r:id="rId2"/>
    <p:sldLayoutId id="2147484480" r:id="rId3"/>
    <p:sldLayoutId id="2147484481" r:id="rId4"/>
    <p:sldLayoutId id="2147484482" r:id="rId5"/>
    <p:sldLayoutId id="2147484483" r:id="rId6"/>
    <p:sldLayoutId id="2147484484"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userDrawn="1">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userDrawn="1">
          <p15:clr>
            <a:srgbClr val="F26B43"/>
          </p15:clr>
        </p15:guide>
        <p15:guide id="35" orient="horz" pos="250" userDrawn="1">
          <p15:clr>
            <a:srgbClr val="F26B43"/>
          </p15:clr>
        </p15:guide>
        <p15:guide id="36" orient="horz" pos="3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571242831"/>
      </p:ext>
    </p:extLst>
  </p:cSld>
  <p:clrMap bg1="lt1" tx1="dk1" bg2="lt2" tx2="dk2" accent1="accent1" accent2="accent2" accent3="accent3" accent4="accent4" accent5="accent5" accent6="accent6" hlink="hlink" folHlink="folHlink"/>
  <p:sldLayoutIdLst>
    <p:sldLayoutId id="2147484486"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82343"/>
      </p:ext>
    </p:extLst>
  </p:cSld>
  <p:clrMap bg1="lt1" tx1="dk1" bg2="lt2" tx2="dk2" accent1="accent1" accent2="accent2" accent3="accent3" accent4="accent4" accent5="accent5" accent6="accent6" hlink="hlink" folHlink="folHlink"/>
  <p:sldLayoutIdLst>
    <p:sldLayoutId id="2147483648" r:id="rId1"/>
    <p:sldLayoutId id="2147484488" r:id="rId2"/>
    <p:sldLayoutId id="2147483649" r:id="rId3"/>
    <p:sldLayoutId id="2147484489" r:id="rId4"/>
    <p:sldLayoutId id="2147484490"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2054775665"/>
              </p:ext>
            </p:extLst>
          </p:nvPr>
        </p:nvGraphicFramePr>
        <p:xfrm>
          <a:off x="256819" y="719276"/>
          <a:ext cx="10262980" cy="6866605"/>
        </p:xfrm>
        <a:graphic>
          <a:graphicData uri="http://schemas.openxmlformats.org/drawingml/2006/table">
            <a:tbl>
              <a:tblPr firstRow="1" bandRow="1">
                <a:tableStyleId>{2D5ABB26-0587-4C30-8999-92F81FD0307C}</a:tableStyleId>
              </a:tblPr>
              <a:tblGrid>
                <a:gridCol w="5103329">
                  <a:extLst>
                    <a:ext uri="{9D8B030D-6E8A-4147-A177-3AD203B41FA5}">
                      <a16:colId xmlns:a16="http://schemas.microsoft.com/office/drawing/2014/main" val="3308902235"/>
                    </a:ext>
                  </a:extLst>
                </a:gridCol>
                <a:gridCol w="5159651">
                  <a:extLst>
                    <a:ext uri="{9D8B030D-6E8A-4147-A177-3AD203B41FA5}">
                      <a16:colId xmlns:a16="http://schemas.microsoft.com/office/drawing/2014/main" val="3046643254"/>
                    </a:ext>
                  </a:extLst>
                </a:gridCol>
              </a:tblGrid>
              <a:tr h="390635">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a:ea typeface="Riforma LL" panose="020B0504020101020102" pitchFamily="34" charset="77"/>
                          <a:cs typeface="Arial"/>
                        </a:rPr>
                        <a:t>Typical behaviors, and ways of doing things in the company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929379839"/>
                  </a:ext>
                </a:extLst>
              </a:tr>
              <a:tr h="390635">
                <a:tc>
                  <a:txBody>
                    <a:bodyPr/>
                    <a:lstStyle/>
                    <a:p>
                      <a:pPr marL="0" marR="0" lvl="0" indent="0" algn="l">
                        <a:lnSpc>
                          <a:spcPct val="100000"/>
                        </a:lnSpc>
                        <a:spcBef>
                          <a:spcPts val="0"/>
                        </a:spcBef>
                        <a:spcAft>
                          <a:spcPts val="0"/>
                        </a:spcAft>
                        <a:buNone/>
                      </a:pPr>
                      <a:r>
                        <a:rPr lang="en-US" sz="1100" b="0" i="0" u="none" strike="noStrike" noProof="0" dirty="0">
                          <a:solidFill>
                            <a:schemeClr val="tx1"/>
                          </a:solidFill>
                        </a:rPr>
                        <a:t>We Prioritize the Company's Mission &amp; Dream: Team members prioritize the company's mission and shared goals over personal agendas, always working toward the greater good and contributing to the collective dream of the organization.</a:t>
                      </a:r>
                      <a:endParaRPr lang="en-US" sz="110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ct val="100000"/>
                        </a:lnSpc>
                        <a:spcBef>
                          <a:spcPts val="0"/>
                        </a:spcBef>
                        <a:spcAft>
                          <a:spcPts val="0"/>
                        </a:spcAft>
                        <a:buNone/>
                      </a:pPr>
                      <a:r>
                        <a:rPr lang="en-US" sz="1100" b="0" i="0" u="none" strike="noStrike" noProof="0">
                          <a:solidFill>
                            <a:schemeClr val="tx1"/>
                          </a:solidFill>
                          <a:latin typeface="PF Square Sans Pro Light"/>
                        </a:rPr>
                        <a:t>We have a Customer-Centric approach: Every team member consistently prioritizes the needs of the customer, actively seeking ways to improve their experience and providing personalized care.</a:t>
                      </a:r>
                      <a:endParaRPr lang="en-US" sz="110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7487134"/>
                  </a:ext>
                </a:extLst>
              </a:tr>
              <a:tr h="390635">
                <a:tc>
                  <a:txBody>
                    <a:bodyPr/>
                    <a:lstStyle/>
                    <a:p>
                      <a:pPr marL="0" marR="0" lvl="0" indent="0" algn="l">
                        <a:lnSpc>
                          <a:spcPct val="100000"/>
                        </a:lnSpc>
                        <a:spcBef>
                          <a:spcPts val="0"/>
                        </a:spcBef>
                        <a:spcAft>
                          <a:spcPts val="0"/>
                        </a:spcAft>
                        <a:buNone/>
                      </a:pPr>
                      <a:r>
                        <a:rPr lang="en-US" sz="1100" b="0" i="0" u="none" strike="noStrike" noProof="0" dirty="0">
                          <a:solidFill>
                            <a:schemeClr val="tx1"/>
                          </a:solidFill>
                        </a:rPr>
                        <a:t>We embrace a healthy lifestyle to inspire others: Every team member demonstrates a genuine care for the health and well-being of customers, colleagues, and themselves. They are empathetic in their interactions, strive to empower others, and promote a healthy lifestyle both within the company and externally, setting an example of what the brand stands for.</a:t>
                      </a:r>
                      <a:endParaRPr lang="en-US" sz="110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l">
                        <a:lnSpc>
                          <a:spcPct val="100000"/>
                        </a:lnSpc>
                        <a:spcBef>
                          <a:spcPts val="0"/>
                        </a:spcBef>
                        <a:spcAft>
                          <a:spcPts val="0"/>
                        </a:spcAft>
                        <a:buNone/>
                      </a:pPr>
                      <a:r>
                        <a:rPr lang="en-US" sz="1100" b="0" i="0" u="none" strike="noStrike" noProof="0" dirty="0">
                          <a:solidFill>
                            <a:schemeClr val="tx1"/>
                          </a:solidFill>
                          <a:latin typeface="PF Square Sans Pro Light"/>
                        </a:rPr>
                        <a:t>We cultivate a learning culture that drives continuous improvement: A culture of lifelong learning is embraced, where team members are encouraged to stay curious, learn about the latest health trends, and seek personal and professional growth. They participate in training, stay informed on integrative medicine, and apply new knowledge to help customers and the company grow.</a:t>
                      </a:r>
                      <a:endParaRPr lang="en-US" sz="1100" b="0" i="0" u="none" strike="noStrike" noProof="0">
                        <a:solidFill>
                          <a:srgbClr val="000000"/>
                        </a:solidFill>
                        <a:latin typeface="PF Square Sans Pro Ligh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8554850"/>
                  </a:ext>
                </a:extLst>
              </a:tr>
              <a:tr h="390635">
                <a:tc>
                  <a:txBody>
                    <a:bodyPr/>
                    <a:lstStyle/>
                    <a:p>
                      <a:pPr marL="0" marR="0" lvl="0" indent="0" algn="l">
                        <a:lnSpc>
                          <a:spcPct val="100000"/>
                        </a:lnSpc>
                        <a:spcBef>
                          <a:spcPts val="0"/>
                        </a:spcBef>
                        <a:spcAft>
                          <a:spcPts val="0"/>
                        </a:spcAft>
                        <a:buNone/>
                      </a:pPr>
                      <a:r>
                        <a:rPr lang="en-US" sz="1100" b="0" i="0" u="none" strike="noStrike" noProof="0" dirty="0">
                          <a:solidFill>
                            <a:schemeClr val="tx1"/>
                          </a:solidFill>
                        </a:rPr>
                        <a:t>We take Ownership and Accountability: Team members take responsibility for their actions and outcomes, demonstrating genuine care and commitment following through their promises and prioritizing on company's goals. They do not pass tasks onto others unnecessarily; instead, they actively engage, collaborate, and see projects through to completion. They carry the torch, ensuring promises are kept and results are achieved. </a:t>
                      </a:r>
                      <a:endParaRPr lang="en-US" sz="110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a:lnSpc>
                          <a:spcPct val="100000"/>
                        </a:lnSpc>
                        <a:spcBef>
                          <a:spcPts val="0"/>
                        </a:spcBef>
                        <a:spcAft>
                          <a:spcPts val="0"/>
                        </a:spcAft>
                        <a:buNone/>
                      </a:pPr>
                      <a:r>
                        <a:rPr lang="en-US" sz="1100" b="0" i="0" u="none" strike="noStrike" noProof="0" dirty="0">
                          <a:solidFill>
                            <a:schemeClr val="tx1"/>
                          </a:solidFill>
                        </a:rPr>
                        <a:t>We constantly innovate and experiment: Team members are innovative and forward-thinking, constantly looking for new opportunities to improve products, services, and customer experiences. </a:t>
                      </a:r>
                      <a:endParaRPr lang="en-US" sz="110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371749"/>
                  </a:ext>
                </a:extLst>
              </a:tr>
              <a:tr h="390635">
                <a:tc>
                  <a:txBody>
                    <a:bodyPr/>
                    <a:lstStyle/>
                    <a:p>
                      <a:pPr marL="0" marR="0" lvl="0" indent="0" algn="l">
                        <a:lnSpc>
                          <a:spcPct val="100000"/>
                        </a:lnSpc>
                        <a:spcBef>
                          <a:spcPts val="0"/>
                        </a:spcBef>
                        <a:spcAft>
                          <a:spcPts val="0"/>
                        </a:spcAft>
                        <a:buNone/>
                      </a:pPr>
                      <a:r>
                        <a:rPr lang="en-US" sz="1100" b="0" i="0" u="none" strike="noStrike" noProof="0" dirty="0">
                          <a:solidFill>
                            <a:schemeClr val="tx1"/>
                          </a:solidFill>
                        </a:rPr>
                        <a:t>We embrace failure as a chance to learn and improve: We make new mistakes, don't repeat old ones. We fail fast and cheap.</a:t>
                      </a:r>
                      <a:endParaRPr lang="en-US" sz="110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a:lnSpc>
                          <a:spcPct val="100000"/>
                        </a:lnSpc>
                        <a:spcBef>
                          <a:spcPts val="0"/>
                        </a:spcBef>
                        <a:spcAft>
                          <a:spcPts val="0"/>
                        </a:spcAft>
                        <a:buNone/>
                      </a:pPr>
                      <a:r>
                        <a:rPr lang="en-US" sz="1100" b="0" i="0" u="none" strike="noStrike" noProof="0" dirty="0">
                          <a:solidFill>
                            <a:schemeClr val="tx1"/>
                          </a:solidFill>
                        </a:rPr>
                        <a:t>We work collaboratively fostering an open and exciting environment where ideas are welcomed, solutions are co-created, and feedback is given and taken proactively with radical candor to promote growth and trust.</a:t>
                      </a:r>
                      <a:endParaRPr lang="en-US" sz="110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015239"/>
                  </a:ext>
                </a:extLst>
              </a:tr>
              <a:tr h="390635">
                <a:tc>
                  <a:txBody>
                    <a:bodyPr/>
                    <a:lstStyle/>
                    <a:p>
                      <a:pPr marL="0" marR="0" lvl="0" indent="0" algn="l">
                        <a:lnSpc>
                          <a:spcPct val="100000"/>
                        </a:lnSpc>
                        <a:spcBef>
                          <a:spcPts val="0"/>
                        </a:spcBef>
                        <a:spcAft>
                          <a:spcPts val="0"/>
                        </a:spcAft>
                        <a:buNone/>
                      </a:pPr>
                      <a:r>
                        <a:rPr lang="en-US" sz="1100" b="0" i="0" u="none" strike="noStrike" noProof="0" dirty="0">
                          <a:solidFill>
                            <a:schemeClr val="tx1"/>
                          </a:solidFill>
                        </a:rPr>
                        <a:t>We take initiative in all aspects of our work, actively engaging in problem-solving, identifying challenges early, addressing the root cause, and fixing processes to prevent recurrence, ensuring effective long-term solutions.</a:t>
                      </a:r>
                      <a:endParaRPr lang="en-US" sz="110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100" b="0" i="0" dirty="0">
                        <a:solidFill>
                          <a:schemeClr val="tx1"/>
                        </a:solidFill>
                        <a:latin typeface="Arial"/>
                        <a:ea typeface="Riforma LL" panose="020B0504020101020102" pitchFamily="34" charset="77"/>
                        <a:cs typeface="Aria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9357261"/>
                  </a:ext>
                </a:extLst>
              </a:tr>
              <a:tr h="39063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a:ea typeface="Riforma LL" panose="020B0504020101020102" pitchFamily="34" charset="77"/>
                          <a:cs typeface="Arial"/>
                        </a:rPr>
                        <a:t>Top 5 most commonly observed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tx1"/>
                          </a:solidFill>
                          <a:latin typeface="Arial"/>
                          <a:ea typeface="Riforma LL" panose="020B0504020101020102" pitchFamily="34" charset="77"/>
                          <a:cs typeface="Arial"/>
                        </a:rPr>
                        <a:t> </a:t>
                      </a:r>
                      <a:r>
                        <a:rPr lang="en-US" sz="1400" b="0" i="0" dirty="0">
                          <a:solidFill>
                            <a:schemeClr val="bg1"/>
                          </a:solidFill>
                          <a:latin typeface="Arial"/>
                          <a:ea typeface="Riforma LL" panose="020B0504020101020102" pitchFamily="34" charset="77"/>
                          <a:cs typeface="Arial"/>
                        </a:rPr>
                        <a:t>The 5 company values that these behaviors represent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446535">
                <a:tc>
                  <a:txBody>
                    <a:bodyPr/>
                    <a:lstStyle/>
                    <a:p>
                      <a:pPr marL="0" marR="0" lvl="0" indent="0" algn="l">
                        <a:lnSpc>
                          <a:spcPct val="100000"/>
                        </a:lnSpc>
                        <a:spcBef>
                          <a:spcPts val="0"/>
                        </a:spcBef>
                        <a:spcAft>
                          <a:spcPts val="0"/>
                        </a:spcAft>
                        <a:buNone/>
                      </a:pPr>
                      <a:r>
                        <a:rPr lang="en-US" sz="1200" b="0" i="0" u="none" strike="noStrike" noProof="0" dirty="0">
                          <a:solidFill>
                            <a:schemeClr val="tx1"/>
                          </a:solidFill>
                        </a:rPr>
                        <a:t>We are ambitious and aspire to something greater than ourselves seeking opportunities for continuous improvement.</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a:lnSpc>
                          <a:spcPct val="100000"/>
                        </a:lnSpc>
                        <a:spcBef>
                          <a:spcPts val="0"/>
                        </a:spcBef>
                        <a:spcAft>
                          <a:spcPts val="0"/>
                        </a:spcAft>
                        <a:buNone/>
                      </a:pPr>
                      <a:r>
                        <a:rPr lang="en-US" sz="1200" b="0" i="0" u="none" strike="noStrike" noProof="0" dirty="0">
                          <a:solidFill>
                            <a:schemeClr val="tx1"/>
                          </a:solidFill>
                        </a:rPr>
                        <a:t>Be better tomorrow!</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446535">
                <a:tc>
                  <a:txBody>
                    <a:bodyPr/>
                    <a:lstStyle/>
                    <a:p>
                      <a:pPr marL="0" marR="0" lvl="0" indent="0" algn="l">
                        <a:lnSpc>
                          <a:spcPct val="100000"/>
                        </a:lnSpc>
                        <a:spcBef>
                          <a:spcPts val="0"/>
                        </a:spcBef>
                        <a:spcAft>
                          <a:spcPts val="0"/>
                        </a:spcAft>
                        <a:buNone/>
                      </a:pPr>
                      <a:r>
                        <a:rPr lang="en-US" sz="1200" b="0" i="0" u="none" strike="noStrike" noProof="0" dirty="0">
                          <a:solidFill>
                            <a:schemeClr val="tx1"/>
                          </a:solidFill>
                        </a:rPr>
                        <a:t>We prioritize the needs of the customer, actively seeking ways to improve their experience.</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a:lnSpc>
                          <a:spcPct val="100000"/>
                        </a:lnSpc>
                        <a:spcBef>
                          <a:spcPts val="0"/>
                        </a:spcBef>
                        <a:spcAft>
                          <a:spcPts val="0"/>
                        </a:spcAft>
                        <a:buNone/>
                      </a:pPr>
                      <a:r>
                        <a:rPr lang="en-US" sz="1200" b="0" i="0" u="none" strike="noStrike" noProof="0" dirty="0">
                          <a:solidFill>
                            <a:schemeClr val="tx1"/>
                          </a:solidFill>
                        </a:rPr>
                        <a:t>Craft unbelievable experiences!</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910689"/>
                  </a:ext>
                </a:extLst>
              </a:tr>
              <a:tr h="446535">
                <a:tc>
                  <a:txBody>
                    <a:bodyPr/>
                    <a:lstStyle/>
                    <a:p>
                      <a:pPr marL="0" marR="0" lvl="0" indent="0" algn="l">
                        <a:lnSpc>
                          <a:spcPct val="100000"/>
                        </a:lnSpc>
                        <a:spcBef>
                          <a:spcPts val="0"/>
                        </a:spcBef>
                        <a:spcAft>
                          <a:spcPts val="0"/>
                        </a:spcAft>
                        <a:buNone/>
                      </a:pPr>
                      <a:r>
                        <a:rPr lang="en-US" sz="1200" b="0" i="0" u="none" strike="noStrike" noProof="0" dirty="0">
                          <a:solidFill>
                            <a:schemeClr val="tx1"/>
                          </a:solidFill>
                        </a:rPr>
                        <a:t>We give and receive feedback proactively with radical candor to promote growth and trust.</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a:lnSpc>
                          <a:spcPct val="100000"/>
                        </a:lnSpc>
                        <a:spcBef>
                          <a:spcPts val="0"/>
                        </a:spcBef>
                        <a:spcAft>
                          <a:spcPts val="0"/>
                        </a:spcAft>
                        <a:buNone/>
                      </a:pPr>
                      <a:r>
                        <a:rPr lang="en-US" sz="1200" b="0" i="0" u="none" strike="noStrike" noProof="0" dirty="0">
                          <a:solidFill>
                            <a:schemeClr val="tx1"/>
                          </a:solidFill>
                        </a:rPr>
                        <a:t>Be better tomorrow!</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650493"/>
                  </a:ext>
                </a:extLst>
              </a:tr>
              <a:tr h="446535">
                <a:tc>
                  <a:txBody>
                    <a:bodyPr/>
                    <a:lstStyle/>
                    <a:p>
                      <a:pPr marL="0" marR="0" lvl="0" indent="0" algn="l">
                        <a:lnSpc>
                          <a:spcPct val="100000"/>
                        </a:lnSpc>
                        <a:spcBef>
                          <a:spcPts val="0"/>
                        </a:spcBef>
                        <a:spcAft>
                          <a:spcPts val="0"/>
                        </a:spcAft>
                        <a:buNone/>
                      </a:pPr>
                      <a:r>
                        <a:rPr lang="en-US" sz="1200" b="0" i="0" u="none" strike="noStrike" noProof="0" dirty="0">
                          <a:solidFill>
                            <a:schemeClr val="tx1"/>
                          </a:solidFill>
                        </a:rPr>
                        <a:t>We take ownership by delivering on our promises.</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a:lnSpc>
                          <a:spcPct val="100000"/>
                        </a:lnSpc>
                        <a:spcBef>
                          <a:spcPts val="0"/>
                        </a:spcBef>
                        <a:spcAft>
                          <a:spcPts val="0"/>
                        </a:spcAft>
                        <a:buNone/>
                      </a:pPr>
                      <a:r>
                        <a:rPr lang="en-US" sz="1200" b="0" i="0" u="none" strike="noStrike" noProof="0" dirty="0">
                          <a:solidFill>
                            <a:schemeClr val="tx1"/>
                          </a:solidFill>
                        </a:rPr>
                        <a:t>Take initiative and own your impact!</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009344"/>
                  </a:ext>
                </a:extLst>
              </a:tr>
              <a:tr h="446535">
                <a:tc>
                  <a:txBody>
                    <a:bodyPr/>
                    <a:lstStyle/>
                    <a:p>
                      <a:pPr marL="0" marR="0" lvl="0" indent="0" algn="l">
                        <a:lnSpc>
                          <a:spcPct val="100000"/>
                        </a:lnSpc>
                        <a:spcBef>
                          <a:spcPts val="0"/>
                        </a:spcBef>
                        <a:spcAft>
                          <a:spcPts val="0"/>
                        </a:spcAft>
                        <a:buNone/>
                      </a:pPr>
                      <a:r>
                        <a:rPr lang="en-US" sz="1200" b="0" i="0" u="none" strike="noStrike" noProof="0" dirty="0">
                          <a:solidFill>
                            <a:schemeClr val="tx1"/>
                          </a:solidFill>
                        </a:rPr>
                        <a:t>We collaborate to achieve common goals valuing team work and diverse perspectives in problem solving.</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a:lnSpc>
                          <a:spcPct val="100000"/>
                        </a:lnSpc>
                        <a:spcBef>
                          <a:spcPts val="0"/>
                        </a:spcBef>
                        <a:spcAft>
                          <a:spcPts val="0"/>
                        </a:spcAft>
                        <a:buNone/>
                      </a:pPr>
                      <a:r>
                        <a:rPr lang="en-US" sz="1200" b="0" i="0" u="none" strike="noStrike" noProof="0" dirty="0">
                          <a:solidFill>
                            <a:schemeClr val="tx1"/>
                          </a:solidFill>
                        </a:rPr>
                        <a:t>Collaborate, you are part of the team!</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9891231"/>
                  </a:ext>
                </a:extLst>
              </a:tr>
            </a:tbl>
          </a:graphicData>
        </a:graphic>
      </p:graphicFrame>
      <p:sp>
        <p:nvSpPr>
          <p:cNvPr id="2" name="Title 4">
            <a:extLst>
              <a:ext uri="{FF2B5EF4-FFF2-40B4-BE49-F238E27FC236}">
                <a16:creationId xmlns:a16="http://schemas.microsoft.com/office/drawing/2014/main" id="{8F063217-5D9D-21EA-7649-2D8B26A10C9C}"/>
              </a:ext>
            </a:extLst>
          </p:cNvPr>
          <p:cNvSpPr>
            <a:spLocks noGrp="1"/>
          </p:cNvSpPr>
          <p:nvPr>
            <p:ph type="title"/>
          </p:nvPr>
        </p:nvSpPr>
        <p:spPr>
          <a:xfrm>
            <a:off x="89040" y="211686"/>
            <a:ext cx="9664560" cy="401639"/>
          </a:xfrm>
        </p:spPr>
        <p:txBody>
          <a:bodyPr/>
          <a:lstStyle/>
          <a:p>
            <a:r>
              <a:rPr lang="en-GB" sz="3600" b="0" dirty="0">
                <a:latin typeface="Plaak 3 Trial Regular" panose="02000000000000000000" pitchFamily="2" charset="0"/>
              </a:rPr>
              <a:t>Company values </a:t>
            </a:r>
            <a:endParaRPr lang="en-BG" sz="3600" b="0" dirty="0">
              <a:latin typeface="Plaak 3 Trial Regular" panose="02000000000000000000" pitchFamily="2" charset="0"/>
            </a:endParaRPr>
          </a:p>
        </p:txBody>
      </p:sp>
    </p:spTree>
    <p:extLst>
      <p:ext uri="{BB962C8B-B14F-4D97-AF65-F5344CB8AC3E}">
        <p14:creationId xmlns:p14="http://schemas.microsoft.com/office/powerpoint/2010/main" val="1820793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1F74CD5A-9F80-0549-8844-6BFF5ADE70C7}"/>
              </a:ext>
            </a:extLst>
          </p:cNvPr>
          <p:cNvGraphicFramePr>
            <a:graphicFrameLocks noGrp="1"/>
          </p:cNvGraphicFramePr>
          <p:nvPr>
            <p:extLst>
              <p:ext uri="{D42A27DB-BD31-4B8C-83A1-F6EECF244321}">
                <p14:modId xmlns:p14="http://schemas.microsoft.com/office/powerpoint/2010/main" val="1512988842"/>
              </p:ext>
            </p:extLst>
          </p:nvPr>
        </p:nvGraphicFramePr>
        <p:xfrm>
          <a:off x="85296" y="414091"/>
          <a:ext cx="10504352" cy="7360619"/>
        </p:xfrm>
        <a:graphic>
          <a:graphicData uri="http://schemas.openxmlformats.org/drawingml/2006/table">
            <a:tbl>
              <a:tblPr firstRow="1" bandRow="1">
                <a:tableStyleId>{2D5ABB26-0587-4C30-8999-92F81FD0307C}</a:tableStyleId>
              </a:tblPr>
              <a:tblGrid>
                <a:gridCol w="10504352">
                  <a:extLst>
                    <a:ext uri="{9D8B030D-6E8A-4147-A177-3AD203B41FA5}">
                      <a16:colId xmlns:a16="http://schemas.microsoft.com/office/drawing/2014/main" val="3313590318"/>
                    </a:ext>
                  </a:extLst>
                </a:gridCol>
              </a:tblGrid>
              <a:tr h="416655">
                <a:tc>
                  <a:txBody>
                    <a:bodyPr/>
                    <a:lstStyle/>
                    <a:p>
                      <a:r>
                        <a:rPr lang="en-US" sz="1400" b="0" i="0" dirty="0">
                          <a:solidFill>
                            <a:schemeClr val="bg1"/>
                          </a:solidFill>
                          <a:latin typeface="Arial"/>
                          <a:ea typeface="Riforma LL" panose="020B0504020101020102" pitchFamily="34" charset="0"/>
                          <a:cs typeface="Arial"/>
                        </a:rPr>
                        <a:t>Your dream &gt; </a:t>
                      </a:r>
                      <a:r>
                        <a:rPr lang="en-US" sz="1400" b="0" i="0" dirty="0">
                          <a:solidFill>
                            <a:srgbClr val="FF0000"/>
                          </a:solidFill>
                          <a:latin typeface="Arial"/>
                          <a:ea typeface="Riforma LL" panose="020B0504020101020102" pitchFamily="34" charset="0"/>
                          <a:cs typeface="Arial"/>
                        </a:rPr>
                        <a:t>To be updated after </a:t>
                      </a:r>
                      <a:r>
                        <a:rPr lang="en-US" sz="1400" b="0" i="0" dirty="0" err="1">
                          <a:solidFill>
                            <a:srgbClr val="FF0000"/>
                          </a:solidFill>
                          <a:latin typeface="Arial"/>
                          <a:ea typeface="Riforma LL" panose="020B0504020101020102" pitchFamily="34" charset="0"/>
                          <a:cs typeface="Arial"/>
                        </a:rPr>
                        <a:t>receving</a:t>
                      </a:r>
                      <a:r>
                        <a:rPr lang="en-US" sz="1400" b="0" i="0" dirty="0">
                          <a:solidFill>
                            <a:srgbClr val="FF0000"/>
                          </a:solidFill>
                          <a:latin typeface="Arial"/>
                          <a:ea typeface="Riforma LL" panose="020B0504020101020102" pitchFamily="34" charset="0"/>
                          <a:cs typeface="Arial"/>
                        </a:rPr>
                        <a:t> your feedback</a:t>
                      </a:r>
                      <a:endPar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3983431">
                <a:tc>
                  <a:txBody>
                    <a:bodyPr/>
                    <a:lstStyle/>
                    <a:p>
                      <a:pPr lvl="0" algn="l">
                        <a:lnSpc>
                          <a:spcPct val="100000"/>
                        </a:lnSpc>
                        <a:spcBef>
                          <a:spcPts val="0"/>
                        </a:spcBef>
                        <a:spcAft>
                          <a:spcPts val="0"/>
                        </a:spcAft>
                        <a:buNone/>
                      </a:pPr>
                      <a:r>
                        <a:rPr lang="en-US" sz="1000" b="0" i="0" u="none" strike="noStrike" noProof="0" dirty="0"/>
                        <a:t>In 5 years, we are at the forefront of a wellness revolution, transforming the way people take charge of their health. What began as a bold vision has evolved into a movement that has redefined how health and well-being are experienced and prioritized in everyday life. </a:t>
                      </a:r>
                      <a:endParaRPr lang="en-US" sz="1000" dirty="0"/>
                    </a:p>
                    <a:p>
                      <a:pPr lvl="0" algn="l">
                        <a:lnSpc>
                          <a:spcPct val="100000"/>
                        </a:lnSpc>
                        <a:spcBef>
                          <a:spcPts val="0"/>
                        </a:spcBef>
                        <a:spcAft>
                          <a:spcPts val="0"/>
                        </a:spcAft>
                        <a:buNone/>
                      </a:pPr>
                      <a:r>
                        <a:rPr lang="en-US" sz="1000" b="0" i="0" u="none" strike="noStrike" noProof="0" dirty="0"/>
                        <a:t>Our mission is clear: we empower people to live healthier, more fulfilling lives by making a healthy lifestyle second nature. Through preventive and integrative care, we foster a culture where wellness is at the forefront. </a:t>
                      </a:r>
                      <a:endParaRPr lang="en-US" sz="1000" dirty="0"/>
                    </a:p>
                    <a:p>
                      <a:pPr lvl="0" algn="l">
                        <a:lnSpc>
                          <a:spcPct val="100000"/>
                        </a:lnSpc>
                        <a:spcBef>
                          <a:spcPts val="0"/>
                        </a:spcBef>
                        <a:spcAft>
                          <a:spcPts val="0"/>
                        </a:spcAft>
                        <a:buNone/>
                      </a:pPr>
                      <a:r>
                        <a:rPr lang="en-US" sz="1000" b="0" i="0" u="none" strike="noStrike" noProof="0" dirty="0"/>
                        <a:t>Our products, services, and experiences are designed to improve the health, vitality, and quality of life of individuals and families around the world. Today, we have built an extensive product portfolio offering a 360-degree approach to health, positioning ourselves as the leader in the wellness industry. With 75 of our own wellness stores across the country, serving over 1 million customers annually, we’ve made well-being accessible and essential. Our brand, Good Routine, now holds a 25% share in our business covering three product categories, and operates successfully in 10 international markets. For 8 years, we’ve maintained our standing as the undisputed leader in quality, a recognition that reflects our relentless commitment to excellence.</a:t>
                      </a:r>
                      <a:endParaRPr lang="en-US" sz="1000" dirty="0"/>
                    </a:p>
                    <a:p>
                      <a:pPr lvl="0" algn="l">
                        <a:lnSpc>
                          <a:spcPct val="100000"/>
                        </a:lnSpc>
                        <a:spcBef>
                          <a:spcPts val="0"/>
                        </a:spcBef>
                        <a:spcAft>
                          <a:spcPts val="0"/>
                        </a:spcAft>
                        <a:buNone/>
                      </a:pPr>
                      <a:r>
                        <a:rPr lang="en-US" sz="1000" b="0" i="0" u="none" strike="noStrike" noProof="0" dirty="0"/>
                        <a:t>Our impact is felt beyond products. We provide personalized health solutions and in-store consultancy services, guiding our customers toward better health. Every interaction—whether in-store or through our eShop—carries the promise of expert advice and premium, high-quality products that are effective and trusted. Our lean, automated processes ensure we stay ahead in efficiency, and our route to market is refined to deliver our unique offerings to as many people as possible.</a:t>
                      </a:r>
                      <a:endParaRPr lang="en-US" sz="1000" dirty="0"/>
                    </a:p>
                    <a:p>
                      <a:pPr lvl="0" algn="l">
                        <a:lnSpc>
                          <a:spcPct val="100000"/>
                        </a:lnSpc>
                        <a:spcBef>
                          <a:spcPts val="0"/>
                        </a:spcBef>
                        <a:spcAft>
                          <a:spcPts val="0"/>
                        </a:spcAft>
                        <a:buNone/>
                      </a:pPr>
                      <a:r>
                        <a:rPr lang="en-US" sz="1000" b="0" i="0" u="none" strike="noStrike" noProof="0" dirty="0"/>
                        <a:t>Customers describe us as a trusted partner in their wellness journey. They trust the quality of our products and appreciate the energy, passion, and dedication of our team. With strong business ethics, innovation at the core, and a solution-oriented approach, we stand out as a reliable and inspiring choice in the health and wellness industry.</a:t>
                      </a:r>
                      <a:endParaRPr lang="en-US" sz="1000" dirty="0"/>
                    </a:p>
                    <a:p>
                      <a:pPr lvl="0" algn="l">
                        <a:lnSpc>
                          <a:spcPct val="100000"/>
                        </a:lnSpc>
                        <a:spcBef>
                          <a:spcPts val="0"/>
                        </a:spcBef>
                        <a:spcAft>
                          <a:spcPts val="0"/>
                        </a:spcAft>
                        <a:buNone/>
                      </a:pPr>
                      <a:r>
                        <a:rPr lang="en-US" sz="1000" b="0" i="0" u="none" strike="noStrike" noProof="0" dirty="0"/>
                        <a:t>Our team is the heartbeat of this journey. Proud, motivated, and deeply connected to our mission, they feel a profound sense of accomplishment and unity. Every day, they are energized by the purpose we’ve cultivated, fully engaged in driving our shared vision forward. Our employees find personal and professional fulfillment here, thriving in a culture of continuous learning and meaningful contribution. Their ideas matter, and they take joy in being part of a movement that is transforming lives.</a:t>
                      </a:r>
                      <a:endParaRPr lang="en-US" sz="1000" dirty="0"/>
                    </a:p>
                    <a:p>
                      <a:pPr lvl="0" algn="l">
                        <a:lnSpc>
                          <a:spcPct val="100000"/>
                        </a:lnSpc>
                        <a:spcBef>
                          <a:spcPts val="0"/>
                        </a:spcBef>
                        <a:spcAft>
                          <a:spcPts val="0"/>
                        </a:spcAft>
                        <a:buNone/>
                      </a:pPr>
                      <a:r>
                        <a:rPr lang="en-US" sz="1000" b="0" i="0" u="none" strike="noStrike" noProof="0" dirty="0"/>
                        <a:t>Our offices are a reflection of who we are—sustainable, efficient, and designed to foster collaboration. We’ve expanded to take over the entire floor, creating spaces for fitness, meditation, and innovation. The design aligns with our wellness ethos, ensuring that our environment reflects the values we stand for.</a:t>
                      </a:r>
                      <a:endParaRPr lang="en-US" sz="1000" dirty="0"/>
                    </a:p>
                    <a:p>
                      <a:pPr lvl="0" algn="l">
                        <a:lnSpc>
                          <a:spcPct val="100000"/>
                        </a:lnSpc>
                        <a:spcBef>
                          <a:spcPts val="0"/>
                        </a:spcBef>
                        <a:spcAft>
                          <a:spcPts val="0"/>
                        </a:spcAft>
                        <a:buNone/>
                      </a:pPr>
                      <a:r>
                        <a:rPr lang="en-US" sz="1000" b="0" i="0" u="none" strike="noStrike" noProof="0" dirty="0"/>
                        <a:t>The capabilities we’ve built are remarkable. Our sales and distribution network is strong, with a robust retail presence and a growing ability to develop new product categories. Talent management has become a core strength, enabling us to attract and retain top talent, while our AI-integrated technology allows for hyper-personalized health solutions. Our customer-centric approach remains unwavering, and we continue to anticipate future trends, ensuring we stay ahead in a constantly evolving industry.</a:t>
                      </a:r>
                      <a:endParaRPr lang="en-US" sz="1000" dirty="0"/>
                    </a:p>
                    <a:p>
                      <a:pPr lvl="0" algn="l">
                        <a:lnSpc>
                          <a:spcPct val="100000"/>
                        </a:lnSpc>
                        <a:spcBef>
                          <a:spcPts val="0"/>
                        </a:spcBef>
                        <a:spcAft>
                          <a:spcPts val="0"/>
                        </a:spcAft>
                        <a:buNone/>
                      </a:pPr>
                      <a:r>
                        <a:rPr lang="en-US" sz="1000" b="0" i="0" u="none" strike="noStrike" noProof="0" dirty="0"/>
                        <a:t>Achieving this dream feels deeply fulfilling. It brings us joy, pride, and a sense of empowerment, knowing we’ve made a lasting impact on the world of health and well-being. We are energized and grateful for the journey, and this shared achievement strengthens our commitment to continue pushing boundaries.</a:t>
                      </a:r>
                      <a:endParaRPr lang="en-US" sz="1000" dirty="0"/>
                    </a:p>
                    <a:p>
                      <a:pPr lvl="0" algn="l">
                        <a:lnSpc>
                          <a:spcPct val="100000"/>
                        </a:lnSpc>
                        <a:spcBef>
                          <a:spcPts val="0"/>
                        </a:spcBef>
                        <a:spcAft>
                          <a:spcPts val="0"/>
                        </a:spcAft>
                        <a:buNone/>
                      </a:pPr>
                      <a:endParaRPr lang="en-US" sz="1000" dirty="0"/>
                    </a:p>
                    <a:p>
                      <a:pPr lvl="0">
                        <a:buNone/>
                      </a:pPr>
                      <a:r>
                        <a:rPr lang="en-US" sz="1000" b="0" i="0" u="none" strike="noStrike" noProof="0" dirty="0"/>
                        <a:t>We are not just a company—we are a catalyst for positive change, and every day we continue to shape the future of wellness. Our vision is bold, but it’s real, and we are living it today.</a:t>
                      </a:r>
                      <a:endParaRPr lang="en-US" sz="1000" b="0" i="0" dirty="0">
                        <a:latin typeface="Arial"/>
                        <a:ea typeface="Riforma LL" panose="020B0504020101020102" pitchFamily="34" charset="0"/>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421709">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Arial" panose="020B0604020202020204" pitchFamily="34" charset="0"/>
                          <a:ea typeface="Riforma LL" panose="020B0504020101020102" pitchFamily="34" charset="0"/>
                          <a:cs typeface="Arial" panose="020B0604020202020204" pitchFamily="34" charset="0"/>
                        </a:rPr>
                        <a:t>What are the required values for a team to achieve this dream </a:t>
                      </a:r>
                      <a:endParaRPr kumimoji="0" lang="en-US" sz="1200" b="0" i="0" u="none" strike="noStrike" kern="1200" cap="none" spc="0" normalizeH="0" baseline="0" noProof="0" dirty="0">
                        <a:ln>
                          <a:noFill/>
                        </a:ln>
                        <a:solidFill>
                          <a:schemeClr val="bg1"/>
                        </a:solidFill>
                        <a:effectLst/>
                        <a:uLnTx/>
                        <a:uFillTx/>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895863688"/>
                  </a:ext>
                </a:extLst>
              </a:tr>
              <a:tr h="1020665">
                <a:tc>
                  <a:txBody>
                    <a:bodyPr/>
                    <a:lstStyle/>
                    <a:p>
                      <a:pPr lvl="0" algn="l">
                        <a:lnSpc>
                          <a:spcPct val="100000"/>
                        </a:lnSpc>
                        <a:spcBef>
                          <a:spcPts val="0"/>
                        </a:spcBef>
                        <a:spcAft>
                          <a:spcPts val="0"/>
                        </a:spcAft>
                        <a:buNone/>
                      </a:pPr>
                      <a:r>
                        <a:rPr lang="en-US" sz="1200" b="0" i="0" u="none" strike="noStrike" kern="1200" cap="none" spc="0" normalizeH="0" baseline="0" noProof="0" dirty="0">
                          <a:ln>
                            <a:noFill/>
                          </a:ln>
                          <a:solidFill>
                            <a:prstClr val="black"/>
                          </a:solidFill>
                          <a:effectLst/>
                          <a:uLnTx/>
                          <a:uFillTx/>
                        </a:rPr>
                        <a:t>Live and Inspire a Healthy Lifestyle!</a:t>
                      </a:r>
                      <a:endParaRPr lang="en-US" dirty="0"/>
                    </a:p>
                    <a:p>
                      <a:pPr lvl="0" algn="l">
                        <a:lnSpc>
                          <a:spcPct val="100000"/>
                        </a:lnSpc>
                        <a:spcBef>
                          <a:spcPts val="0"/>
                        </a:spcBef>
                        <a:spcAft>
                          <a:spcPts val="0"/>
                        </a:spcAft>
                        <a:buNone/>
                      </a:pPr>
                      <a:r>
                        <a:rPr lang="en-US" sz="1200" b="0" i="0" u="none" strike="noStrike" kern="1200" cap="none" spc="0" normalizeH="0" baseline="0" noProof="0" dirty="0">
                          <a:ln>
                            <a:noFill/>
                          </a:ln>
                          <a:solidFill>
                            <a:prstClr val="black"/>
                          </a:solidFill>
                          <a:effectLst/>
                          <a:uLnTx/>
                          <a:uFillTx/>
                        </a:rPr>
                        <a:t>Craft Unbelievable Experiences!</a:t>
                      </a:r>
                      <a:endParaRPr lang="en-US" dirty="0"/>
                    </a:p>
                    <a:p>
                      <a:pPr lvl="0" algn="l">
                        <a:lnSpc>
                          <a:spcPct val="100000"/>
                        </a:lnSpc>
                        <a:spcBef>
                          <a:spcPts val="0"/>
                        </a:spcBef>
                        <a:spcAft>
                          <a:spcPts val="0"/>
                        </a:spcAft>
                        <a:buNone/>
                      </a:pPr>
                      <a:r>
                        <a:rPr lang="en-US" sz="1200" b="0" i="0" u="none" strike="noStrike" kern="1200" cap="none" spc="0" normalizeH="0" baseline="0" noProof="0" dirty="0">
                          <a:ln>
                            <a:noFill/>
                          </a:ln>
                          <a:solidFill>
                            <a:prstClr val="black"/>
                          </a:solidFill>
                          <a:effectLst/>
                          <a:uLnTx/>
                          <a:uFillTx/>
                        </a:rPr>
                        <a:t>Be better tomorrow!</a:t>
                      </a:r>
                      <a:endParaRPr lang="en-US" dirty="0"/>
                    </a:p>
                    <a:p>
                      <a:pPr lvl="0" algn="l">
                        <a:lnSpc>
                          <a:spcPct val="100000"/>
                        </a:lnSpc>
                        <a:spcBef>
                          <a:spcPts val="0"/>
                        </a:spcBef>
                        <a:spcAft>
                          <a:spcPts val="0"/>
                        </a:spcAft>
                        <a:buNone/>
                      </a:pPr>
                      <a:r>
                        <a:rPr lang="en-US" sz="1200" b="0" i="0" u="none" strike="noStrike" kern="1200" cap="none" spc="0" normalizeH="0" baseline="0" noProof="0" dirty="0">
                          <a:ln>
                            <a:noFill/>
                          </a:ln>
                          <a:solidFill>
                            <a:prstClr val="black"/>
                          </a:solidFill>
                          <a:effectLst/>
                          <a:uLnTx/>
                          <a:uFillTx/>
                        </a:rPr>
                        <a:t>Take initiative and own your impact!</a:t>
                      </a:r>
                      <a:endParaRPr lang="en-US" dirty="0"/>
                    </a:p>
                    <a:p>
                      <a:pPr lvl="0" algn="l">
                        <a:lnSpc>
                          <a:spcPct val="100000"/>
                        </a:lnSpc>
                        <a:spcBef>
                          <a:spcPts val="0"/>
                        </a:spcBef>
                        <a:spcAft>
                          <a:spcPts val="0"/>
                        </a:spcAft>
                        <a:buNone/>
                      </a:pPr>
                      <a:r>
                        <a:rPr lang="en-US" sz="1200" b="0" i="0" u="none" strike="noStrike" kern="1200" cap="none" spc="0" normalizeH="0" baseline="0" noProof="0" dirty="0">
                          <a:ln>
                            <a:noFill/>
                          </a:ln>
                          <a:solidFill>
                            <a:prstClr val="black"/>
                          </a:solidFill>
                          <a:effectLst/>
                          <a:uLnTx/>
                          <a:uFillTx/>
                        </a:rPr>
                        <a:t>Collaborate, you are part of the team!</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2781455"/>
                  </a:ext>
                </a:extLst>
              </a:tr>
              <a:tr h="398262">
                <a:tc>
                  <a:txBody>
                    <a:bodyPr/>
                    <a:lstStyle/>
                    <a:p>
                      <a:pPr algn="l" rtl="0" fontAlgn="ctr"/>
                      <a:r>
                        <a:rPr lang="en-GB" sz="1600" b="0" i="0" u="none" strike="noStrike" dirty="0">
                          <a:solidFill>
                            <a:srgbClr val="FFFFFF"/>
                          </a:solidFill>
                          <a:effectLst/>
                          <a:latin typeface="Calibri "/>
                        </a:rPr>
                        <a:t>What is the gap between the aspirational values (previous response) and the current company values</a:t>
                      </a:r>
                    </a:p>
                  </a:txBody>
                  <a:tcPr marL="9525" marR="9525" marT="9525"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265844164"/>
                  </a:ext>
                </a:extLst>
              </a:tr>
              <a:tr h="1119897">
                <a:tc>
                  <a:txBody>
                    <a:bodyPr/>
                    <a:lstStyle/>
                    <a:p>
                      <a:pPr lvl="0" algn="l">
                        <a:lnSpc>
                          <a:spcPct val="100000"/>
                        </a:lnSpc>
                        <a:spcBef>
                          <a:spcPts val="0"/>
                        </a:spcBef>
                        <a:spcAft>
                          <a:spcPts val="0"/>
                        </a:spcAft>
                        <a:buNone/>
                      </a:pPr>
                      <a:r>
                        <a:rPr lang="en-US" sz="1200" b="0" i="0" u="none" strike="noStrike" noProof="0" dirty="0"/>
                        <a:t>The gap between the aspirational values and the current company values lies primarily in two areas: </a:t>
                      </a:r>
                      <a:endParaRPr lang="en-US" dirty="0"/>
                    </a:p>
                    <a:p>
                      <a:pPr lvl="0" algn="l">
                        <a:lnSpc>
                          <a:spcPct val="100000"/>
                        </a:lnSpc>
                        <a:spcBef>
                          <a:spcPts val="0"/>
                        </a:spcBef>
                        <a:spcAft>
                          <a:spcPts val="0"/>
                        </a:spcAft>
                        <a:buNone/>
                      </a:pPr>
                      <a:r>
                        <a:rPr lang="en-US" sz="1200" b="0" i="0" u="none" strike="noStrike" noProof="0" dirty="0"/>
                        <a:t>1. the absence of a strong focus on a healthy lifestyle and customer centricity, despite our ongoing internal initiative regarding customer centric approach. </a:t>
                      </a:r>
                      <a:endParaRPr lang="en-US" dirty="0"/>
                    </a:p>
                    <a:p>
                      <a:pPr marL="0" marR="0" lvl="0" indent="0" algn="l">
                        <a:lnSpc>
                          <a:spcPct val="100000"/>
                        </a:lnSpc>
                        <a:spcBef>
                          <a:spcPts val="0"/>
                        </a:spcBef>
                        <a:spcAft>
                          <a:spcPts val="0"/>
                        </a:spcAft>
                        <a:buNone/>
                      </a:pPr>
                      <a:r>
                        <a:rPr lang="en-US" sz="1200" b="0" i="0" u="none" strike="noStrike" noProof="0" dirty="0"/>
                        <a:t>2. for the existing values that we intend to keep, the challenge is in fully living them and ensuring they are upheld consistently by each and every team member. Currently, there are no clear consequences for team members who do not adhere to the company's values and principles, which hinders accountability and alignment with our aspirational culture.</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2377547"/>
                  </a:ext>
                </a:extLst>
              </a:tr>
            </a:tbl>
          </a:graphicData>
        </a:graphic>
      </p:graphicFrame>
      <p:sp>
        <p:nvSpPr>
          <p:cNvPr id="3" name="Title 4">
            <a:extLst>
              <a:ext uri="{FF2B5EF4-FFF2-40B4-BE49-F238E27FC236}">
                <a16:creationId xmlns:a16="http://schemas.microsoft.com/office/drawing/2014/main" id="{6E581B47-6022-F0F7-087C-8DC3AE5F8F81}"/>
              </a:ext>
            </a:extLst>
          </p:cNvPr>
          <p:cNvSpPr>
            <a:spLocks noGrp="1"/>
          </p:cNvSpPr>
          <p:nvPr>
            <p:ph type="title"/>
          </p:nvPr>
        </p:nvSpPr>
        <p:spPr>
          <a:xfrm>
            <a:off x="89040" y="211686"/>
            <a:ext cx="9664560" cy="401639"/>
          </a:xfrm>
        </p:spPr>
        <p:txBody>
          <a:bodyPr/>
          <a:lstStyle/>
          <a:p>
            <a:r>
              <a:rPr lang="en-GB" sz="3600" b="0" dirty="0">
                <a:latin typeface="Plaak 3 Trial Regular" panose="02000000000000000000" pitchFamily="2" charset="0"/>
              </a:rPr>
              <a:t>CURRENT AND ASPIRATIONAL VALUES GAP </a:t>
            </a:r>
            <a:endParaRPr lang="en-BG" sz="3600" b="0" dirty="0">
              <a:latin typeface="Plaak 3 Trial Regular" panose="02000000000000000000" pitchFamily="2" charset="0"/>
            </a:endParaRPr>
          </a:p>
        </p:txBody>
      </p:sp>
    </p:spTree>
    <p:extLst>
      <p:ext uri="{BB962C8B-B14F-4D97-AF65-F5344CB8AC3E}">
        <p14:creationId xmlns:p14="http://schemas.microsoft.com/office/powerpoint/2010/main" val="1877047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3009309365"/>
              </p:ext>
            </p:extLst>
          </p:nvPr>
        </p:nvGraphicFramePr>
        <p:xfrm>
          <a:off x="-2952" y="411307"/>
          <a:ext cx="10261069" cy="6157691"/>
        </p:xfrm>
        <a:graphic>
          <a:graphicData uri="http://schemas.openxmlformats.org/drawingml/2006/table">
            <a:tbl>
              <a:tblPr firstRow="1" bandRow="1">
                <a:tableStyleId>{2D5ABB26-0587-4C30-8999-92F81FD0307C}</a:tableStyleId>
              </a:tblPr>
              <a:tblGrid>
                <a:gridCol w="1573526">
                  <a:extLst>
                    <a:ext uri="{9D8B030D-6E8A-4147-A177-3AD203B41FA5}">
                      <a16:colId xmlns:a16="http://schemas.microsoft.com/office/drawing/2014/main" val="3308902235"/>
                    </a:ext>
                  </a:extLst>
                </a:gridCol>
                <a:gridCol w="5015982">
                  <a:extLst>
                    <a:ext uri="{9D8B030D-6E8A-4147-A177-3AD203B41FA5}">
                      <a16:colId xmlns:a16="http://schemas.microsoft.com/office/drawing/2014/main" val="3313590318"/>
                    </a:ext>
                  </a:extLst>
                </a:gridCol>
                <a:gridCol w="3671561">
                  <a:extLst>
                    <a:ext uri="{9D8B030D-6E8A-4147-A177-3AD203B41FA5}">
                      <a16:colId xmlns:a16="http://schemas.microsoft.com/office/drawing/2014/main" val="1506629949"/>
                    </a:ext>
                  </a:extLst>
                </a:gridCol>
              </a:tblGrid>
              <a:tr h="44207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77"/>
                          <a:cs typeface="Arial" panose="020B0604020202020204" pitchFamily="34" charset="0"/>
                        </a:rPr>
                        <a:t>Company values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r>
                        <a:rPr lang="en-US" sz="1200" b="0" i="0" dirty="0">
                          <a:solidFill>
                            <a:schemeClr val="bg1"/>
                          </a:solidFill>
                          <a:latin typeface="Arial" panose="020B0604020202020204" pitchFamily="34" charset="0"/>
                          <a:ea typeface="Riforma LL" panose="020B0504020101020102" pitchFamily="34" charset="0"/>
                          <a:cs typeface="Arial" panose="020B0604020202020204" pitchFamily="34" charset="0"/>
                        </a:rPr>
                        <a:t>Cool Behaviors this value represents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r>
                        <a:rPr lang="en-US" sz="1200" b="0" i="0" dirty="0">
                          <a:solidFill>
                            <a:schemeClr val="bg1"/>
                          </a:solidFill>
                          <a:latin typeface="Arial" panose="020B0604020202020204" pitchFamily="34" charset="0"/>
                          <a:ea typeface="Riforma LL" panose="020B0504020101020102" pitchFamily="34" charset="0"/>
                          <a:cs typeface="Arial" panose="020B0604020202020204" pitchFamily="34" charset="0"/>
                        </a:rPr>
                        <a:t>Non-Cool Behaviors associated with this value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27707021"/>
                  </a:ext>
                </a:extLst>
              </a:tr>
              <a:tr h="935610">
                <a:tc>
                  <a:txBody>
                    <a:bodyPr/>
                    <a:lstStyle/>
                    <a:p>
                      <a:pPr marL="0" marR="0" lvl="0" indent="0" algn="l">
                        <a:lnSpc>
                          <a:spcPct val="100000"/>
                        </a:lnSpc>
                        <a:spcBef>
                          <a:spcPts val="0"/>
                        </a:spcBef>
                        <a:spcAft>
                          <a:spcPts val="0"/>
                        </a:spcAft>
                        <a:buNone/>
                      </a:pPr>
                      <a:r>
                        <a:rPr lang="en-US" sz="1000" b="0" i="0" u="none" strike="noStrike" noProof="0" dirty="0"/>
                        <a:t>Be better tomorrow!</a:t>
                      </a:r>
                      <a:endParaRPr lang="en-US" sz="10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000" b="0" i="0" u="none" strike="noStrike" noProof="0" dirty="0" err="1"/>
                        <a:t>Offer&amp;Ask</a:t>
                      </a:r>
                      <a:r>
                        <a:rPr lang="en-US" sz="1000" b="0" i="0" u="none" strike="noStrike" noProof="0" dirty="0"/>
                        <a:t> for feedback, weekly: Ask for timely and genuine feedback and offer it with candor. Make uncomfortable feedback a mutual gift for personal growth.</a:t>
                      </a:r>
                      <a:endParaRPr lang="en-US" sz="1000"/>
                    </a:p>
                    <a:p>
                      <a:pPr marL="0" marR="0" lvl="0" indent="0" algn="l">
                        <a:lnSpc>
                          <a:spcPct val="100000"/>
                        </a:lnSpc>
                        <a:spcBef>
                          <a:spcPts val="0"/>
                        </a:spcBef>
                        <a:spcAft>
                          <a:spcPts val="0"/>
                        </a:spcAft>
                        <a:buNone/>
                      </a:pPr>
                      <a:r>
                        <a:rPr lang="en-US" sz="1000" b="0" i="0" u="none" strike="noStrike" noProof="0" dirty="0">
                          <a:latin typeface="PF Square Sans Pro Light"/>
                        </a:rPr>
                        <a:t>Continuously Expand Your Knowledge: Dedicate yourself to learning a new skill or acquiring valuable insights each month that enhance your ability to excel in your role.</a:t>
                      </a:r>
                      <a:endParaRPr lang="en-US" sz="10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000" b="0" i="0" u="none" strike="noStrike" noProof="0" dirty="0"/>
                        <a:t>Avoid feedback: Refusing to ask for or provide feedback, especially avoiding difficult conversations.</a:t>
                      </a:r>
                    </a:p>
                    <a:p>
                      <a:pPr marL="0" marR="0" lvl="0" indent="0" algn="l">
                        <a:lnSpc>
                          <a:spcPct val="100000"/>
                        </a:lnSpc>
                        <a:spcBef>
                          <a:spcPts val="0"/>
                        </a:spcBef>
                        <a:spcAft>
                          <a:spcPts val="0"/>
                        </a:spcAft>
                        <a:buNone/>
                      </a:pPr>
                      <a:r>
                        <a:rPr lang="en-US" sz="1000" b="0" i="0" u="none" strike="noStrike" noProof="0" dirty="0">
                          <a:latin typeface="PF Square Sans Pro Light"/>
                        </a:rPr>
                        <a:t>Fear of failure: Avoiding new projects or challenges due to fear of making mistakes, settling into comfort zones and not challenging oneself to grow.</a:t>
                      </a:r>
                      <a:endParaRPr lang="en-US" sz="10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595388">
                <a:tc>
                  <a:txBody>
                    <a:bodyPr/>
                    <a:lstStyle/>
                    <a:p>
                      <a:pPr marL="0" marR="0" lvl="0" indent="0" algn="l">
                        <a:lnSpc>
                          <a:spcPct val="100000"/>
                        </a:lnSpc>
                        <a:spcBef>
                          <a:spcPts val="0"/>
                        </a:spcBef>
                        <a:spcAft>
                          <a:spcPts val="0"/>
                        </a:spcAft>
                        <a:buNone/>
                      </a:pPr>
                      <a:r>
                        <a:rPr lang="en-US" sz="1000" b="0" i="0" u="none" strike="noStrike" noProof="0" dirty="0"/>
                        <a:t>Live and Inspire a Healthy Lifestyle!</a:t>
                      </a:r>
                      <a:endParaRPr lang="en-US" sz="10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000" b="0" i="0" u="none" strike="noStrike" noProof="0" dirty="0"/>
                        <a:t>Champion or Participate in Workplace Wellness Initiatives: Take the lead or get involved in health-focused activities at work, such as a fitness challenge or a healthy lunch club, to foster a culture of well-being.</a:t>
                      </a:r>
                      <a:endParaRPr lang="en-US" sz="10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000" b="0" i="0" u="none" strike="noStrike" noProof="0" dirty="0"/>
                        <a:t>Disregard Wellness Initiatives: Avoid participating in or supporting health and wellness activities at work, showing a lack of interest in fostering a culture of well-being.</a:t>
                      </a:r>
                      <a:endParaRPr lang="en-US" sz="10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1029583">
                <a:tc>
                  <a:txBody>
                    <a:bodyPr/>
                    <a:lstStyle/>
                    <a:p>
                      <a:pPr marL="0" marR="0" lvl="0" indent="0" algn="l">
                        <a:lnSpc>
                          <a:spcPct val="100000"/>
                        </a:lnSpc>
                        <a:spcBef>
                          <a:spcPts val="0"/>
                        </a:spcBef>
                        <a:spcAft>
                          <a:spcPts val="0"/>
                        </a:spcAft>
                        <a:buNone/>
                      </a:pPr>
                      <a:r>
                        <a:rPr lang="en-US" sz="1000" b="0" i="0" u="none" strike="noStrike" noProof="0" dirty="0"/>
                        <a:t>Craft Unbelievable Experiences!</a:t>
                      </a:r>
                      <a:endParaRPr lang="en-US" sz="10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000" b="0" i="0" u="none" strike="noStrike" noProof="0" dirty="0"/>
                        <a:t>Create value in every action: Look beyond transactions and think about how to leave someone happier or better.</a:t>
                      </a:r>
                    </a:p>
                    <a:p>
                      <a:pPr marL="0" marR="0" lvl="0" indent="0" algn="l">
                        <a:lnSpc>
                          <a:spcPct val="100000"/>
                        </a:lnSpc>
                        <a:spcBef>
                          <a:spcPts val="0"/>
                        </a:spcBef>
                        <a:spcAft>
                          <a:spcPts val="0"/>
                        </a:spcAft>
                        <a:buNone/>
                      </a:pPr>
                      <a:r>
                        <a:rPr lang="en-US" sz="1000" b="0" i="0" u="none" strike="noStrike" noProof="0" dirty="0">
                          <a:latin typeface="PF Square Sans Pro Light"/>
                        </a:rPr>
                        <a:t>Shift your perspective: See the world through the eyes of those you serve and deliver experiences that delight.</a:t>
                      </a:r>
                    </a:p>
                    <a:p>
                      <a:pPr marL="0" marR="0" lvl="0" indent="0" algn="l">
                        <a:lnSpc>
                          <a:spcPct val="100000"/>
                        </a:lnSpc>
                        <a:spcBef>
                          <a:spcPts val="0"/>
                        </a:spcBef>
                        <a:spcAft>
                          <a:spcPts val="0"/>
                        </a:spcAft>
                        <a:buNone/>
                      </a:pPr>
                      <a:r>
                        <a:rPr lang="en-US" sz="1000" b="0" i="0" u="none" strike="noStrike" noProof="0" dirty="0"/>
                        <a:t>Aim higher: Strive to elevate service, product, mindset and relationship beyond the ordinary, turning the expected into surprising and </a:t>
                      </a:r>
                      <a:r>
                        <a:rPr lang="en-US" sz="1000" b="0" i="0" u="none" strike="noStrike" noProof="0" dirty="0" err="1"/>
                        <a:t>unbelieveble</a:t>
                      </a:r>
                      <a:r>
                        <a:rPr lang="en-US" sz="1000" b="0" i="0" u="none" strike="noStrike" noProof="0" dirty="0"/>
                        <a:t>.</a:t>
                      </a:r>
                      <a:endParaRPr lang="en-US" sz="10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000" b="0" i="0" u="none" strike="noStrike" noProof="0" dirty="0"/>
                        <a:t>Failure to take personal responsibility: Treating interactions as mere transactions and not taking ownership to make every interaction meaningful.</a:t>
                      </a:r>
                      <a:endParaRPr lang="en-US" sz="10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1105721">
                <a:tc>
                  <a:txBody>
                    <a:bodyPr/>
                    <a:lstStyle/>
                    <a:p>
                      <a:pPr marL="0" marR="0" lvl="0" indent="0" algn="l">
                        <a:lnSpc>
                          <a:spcPct val="100000"/>
                        </a:lnSpc>
                        <a:spcBef>
                          <a:spcPts val="0"/>
                        </a:spcBef>
                        <a:spcAft>
                          <a:spcPts val="0"/>
                        </a:spcAft>
                        <a:buNone/>
                      </a:pPr>
                      <a:r>
                        <a:rPr lang="en-US" sz="1000" b="0" i="0" u="none" strike="noStrike" noProof="0" dirty="0"/>
                        <a:t>Be autonomous, make decisions!</a:t>
                      </a:r>
                      <a:endParaRPr lang="en-US" sz="10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000" b="0" i="0" u="none" strike="noStrike" noProof="0" dirty="0"/>
                        <a:t>Take ownership: Make decisions combining data with intuition, and take responsibility for those decisions.</a:t>
                      </a:r>
                    </a:p>
                    <a:p>
                      <a:pPr marL="0" marR="0" lvl="0" indent="0" algn="l">
                        <a:lnSpc>
                          <a:spcPct val="100000"/>
                        </a:lnSpc>
                        <a:spcBef>
                          <a:spcPts val="0"/>
                        </a:spcBef>
                        <a:spcAft>
                          <a:spcPts val="0"/>
                        </a:spcAft>
                        <a:buNone/>
                      </a:pPr>
                      <a:r>
                        <a:rPr lang="en-US" sz="1000" b="0" i="0" u="none" strike="noStrike" noProof="0" dirty="0">
                          <a:latin typeface="PF Square Sans Pro Light"/>
                        </a:rPr>
                        <a:t>Set boundaries: Learn to say no when overwhelmed and set the right expectations.</a:t>
                      </a:r>
                      <a:endParaRPr lang="en-US" sz="1000"/>
                    </a:p>
                    <a:p>
                      <a:pPr marL="0" marR="0" lvl="0" indent="0" algn="l">
                        <a:lnSpc>
                          <a:spcPct val="100000"/>
                        </a:lnSpc>
                        <a:spcBef>
                          <a:spcPts val="0"/>
                        </a:spcBef>
                        <a:spcAft>
                          <a:spcPts val="0"/>
                        </a:spcAft>
                        <a:buNone/>
                      </a:pPr>
                      <a:r>
                        <a:rPr lang="en-US" sz="1000" b="0" i="0" u="none" strike="noStrike" noProof="0" dirty="0"/>
                        <a:t>Think </a:t>
                      </a:r>
                      <a:r>
                        <a:rPr lang="en-US" sz="1000" b="0" i="0" u="none" strike="noStrike" noProof="0" dirty="0" err="1"/>
                        <a:t>intrapreneurially</a:t>
                      </a:r>
                      <a:r>
                        <a:rPr lang="en-US" sz="1000" b="0" i="0" u="none" strike="noStrike" noProof="0" dirty="0"/>
                        <a:t>: Treat the company’s resources like your own, making decisions as if you were personally invested.</a:t>
                      </a:r>
                      <a:endParaRPr lang="en-US" sz="10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000" b="0" i="0" u="none" strike="noStrike" noProof="0" dirty="0"/>
                        <a:t>Avoid decision-making: Failing to make decisions, waiting for others to act instead.</a:t>
                      </a:r>
                    </a:p>
                    <a:p>
                      <a:pPr marL="0" marR="0" lvl="0" indent="0" algn="l">
                        <a:lnSpc>
                          <a:spcPct val="100000"/>
                        </a:lnSpc>
                        <a:spcBef>
                          <a:spcPts val="0"/>
                        </a:spcBef>
                        <a:spcAft>
                          <a:spcPts val="0"/>
                        </a:spcAft>
                        <a:buNone/>
                      </a:pPr>
                      <a:r>
                        <a:rPr lang="en-US" sz="1000" b="0" i="0" u="none" strike="noStrike" noProof="0" dirty="0">
                          <a:latin typeface="PF Square Sans Pro Light"/>
                        </a:rPr>
                        <a:t>Lack of ownership: Shying away from responsibility and not owning the consequences of actions.</a:t>
                      </a:r>
                    </a:p>
                    <a:p>
                      <a:pPr marL="0" marR="0" lvl="0" indent="0" algn="l">
                        <a:lnSpc>
                          <a:spcPct val="100000"/>
                        </a:lnSpc>
                        <a:spcBef>
                          <a:spcPts val="0"/>
                        </a:spcBef>
                        <a:spcAft>
                          <a:spcPts val="0"/>
                        </a:spcAft>
                        <a:buNone/>
                      </a:pPr>
                      <a:r>
                        <a:rPr lang="en-US" sz="1000" b="0" i="0" u="none" strike="noStrike" noProof="0" dirty="0"/>
                        <a:t>Inaction due to fear of mistakes: Avoiding taking risks or initiatives due to fear of making mistakes.</a:t>
                      </a:r>
                      <a:endParaRPr lang="en-US" sz="10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1028614">
                <a:tc>
                  <a:txBody>
                    <a:bodyPr/>
                    <a:lstStyle/>
                    <a:p>
                      <a:pPr marL="0" marR="0" lvl="0" indent="0" algn="l">
                        <a:lnSpc>
                          <a:spcPct val="100000"/>
                        </a:lnSpc>
                        <a:spcBef>
                          <a:spcPts val="0"/>
                        </a:spcBef>
                        <a:spcAft>
                          <a:spcPts val="0"/>
                        </a:spcAft>
                        <a:buNone/>
                      </a:pPr>
                      <a:r>
                        <a:rPr lang="en-US" sz="1000" b="0" i="0" u="none" strike="noStrike" noProof="0" dirty="0"/>
                        <a:t>Collaborate, you are part of the team!</a:t>
                      </a:r>
                      <a:endParaRPr lang="en-US" sz="10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000" b="0" i="0" u="none" strike="noStrike" noProof="0" dirty="0"/>
                        <a:t>Contribute to a collaborative culture: Listen actively, avoid quick judgments, and always strive to understand others’ perspectives.</a:t>
                      </a:r>
                    </a:p>
                    <a:p>
                      <a:pPr marL="0" marR="0" lvl="0" indent="0" algn="l">
                        <a:lnSpc>
                          <a:spcPct val="100000"/>
                        </a:lnSpc>
                        <a:spcBef>
                          <a:spcPts val="0"/>
                        </a:spcBef>
                        <a:spcAft>
                          <a:spcPts val="0"/>
                        </a:spcAft>
                        <a:buNone/>
                      </a:pPr>
                      <a:r>
                        <a:rPr lang="en-US" sz="1000" b="0" i="0" u="none" strike="noStrike" noProof="0" dirty="0">
                          <a:latin typeface="PF Square Sans Pro Light"/>
                        </a:rPr>
                        <a:t>Solve tensions directly: Address conflicts as they arise, instead of avoiding or postponing.</a:t>
                      </a:r>
                    </a:p>
                    <a:p>
                      <a:pPr marL="0" marR="0" lvl="0" indent="0" algn="l">
                        <a:lnSpc>
                          <a:spcPct val="100000"/>
                        </a:lnSpc>
                        <a:spcBef>
                          <a:spcPts val="0"/>
                        </a:spcBef>
                        <a:spcAft>
                          <a:spcPts val="0"/>
                        </a:spcAft>
                        <a:buNone/>
                      </a:pPr>
                      <a:r>
                        <a:rPr lang="en-US" sz="1000" b="0" i="0" u="none" strike="noStrike" noProof="0" dirty="0"/>
                        <a:t>Merit over individual stardom: Recognize team efforts over individual accolades; no one shines if the team fails.</a:t>
                      </a:r>
                      <a:endParaRPr lang="en-US" sz="10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000" b="0" i="0" u="none" strike="noStrike" noProof="0" dirty="0"/>
                        <a:t>Quick judgments: Reacting defensively or not trying to understand others’ viewpoints.</a:t>
                      </a:r>
                    </a:p>
                    <a:p>
                      <a:pPr marL="0" marR="0" lvl="0" indent="0" algn="l">
                        <a:lnSpc>
                          <a:spcPct val="100000"/>
                        </a:lnSpc>
                        <a:spcBef>
                          <a:spcPts val="0"/>
                        </a:spcBef>
                        <a:spcAft>
                          <a:spcPts val="0"/>
                        </a:spcAft>
                        <a:buNone/>
                      </a:pPr>
                      <a:r>
                        <a:rPr lang="en-US" sz="1000" b="0" i="0" u="none" strike="noStrike" noProof="0" dirty="0">
                          <a:latin typeface="PF Square Sans Pro Light"/>
                        </a:rPr>
                        <a:t>Avoiding conflicts: Not addressing issues when they arise, leading to bigger problems later.</a:t>
                      </a:r>
                    </a:p>
                    <a:p>
                      <a:pPr marL="0" marR="0" lvl="0" indent="0" algn="l">
                        <a:lnSpc>
                          <a:spcPct val="100000"/>
                        </a:lnSpc>
                        <a:spcBef>
                          <a:spcPts val="0"/>
                        </a:spcBef>
                        <a:spcAft>
                          <a:spcPts val="0"/>
                        </a:spcAft>
                        <a:buNone/>
                      </a:pPr>
                      <a:r>
                        <a:rPr lang="en-US" sz="1000" b="0" i="0" u="none" strike="noStrike" noProof="0" dirty="0"/>
                        <a:t>Brilliant jerk behavior: Being talented but intolerable, not fostering teamwork and mutual respect.</a:t>
                      </a:r>
                      <a:endParaRPr lang="en-US" sz="10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r h="1020702">
                <a:tc>
                  <a:txBody>
                    <a:bodyPr/>
                    <a:lstStyle/>
                    <a:p>
                      <a:pPr marL="0" marR="0" lvl="0" indent="0" algn="l">
                        <a:lnSpc>
                          <a:spcPct val="100000"/>
                        </a:lnSpc>
                        <a:spcBef>
                          <a:spcPts val="0"/>
                        </a:spcBef>
                        <a:spcAft>
                          <a:spcPts val="0"/>
                        </a:spcAft>
                        <a:buNone/>
                      </a:pPr>
                      <a:r>
                        <a:rPr lang="en-US" sz="1000" b="0" i="0" u="none" strike="noStrike" noProof="0" dirty="0"/>
                        <a:t>Take Initiative and Own Your Impact!</a:t>
                      </a:r>
                      <a:endParaRPr lang="en-US" sz="10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000" b="0" i="0" u="none" strike="noStrike" noProof="0" dirty="0"/>
                        <a:t>Get involved: Take initiative and participate fully, understanding the broader impact of your actions.</a:t>
                      </a:r>
                    </a:p>
                    <a:p>
                      <a:pPr marL="0" marR="0" lvl="0" indent="0" algn="l">
                        <a:lnSpc>
                          <a:spcPct val="100000"/>
                        </a:lnSpc>
                        <a:spcBef>
                          <a:spcPts val="0"/>
                        </a:spcBef>
                        <a:spcAft>
                          <a:spcPts val="0"/>
                        </a:spcAft>
                        <a:buNone/>
                      </a:pPr>
                      <a:r>
                        <a:rPr lang="en-US" sz="1000" b="0" i="0" u="none" strike="noStrike" noProof="0" dirty="0">
                          <a:latin typeface="PF Square Sans Pro Light"/>
                        </a:rPr>
                        <a:t>Solve customer issues: Take responsibility for customer problems regardless of your role, and deliver on promises.</a:t>
                      </a:r>
                    </a:p>
                    <a:p>
                      <a:pPr marL="0" marR="0" lvl="0" indent="0" algn="l">
                        <a:lnSpc>
                          <a:spcPct val="100000"/>
                        </a:lnSpc>
                        <a:spcBef>
                          <a:spcPts val="0"/>
                        </a:spcBef>
                        <a:spcAft>
                          <a:spcPts val="0"/>
                        </a:spcAft>
                        <a:buNone/>
                      </a:pPr>
                      <a:r>
                        <a:rPr lang="en-US" sz="1000" b="0" i="0" u="none" strike="noStrike" noProof="0" dirty="0"/>
                        <a:t>Foster psychological safety: Create a safe space where people can be open, share their flaws, and grow.</a:t>
                      </a:r>
                      <a:endParaRPr lang="en-US" sz="100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000" b="0" i="0" u="none" strike="noStrike" noProof="0" dirty="0"/>
                        <a:t>Staying on the sidelines: Avoiding involvement and not playing an active role in the team’s success.</a:t>
                      </a:r>
                    </a:p>
                    <a:p>
                      <a:pPr marL="0" marR="0" lvl="0" indent="0" algn="l">
                        <a:lnSpc>
                          <a:spcPct val="100000"/>
                        </a:lnSpc>
                        <a:spcBef>
                          <a:spcPts val="0"/>
                        </a:spcBef>
                        <a:spcAft>
                          <a:spcPts val="0"/>
                        </a:spcAft>
                        <a:buNone/>
                      </a:pPr>
                      <a:r>
                        <a:rPr lang="en-US" sz="1000" b="0" i="0" u="none" strike="noStrike" noProof="0" dirty="0">
                          <a:latin typeface="PF Square Sans Pro Light"/>
                        </a:rPr>
                        <a:t>Blaming others: Failing to take responsibility for issues or mistakes.</a:t>
                      </a:r>
                    </a:p>
                    <a:p>
                      <a:pPr marL="0" marR="0" lvl="0" indent="0" algn="l">
                        <a:lnSpc>
                          <a:spcPct val="100000"/>
                        </a:lnSpc>
                        <a:spcBef>
                          <a:spcPts val="0"/>
                        </a:spcBef>
                        <a:spcAft>
                          <a:spcPts val="0"/>
                        </a:spcAft>
                        <a:buNone/>
                      </a:pPr>
                      <a:r>
                        <a:rPr lang="en-US" sz="1000" b="0" i="0" u="none" strike="noStrike" noProof="0" dirty="0"/>
                        <a:t>Judgment over safety: Creating an environment where people feel judged rather than supported.</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33557090"/>
                  </a:ext>
                </a:extLst>
              </a:tr>
            </a:tbl>
          </a:graphicData>
        </a:graphic>
      </p:graphicFrame>
      <p:sp>
        <p:nvSpPr>
          <p:cNvPr id="5" name="Title 4">
            <a:extLst>
              <a:ext uri="{FF2B5EF4-FFF2-40B4-BE49-F238E27FC236}">
                <a16:creationId xmlns:a16="http://schemas.microsoft.com/office/drawing/2014/main" id="{CA9C2DA3-07D1-5F35-0D15-F9AB69CA94E6}"/>
              </a:ext>
            </a:extLst>
          </p:cNvPr>
          <p:cNvSpPr>
            <a:spLocks noGrp="1"/>
          </p:cNvSpPr>
          <p:nvPr>
            <p:ph type="title"/>
          </p:nvPr>
        </p:nvSpPr>
        <p:spPr>
          <a:xfrm>
            <a:off x="3779" y="110951"/>
            <a:ext cx="9664560" cy="401639"/>
          </a:xfrm>
        </p:spPr>
        <p:txBody>
          <a:bodyPr lIns="91440" tIns="45720" rIns="91440" bIns="45720" anchor="b"/>
          <a:lstStyle/>
          <a:p>
            <a:r>
              <a:rPr lang="en-GB" sz="3600" b="0" dirty="0">
                <a:latin typeface="Plaak 3 Trial Regular"/>
              </a:rPr>
              <a:t>TURN VALUES INTO BEHAVIORS [page 1of 2]</a:t>
            </a:r>
            <a:endParaRPr lang="en-BG" sz="3600" b="0" dirty="0">
              <a:latin typeface="Plaak 3 Trial Regular"/>
            </a:endParaRPr>
          </a:p>
        </p:txBody>
      </p:sp>
      <p:graphicFrame>
        <p:nvGraphicFramePr>
          <p:cNvPr id="6" name="Table 5">
            <a:extLst>
              <a:ext uri="{FF2B5EF4-FFF2-40B4-BE49-F238E27FC236}">
                <a16:creationId xmlns:a16="http://schemas.microsoft.com/office/drawing/2014/main" id="{A7967F25-90B7-D40B-AF4A-6DC115215459}"/>
              </a:ext>
            </a:extLst>
          </p:cNvPr>
          <p:cNvGraphicFramePr>
            <a:graphicFrameLocks noGrp="1"/>
          </p:cNvGraphicFramePr>
          <p:nvPr>
            <p:extLst>
              <p:ext uri="{D42A27DB-BD31-4B8C-83A1-F6EECF244321}">
                <p14:modId xmlns:p14="http://schemas.microsoft.com/office/powerpoint/2010/main" val="1445969405"/>
              </p:ext>
            </p:extLst>
          </p:nvPr>
        </p:nvGraphicFramePr>
        <p:xfrm>
          <a:off x="0" y="6578749"/>
          <a:ext cx="10261073" cy="952214"/>
        </p:xfrm>
        <a:graphic>
          <a:graphicData uri="http://schemas.openxmlformats.org/drawingml/2006/table">
            <a:tbl>
              <a:tblPr bandRow="1">
                <a:tableStyleId>{5C22544A-7EE6-4342-B048-85BDC9FD1C3A}</a:tableStyleId>
              </a:tblPr>
              <a:tblGrid>
                <a:gridCol w="1573530">
                  <a:extLst>
                    <a:ext uri="{9D8B030D-6E8A-4147-A177-3AD203B41FA5}">
                      <a16:colId xmlns:a16="http://schemas.microsoft.com/office/drawing/2014/main" val="2490464513"/>
                    </a:ext>
                  </a:extLst>
                </a:gridCol>
                <a:gridCol w="5015979">
                  <a:extLst>
                    <a:ext uri="{9D8B030D-6E8A-4147-A177-3AD203B41FA5}">
                      <a16:colId xmlns:a16="http://schemas.microsoft.com/office/drawing/2014/main" val="3899095121"/>
                    </a:ext>
                  </a:extLst>
                </a:gridCol>
                <a:gridCol w="3671564">
                  <a:extLst>
                    <a:ext uri="{9D8B030D-6E8A-4147-A177-3AD203B41FA5}">
                      <a16:colId xmlns:a16="http://schemas.microsoft.com/office/drawing/2014/main" val="2538898670"/>
                    </a:ext>
                  </a:extLst>
                </a:gridCol>
              </a:tblGrid>
              <a:tr h="808027">
                <a:tc>
                  <a:txBody>
                    <a:bodyPr/>
                    <a:lstStyle/>
                    <a:p>
                      <a:pPr lvl="0">
                        <a:lnSpc>
                          <a:spcPts val="975"/>
                        </a:lnSpc>
                        <a:buNone/>
                      </a:pPr>
                      <a:r>
                        <a:rPr lang="en-US" sz="1000" b="0" i="0" u="none" strike="noStrike" noProof="0" dirty="0">
                          <a:effectLst/>
                        </a:rPr>
                        <a:t>Bring fun to your job!</a:t>
                      </a:r>
                      <a:endParaRPr lang="en-US" sz="1000" b="0" i="0" u="none" strike="noStrike" noProof="0"/>
                    </a:p>
                  </a:txBody>
                  <a:tcPr marL="61436" marR="61436" marT="30718" marB="3071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975"/>
                        </a:lnSpc>
                        <a:buNone/>
                      </a:pPr>
                      <a:r>
                        <a:rPr lang="en-US" sz="1000" b="0" i="0" u="none" strike="noStrike" noProof="0" dirty="0">
                          <a:effectLst/>
                        </a:rPr>
                        <a:t>Create a positive environment: Contribute to a friendly, warm, and exciting atmosphere celebrating  every win.</a:t>
                      </a:r>
                    </a:p>
                    <a:p>
                      <a:pPr lvl="0">
                        <a:lnSpc>
                          <a:spcPts val="975"/>
                        </a:lnSpc>
                        <a:buNone/>
                      </a:pPr>
                      <a:r>
                        <a:rPr lang="en-US" sz="1000" b="0" i="0" u="none" strike="noStrike" noProof="0" dirty="0">
                          <a:effectLst/>
                          <a:latin typeface="PF Square Sans Pro Light"/>
                        </a:rPr>
                        <a:t>Encourage humor and positivity: Maintain a positive outlook even in tough situations, and encourage light-heartedness.</a:t>
                      </a:r>
                    </a:p>
                    <a:p>
                      <a:pPr lvl="0">
                        <a:lnSpc>
                          <a:spcPts val="975"/>
                        </a:lnSpc>
                        <a:buNone/>
                      </a:pPr>
                      <a:r>
                        <a:rPr lang="en-US" sz="1000" b="0" i="0" u="none" strike="noStrike" noProof="0" dirty="0">
                          <a:effectLst/>
                        </a:rPr>
                        <a:t>Chill and address emotions: Speak up about your needs and dismantle negativity before it escalates.</a:t>
                      </a:r>
                      <a:endParaRPr lang="en-US" dirty="0"/>
                    </a:p>
                  </a:txBody>
                  <a:tcPr marL="61436" marR="61436" marT="30718" marB="3071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nSpc>
                          <a:spcPts val="975"/>
                        </a:lnSpc>
                        <a:buNone/>
                      </a:pPr>
                      <a:r>
                        <a:rPr lang="en-US" sz="1000" b="0" i="0" u="none" strike="noStrike" noProof="0" dirty="0">
                          <a:effectLst/>
                        </a:rPr>
                        <a:t>Spread Negativity and Limit Possibilities: Consistently focus on obstacles, see only the problems, and project a mindset of 'nothing can be done,' dampening morale and discouraging others.</a:t>
                      </a:r>
                    </a:p>
                    <a:p>
                      <a:pPr lvl="0">
                        <a:lnSpc>
                          <a:spcPts val="975"/>
                        </a:lnSpc>
                        <a:buNone/>
                      </a:pPr>
                      <a:r>
                        <a:rPr lang="en-US" sz="1000" b="0" i="0" u="none" strike="noStrike" noProof="0" dirty="0">
                          <a:effectLst/>
                          <a:latin typeface="PF Square Sans Pro Light"/>
                        </a:rPr>
                        <a:t>Ignoring personal well-being: Not taking breaks or vacations, and allowing negativity to build up without addressing it.</a:t>
                      </a:r>
                    </a:p>
                    <a:p>
                      <a:pPr lvl="0">
                        <a:lnSpc>
                          <a:spcPts val="975"/>
                        </a:lnSpc>
                        <a:buNone/>
                      </a:pPr>
                      <a:r>
                        <a:rPr lang="en-US" sz="1000" b="0" i="0" u="none" strike="noStrike" noProof="0" dirty="0">
                          <a:effectLst/>
                        </a:rPr>
                        <a:t>Taking yourself too seriously: Failing to embrace humor or laugh at yourself when needed.</a:t>
                      </a:r>
                      <a:endParaRPr lang="en-US" dirty="0"/>
                    </a:p>
                  </a:txBody>
                  <a:tcPr marL="61436" marR="61436" marT="30718" marB="30718">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42838430"/>
                  </a:ext>
                </a:extLst>
              </a:tr>
            </a:tbl>
          </a:graphicData>
        </a:graphic>
      </p:graphicFrame>
    </p:spTree>
    <p:extLst>
      <p:ext uri="{BB962C8B-B14F-4D97-AF65-F5344CB8AC3E}">
        <p14:creationId xmlns:p14="http://schemas.microsoft.com/office/powerpoint/2010/main" val="3110103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2082226723"/>
              </p:ext>
            </p:extLst>
          </p:nvPr>
        </p:nvGraphicFramePr>
        <p:xfrm>
          <a:off x="276084" y="729008"/>
          <a:ext cx="9664560" cy="4218794"/>
        </p:xfrm>
        <a:graphic>
          <a:graphicData uri="http://schemas.openxmlformats.org/drawingml/2006/table">
            <a:tbl>
              <a:tblPr firstRow="1" bandRow="1">
                <a:tableStyleId>{2D5ABB26-0587-4C30-8999-92F81FD0307C}</a:tableStyleId>
              </a:tblPr>
              <a:tblGrid>
                <a:gridCol w="4854620">
                  <a:extLst>
                    <a:ext uri="{9D8B030D-6E8A-4147-A177-3AD203B41FA5}">
                      <a16:colId xmlns:a16="http://schemas.microsoft.com/office/drawing/2014/main" val="3313590318"/>
                    </a:ext>
                  </a:extLst>
                </a:gridCol>
                <a:gridCol w="4809940">
                  <a:extLst>
                    <a:ext uri="{9D8B030D-6E8A-4147-A177-3AD203B41FA5}">
                      <a16:colId xmlns:a16="http://schemas.microsoft.com/office/drawing/2014/main" val="1506629949"/>
                    </a:ext>
                  </a:extLst>
                </a:gridCol>
              </a:tblGrid>
              <a:tr h="413158">
                <a:tc>
                  <a:txBody>
                    <a:bodyPr/>
                    <a:lstStyle/>
                    <a:p>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The 5 Most important Cool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pPr marL="0" marR="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The 5 Most important Non-Cool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27707021"/>
                  </a:ext>
                </a:extLst>
              </a:tr>
              <a:tr h="652092">
                <a:tc>
                  <a:txBody>
                    <a:bodyPr/>
                    <a:lstStyle/>
                    <a:p>
                      <a:pPr marL="0" marR="0" lvl="0" indent="0" algn="l">
                        <a:lnSpc>
                          <a:spcPct val="100000"/>
                        </a:lnSpc>
                        <a:spcBef>
                          <a:spcPts val="0"/>
                        </a:spcBef>
                        <a:spcAft>
                          <a:spcPts val="0"/>
                        </a:spcAft>
                        <a:buNone/>
                      </a:pPr>
                      <a:r>
                        <a:rPr lang="en-US" sz="1200" b="0" i="0" u="none" strike="noStrike" noProof="0" dirty="0"/>
                        <a:t>Offer &amp; Ask for feedback, weekly: Ask for genuine feedback and offer it timely with candor. Make uncomfortable feedback a mutual gift for personal growth.</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dirty="0"/>
                        <a:t>Fear of failure: Avoiding new projects or challenges due to fear of making mistakes, settling into comfort zones and not challenging oneself to grow.</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637916">
                <a:tc>
                  <a:txBody>
                    <a:bodyPr/>
                    <a:lstStyle/>
                    <a:p>
                      <a:pPr marL="0" marR="0" lvl="0" indent="0" algn="l">
                        <a:lnSpc>
                          <a:spcPct val="100000"/>
                        </a:lnSpc>
                        <a:spcBef>
                          <a:spcPts val="0"/>
                        </a:spcBef>
                        <a:spcAft>
                          <a:spcPts val="0"/>
                        </a:spcAft>
                        <a:buNone/>
                      </a:pPr>
                      <a:r>
                        <a:rPr lang="en-US" sz="1200" b="0" i="0" u="none" strike="noStrike" noProof="0" dirty="0"/>
                        <a:t>Continuously Expand Your Knowledge: Dedicate yourself to learning a new skill or acquiring valuable insights each month that enhance your ability to excel in your role.</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dirty="0"/>
                        <a:t>Avoid decision-making: Failing to make decisions, waiting for others to act instead.</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652092">
                <a:tc>
                  <a:txBody>
                    <a:bodyPr/>
                    <a:lstStyle/>
                    <a:p>
                      <a:pPr marL="0" marR="0" lvl="0" indent="0" algn="l">
                        <a:lnSpc>
                          <a:spcPct val="100000"/>
                        </a:lnSpc>
                        <a:spcBef>
                          <a:spcPts val="0"/>
                        </a:spcBef>
                        <a:spcAft>
                          <a:spcPts val="0"/>
                        </a:spcAft>
                        <a:buNone/>
                      </a:pPr>
                      <a:r>
                        <a:rPr lang="en-US" sz="1200" b="0" i="0" u="none" strike="noStrike" noProof="0" dirty="0"/>
                        <a:t>Aim higher: Take concrete steps to elevate service, product, mindset and relationship beyond the ordinary, turning the expected into surprising and </a:t>
                      </a:r>
                      <a:r>
                        <a:rPr lang="en-US" sz="1200" b="0" i="0" u="none" strike="noStrike" noProof="0" dirty="0" err="1"/>
                        <a:t>unbelieveble</a:t>
                      </a:r>
                      <a:r>
                        <a:rPr lang="en-US" sz="1200" b="0" i="0" u="none" strike="noStrike" noProof="0" dirty="0"/>
                        <a:t>.</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dirty="0"/>
                        <a:t>Staying on the sidelines: Avoiding involvement and not playing an active role in the team’s success.</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637916">
                <a:tc>
                  <a:txBody>
                    <a:bodyPr/>
                    <a:lstStyle/>
                    <a:p>
                      <a:pPr marL="0" marR="0" lvl="0" indent="0" algn="l">
                        <a:lnSpc>
                          <a:spcPct val="100000"/>
                        </a:lnSpc>
                        <a:spcBef>
                          <a:spcPts val="0"/>
                        </a:spcBef>
                        <a:spcAft>
                          <a:spcPts val="0"/>
                        </a:spcAft>
                        <a:buNone/>
                      </a:pPr>
                      <a:r>
                        <a:rPr lang="en-US" sz="1200" b="0" i="0" u="none" strike="noStrike" noProof="0" dirty="0"/>
                        <a:t>Take ownership: Make timely decisions combining data with intuition, and take responsibility for those decisions.</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dirty="0"/>
                        <a:t>Failure to take personal responsibility: Treating interactions as mere transactions and not taking ownership to make every interaction meaningful.</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581212">
                <a:tc>
                  <a:txBody>
                    <a:bodyPr/>
                    <a:lstStyle/>
                    <a:p>
                      <a:pPr marL="0" marR="0" lvl="0" indent="0" algn="l">
                        <a:lnSpc>
                          <a:spcPct val="100000"/>
                        </a:lnSpc>
                        <a:spcBef>
                          <a:spcPts val="0"/>
                        </a:spcBef>
                        <a:spcAft>
                          <a:spcPts val="0"/>
                        </a:spcAft>
                        <a:buNone/>
                      </a:pPr>
                      <a:r>
                        <a:rPr lang="en-US" sz="1200" b="0" i="0" u="none" strike="noStrike" noProof="0" dirty="0"/>
                        <a:t>Contribute to a collaborative culture: Listen actively, avoid quick judgments, and always strive to understand others’ perspectives.</a:t>
                      </a:r>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dirty="0"/>
                        <a:t>Avoiding conflicts: Not addressing issues when they arise, leading to bigger problems later.</a:t>
                      </a:r>
                      <a:endParaRPr lang="en-US"/>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r h="581211">
                <a:tc>
                  <a:txBody>
                    <a:bodyPr/>
                    <a:lstStyle/>
                    <a:p>
                      <a:pPr marL="0" lvl="0" indent="0" algn="l">
                        <a:lnSpc>
                          <a:spcPct val="100000"/>
                        </a:lnSpc>
                        <a:spcBef>
                          <a:spcPts val="0"/>
                        </a:spcBef>
                        <a:spcAft>
                          <a:spcPts val="0"/>
                        </a:spcAft>
                        <a:buNone/>
                      </a:pPr>
                      <a:r>
                        <a:rPr lang="en-US" sz="1200" b="0" i="0" u="none" strike="noStrike" noProof="0" dirty="0">
                          <a:solidFill>
                            <a:srgbClr val="000000"/>
                          </a:solidFill>
                          <a:latin typeface="PF Square Sans Pro Light"/>
                        </a:rPr>
                        <a:t>Get involved: Take initiative and participate fully, understanding the broader </a:t>
                      </a:r>
                      <a:r>
                        <a:rPr lang="en-US" sz="1200" b="0" i="0" u="none" strike="noStrike" noProof="0" dirty="0">
                          <a:solidFill>
                            <a:srgbClr val="000000"/>
                          </a:solidFill>
                        </a:rPr>
                        <a:t>impact of your actions.</a:t>
                      </a:r>
                      <a:endParaRPr lang="en-US" dirty="0"/>
                    </a:p>
                  </a:txBody>
                  <a:tcP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tcPr>
                </a:tc>
                <a:tc>
                  <a:txBody>
                    <a:bodyPr/>
                    <a:lstStyle/>
                    <a:p>
                      <a:pPr marL="0" lvl="0" indent="0" algn="l">
                        <a:lnSpc>
                          <a:spcPct val="100000"/>
                        </a:lnSpc>
                        <a:spcBef>
                          <a:spcPts val="0"/>
                        </a:spcBef>
                        <a:spcAft>
                          <a:spcPts val="0"/>
                        </a:spcAft>
                        <a:buNone/>
                      </a:pPr>
                      <a:r>
                        <a:rPr lang="en-US" sz="1200" b="0" i="0" u="none" strike="noStrike" noProof="0" dirty="0"/>
                        <a:t>S</a:t>
                      </a:r>
                      <a:r>
                        <a:rPr lang="en-US" sz="1200" b="0" i="0" u="none" strike="noStrike" noProof="0" dirty="0">
                          <a:solidFill>
                            <a:srgbClr val="000000"/>
                          </a:solidFill>
                          <a:latin typeface="PF Square Sans Pro Light"/>
                        </a:rPr>
                        <a:t>pread Negativity and Limit Possibilities: Consistently focus on obstacles, see only the problems, and project a mindset of 'nothing can be done,' dampening morale and discouraging others.</a:t>
                      </a:r>
                    </a:p>
                  </a:txBody>
                  <a:tcP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tcPr>
                </a:tc>
                <a:extLst>
                  <a:ext uri="{0D108BD9-81ED-4DB2-BD59-A6C34878D82A}">
                    <a16:rowId xmlns:a16="http://schemas.microsoft.com/office/drawing/2014/main" val="1126297130"/>
                  </a:ext>
                </a:extLst>
              </a:tr>
            </a:tbl>
          </a:graphicData>
        </a:graphic>
      </p:graphicFrame>
      <p:sp>
        <p:nvSpPr>
          <p:cNvPr id="5" name="Title 4">
            <a:extLst>
              <a:ext uri="{FF2B5EF4-FFF2-40B4-BE49-F238E27FC236}">
                <a16:creationId xmlns:a16="http://schemas.microsoft.com/office/drawing/2014/main" id="{CA9C2DA3-07D1-5F35-0D15-F9AB69CA94E6}"/>
              </a:ext>
            </a:extLst>
          </p:cNvPr>
          <p:cNvSpPr>
            <a:spLocks noGrp="1"/>
          </p:cNvSpPr>
          <p:nvPr>
            <p:ph type="title"/>
          </p:nvPr>
        </p:nvSpPr>
        <p:spPr>
          <a:xfrm>
            <a:off x="89040" y="211686"/>
            <a:ext cx="9664560" cy="401639"/>
          </a:xfrm>
        </p:spPr>
        <p:txBody>
          <a:bodyPr lIns="91440" tIns="45720" rIns="91440" bIns="45720" anchor="b"/>
          <a:lstStyle/>
          <a:p>
            <a:r>
              <a:rPr lang="en-GB" sz="3600" b="0" dirty="0">
                <a:latin typeface="Plaak 3 Trial Regular"/>
              </a:rPr>
              <a:t>TURN VALUES INTO BEHAVIORS [page 2 of 2]</a:t>
            </a:r>
            <a:endParaRPr lang="en-BG" sz="3600" b="0" dirty="0">
              <a:latin typeface="Plaak 3 Trial Regular"/>
            </a:endParaRPr>
          </a:p>
        </p:txBody>
      </p:sp>
    </p:spTree>
    <p:extLst>
      <p:ext uri="{BB962C8B-B14F-4D97-AF65-F5344CB8AC3E}">
        <p14:creationId xmlns:p14="http://schemas.microsoft.com/office/powerpoint/2010/main" val="662839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A9C2DA3-07D1-5F35-0D15-F9AB69CA94E6}"/>
              </a:ext>
            </a:extLst>
          </p:cNvPr>
          <p:cNvSpPr>
            <a:spLocks noGrp="1"/>
          </p:cNvSpPr>
          <p:nvPr>
            <p:ph type="title"/>
          </p:nvPr>
        </p:nvSpPr>
        <p:spPr>
          <a:xfrm>
            <a:off x="89040" y="211686"/>
            <a:ext cx="9664560" cy="401639"/>
          </a:xfrm>
        </p:spPr>
        <p:txBody>
          <a:bodyPr/>
          <a:lstStyle/>
          <a:p>
            <a:r>
              <a:rPr lang="en-GB" sz="3600" b="0" dirty="0">
                <a:latin typeface="Plaak 3 Trial Regular" panose="02000000000000000000" pitchFamily="2" charset="0"/>
              </a:rPr>
              <a:t>Red lines</a:t>
            </a:r>
            <a:endParaRPr lang="en-BG" sz="3600" b="0" dirty="0">
              <a:latin typeface="Plaak 3 Trial Regular" panose="02000000000000000000" pitchFamily="2" charset="0"/>
            </a:endParaRPr>
          </a:p>
        </p:txBody>
      </p:sp>
      <p:graphicFrame>
        <p:nvGraphicFramePr>
          <p:cNvPr id="2" name="Table 1">
            <a:extLst>
              <a:ext uri="{FF2B5EF4-FFF2-40B4-BE49-F238E27FC236}">
                <a16:creationId xmlns:a16="http://schemas.microsoft.com/office/drawing/2014/main" id="{2B69F258-3FBC-CE9B-438A-ECF368A7F320}"/>
              </a:ext>
            </a:extLst>
          </p:cNvPr>
          <p:cNvGraphicFramePr>
            <a:graphicFrameLocks noGrp="1"/>
          </p:cNvGraphicFramePr>
          <p:nvPr>
            <p:extLst>
              <p:ext uri="{D42A27DB-BD31-4B8C-83A1-F6EECF244321}">
                <p14:modId xmlns:p14="http://schemas.microsoft.com/office/powerpoint/2010/main" val="989863674"/>
              </p:ext>
            </p:extLst>
          </p:nvPr>
        </p:nvGraphicFramePr>
        <p:xfrm>
          <a:off x="276084" y="795130"/>
          <a:ext cx="9664560" cy="4723381"/>
        </p:xfrm>
        <a:graphic>
          <a:graphicData uri="http://schemas.openxmlformats.org/drawingml/2006/table">
            <a:tbl>
              <a:tblPr firstRow="1" bandRow="1">
                <a:tableStyleId>{2D5ABB26-0587-4C30-8999-92F81FD0307C}</a:tableStyleId>
              </a:tblPr>
              <a:tblGrid>
                <a:gridCol w="4854620">
                  <a:extLst>
                    <a:ext uri="{9D8B030D-6E8A-4147-A177-3AD203B41FA5}">
                      <a16:colId xmlns:a16="http://schemas.microsoft.com/office/drawing/2014/main" val="3313590318"/>
                    </a:ext>
                  </a:extLst>
                </a:gridCol>
                <a:gridCol w="4809940">
                  <a:extLst>
                    <a:ext uri="{9D8B030D-6E8A-4147-A177-3AD203B41FA5}">
                      <a16:colId xmlns:a16="http://schemas.microsoft.com/office/drawing/2014/main" val="1506629949"/>
                    </a:ext>
                  </a:extLst>
                </a:gridCol>
              </a:tblGrid>
              <a:tr h="397566">
                <a:tc>
                  <a:txBody>
                    <a:bodyPr/>
                    <a:lstStyle/>
                    <a:p>
                      <a:r>
                        <a:rPr lang="en-US" sz="1400" b="0" i="0" dirty="0">
                          <a:solidFill>
                            <a:schemeClr val="tx1"/>
                          </a:solidFill>
                          <a:latin typeface="Arial" panose="020B0604020202020204" pitchFamily="34" charset="0"/>
                          <a:ea typeface="Riforma LL" panose="020B0504020101020102" pitchFamily="34" charset="0"/>
                          <a:cs typeface="Arial" panose="020B0604020202020204" pitchFamily="34" charset="0"/>
                        </a:rPr>
                        <a:t>Yellow Lines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Red Lines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27707021"/>
                  </a:ext>
                </a:extLst>
              </a:tr>
              <a:tr h="623740">
                <a:tc>
                  <a:txBody>
                    <a:bodyPr/>
                    <a:lstStyle/>
                    <a:p>
                      <a:pPr marL="0" marR="0" lvl="0" indent="0" algn="l">
                        <a:lnSpc>
                          <a:spcPct val="100000"/>
                        </a:lnSpc>
                        <a:spcBef>
                          <a:spcPts val="0"/>
                        </a:spcBef>
                        <a:spcAft>
                          <a:spcPts val="0"/>
                        </a:spcAft>
                        <a:buNone/>
                      </a:pPr>
                      <a:r>
                        <a:rPr lang="en-US" sz="1200" b="0" i="0" u="none" strike="noStrike" noProof="0" dirty="0"/>
                        <a:t>Accepting feedback but not acting on it regularly; offering feedback that is vague or not constructive enough to drive meaningful improvement.</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dirty="0"/>
                        <a:t>Avoiding feedback entirely, either by not asking for it or refusing to give it, leading to missed opportunities for personal growth and team development.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623740">
                <a:tc>
                  <a:txBody>
                    <a:bodyPr/>
                    <a:lstStyle/>
                    <a:p>
                      <a:pPr marL="0" marR="0" lvl="0" indent="0" algn="l">
                        <a:lnSpc>
                          <a:spcPct val="100000"/>
                        </a:lnSpc>
                        <a:spcBef>
                          <a:spcPts val="0"/>
                        </a:spcBef>
                        <a:spcAft>
                          <a:spcPts val="0"/>
                        </a:spcAft>
                        <a:buNone/>
                      </a:pPr>
                      <a:r>
                        <a:rPr lang="en-US" sz="1200" b="0" i="0" u="none" strike="noStrike" noProof="0" dirty="0"/>
                        <a:t>Occasionally learning new skills but not consistently applying them in your role or sharing insights with your team.</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dirty="0"/>
                        <a:t>Ignoring opportunities for learning or growth altogether, becoming complacent and relying solely on outdated knowledge or skills.</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850554">
                <a:tc>
                  <a:txBody>
                    <a:bodyPr/>
                    <a:lstStyle/>
                    <a:p>
                      <a:pPr marL="0" marR="0" lvl="0" indent="0" algn="l">
                        <a:lnSpc>
                          <a:spcPct val="100000"/>
                        </a:lnSpc>
                        <a:spcBef>
                          <a:spcPts val="0"/>
                        </a:spcBef>
                        <a:spcAft>
                          <a:spcPts val="0"/>
                        </a:spcAft>
                        <a:buNone/>
                      </a:pPr>
                      <a:r>
                        <a:rPr lang="en-US" sz="1200" b="0" i="0" u="none" strike="noStrike" noProof="0" dirty="0"/>
                        <a:t>Meeting expectations but rarely pushing beyond what is required; occasionally going above and beyond but not consistently striving for excellence.</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dirty="0"/>
                        <a:t>Settling for mediocrity and being content with just doing the bare minimum, without seeking ways to surprise or delight customers or improve processes.</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637916">
                <a:tc>
                  <a:txBody>
                    <a:bodyPr/>
                    <a:lstStyle/>
                    <a:p>
                      <a:pPr marL="0" marR="0" lvl="0" indent="0" algn="l">
                        <a:lnSpc>
                          <a:spcPct val="100000"/>
                        </a:lnSpc>
                        <a:spcBef>
                          <a:spcPts val="0"/>
                        </a:spcBef>
                        <a:spcAft>
                          <a:spcPts val="0"/>
                        </a:spcAft>
                        <a:buNone/>
                      </a:pPr>
                      <a:r>
                        <a:rPr lang="en-US" sz="1200" b="0" i="0" u="none" strike="noStrike" noProof="0" dirty="0"/>
                        <a:t>Making decisions but relying heavily on others for validation; taking responsibility but not always following through on tasks or results.</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dirty="0"/>
                        <a:t>Failing to take responsibility for decisions or outcomes, deflecting blame onto others, and avoiding ownership of mistakes or setbacks.</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850554">
                <a:tc>
                  <a:txBody>
                    <a:bodyPr/>
                    <a:lstStyle/>
                    <a:p>
                      <a:pPr marL="0" marR="0" lvl="0" indent="0" algn="l">
                        <a:lnSpc>
                          <a:spcPct val="100000"/>
                        </a:lnSpc>
                        <a:spcBef>
                          <a:spcPts val="0"/>
                        </a:spcBef>
                        <a:spcAft>
                          <a:spcPts val="0"/>
                        </a:spcAft>
                        <a:buNone/>
                      </a:pPr>
                      <a:r>
                        <a:rPr lang="en-US" sz="1200" b="0" i="0" u="none" strike="noStrike" noProof="0" dirty="0"/>
                        <a:t>Participating in discussions but not actively engaging with others’ perspectives; listening without fully understanding or providing shallow contributions.</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dirty="0"/>
                        <a:t>Ignoring others’ input, rushing to judgments, and fostering a negative or competitive environment instead of promoting teamwork and mutual respect.</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r h="722971">
                <a:tc>
                  <a:txBody>
                    <a:bodyPr/>
                    <a:lstStyle/>
                    <a:p>
                      <a:pPr marL="0" lvl="0" indent="0" algn="l">
                        <a:lnSpc>
                          <a:spcPct val="100000"/>
                        </a:lnSpc>
                        <a:spcBef>
                          <a:spcPts val="0"/>
                        </a:spcBef>
                        <a:spcAft>
                          <a:spcPts val="0"/>
                        </a:spcAft>
                        <a:buNone/>
                      </a:pPr>
                      <a:r>
                        <a:rPr lang="en-US" sz="1200" b="0" i="0" u="none" strike="noStrike" noProof="0" dirty="0">
                          <a:latin typeface="PF Square Sans Pro Light"/>
                        </a:rPr>
                        <a:t>Participating in initiatives only when required, not taking extra steps to contribute or drive impact.</a:t>
                      </a:r>
                      <a:endParaRPr lang="en-US" dirty="0"/>
                    </a:p>
                  </a:txBody>
                  <a:tcP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tcPr>
                </a:tc>
                <a:tc>
                  <a:txBody>
                    <a:bodyPr/>
                    <a:lstStyle/>
                    <a:p>
                      <a:pPr marL="0" lvl="0" indent="0" algn="l">
                        <a:lnSpc>
                          <a:spcPct val="100000"/>
                        </a:lnSpc>
                        <a:spcBef>
                          <a:spcPts val="0"/>
                        </a:spcBef>
                        <a:spcAft>
                          <a:spcPts val="0"/>
                        </a:spcAft>
                        <a:buNone/>
                      </a:pPr>
                      <a:r>
                        <a:rPr lang="en-US" sz="1200" b="0" i="0" u="none" strike="noStrike" noProof="0" dirty="0"/>
                        <a:t>Staying disengaged, avoiding taking initiative, and failing to understand the broader implications of one’s actions or the lack of contribution to the team’s goals.</a:t>
                      </a:r>
                      <a:endParaRPr lang="en-US" dirty="0"/>
                    </a:p>
                  </a:txBody>
                  <a:tcP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tcPr>
                </a:tc>
                <a:extLst>
                  <a:ext uri="{0D108BD9-81ED-4DB2-BD59-A6C34878D82A}">
                    <a16:rowId xmlns:a16="http://schemas.microsoft.com/office/drawing/2014/main" val="1856592663"/>
                  </a:ext>
                </a:extLst>
              </a:tr>
            </a:tbl>
          </a:graphicData>
        </a:graphic>
      </p:graphicFrame>
    </p:spTree>
    <p:extLst>
      <p:ext uri="{BB962C8B-B14F-4D97-AF65-F5344CB8AC3E}">
        <p14:creationId xmlns:p14="http://schemas.microsoft.com/office/powerpoint/2010/main" val="3791091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2799627453"/>
              </p:ext>
            </p:extLst>
          </p:nvPr>
        </p:nvGraphicFramePr>
        <p:xfrm>
          <a:off x="90060" y="519790"/>
          <a:ext cx="10461824" cy="6902019"/>
        </p:xfrm>
        <a:graphic>
          <a:graphicData uri="http://schemas.openxmlformats.org/drawingml/2006/table">
            <a:tbl>
              <a:tblPr firstRow="1" bandRow="1">
                <a:tableStyleId>{2D5ABB26-0587-4C30-8999-92F81FD0307C}</a:tableStyleId>
              </a:tblPr>
              <a:tblGrid>
                <a:gridCol w="5386847">
                  <a:extLst>
                    <a:ext uri="{9D8B030D-6E8A-4147-A177-3AD203B41FA5}">
                      <a16:colId xmlns:a16="http://schemas.microsoft.com/office/drawing/2014/main" val="3313590318"/>
                    </a:ext>
                  </a:extLst>
                </a:gridCol>
                <a:gridCol w="5074977">
                  <a:extLst>
                    <a:ext uri="{9D8B030D-6E8A-4147-A177-3AD203B41FA5}">
                      <a16:colId xmlns:a16="http://schemas.microsoft.com/office/drawing/2014/main" val="1506629949"/>
                    </a:ext>
                  </a:extLst>
                </a:gridCol>
              </a:tblGrid>
              <a:tr h="399174">
                <a:tc>
                  <a:txBody>
                    <a:bodyPr/>
                    <a:lstStyle/>
                    <a:p>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Interview Questions to Discover Cool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pPr marL="0" marR="0" indent="0" algn="l" defTabSz="913760" rtl="0" eaLnBrk="1" fontAlgn="auto" latinLnBrk="0" hangingPunct="1">
                        <a:lnSpc>
                          <a:spcPct val="100000"/>
                        </a:lnSpc>
                        <a:spcBef>
                          <a:spcPts val="0"/>
                        </a:spcBef>
                        <a:spcAft>
                          <a:spcPts val="0"/>
                        </a:spcAft>
                        <a:buClrTx/>
                        <a:buSzTx/>
                        <a:buFontTx/>
                        <a:buNone/>
                        <a:tabLst/>
                        <a:defRPr/>
                      </a:pPr>
                      <a:r>
                        <a:rPr lang="en-US" sz="1400" b="0" i="0" dirty="0">
                          <a:solidFill>
                            <a:schemeClr val="bg1"/>
                          </a:solidFill>
                          <a:latin typeface="Arial" panose="020B0604020202020204" pitchFamily="34" charset="0"/>
                          <a:ea typeface="Riforma LL" panose="020B0504020101020102" pitchFamily="34" charset="0"/>
                          <a:cs typeface="Arial" panose="020B0604020202020204" pitchFamily="34" charset="0"/>
                        </a:rPr>
                        <a:t>Interview Questions to Discover Non-Cool Behaviors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27707021"/>
                  </a:ext>
                </a:extLst>
              </a:tr>
              <a:tr h="467805">
                <a:tc>
                  <a:txBody>
                    <a:bodyPr/>
                    <a:lstStyle/>
                    <a:p>
                      <a:pPr marL="0" marR="0" lvl="0" indent="0" algn="l">
                        <a:lnSpc>
                          <a:spcPct val="100000"/>
                        </a:lnSpc>
                        <a:spcBef>
                          <a:spcPts val="0"/>
                        </a:spcBef>
                        <a:spcAft>
                          <a:spcPts val="0"/>
                        </a:spcAft>
                        <a:buNone/>
                      </a:pPr>
                      <a:r>
                        <a:rPr lang="en-US" sz="1200" b="0" i="0" u="none" strike="noStrike" noProof="0" dirty="0"/>
                        <a:t>Can you give an example of how you incorporate healthy habits into your daily routine, and how they affect your work?</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dirty="0"/>
                        <a:t>When was the last time you felt your health impacted your work? How did you address it?</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453629">
                <a:tc>
                  <a:txBody>
                    <a:bodyPr/>
                    <a:lstStyle/>
                    <a:p>
                      <a:pPr marL="0" marR="0" lvl="0" indent="0" algn="l">
                        <a:lnSpc>
                          <a:spcPct val="100000"/>
                        </a:lnSpc>
                        <a:spcBef>
                          <a:spcPts val="0"/>
                        </a:spcBef>
                        <a:spcAft>
                          <a:spcPts val="0"/>
                        </a:spcAft>
                        <a:buNone/>
                      </a:pPr>
                      <a:r>
                        <a:rPr lang="en-US" sz="1200" b="0" i="0" u="none" strike="noStrike" noProof="0" dirty="0"/>
                        <a:t>How do you handle situations when your workload impacts your well-being?</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dirty="0"/>
                        <a:t>How would you prioritize your tasks if maintaining a healthy work-life balance seemed impossible?</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453629">
                <a:tc>
                  <a:txBody>
                    <a:bodyPr/>
                    <a:lstStyle/>
                    <a:p>
                      <a:pPr marL="0" marR="0" lvl="0" indent="0" algn="l">
                        <a:lnSpc>
                          <a:spcPct val="100000"/>
                        </a:lnSpc>
                        <a:spcBef>
                          <a:spcPts val="0"/>
                        </a:spcBef>
                        <a:spcAft>
                          <a:spcPts val="0"/>
                        </a:spcAft>
                        <a:buNone/>
                      </a:pPr>
                      <a:r>
                        <a:rPr lang="en-US" sz="1200" b="0" i="0" u="none" strike="noStrike" noProof="0" dirty="0"/>
                        <a:t>Describe a time when you went beyond what was required to improve a customer’s experience. What was the outcome?</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dirty="0"/>
                        <a:t>Tell me about a time when you faced a challenging customer situation. How did you balance resolving the issue with your other responsibilities?</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453629">
                <a:tc>
                  <a:txBody>
                    <a:bodyPr/>
                    <a:lstStyle/>
                    <a:p>
                      <a:pPr marL="0" marR="0" lvl="0" indent="0" algn="l">
                        <a:lnSpc>
                          <a:spcPct val="100000"/>
                        </a:lnSpc>
                        <a:spcBef>
                          <a:spcPts val="0"/>
                        </a:spcBef>
                        <a:spcAft>
                          <a:spcPts val="0"/>
                        </a:spcAft>
                        <a:buNone/>
                      </a:pPr>
                      <a:r>
                        <a:rPr lang="en-US" sz="1200" b="0" i="0" u="none" strike="noStrike" noProof="0" dirty="0"/>
                        <a:t>How do you ensure that your interactions are always adding value, not just completing a task?</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dirty="0"/>
                        <a:t>Have you ever found it difficult to empathize with a customer? What did you do in that situation?</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453629">
                <a:tc>
                  <a:txBody>
                    <a:bodyPr/>
                    <a:lstStyle/>
                    <a:p>
                      <a:pPr marL="0" marR="0" lvl="0" indent="0" algn="l">
                        <a:lnSpc>
                          <a:spcPct val="100000"/>
                        </a:lnSpc>
                        <a:spcBef>
                          <a:spcPts val="0"/>
                        </a:spcBef>
                        <a:spcAft>
                          <a:spcPts val="0"/>
                        </a:spcAft>
                        <a:buNone/>
                      </a:pPr>
                      <a:r>
                        <a:rPr lang="en-US" sz="1200" b="0" i="0" u="none" strike="noStrike" noProof="0" dirty="0"/>
                        <a:t>Can you describe a situation where you noticed a problem at work and took the initiative to resolve it without being asked?</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dirty="0"/>
                        <a:t>Have you ever delayed taking action because you assumed someone else would take care of it? What happened next?</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r h="453629">
                <a:tc>
                  <a:txBody>
                    <a:bodyPr/>
                    <a:lstStyle/>
                    <a:p>
                      <a:pPr marL="0" marR="0" lvl="0" indent="0" algn="l">
                        <a:lnSpc>
                          <a:spcPct val="100000"/>
                        </a:lnSpc>
                        <a:spcBef>
                          <a:spcPts val="0"/>
                        </a:spcBef>
                        <a:spcAft>
                          <a:spcPts val="0"/>
                        </a:spcAft>
                        <a:buNone/>
                      </a:pPr>
                      <a:r>
                        <a:rPr lang="en-US" sz="1200" b="0" i="0" u="none" strike="noStrike" noProof="0" dirty="0"/>
                        <a:t>Tell me about a time when you anticipated a potential issue and took steps to prevent it. What was your thought process?</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dirty="0"/>
                        <a:t>Can you share an experience where you found it challenging to take responsibility for a mistake?</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52526878"/>
                  </a:ext>
                </a:extLst>
              </a:tr>
              <a:tr h="453629">
                <a:tc>
                  <a:txBody>
                    <a:bodyPr/>
                    <a:lstStyle/>
                    <a:p>
                      <a:pPr marL="0" marR="0" lvl="0" indent="0" algn="l">
                        <a:lnSpc>
                          <a:spcPct val="100000"/>
                        </a:lnSpc>
                        <a:spcBef>
                          <a:spcPts val="0"/>
                        </a:spcBef>
                        <a:spcAft>
                          <a:spcPts val="0"/>
                        </a:spcAft>
                        <a:buNone/>
                      </a:pPr>
                      <a:r>
                        <a:rPr lang="en-US" sz="1200" b="0" i="0" u="none" strike="noStrike" noProof="0" dirty="0"/>
                        <a:t>Can you give an example of a piece of tough feedback you received and how you acted on it?</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dirty="0"/>
                        <a:t>How do you typically respond when you receive feedback that you disagree with?</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60774"/>
                  </a:ext>
                </a:extLst>
              </a:tr>
              <a:tr h="453629">
                <a:tc>
                  <a:txBody>
                    <a:bodyPr/>
                    <a:lstStyle/>
                    <a:p>
                      <a:pPr marL="0" marR="0" lvl="0" indent="0" algn="l">
                        <a:lnSpc>
                          <a:spcPct val="100000"/>
                        </a:lnSpc>
                        <a:spcBef>
                          <a:spcPts val="0"/>
                        </a:spcBef>
                        <a:spcAft>
                          <a:spcPts val="0"/>
                        </a:spcAft>
                        <a:buNone/>
                      </a:pPr>
                      <a:r>
                        <a:rPr lang="en-US" sz="1200" b="0" i="0" u="none" strike="noStrike" noProof="0" dirty="0"/>
                        <a:t>Tell me about a time when you provided constructive feedback to someone else. How did you approach it?</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dirty="0"/>
                        <a:t>Have you ever avoided giving someone feedback because it was uncomfortable? What was the result?</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01432355"/>
                  </a:ext>
                </a:extLst>
              </a:tr>
              <a:tr h="453629">
                <a:tc>
                  <a:txBody>
                    <a:bodyPr/>
                    <a:lstStyle/>
                    <a:p>
                      <a:pPr marL="0" marR="0" lvl="0" indent="0" algn="l">
                        <a:lnSpc>
                          <a:spcPct val="100000"/>
                        </a:lnSpc>
                        <a:spcBef>
                          <a:spcPts val="0"/>
                        </a:spcBef>
                        <a:spcAft>
                          <a:spcPts val="0"/>
                        </a:spcAft>
                        <a:buNone/>
                      </a:pPr>
                      <a:r>
                        <a:rPr lang="en-US" sz="1200" b="0" i="0" u="none" strike="noStrike" noProof="0" dirty="0"/>
                        <a:t>Describe a recent skill or piece of knowledge you acquired on your own initiative. How have you applied it?</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dirty="0"/>
                        <a:t>Tell me about a time when you missed an opportunity for personal or professional growth. What stopped you from pursuing it?</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0390714"/>
                  </a:ext>
                </a:extLst>
              </a:tr>
              <a:tr h="453629">
                <a:tc>
                  <a:txBody>
                    <a:bodyPr/>
                    <a:lstStyle/>
                    <a:p>
                      <a:pPr marL="0" marR="0" lvl="0" indent="0" algn="l">
                        <a:lnSpc>
                          <a:spcPct val="100000"/>
                        </a:lnSpc>
                        <a:spcBef>
                          <a:spcPts val="0"/>
                        </a:spcBef>
                        <a:spcAft>
                          <a:spcPts val="0"/>
                        </a:spcAft>
                        <a:buNone/>
                      </a:pPr>
                      <a:r>
                        <a:rPr lang="en-US" sz="1200" b="0" i="0" u="none" strike="noStrike" noProof="0" dirty="0"/>
                        <a:t>How do you keep yourself updated on industry trends, and how have you used that information at work?</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en-US" sz="1200" b="0" i="0" u="none" strike="noStrike" noProof="0" dirty="0"/>
                        <a:t>How do you handle situations where you feel comfortable in your role and see no immediate need to change or learn something new?</a:t>
                      </a: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38077906"/>
                  </a:ext>
                </a:extLst>
              </a:tr>
              <a:tr h="601845">
                <a:tc>
                  <a:txBody>
                    <a:bodyPr/>
                    <a:lstStyle/>
                    <a:p>
                      <a:pPr marL="0" lvl="0" indent="0" algn="l">
                        <a:lnSpc>
                          <a:spcPct val="100000"/>
                        </a:lnSpc>
                        <a:spcBef>
                          <a:spcPts val="0"/>
                        </a:spcBef>
                        <a:spcAft>
                          <a:spcPts val="0"/>
                        </a:spcAft>
                        <a:buNone/>
                      </a:pPr>
                      <a:r>
                        <a:rPr lang="en-US" sz="1200" b="0" i="0" u="none" strike="noStrike" noProof="0" dirty="0">
                          <a:latin typeface="PF Square Sans Pro Light"/>
                        </a:rPr>
                        <a:t>Tell me about a situation where you had to make a difficult decision. How did you balance data with your intuition, and how did you take responsibility for the outcome?</a:t>
                      </a:r>
                      <a:endParaRPr lang="en-US" dirty="0"/>
                    </a:p>
                  </a:txBody>
                  <a:tcPr>
                    <a:lnL w="6350">
                      <a:solidFill>
                        <a:schemeClr val="tx1"/>
                      </a:solidFill>
                    </a:lnL>
                    <a:lnR w="6350">
                      <a:solidFill>
                        <a:schemeClr val="tx1"/>
                      </a:solidFill>
                    </a:lnR>
                    <a:lnT w="6350">
                      <a:solidFill>
                        <a:schemeClr val="tx1"/>
                      </a:solidFill>
                    </a:lnT>
                    <a:lnB w="6350" cap="flat" cmpd="sng" algn="ctr">
                      <a:solidFill>
                        <a:schemeClr val="tx1"/>
                      </a:solidFill>
                      <a:prstDash val="solid"/>
                      <a:round/>
                      <a:headEnd type="none" w="med" len="med"/>
                      <a:tailEnd type="none" w="med" len="med"/>
                    </a:lnB>
                    <a:lnTlToBr w="0">
                      <a:noFill/>
                    </a:lnTlToBr>
                    <a:lnBlToTr w="0">
                      <a:noFill/>
                    </a:lnBlToTr>
                  </a:tcPr>
                </a:tc>
                <a:tc>
                  <a:txBody>
                    <a:bodyPr/>
                    <a:lstStyle/>
                    <a:p>
                      <a:pPr marL="0" lvl="0" indent="0" algn="l">
                        <a:lnSpc>
                          <a:spcPct val="100000"/>
                        </a:lnSpc>
                        <a:spcBef>
                          <a:spcPts val="0"/>
                        </a:spcBef>
                        <a:spcAft>
                          <a:spcPts val="0"/>
                        </a:spcAft>
                        <a:buNone/>
                      </a:pPr>
                      <a:r>
                        <a:rPr lang="en-US" sz="1200" b="0" i="0" u="none" strike="noStrike" noProof="0" dirty="0"/>
                        <a:t>Can you share an instance where you were involved in a project but did not take full ownership of the outcome? What was the impact, and what would you do differently now?</a:t>
                      </a:r>
                      <a:endParaRPr lang="en-US" dirty="0"/>
                    </a:p>
                  </a:txBody>
                  <a:tcPr>
                    <a:lnL w="6350">
                      <a:solidFill>
                        <a:schemeClr val="tx1"/>
                      </a:solidFill>
                    </a:lnL>
                    <a:lnR w="6350">
                      <a:solidFill>
                        <a:schemeClr val="tx1"/>
                      </a:solidFill>
                    </a:lnR>
                    <a:lnT w="6350">
                      <a:solidFill>
                        <a:schemeClr val="tx1"/>
                      </a:solidFill>
                    </a:lnT>
                    <a:lnB w="6350" cap="flat" cmpd="sng" algn="ctr">
                      <a:solidFill>
                        <a:schemeClr val="tx1"/>
                      </a:solidFill>
                      <a:prstDash val="solid"/>
                      <a:round/>
                      <a:headEnd type="none" w="med" len="med"/>
                      <a:tailEnd type="none" w="med" len="med"/>
                    </a:lnB>
                    <a:lnTlToBr w="0">
                      <a:noFill/>
                    </a:lnTlToBr>
                    <a:lnBlToTr w="0">
                      <a:noFill/>
                    </a:lnBlToTr>
                  </a:tcPr>
                </a:tc>
                <a:extLst>
                  <a:ext uri="{0D108BD9-81ED-4DB2-BD59-A6C34878D82A}">
                    <a16:rowId xmlns:a16="http://schemas.microsoft.com/office/drawing/2014/main" val="718302682"/>
                  </a:ext>
                </a:extLst>
              </a:tr>
              <a:tr h="601845">
                <a:tc>
                  <a:txBody>
                    <a:bodyPr/>
                    <a:lstStyle/>
                    <a:p>
                      <a:pPr marL="0" lvl="0" indent="0" algn="l">
                        <a:lnSpc>
                          <a:spcPct val="100000"/>
                        </a:lnSpc>
                        <a:spcBef>
                          <a:spcPts val="0"/>
                        </a:spcBef>
                        <a:spcAft>
                          <a:spcPts val="0"/>
                        </a:spcAft>
                        <a:buNone/>
                      </a:pPr>
                      <a:r>
                        <a:rPr lang="en-US" sz="1200" b="0" i="0" u="none" strike="noStrike" noProof="0" dirty="0">
                          <a:latin typeface="PF Square Sans Pro Light"/>
                        </a:rPr>
                        <a:t>Tell me about a time when you had to collaborate with someone who had a very different perspective from your own. How did you ensure that both perspectives were heard and considered?</a:t>
                      </a:r>
                      <a:endParaRPr lang="en-US" dirty="0"/>
                    </a:p>
                  </a:txBody>
                  <a:tcPr>
                    <a:lnL w="6350">
                      <a:solidFill>
                        <a:schemeClr val="tx1"/>
                      </a:solidFill>
                    </a:lnL>
                    <a:lnR w="6350">
                      <a:solidFill>
                        <a:schemeClr val="tx1"/>
                      </a:solidFill>
                    </a:lnR>
                    <a:lnT w="6350">
                      <a:solidFill>
                        <a:schemeClr val="tx1"/>
                      </a:solidFill>
                    </a:lnT>
                    <a:lnB w="6350" cap="flat" cmpd="sng" algn="ctr">
                      <a:solidFill>
                        <a:schemeClr val="tx1"/>
                      </a:solidFill>
                      <a:prstDash val="solid"/>
                      <a:round/>
                      <a:headEnd type="none" w="med" len="med"/>
                      <a:tailEnd type="none" w="med" len="med"/>
                    </a:lnB>
                    <a:lnTlToBr w="0">
                      <a:noFill/>
                    </a:lnTlToBr>
                    <a:lnBlToTr w="0">
                      <a:noFill/>
                    </a:lnBlToTr>
                  </a:tcPr>
                </a:tc>
                <a:tc>
                  <a:txBody>
                    <a:bodyPr/>
                    <a:lstStyle/>
                    <a:p>
                      <a:pPr marL="0" lvl="0" indent="0" algn="l">
                        <a:lnSpc>
                          <a:spcPct val="100000"/>
                        </a:lnSpc>
                        <a:spcBef>
                          <a:spcPts val="0"/>
                        </a:spcBef>
                        <a:spcAft>
                          <a:spcPts val="0"/>
                        </a:spcAft>
                        <a:buNone/>
                      </a:pPr>
                      <a:r>
                        <a:rPr lang="en-US" sz="1200" b="0" i="0" u="none" strike="noStrike" noProof="0" dirty="0"/>
                        <a:t>Describe a time when you avoided addressing a conflict within your team. What were the consequences of not resolving the issue right away?</a:t>
                      </a:r>
                      <a:endParaRPr lang="en-US" dirty="0"/>
                    </a:p>
                  </a:txBody>
                  <a:tcPr>
                    <a:lnL w="6350">
                      <a:solidFill>
                        <a:schemeClr val="tx1"/>
                      </a:solidFill>
                    </a:lnL>
                    <a:lnR w="6350">
                      <a:solidFill>
                        <a:schemeClr val="tx1"/>
                      </a:solidFill>
                    </a:lnR>
                    <a:lnT w="6350">
                      <a:solidFill>
                        <a:schemeClr val="tx1"/>
                      </a:solidFill>
                    </a:lnT>
                    <a:lnB w="6350" cap="flat" cmpd="sng" algn="ctr">
                      <a:solidFill>
                        <a:schemeClr val="tx1"/>
                      </a:solidFill>
                      <a:prstDash val="solid"/>
                      <a:round/>
                      <a:headEnd type="none" w="med" len="med"/>
                      <a:tailEnd type="none" w="med" len="med"/>
                    </a:lnB>
                    <a:lnTlToBr w="0">
                      <a:noFill/>
                    </a:lnTlToBr>
                    <a:lnBlToTr w="0">
                      <a:noFill/>
                    </a:lnBlToTr>
                  </a:tcPr>
                </a:tc>
                <a:extLst>
                  <a:ext uri="{0D108BD9-81ED-4DB2-BD59-A6C34878D82A}">
                    <a16:rowId xmlns:a16="http://schemas.microsoft.com/office/drawing/2014/main" val="1602591400"/>
                  </a:ext>
                </a:extLst>
              </a:tr>
              <a:tr h="601845">
                <a:tc>
                  <a:txBody>
                    <a:bodyPr/>
                    <a:lstStyle/>
                    <a:p>
                      <a:pPr marL="0" lvl="0" indent="0" algn="l">
                        <a:lnSpc>
                          <a:spcPct val="100000"/>
                        </a:lnSpc>
                        <a:spcBef>
                          <a:spcPts val="0"/>
                        </a:spcBef>
                        <a:spcAft>
                          <a:spcPts val="0"/>
                        </a:spcAft>
                        <a:buNone/>
                      </a:pPr>
                      <a:r>
                        <a:rPr lang="en-US" sz="1200" b="0" i="0" u="none" strike="noStrike" noProof="0" dirty="0"/>
                        <a:t>Can you give an example of a time when you saw an opportunity to contribute beyond your direct responsibilities? How did you take initiative, and what impact did it have on the team or company?</a:t>
                      </a:r>
                      <a:endParaRPr lang="en-US" dirty="0"/>
                    </a:p>
                  </a:txBody>
                  <a:tcP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tcPr>
                </a:tc>
                <a:tc>
                  <a:txBody>
                    <a:bodyPr/>
                    <a:lstStyle/>
                    <a:p>
                      <a:pPr marL="0" lvl="0" indent="0" algn="l">
                        <a:lnSpc>
                          <a:spcPct val="100000"/>
                        </a:lnSpc>
                        <a:spcBef>
                          <a:spcPts val="0"/>
                        </a:spcBef>
                        <a:spcAft>
                          <a:spcPts val="0"/>
                        </a:spcAft>
                        <a:buNone/>
                      </a:pPr>
                      <a:r>
                        <a:rPr lang="en-US" sz="1200" b="0" i="0" u="none" strike="noStrike" noProof="0" dirty="0"/>
                        <a:t>Tell me about a situation where you chose to stay on the sidelines instead of getting involved. What was the outcome, and how did it affect the team?</a:t>
                      </a:r>
                      <a:endParaRPr lang="en-US" dirty="0"/>
                    </a:p>
                  </a:txBody>
                  <a:tcPr>
                    <a:lnL w="6350">
                      <a:solidFill>
                        <a:schemeClr val="tx1"/>
                      </a:solidFill>
                    </a:lnL>
                    <a:lnR w="6350">
                      <a:solidFill>
                        <a:schemeClr val="tx1"/>
                      </a:solidFill>
                    </a:lnR>
                    <a:lnT w="6350">
                      <a:solidFill>
                        <a:schemeClr val="tx1"/>
                      </a:solidFill>
                    </a:lnT>
                    <a:lnB w="6350">
                      <a:solidFill>
                        <a:schemeClr val="tx1"/>
                      </a:solidFill>
                    </a:lnB>
                    <a:lnTlToBr w="0">
                      <a:noFill/>
                    </a:lnTlToBr>
                    <a:lnBlToTr w="0">
                      <a:noFill/>
                    </a:lnBlToTr>
                  </a:tcPr>
                </a:tc>
                <a:extLst>
                  <a:ext uri="{0D108BD9-81ED-4DB2-BD59-A6C34878D82A}">
                    <a16:rowId xmlns:a16="http://schemas.microsoft.com/office/drawing/2014/main" val="845171753"/>
                  </a:ext>
                </a:extLst>
              </a:tr>
            </a:tbl>
          </a:graphicData>
        </a:graphic>
      </p:graphicFrame>
      <p:sp>
        <p:nvSpPr>
          <p:cNvPr id="5" name="Title 4">
            <a:extLst>
              <a:ext uri="{FF2B5EF4-FFF2-40B4-BE49-F238E27FC236}">
                <a16:creationId xmlns:a16="http://schemas.microsoft.com/office/drawing/2014/main" id="{CA9C2DA3-07D1-5F35-0D15-F9AB69CA94E6}"/>
              </a:ext>
            </a:extLst>
          </p:cNvPr>
          <p:cNvSpPr>
            <a:spLocks noGrp="1"/>
          </p:cNvSpPr>
          <p:nvPr>
            <p:ph type="title"/>
          </p:nvPr>
        </p:nvSpPr>
        <p:spPr>
          <a:xfrm>
            <a:off x="89040" y="211686"/>
            <a:ext cx="9664560" cy="401639"/>
          </a:xfrm>
        </p:spPr>
        <p:txBody>
          <a:bodyPr/>
          <a:lstStyle/>
          <a:p>
            <a:r>
              <a:rPr lang="en-GB" sz="3600" b="0" dirty="0">
                <a:latin typeface="Plaak 3 Trial Regular" panose="02000000000000000000" pitchFamily="2" charset="0"/>
              </a:rPr>
              <a:t>RECRUITMENT VALUES QUESTIONNAIRE</a:t>
            </a:r>
            <a:endParaRPr lang="en-BG" sz="3600" b="0" dirty="0">
              <a:latin typeface="Plaak 3 Trial Regular" panose="02000000000000000000" pitchFamily="2" charset="0"/>
            </a:endParaRPr>
          </a:p>
        </p:txBody>
      </p:sp>
    </p:spTree>
    <p:extLst>
      <p:ext uri="{BB962C8B-B14F-4D97-AF65-F5344CB8AC3E}">
        <p14:creationId xmlns:p14="http://schemas.microsoft.com/office/powerpoint/2010/main" val="2521260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A9C2DA3-07D1-5F35-0D15-F9AB69CA94E6}"/>
              </a:ext>
            </a:extLst>
          </p:cNvPr>
          <p:cNvSpPr>
            <a:spLocks noGrp="1"/>
          </p:cNvSpPr>
          <p:nvPr>
            <p:ph type="title"/>
          </p:nvPr>
        </p:nvSpPr>
        <p:spPr>
          <a:xfrm>
            <a:off x="89040" y="211686"/>
            <a:ext cx="9664560" cy="401639"/>
          </a:xfrm>
        </p:spPr>
        <p:txBody>
          <a:bodyPr/>
          <a:lstStyle/>
          <a:p>
            <a:r>
              <a:rPr lang="en-BG" sz="3600" b="0" dirty="0">
                <a:latin typeface="Plaak 3 Trial Regular" panose="02000000000000000000" pitchFamily="2" charset="0"/>
              </a:rPr>
              <a:t>Dream and values communication plan </a:t>
            </a:r>
          </a:p>
        </p:txBody>
      </p:sp>
      <p:graphicFrame>
        <p:nvGraphicFramePr>
          <p:cNvPr id="3" name="Table 2">
            <a:extLst>
              <a:ext uri="{FF2B5EF4-FFF2-40B4-BE49-F238E27FC236}">
                <a16:creationId xmlns:a16="http://schemas.microsoft.com/office/drawing/2014/main" id="{90518C0E-A689-254C-7BF9-175C4FED86A9}"/>
              </a:ext>
            </a:extLst>
          </p:cNvPr>
          <p:cNvGraphicFramePr>
            <a:graphicFrameLocks noGrp="1"/>
          </p:cNvGraphicFramePr>
          <p:nvPr>
            <p:extLst>
              <p:ext uri="{D42A27DB-BD31-4B8C-83A1-F6EECF244321}">
                <p14:modId xmlns:p14="http://schemas.microsoft.com/office/powerpoint/2010/main" val="3337463591"/>
              </p:ext>
            </p:extLst>
          </p:nvPr>
        </p:nvGraphicFramePr>
        <p:xfrm>
          <a:off x="-15502" y="851858"/>
          <a:ext cx="10718800" cy="3746500"/>
        </p:xfrm>
        <a:graphic>
          <a:graphicData uri="http://schemas.openxmlformats.org/drawingml/2006/table">
            <a:tbl>
              <a:tblPr bandRow="1">
                <a:tableStyleId>{5C22544A-7EE6-4342-B048-85BDC9FD1C3A}</a:tableStyleId>
              </a:tblPr>
              <a:tblGrid>
                <a:gridCol w="5765800">
                  <a:extLst>
                    <a:ext uri="{9D8B030D-6E8A-4147-A177-3AD203B41FA5}">
                      <a16:colId xmlns:a16="http://schemas.microsoft.com/office/drawing/2014/main" val="1182446934"/>
                    </a:ext>
                  </a:extLst>
                </a:gridCol>
                <a:gridCol w="2476500">
                  <a:extLst>
                    <a:ext uri="{9D8B030D-6E8A-4147-A177-3AD203B41FA5}">
                      <a16:colId xmlns:a16="http://schemas.microsoft.com/office/drawing/2014/main" val="3151597540"/>
                    </a:ext>
                  </a:extLst>
                </a:gridCol>
                <a:gridCol w="2476500">
                  <a:extLst>
                    <a:ext uri="{9D8B030D-6E8A-4147-A177-3AD203B41FA5}">
                      <a16:colId xmlns:a16="http://schemas.microsoft.com/office/drawing/2014/main" val="1475095393"/>
                    </a:ext>
                  </a:extLst>
                </a:gridCol>
              </a:tblGrid>
              <a:tr h="317500">
                <a:tc>
                  <a:txBody>
                    <a:bodyPr/>
                    <a:lstStyle/>
                    <a:p>
                      <a:pPr fontAlgn="ctr"/>
                      <a:r>
                        <a:rPr lang="en-US" sz="1600" b="1">
                          <a:solidFill>
                            <a:srgbClr val="FFFFFF"/>
                          </a:solidFill>
                          <a:effectLst/>
                          <a:latin typeface="Palatino Linotype" panose="02040502050505030304" pitchFamily="18" charset="0"/>
                        </a:rPr>
                        <a:t>Idea to implement</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fontAlgn="ctr"/>
                      <a:r>
                        <a:rPr lang="en-US" sz="1600" b="1">
                          <a:solidFill>
                            <a:srgbClr val="FFFFFF"/>
                          </a:solidFill>
                          <a:effectLst/>
                          <a:latin typeface="Palatino Linotype" panose="02040502050505030304" pitchFamily="18" charset="0"/>
                        </a:rPr>
                        <a:t>Who</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0000"/>
                    </a:solidFill>
                  </a:tcPr>
                </a:tc>
                <a:tc>
                  <a:txBody>
                    <a:bodyPr/>
                    <a:lstStyle/>
                    <a:p>
                      <a:pPr fontAlgn="ctr"/>
                      <a:r>
                        <a:rPr lang="en-US" sz="1600" b="1">
                          <a:solidFill>
                            <a:srgbClr val="FFFFFF"/>
                          </a:solidFill>
                          <a:effectLst/>
                          <a:latin typeface="Palatino Linotype" panose="02040502050505030304" pitchFamily="18" charset="0"/>
                        </a:rPr>
                        <a:t>When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3975480305"/>
                  </a:ext>
                </a:extLst>
              </a:tr>
              <a:tr h="457200">
                <a:tc>
                  <a:txBody>
                    <a:bodyPr/>
                    <a:lstStyle/>
                    <a:p>
                      <a:pPr fontAlgn="ctr"/>
                      <a:r>
                        <a:rPr lang="en-US" sz="1100">
                          <a:effectLst/>
                          <a:latin typeface="Palatino Linotype" panose="02040502050505030304" pitchFamily="18" charset="0"/>
                        </a:rPr>
                        <a:t>Evaluate how the existing competencies align with the defined values and behaviors, ensuring minimal change while maximizing alignment.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a:r>
                        <a:rPr lang="en-US" sz="1100">
                          <a:effectLst/>
                          <a:latin typeface="Palatino Linotype" panose="02040502050505030304" pitchFamily="18" charset="0"/>
                        </a:rPr>
                        <a:t>Andreia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a:r>
                        <a:rPr lang="en-US" sz="1100">
                          <a:effectLst/>
                          <a:latin typeface="Palatino Linotype" panose="02040502050505030304" pitchFamily="18" charset="0"/>
                        </a:rPr>
                        <a:t>End of November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8314826"/>
                  </a:ext>
                </a:extLst>
              </a:tr>
              <a:tr h="685800">
                <a:tc>
                  <a:txBody>
                    <a:bodyPr/>
                    <a:lstStyle/>
                    <a:p>
                      <a:pPr fontAlgn="ctr"/>
                      <a:r>
                        <a:rPr lang="en-US" sz="1100">
                          <a:effectLst/>
                          <a:latin typeface="Palatino Linotype" panose="02040502050505030304" pitchFamily="18" charset="0"/>
                        </a:rPr>
                        <a:t>Create a narrative around the alignment for the National Conference to explain why this is important and how it supports the company’s vision.</a:t>
                      </a:r>
                      <a:br>
                        <a:rPr lang="en-US" sz="1100">
                          <a:effectLst/>
                          <a:latin typeface="Palatino Linotype" panose="02040502050505030304" pitchFamily="18" charset="0"/>
                        </a:rPr>
                      </a:br>
                      <a:r>
                        <a:rPr lang="en-US" sz="1100">
                          <a:effectLst/>
                          <a:latin typeface="Palatino Linotype" panose="02040502050505030304" pitchFamily="18" charset="0"/>
                        </a:rPr>
                        <a:t>Develop communication materials, such as presentations, infographics etc.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a:r>
                        <a:rPr lang="en-US" sz="1100">
                          <a:effectLst/>
                          <a:latin typeface="Palatino Linotype" panose="02040502050505030304" pitchFamily="18" charset="0"/>
                        </a:rPr>
                        <a:t>Andreia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a:r>
                        <a:rPr lang="en-US" sz="1100">
                          <a:effectLst/>
                          <a:latin typeface="Palatino Linotype" panose="02040502050505030304" pitchFamily="18" charset="0"/>
                        </a:rPr>
                        <a:t>End of January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61827939"/>
                  </a:ext>
                </a:extLst>
              </a:tr>
              <a:tr h="457200">
                <a:tc>
                  <a:txBody>
                    <a:bodyPr/>
                    <a:lstStyle/>
                    <a:p>
                      <a:pPr fontAlgn="ctr"/>
                      <a:r>
                        <a:rPr lang="en-US" sz="1100">
                          <a:effectLst/>
                          <a:latin typeface="Palatino Linotype" panose="02040502050505030304" pitchFamily="18" charset="0"/>
                        </a:rPr>
                        <a:t>Host a workshop or meeting with team leaders and key stakeholders to take feedback about the updated alignment and address questions.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a:r>
                        <a:rPr lang="en-US" sz="1100">
                          <a:effectLst/>
                          <a:latin typeface="Palatino Linotype" panose="02040502050505030304" pitchFamily="18" charset="0"/>
                        </a:rPr>
                        <a:t>Andreia &amp; Lucia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a:r>
                        <a:rPr lang="en-US" sz="1100">
                          <a:effectLst/>
                          <a:latin typeface="Palatino Linotype" panose="02040502050505030304" pitchFamily="18" charset="0"/>
                        </a:rPr>
                        <a:t>10-14 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0322923"/>
                  </a:ext>
                </a:extLst>
              </a:tr>
              <a:tr h="457200">
                <a:tc>
                  <a:txBody>
                    <a:bodyPr/>
                    <a:lstStyle/>
                    <a:p>
                      <a:pPr fontAlgn="ctr"/>
                      <a:r>
                        <a:rPr lang="en-US" sz="1100">
                          <a:effectLst/>
                          <a:latin typeface="Palatino Linotype" panose="02040502050505030304" pitchFamily="18" charset="0"/>
                        </a:rPr>
                        <a:t>Each leader will organize a special meeting (off-site) with their team to discuss and explore the newly defined behaviors.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a:r>
                        <a:rPr lang="en-US" sz="1100">
                          <a:effectLst/>
                          <a:latin typeface="Palatino Linotype" panose="02040502050505030304" pitchFamily="18" charset="0"/>
                        </a:rPr>
                        <a:t>all leaders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a:r>
                        <a:rPr lang="en-US" sz="1100">
                          <a:effectLst/>
                          <a:latin typeface="Palatino Linotype" panose="02040502050505030304" pitchFamily="18" charset="0"/>
                        </a:rPr>
                        <a:t>17-21 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07376314"/>
                  </a:ext>
                </a:extLst>
              </a:tr>
              <a:tr h="457200">
                <a:tc>
                  <a:txBody>
                    <a:bodyPr/>
                    <a:lstStyle/>
                    <a:p>
                      <a:pPr fontAlgn="ctr"/>
                      <a:r>
                        <a:rPr lang="en-US" sz="1100">
                          <a:effectLst/>
                          <a:latin typeface="Palatino Linotype" panose="02040502050505030304" pitchFamily="18" charset="0"/>
                        </a:rPr>
                        <a:t>Each leader will meet with their direct reports individually to provide mutual feedback on behaviors on a green, yellow, red basis.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a:r>
                        <a:rPr lang="en-US" sz="1100">
                          <a:effectLst/>
                          <a:latin typeface="Palatino Linotype" panose="02040502050505030304" pitchFamily="18" charset="0"/>
                        </a:rPr>
                        <a:t>all leaders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a:r>
                        <a:rPr lang="en-US" sz="1100">
                          <a:effectLst/>
                          <a:latin typeface="Palatino Linotype" panose="02040502050505030304" pitchFamily="18" charset="0"/>
                        </a:rPr>
                        <a:t>24 Feb - 7 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9725878"/>
                  </a:ext>
                </a:extLst>
              </a:tr>
              <a:tr h="457200">
                <a:tc>
                  <a:txBody>
                    <a:bodyPr/>
                    <a:lstStyle/>
                    <a:p>
                      <a:pPr fontAlgn="ctr"/>
                      <a:r>
                        <a:rPr lang="en-US" sz="1100">
                          <a:effectLst/>
                          <a:latin typeface="Palatino Linotype" panose="02040502050505030304" pitchFamily="18" charset="0"/>
                        </a:rPr>
                        <a:t>We are extending the weekly team meeting by 30 minutes to provide feedback to one another using the WWW principle.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a:r>
                        <a:rPr lang="en-US" sz="1100">
                          <a:effectLst/>
                          <a:latin typeface="Palatino Linotype" panose="02040502050505030304" pitchFamily="18" charset="0"/>
                        </a:rPr>
                        <a:t>all leaders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a:r>
                        <a:rPr lang="en-US" sz="1100">
                          <a:effectLst/>
                          <a:latin typeface="Palatino Linotype" panose="02040502050505030304" pitchFamily="18" charset="0"/>
                        </a:rPr>
                        <a:t>Starting March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77435521"/>
                  </a:ext>
                </a:extLst>
              </a:tr>
              <a:tr h="457200">
                <a:tc>
                  <a:txBody>
                    <a:bodyPr/>
                    <a:lstStyle/>
                    <a:p>
                      <a:pPr fontAlgn="ctr"/>
                      <a:r>
                        <a:rPr lang="en-US" sz="1100">
                          <a:effectLst/>
                          <a:latin typeface="Palatino Linotype" panose="02040502050505030304" pitchFamily="18" charset="0"/>
                        </a:rPr>
                        <a:t>We will develop an internal communication project through which, month by month, we will reinforce one value with a weekly behavior.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a:r>
                        <a:rPr lang="en-US" sz="1100">
                          <a:effectLst/>
                          <a:latin typeface="Palatino Linotype" panose="02040502050505030304" pitchFamily="18" charset="0"/>
                        </a:rPr>
                        <a:t>Andreia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a:r>
                        <a:rPr lang="en-US" sz="1100">
                          <a:effectLst/>
                          <a:latin typeface="Palatino Linotype" panose="02040502050505030304" pitchFamily="18" charset="0"/>
                        </a:rPr>
                        <a:t>Starting March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26101210"/>
                  </a:ext>
                </a:extLst>
              </a:tr>
            </a:tbl>
          </a:graphicData>
        </a:graphic>
      </p:graphicFrame>
    </p:spTree>
    <p:extLst>
      <p:ext uri="{BB962C8B-B14F-4D97-AF65-F5344CB8AC3E}">
        <p14:creationId xmlns:p14="http://schemas.microsoft.com/office/powerpoint/2010/main" val="1543771418"/>
      </p:ext>
    </p:extLst>
  </p:cSld>
  <p:clrMapOvr>
    <a:masterClrMapping/>
  </p:clrMapOvr>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10852</TotalTime>
  <Words>640</Words>
  <Application>Microsoft Office PowerPoint</Application>
  <PresentationFormat>Custom</PresentationFormat>
  <Paragraphs>84</Paragraphs>
  <Slides>7</Slides>
  <Notes>7</Notes>
  <HiddenSlides>0</HiddenSlides>
  <MMClips>0</MMClips>
  <ScaleCrop>false</ScaleCrop>
  <HeadingPairs>
    <vt:vector size="4" baseType="variant">
      <vt:variant>
        <vt:lpstr>Theme</vt:lpstr>
      </vt:variant>
      <vt:variant>
        <vt:i4>3</vt:i4>
      </vt:variant>
      <vt:variant>
        <vt:lpstr>Slide Titles</vt:lpstr>
      </vt:variant>
      <vt:variant>
        <vt:i4>7</vt:i4>
      </vt:variant>
    </vt:vector>
  </HeadingPairs>
  <TitlesOfParts>
    <vt:vector size="10" baseType="lpstr">
      <vt:lpstr>4_Custom Design</vt:lpstr>
      <vt:lpstr>5_Custom Design</vt:lpstr>
      <vt:lpstr>SOLIDS</vt:lpstr>
      <vt:lpstr>Company values </vt:lpstr>
      <vt:lpstr>CURRENT AND ASPIRATIONAL VALUES GAP </vt:lpstr>
      <vt:lpstr>TURN VALUES INTO BEHAVIORS [page 1of 2]</vt:lpstr>
      <vt:lpstr>TURN VALUES INTO BEHAVIORS [page 2 of 2]</vt:lpstr>
      <vt:lpstr>Red lines</vt:lpstr>
      <vt:lpstr>RECRUITMENT VALUES QUESTIONNAIRE</vt:lpstr>
      <vt:lpstr>Dream and values communication plan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identity</dc:title>
  <dc:creator>Miroslav</dc:creator>
  <cp:lastModifiedBy>Ana-Maria Nankova</cp:lastModifiedBy>
  <cp:revision>946</cp:revision>
  <cp:lastPrinted>2020-02-28T13:07:06Z</cp:lastPrinted>
  <dcterms:created xsi:type="dcterms:W3CDTF">2019-08-22T09:52:59Z</dcterms:created>
  <dcterms:modified xsi:type="dcterms:W3CDTF">2024-10-08T11:10:52Z</dcterms:modified>
</cp:coreProperties>
</file>