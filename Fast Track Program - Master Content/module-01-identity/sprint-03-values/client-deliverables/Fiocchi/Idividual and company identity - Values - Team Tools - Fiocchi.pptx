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11"/>
  </p:notesMasterIdLst>
  <p:handoutMasterIdLst>
    <p:handoutMasterId r:id="rId12"/>
  </p:handoutMasterIdLst>
  <p:sldIdLst>
    <p:sldId id="2466" r:id="rId4"/>
    <p:sldId id="2420" r:id="rId5"/>
    <p:sldId id="2463" r:id="rId6"/>
    <p:sldId id="2468" r:id="rId7"/>
    <p:sldId id="2470" r:id="rId8"/>
    <p:sldId id="2469" r:id="rId9"/>
    <p:sldId id="2467" r:id="rId10"/>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1293FA-6C0C-7D85-AD88-5BA5938DDC3A}" v="4" dt="2025-03-24T16:58:47.9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59" autoAdjust="0"/>
    <p:restoredTop sz="84150" autoAdjust="0"/>
  </p:normalViewPr>
  <p:slideViewPr>
    <p:cSldViewPr snapToGrid="0">
      <p:cViewPr>
        <p:scale>
          <a:sx n="130" d="100"/>
          <a:sy n="130" d="100"/>
        </p:scale>
        <p:origin x="1216" y="14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4" d="100"/>
          <a:sy n="84" d="100"/>
        </p:scale>
        <p:origin x="222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19"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tente guest" userId="S::urn:spo:anon#134889cea3a313e8cde0361708ea067c3393a2a459b7cc1483f107c4c133944f::" providerId="AD" clId="Web-{A02354A6-477C-2980-069E-FC35B7F877FE}"/>
    <pc:docChg chg="modSld">
      <pc:chgData name="Utente guest" userId="S::urn:spo:anon#134889cea3a313e8cde0361708ea067c3393a2a459b7cc1483f107c4c133944f::" providerId="AD" clId="Web-{A02354A6-477C-2980-069E-FC35B7F877FE}" dt="2025-03-19T09:11:03.425" v="11"/>
      <pc:docMkLst>
        <pc:docMk/>
      </pc:docMkLst>
      <pc:sldChg chg="modSp">
        <pc:chgData name="Utente guest" userId="S::urn:spo:anon#134889cea3a313e8cde0361708ea067c3393a2a459b7cc1483f107c4c133944f::" providerId="AD" clId="Web-{A02354A6-477C-2980-069E-FC35B7F877FE}" dt="2025-03-19T09:11:03.425" v="11"/>
        <pc:sldMkLst>
          <pc:docMk/>
          <pc:sldMk cId="1820793006" sldId="2466"/>
        </pc:sldMkLst>
        <pc:graphicFrameChg chg="mod modGraphic">
          <ac:chgData name="Utente guest" userId="S::urn:spo:anon#134889cea3a313e8cde0361708ea067c3393a2a459b7cc1483f107c4c133944f::" providerId="AD" clId="Web-{A02354A6-477C-2980-069E-FC35B7F877FE}" dt="2025-03-19T09:11:03.425" v="11"/>
          <ac:graphicFrameMkLst>
            <pc:docMk/>
            <pc:sldMk cId="1820793006" sldId="2466"/>
            <ac:graphicFrameMk id="12" creationId="{74CF6476-D2C3-2348-BEC7-148925E380DF}"/>
          </ac:graphicFrameMkLst>
        </pc:graphicFrameChg>
      </pc:sldChg>
    </pc:docChg>
  </pc:docChgLst>
  <pc:docChgLst>
    <pc:chgData name="Guest User" userId="S::urn:spo:anon#55dc835fde67fe6819455244657c12c3c68b0b2a53fbef3f2fe894365898f6d6::" providerId="AD" clId="Web-{A01293FA-6C0C-7D85-AD88-5BA5938DDC3A}"/>
    <pc:docChg chg="modSld">
      <pc:chgData name="Guest User" userId="S::urn:spo:anon#55dc835fde67fe6819455244657c12c3c68b0b2a53fbef3f2fe894365898f6d6::" providerId="AD" clId="Web-{A01293FA-6C0C-7D85-AD88-5BA5938DDC3A}" dt="2025-03-24T16:58:47.969" v="3"/>
      <pc:docMkLst>
        <pc:docMk/>
      </pc:docMkLst>
      <pc:sldChg chg="modSp">
        <pc:chgData name="Guest User" userId="S::urn:spo:anon#55dc835fde67fe6819455244657c12c3c68b0b2a53fbef3f2fe894365898f6d6::" providerId="AD" clId="Web-{A01293FA-6C0C-7D85-AD88-5BA5938DDC3A}" dt="2025-03-24T16:58:47.969" v="3"/>
        <pc:sldMkLst>
          <pc:docMk/>
          <pc:sldMk cId="1820793006" sldId="2466"/>
        </pc:sldMkLst>
        <pc:graphicFrameChg chg="mod modGraphic">
          <ac:chgData name="Guest User" userId="S::urn:spo:anon#55dc835fde67fe6819455244657c12c3c68b0b2a53fbef3f2fe894365898f6d6::" providerId="AD" clId="Web-{A01293FA-6C0C-7D85-AD88-5BA5938DDC3A}" dt="2025-03-24T16:58:47.969" v="3"/>
          <ac:graphicFrameMkLst>
            <pc:docMk/>
            <pc:sldMk cId="1820793006" sldId="2466"/>
            <ac:graphicFrameMk id="12" creationId="{74CF6476-D2C3-2348-BEC7-148925E380D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dirty="0">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3/24/2025</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dirty="0"/>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3/24/2025</a:t>
            </a:fld>
            <a:endParaRPr lang="en-US" dirty="0"/>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dirty="0"/>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800" dirty="0">
                <a:solidFill>
                  <a:schemeClr val="tx1"/>
                </a:solidFill>
                <a:latin typeface="+mn-lt"/>
                <a:ea typeface="+mn-lt"/>
                <a:cs typeface="+mn-lt"/>
              </a:rPr>
              <a:t>Brainstorm and list all the typical behaviors and ways of doing things in your company.</a:t>
            </a:r>
          </a:p>
          <a:p>
            <a:pPr marL="0" indent="0" algn="l"/>
            <a:endParaRPr lang="en-US" sz="1800" dirty="0">
              <a:solidFill>
                <a:schemeClr val="tx1"/>
              </a:solidFill>
              <a:latin typeface="+mn-lt"/>
              <a:ea typeface="+mn-lt"/>
              <a:cs typeface="+mn-lt"/>
            </a:endParaRPr>
          </a:p>
          <a:p>
            <a:pPr marL="0" indent="0" algn="l"/>
            <a:r>
              <a:rPr lang="en-US" sz="1800" dirty="0">
                <a:solidFill>
                  <a:schemeClr val="tx1"/>
                </a:solidFill>
                <a:latin typeface="+mn-lt"/>
                <a:ea typeface="+mn-lt"/>
                <a:cs typeface="+mn-lt"/>
              </a:rPr>
              <a:t>Identify the value that represents each of them.</a:t>
            </a:r>
          </a:p>
          <a:p>
            <a:pPr marL="0" indent="0" algn="l"/>
            <a:endParaRPr lang="en-US" sz="1800" dirty="0">
              <a:solidFill>
                <a:schemeClr val="tx1"/>
              </a:solidFill>
              <a:latin typeface="+mn-lt"/>
              <a:ea typeface="+mn-lt"/>
              <a:cs typeface="+mn-lt"/>
            </a:endParaRPr>
          </a:p>
          <a:p>
            <a:pPr marL="0" indent="0" algn="l"/>
            <a:r>
              <a:rPr lang="en-US" sz="1800" dirty="0">
                <a:solidFill>
                  <a:schemeClr val="tx1"/>
                </a:solidFill>
                <a:latin typeface="+mn-lt"/>
                <a:ea typeface="+mn-lt"/>
                <a:cs typeface="+mn-lt"/>
              </a:rPr>
              <a:t>Prioritize the 5 most observed behaviors.</a:t>
            </a:r>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45629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Describe the type of people you need in order to achieve your dream. What behaviors/values do you need to adopt?</a:t>
            </a:r>
          </a:p>
          <a:p>
            <a:pPr marL="0" indent="0" algn="l"/>
            <a:r>
              <a:rPr lang="en-US" sz="1200" dirty="0">
                <a:solidFill>
                  <a:schemeClr val="tx1"/>
                </a:solidFill>
                <a:latin typeface="+mn-lt"/>
                <a:ea typeface="+mn-lt"/>
                <a:cs typeface="+mn-lt"/>
              </a:rPr>
              <a:t>• List the current values from the Dream Workshop</a:t>
            </a:r>
          </a:p>
          <a:p>
            <a:pPr marL="0" indent="0" algn="l"/>
            <a:r>
              <a:rPr lang="en-US" sz="1200" dirty="0">
                <a:solidFill>
                  <a:schemeClr val="tx1"/>
                </a:solidFill>
                <a:latin typeface="+mn-lt"/>
                <a:ea typeface="+mn-lt"/>
                <a:cs typeface="+mn-lt"/>
              </a:rPr>
              <a:t>• List the gap between current and needed values</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Your Dream</a:t>
            </a:r>
          </a:p>
          <a:p>
            <a:pPr marL="0" indent="0" algn="l"/>
            <a:r>
              <a:rPr lang="en-US" sz="1200" dirty="0">
                <a:solidFill>
                  <a:schemeClr val="tx1"/>
                </a:solidFill>
                <a:latin typeface="+mn-lt"/>
                <a:ea typeface="+mn-lt"/>
                <a:cs typeface="+mn-lt"/>
              </a:rPr>
              <a:t>• Who do you need to become?</a:t>
            </a:r>
          </a:p>
          <a:p>
            <a:pPr marL="0" indent="0" algn="l"/>
            <a:r>
              <a:rPr lang="en-US" sz="1200" dirty="0">
                <a:solidFill>
                  <a:schemeClr val="tx1"/>
                </a:solidFill>
                <a:latin typeface="+mn-lt"/>
                <a:ea typeface="+mn-lt"/>
                <a:cs typeface="+mn-lt"/>
              </a:rPr>
              <a:t>• Who are you currently?</a:t>
            </a:r>
          </a:p>
          <a:p>
            <a:pPr marL="0" indent="0" algn="l"/>
            <a:r>
              <a:rPr lang="en-US" sz="1200" dirty="0">
                <a:solidFill>
                  <a:schemeClr val="tx1"/>
                </a:solidFill>
                <a:latin typeface="+mn-lt"/>
                <a:ea typeface="+mn-lt"/>
                <a:cs typeface="+mn-lt"/>
              </a:rPr>
              <a:t>• What’s the gap?</a:t>
            </a:r>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4680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Once you are clear on the dream and the values that you need to abide by, it is time to describe what specific behaviors you want to see or don’t want to see throughout the organization.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This tool will help you prioritize the top five behaviors the company will support and those it never will.</a:t>
            </a:r>
          </a:p>
          <a:p>
            <a:pPr marL="0" indent="0" algn="l"/>
            <a:endParaRPr lang="en-US" sz="1600" b="1" dirty="0">
              <a:solidFill>
                <a:schemeClr val="tx1"/>
              </a:solidFill>
              <a:latin typeface="+mn-lt"/>
              <a:ea typeface="+mn-lt"/>
              <a:cs typeface="+mn-lt"/>
            </a:endParaRPr>
          </a:p>
          <a:p>
            <a:pPr marL="0" indent="0" algn="l"/>
            <a:r>
              <a:rPr lang="en-US" sz="1600" b="1" dirty="0">
                <a:solidFill>
                  <a:schemeClr val="tx1"/>
                </a:solidFill>
                <a:latin typeface="+mn-lt"/>
                <a:ea typeface="+mn-lt"/>
                <a:cs typeface="+mn-lt"/>
              </a:rPr>
              <a:t>How</a:t>
            </a:r>
            <a:endParaRPr lang="en-US" sz="1200" b="1" dirty="0">
              <a:solidFill>
                <a:schemeClr val="tx1"/>
              </a:solidFill>
              <a:latin typeface="+mn-lt"/>
              <a:ea typeface="+mn-lt"/>
              <a:cs typeface="+mn-lt"/>
            </a:endParaRP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 List your new five values from the previous exercise</a:t>
            </a:r>
          </a:p>
          <a:p>
            <a:pPr marL="0" indent="0" algn="l"/>
            <a:r>
              <a:rPr lang="en-US" sz="1200" dirty="0">
                <a:solidFill>
                  <a:schemeClr val="tx1"/>
                </a:solidFill>
                <a:latin typeface="+mn-lt"/>
                <a:ea typeface="+mn-lt"/>
                <a:cs typeface="+mn-lt"/>
              </a:rPr>
              <a:t>• List potential cool behaviors associated with each value</a:t>
            </a:r>
          </a:p>
          <a:p>
            <a:pPr marL="0" indent="0" algn="l"/>
            <a:r>
              <a:rPr lang="en-US" sz="1200" dirty="0">
                <a:solidFill>
                  <a:schemeClr val="tx1"/>
                </a:solidFill>
                <a:latin typeface="+mn-lt"/>
                <a:ea typeface="+mn-lt"/>
                <a:cs typeface="+mn-lt"/>
              </a:rPr>
              <a:t>• List potential not-cool behaviors associated with each value</a:t>
            </a:r>
          </a:p>
          <a:p>
            <a:pPr marL="0" indent="0" algn="l"/>
            <a:r>
              <a:rPr lang="en-US" sz="1200" dirty="0">
                <a:solidFill>
                  <a:schemeClr val="tx1"/>
                </a:solidFill>
                <a:latin typeface="+mn-lt"/>
                <a:ea typeface="+mn-lt"/>
                <a:cs typeface="+mn-lt"/>
              </a:rPr>
              <a:t>• Prioritize the top 5 behaviors the company will support</a:t>
            </a:r>
          </a:p>
          <a:p>
            <a:pPr marL="0" indent="0" algn="l"/>
            <a:r>
              <a:rPr lang="en-US" sz="1200" dirty="0">
                <a:solidFill>
                  <a:schemeClr val="tx1"/>
                </a:solidFill>
                <a:latin typeface="+mn-lt"/>
                <a:ea typeface="+mn-lt"/>
                <a:cs typeface="+mn-lt"/>
              </a:rPr>
              <a:t>• List the top 5 behaviors the company will never support</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3</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976752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Once you are clear on the dream and the values that you need to abide by, it is time to describe what specific behaviors you want to see or don’t want to see throughout the organization.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This tool will help you prioritize the top five behaviors the company will support and those it never will.</a:t>
            </a:r>
          </a:p>
          <a:p>
            <a:pPr marL="0" indent="0" algn="l"/>
            <a:endParaRPr lang="en-US" sz="1600" b="1" dirty="0">
              <a:solidFill>
                <a:schemeClr val="tx1"/>
              </a:solidFill>
              <a:latin typeface="+mn-lt"/>
              <a:ea typeface="+mn-lt"/>
              <a:cs typeface="+mn-lt"/>
            </a:endParaRPr>
          </a:p>
          <a:p>
            <a:pPr marL="0" indent="0" algn="l"/>
            <a:r>
              <a:rPr lang="en-US" sz="1600" b="1" dirty="0">
                <a:solidFill>
                  <a:schemeClr val="tx1"/>
                </a:solidFill>
                <a:latin typeface="+mn-lt"/>
                <a:ea typeface="+mn-lt"/>
                <a:cs typeface="+mn-lt"/>
              </a:rPr>
              <a:t>How</a:t>
            </a:r>
            <a:endParaRPr lang="en-US" sz="1200" b="1" dirty="0">
              <a:solidFill>
                <a:schemeClr val="tx1"/>
              </a:solidFill>
              <a:latin typeface="+mn-lt"/>
              <a:ea typeface="+mn-lt"/>
              <a:cs typeface="+mn-lt"/>
            </a:endParaRP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 List your new five values from the previous exercise</a:t>
            </a:r>
          </a:p>
          <a:p>
            <a:pPr marL="0" indent="0" algn="l"/>
            <a:r>
              <a:rPr lang="en-US" sz="1200" dirty="0">
                <a:solidFill>
                  <a:schemeClr val="tx1"/>
                </a:solidFill>
                <a:latin typeface="+mn-lt"/>
                <a:ea typeface="+mn-lt"/>
                <a:cs typeface="+mn-lt"/>
              </a:rPr>
              <a:t>• List potential cool behaviors associated with each value</a:t>
            </a:r>
          </a:p>
          <a:p>
            <a:pPr marL="0" indent="0" algn="l"/>
            <a:r>
              <a:rPr lang="en-US" sz="1200" dirty="0">
                <a:solidFill>
                  <a:schemeClr val="tx1"/>
                </a:solidFill>
                <a:latin typeface="+mn-lt"/>
                <a:ea typeface="+mn-lt"/>
                <a:cs typeface="+mn-lt"/>
              </a:rPr>
              <a:t>• List potential not-cool behaviors associated with each value</a:t>
            </a:r>
          </a:p>
          <a:p>
            <a:pPr marL="0" indent="0" algn="l"/>
            <a:r>
              <a:rPr lang="en-US" sz="1200" dirty="0">
                <a:solidFill>
                  <a:schemeClr val="tx1"/>
                </a:solidFill>
                <a:latin typeface="+mn-lt"/>
                <a:ea typeface="+mn-lt"/>
                <a:cs typeface="+mn-lt"/>
              </a:rPr>
              <a:t>• Prioritize the top 5 behaviors the company will support</a:t>
            </a:r>
          </a:p>
          <a:p>
            <a:pPr marL="0" indent="0" algn="l"/>
            <a:r>
              <a:rPr lang="en-US" sz="1200" dirty="0">
                <a:solidFill>
                  <a:schemeClr val="tx1"/>
                </a:solidFill>
                <a:latin typeface="+mn-lt"/>
                <a:ea typeface="+mn-lt"/>
                <a:cs typeface="+mn-lt"/>
              </a:rPr>
              <a:t>• List the top 5 behaviors the company will never support</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4</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749481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sz="1200" dirty="0">
                <a:solidFill>
                  <a:schemeClr val="tx1"/>
                </a:solidFill>
              </a:rPr>
              <a:t>Define clear yellow and red lines to ensure everyone in the organization abides by the values. </a:t>
            </a:r>
          </a:p>
          <a:p>
            <a:pPr algn="l"/>
            <a:endParaRPr lang="en-GB" sz="1200" dirty="0">
              <a:solidFill>
                <a:schemeClr val="tx1"/>
              </a:solidFill>
            </a:endParaRPr>
          </a:p>
          <a:p>
            <a:pPr algn="l"/>
            <a:r>
              <a:rPr lang="en-GB" sz="1200" dirty="0">
                <a:solidFill>
                  <a:schemeClr val="tx1"/>
                </a:solidFill>
              </a:rPr>
              <a:t>Outline all the situations in which you will either give a warning or terminate (YELLOW OR RED</a:t>
            </a:r>
            <a:r>
              <a:rPr lang="en-GB" sz="1200" baseline="0" dirty="0">
                <a:solidFill>
                  <a:schemeClr val="tx1"/>
                </a:solidFill>
              </a:rPr>
              <a:t> cards)</a:t>
            </a:r>
            <a:r>
              <a:rPr lang="en-GB" sz="1200" dirty="0">
                <a:solidFill>
                  <a:schemeClr val="tx1"/>
                </a:solidFill>
              </a:rPr>
              <a:t>. </a:t>
            </a:r>
          </a:p>
          <a:p>
            <a:pPr algn="l"/>
            <a:endParaRPr lang="en-GB" sz="1200" dirty="0">
              <a:solidFill>
                <a:schemeClr val="tx1"/>
              </a:solidFill>
            </a:endParaRPr>
          </a:p>
          <a:p>
            <a:pPr algn="l"/>
            <a:r>
              <a:rPr lang="en-GB" sz="1200" dirty="0">
                <a:solidFill>
                  <a:schemeClr val="tx1"/>
                </a:solidFill>
              </a:rPr>
              <a:t>- Yellow lines require an immediate discussion with the employee.</a:t>
            </a:r>
          </a:p>
          <a:p>
            <a:pPr algn="l"/>
            <a:endParaRPr lang="en-GB" sz="1200" dirty="0">
              <a:solidFill>
                <a:schemeClr val="tx1"/>
              </a:solidFill>
            </a:endParaRPr>
          </a:p>
          <a:p>
            <a:pPr algn="l"/>
            <a:r>
              <a:rPr lang="en-GB" sz="1200" dirty="0">
                <a:solidFill>
                  <a:schemeClr val="tx1"/>
                </a:solidFill>
              </a:rPr>
              <a:t>- Red lines represent a severe misalignment with values and are a firing alert.</a:t>
            </a:r>
          </a:p>
          <a:p>
            <a:pPr algn="l"/>
            <a:endParaRPr lang="en-GB" sz="1200" dirty="0">
              <a:solidFill>
                <a:schemeClr val="tx1"/>
              </a:solidFill>
            </a:endParaRPr>
          </a:p>
          <a:p>
            <a:pPr algn="l"/>
            <a:r>
              <a:rPr lang="en-GB" sz="1200" dirty="0">
                <a:solidFill>
                  <a:schemeClr val="tx1"/>
                </a:solidFill>
              </a:rPr>
              <a:t>Do not think about how hard it will be to replace certain positions at this stage.</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5</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342863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The biggest mistake that most companies make is recruiting for skills. If you want like-minded people working together, search for values that fit instead.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Create a list of questions you will use to determine this fit right at the recruitment stage.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Make sure to be specific and avoid hypothetical questions (ex. How would you deal with a conflict with a co-worker?) as they give the candidate a chance to spin the yarn. </a:t>
            </a:r>
          </a:p>
          <a:p>
            <a:pPr marL="0" indent="0" algn="l"/>
            <a:endParaRPr lang="en-US" sz="1200" dirty="0">
              <a:solidFill>
                <a:schemeClr val="tx1"/>
              </a:solidFill>
              <a:latin typeface="+mn-lt"/>
              <a:ea typeface="+mn-lt"/>
              <a:cs typeface="+mn-lt"/>
            </a:endParaRPr>
          </a:p>
          <a:p>
            <a:pPr marL="0" indent="0" algn="l"/>
            <a:endParaRPr lang="en-US" sz="1200" dirty="0">
              <a:solidFill>
                <a:schemeClr val="tx1"/>
              </a:solidFill>
              <a:latin typeface="+mn-lt"/>
              <a:ea typeface="+mn-lt"/>
              <a:cs typeface="+mn-lt"/>
            </a:endParaRP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6</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057460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solidFill>
                  <a:schemeClr val="tx1"/>
                </a:solidFill>
                <a:latin typeface="+mn-lt"/>
                <a:ea typeface="+mn-lt"/>
                <a:cs typeface="+mn-lt"/>
              </a:rPr>
              <a:t>Decide together on a list of actions, a time frame, and each item's owners.</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7</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1995594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ack and white sign&#10;&#10;Description automatically generated">
            <a:extLst>
              <a:ext uri="{FF2B5EF4-FFF2-40B4-BE49-F238E27FC236}">
                <a16:creationId xmlns:a16="http://schemas.microsoft.com/office/drawing/2014/main" id="{822232FD-C22F-F23F-4961-1710BB33EBF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3589" b="27671"/>
          <a:stretch/>
        </p:blipFill>
        <p:spPr>
          <a:xfrm>
            <a:off x="89039" y="75304"/>
            <a:ext cx="2686433" cy="419548"/>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1877468268"/>
              </p:ext>
            </p:extLst>
          </p:nvPr>
        </p:nvGraphicFramePr>
        <p:xfrm>
          <a:off x="256819" y="719276"/>
          <a:ext cx="9695564" cy="6529660"/>
        </p:xfrm>
        <a:graphic>
          <a:graphicData uri="http://schemas.openxmlformats.org/drawingml/2006/table">
            <a:tbl>
              <a:tblPr firstRow="1" bandRow="1">
                <a:tableStyleId>{2D5ABB26-0587-4C30-8999-92F81FD0307C}</a:tableStyleId>
              </a:tblPr>
              <a:tblGrid>
                <a:gridCol w="4847782">
                  <a:extLst>
                    <a:ext uri="{9D8B030D-6E8A-4147-A177-3AD203B41FA5}">
                      <a16:colId xmlns:a16="http://schemas.microsoft.com/office/drawing/2014/main" val="3308902235"/>
                    </a:ext>
                  </a:extLst>
                </a:gridCol>
                <a:gridCol w="4847782">
                  <a:extLst>
                    <a:ext uri="{9D8B030D-6E8A-4147-A177-3AD203B41FA5}">
                      <a16:colId xmlns:a16="http://schemas.microsoft.com/office/drawing/2014/main" val="3046643254"/>
                    </a:ext>
                  </a:extLst>
                </a:gridCol>
              </a:tblGrid>
              <a:tr h="390635">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Typical behaviors, and ways of doing things in the company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929379839"/>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tx1"/>
                        </a:solidFill>
                        <a:latin typeface="Arial"/>
                        <a:ea typeface="Riforma LL" panose="020B0504020101020102" pitchFamily="34" charset="77"/>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7487134"/>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8554850"/>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371749"/>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015239"/>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9357261"/>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133664"/>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1120663"/>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844840"/>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0379632"/>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Top 5 most commonly observed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 The 5 company values that these behaviors represent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910689"/>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650493"/>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009344"/>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9891231"/>
                  </a:ext>
                </a:extLst>
              </a:tr>
            </a:tbl>
          </a:graphicData>
        </a:graphic>
      </p:graphicFrame>
    </p:spTree>
    <p:extLst>
      <p:ext uri="{BB962C8B-B14F-4D97-AF65-F5344CB8AC3E}">
        <p14:creationId xmlns:p14="http://schemas.microsoft.com/office/powerpoint/2010/main" val="1820793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624B64-7AAF-9ED2-FC73-2EF925D5DD10}"/>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22620" b="20133"/>
          <a:stretch/>
        </p:blipFill>
        <p:spPr>
          <a:xfrm>
            <a:off x="108212" y="96819"/>
            <a:ext cx="5786977" cy="398034"/>
          </a:xfrm>
          <a:prstGeom prst="rect">
            <a:avLst/>
          </a:prstGeom>
        </p:spPr>
      </p:pic>
      <p:graphicFrame>
        <p:nvGraphicFramePr>
          <p:cNvPr id="18" name="Table 17">
            <a:extLst>
              <a:ext uri="{FF2B5EF4-FFF2-40B4-BE49-F238E27FC236}">
                <a16:creationId xmlns:a16="http://schemas.microsoft.com/office/drawing/2014/main" id="{1F74CD5A-9F80-0549-8844-6BFF5ADE70C7}"/>
              </a:ext>
            </a:extLst>
          </p:cNvPr>
          <p:cNvGraphicFramePr>
            <a:graphicFrameLocks noGrp="1" noDrilldown="1" noMove="1" noResize="1"/>
          </p:cNvGraphicFramePr>
          <p:nvPr>
            <p:extLst>
              <p:ext uri="{D42A27DB-BD31-4B8C-83A1-F6EECF244321}">
                <p14:modId xmlns:p14="http://schemas.microsoft.com/office/powerpoint/2010/main" val="3554592310"/>
              </p:ext>
            </p:extLst>
          </p:nvPr>
        </p:nvGraphicFramePr>
        <p:xfrm>
          <a:off x="248067" y="762788"/>
          <a:ext cx="9664560" cy="6529126"/>
        </p:xfrm>
        <a:graphic>
          <a:graphicData uri="http://schemas.openxmlformats.org/drawingml/2006/table">
            <a:tbl>
              <a:tblPr firstRow="1" bandRow="1">
                <a:tableStyleId>{2D5ABB26-0587-4C30-8999-92F81FD0307C}</a:tableStyleId>
              </a:tblPr>
              <a:tblGrid>
                <a:gridCol w="9664560">
                  <a:extLst>
                    <a:ext uri="{9D8B030D-6E8A-4147-A177-3AD203B41FA5}">
                      <a16:colId xmlns:a16="http://schemas.microsoft.com/office/drawing/2014/main" val="3313590318"/>
                    </a:ext>
                  </a:extLst>
                </a:gridCol>
              </a:tblGrid>
              <a:tr h="416655">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Your dream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828262">
                <a:tc>
                  <a:txBody>
                    <a:bodyPr/>
                    <a:lstStyle/>
                    <a:p>
                      <a:r>
                        <a:rPr lang="en-US" sz="1200" b="0" i="0" dirty="0">
                          <a:latin typeface="Arial" panose="020B0604020202020204" pitchFamily="34" charset="0"/>
                          <a:ea typeface="Riforma LL" panose="020B0504020101020102" pitchFamily="34" charset="0"/>
                          <a:cs typeface="Arial" panose="020B0604020202020204" pitchFamily="34" charset="0"/>
                        </a:rPr>
                        <a:t>Copy-paste a reminder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2170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rPr>
                        <a:t>What are the required values for a team to achieve this dream </a:t>
                      </a:r>
                      <a:endParaRPr kumimoji="0" lang="en-US"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95863688"/>
                  </a:ext>
                </a:extLst>
              </a:tr>
              <a:tr h="1801497">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2781455"/>
                  </a:ext>
                </a:extLst>
              </a:tr>
              <a:tr h="398262">
                <a:tc>
                  <a:txBody>
                    <a:bodyPr/>
                    <a:lstStyle/>
                    <a:p>
                      <a:pPr algn="l" rtl="0" fontAlgn="ctr"/>
                      <a:r>
                        <a:rPr lang="en-GB" sz="1600" b="0" i="0" u="none" strike="noStrike" dirty="0">
                          <a:solidFill>
                            <a:srgbClr val="FFFFFF"/>
                          </a:solidFill>
                          <a:effectLst/>
                          <a:latin typeface="Calibri "/>
                        </a:rPr>
                        <a:t>What is the gap between the aspirational values (previous response) and the current company values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65844164"/>
                  </a:ext>
                </a:extLst>
              </a:tr>
              <a:tr h="166274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2377547"/>
                  </a:ext>
                </a:extLst>
              </a:tr>
            </a:tbl>
          </a:graphicData>
        </a:graphic>
      </p:graphicFrame>
    </p:spTree>
    <p:extLst>
      <p:ext uri="{BB962C8B-B14F-4D97-AF65-F5344CB8AC3E}">
        <p14:creationId xmlns:p14="http://schemas.microsoft.com/office/powerpoint/2010/main" val="1877047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640A1A-9979-6CB5-E593-CAA9FCD475F9}"/>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4375" b="25473"/>
          <a:stretch/>
        </p:blipFill>
        <p:spPr>
          <a:xfrm>
            <a:off x="79208" y="88490"/>
            <a:ext cx="6911528" cy="422787"/>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070258384"/>
              </p:ext>
            </p:extLst>
          </p:nvPr>
        </p:nvGraphicFramePr>
        <p:xfrm>
          <a:off x="276084" y="729008"/>
          <a:ext cx="9664560" cy="6622156"/>
        </p:xfrm>
        <a:graphic>
          <a:graphicData uri="http://schemas.openxmlformats.org/drawingml/2006/table">
            <a:tbl>
              <a:tblPr firstRow="1" bandRow="1">
                <a:tableStyleId>{2D5ABB26-0587-4C30-8999-92F81FD0307C}</a:tableStyleId>
              </a:tblPr>
              <a:tblGrid>
                <a:gridCol w="2648607">
                  <a:extLst>
                    <a:ext uri="{9D8B030D-6E8A-4147-A177-3AD203B41FA5}">
                      <a16:colId xmlns:a16="http://schemas.microsoft.com/office/drawing/2014/main" val="3308902235"/>
                    </a:ext>
                  </a:extLst>
                </a:gridCol>
                <a:gridCol w="3524194">
                  <a:extLst>
                    <a:ext uri="{9D8B030D-6E8A-4147-A177-3AD203B41FA5}">
                      <a16:colId xmlns:a16="http://schemas.microsoft.com/office/drawing/2014/main" val="3313590318"/>
                    </a:ext>
                  </a:extLst>
                </a:gridCol>
                <a:gridCol w="3491759">
                  <a:extLst>
                    <a:ext uri="{9D8B030D-6E8A-4147-A177-3AD203B41FA5}">
                      <a16:colId xmlns:a16="http://schemas.microsoft.com/office/drawing/2014/main" val="1506629949"/>
                    </a:ext>
                  </a:extLst>
                </a:gridCol>
              </a:tblGrid>
              <a:tr h="44207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Company values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Cool Behaviors this value represents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Non-Cool Behaviors associated with this value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10545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102861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102958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101803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102861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102070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bl>
          </a:graphicData>
        </a:graphic>
      </p:graphicFrame>
    </p:spTree>
    <p:extLst>
      <p:ext uri="{BB962C8B-B14F-4D97-AF65-F5344CB8AC3E}">
        <p14:creationId xmlns:p14="http://schemas.microsoft.com/office/powerpoint/2010/main" val="3110103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79AD69-02F7-7152-A53E-668687ACE44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3810" b="23275"/>
          <a:stretch/>
        </p:blipFill>
        <p:spPr>
          <a:xfrm>
            <a:off x="89040" y="88490"/>
            <a:ext cx="6907029" cy="403123"/>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1769272212"/>
              </p:ext>
            </p:extLst>
          </p:nvPr>
        </p:nvGraphicFramePr>
        <p:xfrm>
          <a:off x="276084" y="729008"/>
          <a:ext cx="9664560" cy="6493427"/>
        </p:xfrm>
        <a:graphic>
          <a:graphicData uri="http://schemas.openxmlformats.org/drawingml/2006/table">
            <a:tbl>
              <a:tblPr firstRow="1" bandRow="1">
                <a:tableStyleId>{2D5ABB26-0587-4C30-8999-92F81FD0307C}</a:tableStyleId>
              </a:tblPr>
              <a:tblGrid>
                <a:gridCol w="4854620">
                  <a:extLst>
                    <a:ext uri="{9D8B030D-6E8A-4147-A177-3AD203B41FA5}">
                      <a16:colId xmlns:a16="http://schemas.microsoft.com/office/drawing/2014/main" val="3313590318"/>
                    </a:ext>
                  </a:extLst>
                </a:gridCol>
                <a:gridCol w="4809940">
                  <a:extLst>
                    <a:ext uri="{9D8B030D-6E8A-4147-A177-3AD203B41FA5}">
                      <a16:colId xmlns:a16="http://schemas.microsoft.com/office/drawing/2014/main" val="1506629949"/>
                    </a:ext>
                  </a:extLst>
                </a:gridCol>
              </a:tblGrid>
              <a:tr h="413158">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The 5 Most important 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The 5 Most important Non-Cool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124275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121221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121335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119974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121221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bl>
          </a:graphicData>
        </a:graphic>
      </p:graphicFrame>
    </p:spTree>
    <p:extLst>
      <p:ext uri="{BB962C8B-B14F-4D97-AF65-F5344CB8AC3E}">
        <p14:creationId xmlns:p14="http://schemas.microsoft.com/office/powerpoint/2010/main" val="662839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ack text on a white background&#10;&#10;Description automatically generated">
            <a:extLst>
              <a:ext uri="{FF2B5EF4-FFF2-40B4-BE49-F238E27FC236}">
                <a16:creationId xmlns:a16="http://schemas.microsoft.com/office/drawing/2014/main" id="{F8D57A5D-AA64-C283-8806-7BD312DB52B6}"/>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4812"/>
          <a:stretch/>
        </p:blipFill>
        <p:spPr>
          <a:xfrm>
            <a:off x="110556" y="75304"/>
            <a:ext cx="1821657" cy="556833"/>
          </a:xfrm>
          <a:prstGeom prst="rect">
            <a:avLst/>
          </a:prstGeom>
        </p:spPr>
      </p:pic>
      <p:graphicFrame>
        <p:nvGraphicFramePr>
          <p:cNvPr id="2" name="Table 1">
            <a:extLst>
              <a:ext uri="{FF2B5EF4-FFF2-40B4-BE49-F238E27FC236}">
                <a16:creationId xmlns:a16="http://schemas.microsoft.com/office/drawing/2014/main" id="{2B69F258-3FBC-CE9B-438A-ECF368A7F320}"/>
              </a:ext>
            </a:extLst>
          </p:cNvPr>
          <p:cNvGraphicFramePr>
            <a:graphicFrameLocks noGrp="1"/>
          </p:cNvGraphicFramePr>
          <p:nvPr>
            <p:extLst>
              <p:ext uri="{D42A27DB-BD31-4B8C-83A1-F6EECF244321}">
                <p14:modId xmlns:p14="http://schemas.microsoft.com/office/powerpoint/2010/main" val="1308194240"/>
              </p:ext>
            </p:extLst>
          </p:nvPr>
        </p:nvGraphicFramePr>
        <p:xfrm>
          <a:off x="276084" y="795130"/>
          <a:ext cx="9664560" cy="6230018"/>
        </p:xfrm>
        <a:graphic>
          <a:graphicData uri="http://schemas.openxmlformats.org/drawingml/2006/table">
            <a:tbl>
              <a:tblPr firstRow="1" bandRow="1">
                <a:tableStyleId>{2D5ABB26-0587-4C30-8999-92F81FD0307C}</a:tableStyleId>
              </a:tblPr>
              <a:tblGrid>
                <a:gridCol w="4854620">
                  <a:extLst>
                    <a:ext uri="{9D8B030D-6E8A-4147-A177-3AD203B41FA5}">
                      <a16:colId xmlns:a16="http://schemas.microsoft.com/office/drawing/2014/main" val="3313590318"/>
                    </a:ext>
                  </a:extLst>
                </a:gridCol>
                <a:gridCol w="4809940">
                  <a:extLst>
                    <a:ext uri="{9D8B030D-6E8A-4147-A177-3AD203B41FA5}">
                      <a16:colId xmlns:a16="http://schemas.microsoft.com/office/drawing/2014/main" val="1506629949"/>
                    </a:ext>
                  </a:extLst>
                </a:gridCol>
              </a:tblGrid>
              <a:tr h="397566">
                <a:tc>
                  <a:txBody>
                    <a:bodyPr/>
                    <a:lstStyle/>
                    <a:p>
                      <a:r>
                        <a:rPr lang="en-US" sz="1400" b="0" i="0" dirty="0">
                          <a:solidFill>
                            <a:schemeClr val="tx1"/>
                          </a:solidFill>
                          <a:latin typeface="Arial" panose="020B0604020202020204" pitchFamily="34" charset="0"/>
                          <a:ea typeface="Riforma LL" panose="020B0504020101020102" pitchFamily="34" charset="0"/>
                          <a:cs typeface="Arial" panose="020B0604020202020204" pitchFamily="34" charset="0"/>
                        </a:rPr>
                        <a:t>Yellow Lines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Red Lines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1192107">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116280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1163897">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115084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116280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bl>
          </a:graphicData>
        </a:graphic>
      </p:graphicFrame>
    </p:spTree>
    <p:extLst>
      <p:ext uri="{BB962C8B-B14F-4D97-AF65-F5344CB8AC3E}">
        <p14:creationId xmlns:p14="http://schemas.microsoft.com/office/powerpoint/2010/main" val="3791091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ack text on a white background&#10;&#10;Description automatically generated">
            <a:extLst>
              <a:ext uri="{FF2B5EF4-FFF2-40B4-BE49-F238E27FC236}">
                <a16:creationId xmlns:a16="http://schemas.microsoft.com/office/drawing/2014/main" id="{593BFF4C-FC00-5FF9-A59C-9D7C4123D480}"/>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12489" y="1"/>
            <a:ext cx="5273451" cy="671166"/>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nvGraphicFramePr>
        <p:xfrm>
          <a:off x="276084" y="729008"/>
          <a:ext cx="9664560" cy="6427166"/>
        </p:xfrm>
        <a:graphic>
          <a:graphicData uri="http://schemas.openxmlformats.org/drawingml/2006/table">
            <a:tbl>
              <a:tblPr firstRow="1" bandRow="1">
                <a:tableStyleId>{2D5ABB26-0587-4C30-8999-92F81FD0307C}</a:tableStyleId>
              </a:tblPr>
              <a:tblGrid>
                <a:gridCol w="4854620">
                  <a:extLst>
                    <a:ext uri="{9D8B030D-6E8A-4147-A177-3AD203B41FA5}">
                      <a16:colId xmlns:a16="http://schemas.microsoft.com/office/drawing/2014/main" val="3313590318"/>
                    </a:ext>
                  </a:extLst>
                </a:gridCol>
                <a:gridCol w="4809940">
                  <a:extLst>
                    <a:ext uri="{9D8B030D-6E8A-4147-A177-3AD203B41FA5}">
                      <a16:colId xmlns:a16="http://schemas.microsoft.com/office/drawing/2014/main" val="1506629949"/>
                    </a:ext>
                  </a:extLst>
                </a:gridCol>
              </a:tblGrid>
              <a:tr h="399174">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Interview Questions to Discover 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Interview Questions to Discover Non-Cool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61701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60241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5956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52526878"/>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60774"/>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01432355"/>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390714"/>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8077906"/>
                  </a:ext>
                </a:extLst>
              </a:tr>
            </a:tbl>
          </a:graphicData>
        </a:graphic>
      </p:graphicFrame>
    </p:spTree>
    <p:extLst>
      <p:ext uri="{BB962C8B-B14F-4D97-AF65-F5344CB8AC3E}">
        <p14:creationId xmlns:p14="http://schemas.microsoft.com/office/powerpoint/2010/main" val="2521260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49CE44-6E1A-2728-E184-D8AA5B92C3D9}"/>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5441"/>
          <a:stretch/>
        </p:blipFill>
        <p:spPr>
          <a:xfrm>
            <a:off x="67524" y="86061"/>
            <a:ext cx="5959744" cy="589155"/>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1722049370"/>
              </p:ext>
            </p:extLst>
          </p:nvPr>
        </p:nvGraphicFramePr>
        <p:xfrm>
          <a:off x="276084" y="729011"/>
          <a:ext cx="9664560" cy="6654394"/>
        </p:xfrm>
        <a:graphic>
          <a:graphicData uri="http://schemas.openxmlformats.org/drawingml/2006/table">
            <a:tbl>
              <a:tblPr firstRow="1" bandRow="1">
                <a:tableStyleId>{2D5ABB26-0587-4C30-8999-92F81FD0307C}</a:tableStyleId>
              </a:tblPr>
              <a:tblGrid>
                <a:gridCol w="5871476">
                  <a:extLst>
                    <a:ext uri="{9D8B030D-6E8A-4147-A177-3AD203B41FA5}">
                      <a16:colId xmlns:a16="http://schemas.microsoft.com/office/drawing/2014/main" val="3308902235"/>
                    </a:ext>
                  </a:extLst>
                </a:gridCol>
                <a:gridCol w="1952062">
                  <a:extLst>
                    <a:ext uri="{9D8B030D-6E8A-4147-A177-3AD203B41FA5}">
                      <a16:colId xmlns:a16="http://schemas.microsoft.com/office/drawing/2014/main" val="3313590318"/>
                    </a:ext>
                  </a:extLst>
                </a:gridCol>
                <a:gridCol w="1841022">
                  <a:extLst>
                    <a:ext uri="{9D8B030D-6E8A-4147-A177-3AD203B41FA5}">
                      <a16:colId xmlns:a16="http://schemas.microsoft.com/office/drawing/2014/main" val="674830108"/>
                    </a:ext>
                  </a:extLst>
                </a:gridCol>
              </a:tblGrid>
              <a:tr h="27256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Idea to implement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Who</a:t>
                      </a:r>
                      <a:endPar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When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7503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46379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45858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45979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981743"/>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0728161"/>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87125558"/>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9884543"/>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6119861"/>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9613438"/>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7236550"/>
                  </a:ext>
                </a:extLst>
              </a:tr>
            </a:tbl>
          </a:graphicData>
        </a:graphic>
      </p:graphicFrame>
    </p:spTree>
    <p:extLst>
      <p:ext uri="{BB962C8B-B14F-4D97-AF65-F5344CB8AC3E}">
        <p14:creationId xmlns:p14="http://schemas.microsoft.com/office/powerpoint/2010/main" val="1543771418"/>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10857</TotalTime>
  <Words>601</Words>
  <Application>Microsoft Office PowerPoint</Application>
  <PresentationFormat>Custom</PresentationFormat>
  <Paragraphs>77</Paragraphs>
  <Slides>7</Slides>
  <Notes>7</Notes>
  <HiddenSlides>0</HiddenSlides>
  <MMClips>0</MMClips>
  <ScaleCrop>false</ScaleCrop>
  <HeadingPairs>
    <vt:vector size="4" baseType="variant">
      <vt:variant>
        <vt:lpstr>Theme</vt:lpstr>
      </vt:variant>
      <vt:variant>
        <vt:i4>3</vt:i4>
      </vt:variant>
      <vt:variant>
        <vt:lpstr>Slide Titles</vt:lpstr>
      </vt:variant>
      <vt:variant>
        <vt:i4>7</vt:i4>
      </vt:variant>
    </vt:vector>
  </HeadingPairs>
  <TitlesOfParts>
    <vt:vector size="10" baseType="lpstr">
      <vt:lpstr>4_Custom Design</vt:lpstr>
      <vt:lpstr>5_Custom Design</vt:lpstr>
      <vt:lpstr>SOLIDS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Nikol Nankova</cp:lastModifiedBy>
  <cp:revision>780</cp:revision>
  <cp:lastPrinted>2020-02-28T13:07:06Z</cp:lastPrinted>
  <dcterms:created xsi:type="dcterms:W3CDTF">2019-08-22T09:52:59Z</dcterms:created>
  <dcterms:modified xsi:type="dcterms:W3CDTF">2025-03-24T16:58:58Z</dcterms:modified>
</cp:coreProperties>
</file>