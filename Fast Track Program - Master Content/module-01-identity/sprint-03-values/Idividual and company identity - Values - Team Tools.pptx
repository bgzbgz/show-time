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1"/>
  </p:notesMasterIdLst>
  <p:handoutMasterIdLst>
    <p:handoutMasterId r:id="rId12"/>
  </p:handoutMasterIdLst>
  <p:sldIdLst>
    <p:sldId id="2466" r:id="rId4"/>
    <p:sldId id="2420" r:id="rId5"/>
    <p:sldId id="2463" r:id="rId6"/>
    <p:sldId id="2468" r:id="rId7"/>
    <p:sldId id="2470" r:id="rId8"/>
    <p:sldId id="2469" r:id="rId9"/>
    <p:sldId id="2467" r:id="rId10"/>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59" autoAdjust="0"/>
    <p:restoredTop sz="84150" autoAdjust="0"/>
  </p:normalViewPr>
  <p:slideViewPr>
    <p:cSldViewPr snapToGrid="0">
      <p:cViewPr>
        <p:scale>
          <a:sx n="130" d="100"/>
          <a:sy n="130" d="100"/>
        </p:scale>
        <p:origin x="1216" y="1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commentAuthors" Target="commentAuthor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11/12/24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11/12/24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800" dirty="0">
                <a:solidFill>
                  <a:schemeClr val="tx1"/>
                </a:solidFill>
                <a:latin typeface="+mn-lt"/>
                <a:ea typeface="+mn-lt"/>
                <a:cs typeface="+mn-lt"/>
              </a:rPr>
              <a:t>Brainstorm and list all the typical behaviors and ways of doing things in your company.</a:t>
            </a:r>
          </a:p>
          <a:p>
            <a:pPr marL="0" indent="0" algn="l"/>
            <a:endParaRPr lang="en-US" sz="1800" dirty="0">
              <a:solidFill>
                <a:schemeClr val="tx1"/>
              </a:solidFill>
              <a:latin typeface="+mn-lt"/>
              <a:ea typeface="+mn-lt"/>
              <a:cs typeface="+mn-lt"/>
            </a:endParaRPr>
          </a:p>
          <a:p>
            <a:pPr marL="0" indent="0" algn="l"/>
            <a:r>
              <a:rPr lang="en-US" sz="1800" dirty="0">
                <a:solidFill>
                  <a:schemeClr val="tx1"/>
                </a:solidFill>
                <a:latin typeface="+mn-lt"/>
                <a:ea typeface="+mn-lt"/>
                <a:cs typeface="+mn-lt"/>
              </a:rPr>
              <a:t>Identify the value that represents each of them.</a:t>
            </a:r>
          </a:p>
          <a:p>
            <a:pPr marL="0" indent="0" algn="l"/>
            <a:endParaRPr lang="en-US" sz="1800" dirty="0">
              <a:solidFill>
                <a:schemeClr val="tx1"/>
              </a:solidFill>
              <a:latin typeface="+mn-lt"/>
              <a:ea typeface="+mn-lt"/>
              <a:cs typeface="+mn-lt"/>
            </a:endParaRPr>
          </a:p>
          <a:p>
            <a:pPr marL="0" indent="0" algn="l"/>
            <a:r>
              <a:rPr lang="en-US" sz="1800" dirty="0">
                <a:solidFill>
                  <a:schemeClr val="tx1"/>
                </a:solidFill>
                <a:latin typeface="+mn-lt"/>
                <a:ea typeface="+mn-lt"/>
                <a:cs typeface="+mn-lt"/>
              </a:rPr>
              <a:t>Prioritize the 5 most observed behaviors.</a:t>
            </a:r>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Describe the type of people you need in order to achieve your dream. What behaviors/values do you need to adopt?</a:t>
            </a:r>
          </a:p>
          <a:p>
            <a:pPr marL="0" indent="0" algn="l"/>
            <a:r>
              <a:rPr lang="en-US" sz="1200" dirty="0">
                <a:solidFill>
                  <a:schemeClr val="tx1"/>
                </a:solidFill>
                <a:latin typeface="+mn-lt"/>
                <a:ea typeface="+mn-lt"/>
                <a:cs typeface="+mn-lt"/>
              </a:rPr>
              <a:t>• List the current values from the Dream Workshop</a:t>
            </a:r>
          </a:p>
          <a:p>
            <a:pPr marL="0" indent="0" algn="l"/>
            <a:r>
              <a:rPr lang="en-US" sz="1200" dirty="0">
                <a:solidFill>
                  <a:schemeClr val="tx1"/>
                </a:solidFill>
                <a:latin typeface="+mn-lt"/>
                <a:ea typeface="+mn-lt"/>
                <a:cs typeface="+mn-lt"/>
              </a:rPr>
              <a:t>• List the gap between current and needed values</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Your Dream</a:t>
            </a:r>
          </a:p>
          <a:p>
            <a:pPr marL="0" indent="0" algn="l"/>
            <a:r>
              <a:rPr lang="en-US" sz="1200" dirty="0">
                <a:solidFill>
                  <a:schemeClr val="tx1"/>
                </a:solidFill>
                <a:latin typeface="+mn-lt"/>
                <a:ea typeface="+mn-lt"/>
                <a:cs typeface="+mn-lt"/>
              </a:rPr>
              <a:t>• Who do you need to become?</a:t>
            </a:r>
          </a:p>
          <a:p>
            <a:pPr marL="0" indent="0" algn="l"/>
            <a:r>
              <a:rPr lang="en-US" sz="1200" dirty="0">
                <a:solidFill>
                  <a:schemeClr val="tx1"/>
                </a:solidFill>
                <a:latin typeface="+mn-lt"/>
                <a:ea typeface="+mn-lt"/>
                <a:cs typeface="+mn-lt"/>
              </a:rPr>
              <a:t>• Who are you currently?</a:t>
            </a:r>
          </a:p>
          <a:p>
            <a:pPr marL="0" indent="0" algn="l"/>
            <a:r>
              <a:rPr lang="en-US" sz="1200" dirty="0">
                <a:solidFill>
                  <a:schemeClr val="tx1"/>
                </a:solidFill>
                <a:latin typeface="+mn-lt"/>
                <a:ea typeface="+mn-lt"/>
                <a:cs typeface="+mn-lt"/>
              </a:rPr>
              <a:t>• What’s the gap?</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This tool will help you prioritize the top five behaviors the company will support and those it never will.</a:t>
            </a:r>
          </a:p>
          <a:p>
            <a:pPr marL="0" indent="0" algn="l"/>
            <a:endParaRPr lang="en-US" sz="1600" b="1" dirty="0">
              <a:solidFill>
                <a:schemeClr val="tx1"/>
              </a:solidFill>
              <a:latin typeface="+mn-lt"/>
              <a:ea typeface="+mn-lt"/>
              <a:cs typeface="+mn-lt"/>
            </a:endParaRPr>
          </a:p>
          <a:p>
            <a:pPr marL="0" indent="0" algn="l"/>
            <a:r>
              <a:rPr lang="en-US" sz="1600" b="1" dirty="0">
                <a:solidFill>
                  <a:schemeClr val="tx1"/>
                </a:solidFill>
                <a:latin typeface="+mn-lt"/>
                <a:ea typeface="+mn-lt"/>
                <a:cs typeface="+mn-lt"/>
              </a:rPr>
              <a:t>How</a:t>
            </a:r>
            <a:endParaRPr lang="en-US" sz="1200" b="1"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 List your new five values from the previous exercise</a:t>
            </a:r>
          </a:p>
          <a:p>
            <a:pPr marL="0" indent="0" algn="l"/>
            <a:r>
              <a:rPr lang="en-US" sz="1200" dirty="0">
                <a:solidFill>
                  <a:schemeClr val="tx1"/>
                </a:solidFill>
                <a:latin typeface="+mn-lt"/>
                <a:ea typeface="+mn-lt"/>
                <a:cs typeface="+mn-lt"/>
              </a:rPr>
              <a:t>• List potential cool behaviors associated with each value</a:t>
            </a:r>
          </a:p>
          <a:p>
            <a:pPr marL="0" indent="0" algn="l"/>
            <a:r>
              <a:rPr lang="en-US" sz="1200" dirty="0">
                <a:solidFill>
                  <a:schemeClr val="tx1"/>
                </a:solidFill>
                <a:latin typeface="+mn-lt"/>
                <a:ea typeface="+mn-lt"/>
                <a:cs typeface="+mn-lt"/>
              </a:rPr>
              <a:t>• List potential not-cool behaviors associated with each value</a:t>
            </a:r>
          </a:p>
          <a:p>
            <a:pPr marL="0" indent="0" algn="l"/>
            <a:r>
              <a:rPr lang="en-US" sz="1200" dirty="0">
                <a:solidFill>
                  <a:schemeClr val="tx1"/>
                </a:solidFill>
                <a:latin typeface="+mn-lt"/>
                <a:ea typeface="+mn-lt"/>
                <a:cs typeface="+mn-lt"/>
              </a:rPr>
              <a:t>• Prioritize the top 5 behaviors the company will support</a:t>
            </a:r>
          </a:p>
          <a:p>
            <a:pPr marL="0" indent="0" algn="l"/>
            <a:r>
              <a:rPr lang="en-US" sz="1200" dirty="0">
                <a:solidFill>
                  <a:schemeClr val="tx1"/>
                </a:solidFill>
                <a:latin typeface="+mn-lt"/>
                <a:ea typeface="+mn-lt"/>
                <a:cs typeface="+mn-lt"/>
              </a:rPr>
              <a:t>• List the top 5 behaviors the company will never support</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This tool will help you prioritize the top five behaviors the company will support and those it never will.</a:t>
            </a:r>
          </a:p>
          <a:p>
            <a:pPr marL="0" indent="0" algn="l"/>
            <a:endParaRPr lang="en-US" sz="1600" b="1" dirty="0">
              <a:solidFill>
                <a:schemeClr val="tx1"/>
              </a:solidFill>
              <a:latin typeface="+mn-lt"/>
              <a:ea typeface="+mn-lt"/>
              <a:cs typeface="+mn-lt"/>
            </a:endParaRPr>
          </a:p>
          <a:p>
            <a:pPr marL="0" indent="0" algn="l"/>
            <a:r>
              <a:rPr lang="en-US" sz="1600" b="1" dirty="0">
                <a:solidFill>
                  <a:schemeClr val="tx1"/>
                </a:solidFill>
                <a:latin typeface="+mn-lt"/>
                <a:ea typeface="+mn-lt"/>
                <a:cs typeface="+mn-lt"/>
              </a:rPr>
              <a:t>How</a:t>
            </a:r>
            <a:endParaRPr lang="en-US" sz="1200" b="1"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 List your new five values from the previous exercise</a:t>
            </a:r>
          </a:p>
          <a:p>
            <a:pPr marL="0" indent="0" algn="l"/>
            <a:r>
              <a:rPr lang="en-US" sz="1200" dirty="0">
                <a:solidFill>
                  <a:schemeClr val="tx1"/>
                </a:solidFill>
                <a:latin typeface="+mn-lt"/>
                <a:ea typeface="+mn-lt"/>
                <a:cs typeface="+mn-lt"/>
              </a:rPr>
              <a:t>• List potential cool behaviors associated with each value</a:t>
            </a:r>
          </a:p>
          <a:p>
            <a:pPr marL="0" indent="0" algn="l"/>
            <a:r>
              <a:rPr lang="en-US" sz="1200" dirty="0">
                <a:solidFill>
                  <a:schemeClr val="tx1"/>
                </a:solidFill>
                <a:latin typeface="+mn-lt"/>
                <a:ea typeface="+mn-lt"/>
                <a:cs typeface="+mn-lt"/>
              </a:rPr>
              <a:t>• List potential not-cool behaviors associated with each value</a:t>
            </a:r>
          </a:p>
          <a:p>
            <a:pPr marL="0" indent="0" algn="l"/>
            <a:r>
              <a:rPr lang="en-US" sz="1200" dirty="0">
                <a:solidFill>
                  <a:schemeClr val="tx1"/>
                </a:solidFill>
                <a:latin typeface="+mn-lt"/>
                <a:ea typeface="+mn-lt"/>
                <a:cs typeface="+mn-lt"/>
              </a:rPr>
              <a:t>• Prioritize the top 5 behaviors the company will support</a:t>
            </a:r>
          </a:p>
          <a:p>
            <a:pPr marL="0" indent="0" algn="l"/>
            <a:r>
              <a:rPr lang="en-US" sz="1200" dirty="0">
                <a:solidFill>
                  <a:schemeClr val="tx1"/>
                </a:solidFill>
                <a:latin typeface="+mn-lt"/>
                <a:ea typeface="+mn-lt"/>
                <a:cs typeface="+mn-lt"/>
              </a:rPr>
              <a:t>• List the top 5 behaviors the company will never support</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74948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200" dirty="0">
                <a:solidFill>
                  <a:schemeClr val="tx1"/>
                </a:solidFill>
              </a:rPr>
              <a:t>Define clear yellow and red lines to ensure everyone in the organization abides by the values. </a:t>
            </a:r>
          </a:p>
          <a:p>
            <a:pPr algn="l"/>
            <a:endParaRPr lang="en-GB" sz="1200" dirty="0">
              <a:solidFill>
                <a:schemeClr val="tx1"/>
              </a:solidFill>
            </a:endParaRPr>
          </a:p>
          <a:p>
            <a:pPr algn="l"/>
            <a:r>
              <a:rPr lang="en-GB" sz="1200" dirty="0">
                <a:solidFill>
                  <a:schemeClr val="tx1"/>
                </a:solidFill>
              </a:rPr>
              <a:t>Outline all the situations in which you will either give a warning or terminate (YELLOW OR RED</a:t>
            </a:r>
            <a:r>
              <a:rPr lang="en-GB" sz="1200" baseline="0" dirty="0">
                <a:solidFill>
                  <a:schemeClr val="tx1"/>
                </a:solidFill>
              </a:rPr>
              <a:t> cards)</a:t>
            </a:r>
            <a:r>
              <a:rPr lang="en-GB" sz="1200" dirty="0">
                <a:solidFill>
                  <a:schemeClr val="tx1"/>
                </a:solidFill>
              </a:rPr>
              <a:t>. </a:t>
            </a:r>
          </a:p>
          <a:p>
            <a:pPr algn="l"/>
            <a:endParaRPr lang="en-GB" sz="1200" dirty="0">
              <a:solidFill>
                <a:schemeClr val="tx1"/>
              </a:solidFill>
            </a:endParaRPr>
          </a:p>
          <a:p>
            <a:pPr algn="l"/>
            <a:r>
              <a:rPr lang="en-GB" sz="1200" dirty="0">
                <a:solidFill>
                  <a:schemeClr val="tx1"/>
                </a:solidFill>
              </a:rPr>
              <a:t>- Yellow lines require an immediate discussion with the employee.</a:t>
            </a:r>
          </a:p>
          <a:p>
            <a:pPr algn="l"/>
            <a:endParaRPr lang="en-GB" sz="1200" dirty="0">
              <a:solidFill>
                <a:schemeClr val="tx1"/>
              </a:solidFill>
            </a:endParaRPr>
          </a:p>
          <a:p>
            <a:pPr algn="l"/>
            <a:r>
              <a:rPr lang="en-GB" sz="1200" dirty="0">
                <a:solidFill>
                  <a:schemeClr val="tx1"/>
                </a:solidFill>
              </a:rPr>
              <a:t>- Red lines represent a severe misalignment with values and are a firing alert.</a:t>
            </a:r>
          </a:p>
          <a:p>
            <a:pPr algn="l"/>
            <a:endParaRPr lang="en-GB" sz="1200" dirty="0">
              <a:solidFill>
                <a:schemeClr val="tx1"/>
              </a:solidFill>
            </a:endParaRPr>
          </a:p>
          <a:p>
            <a:pPr algn="l"/>
            <a:r>
              <a:rPr lang="en-GB" sz="1200" dirty="0">
                <a:solidFill>
                  <a:schemeClr val="tx1"/>
                </a:solidFill>
              </a:rPr>
              <a:t>Do not think about how hard it will be to replace certain positions at this stage.</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342863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The biggest mistake that most companies make is recruiting for skills. If you want like-minded people working together, search for values that fit instead.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Create a list of questions you will use to determine this fit right at the recruitment stage.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Make sure to be specific and avoid hypothetical questions (ex. How would you deal with a conflict with a co-worker?) as they give the candidate a chance to spin the yarn. </a:t>
            </a:r>
          </a:p>
          <a:p>
            <a:pPr marL="0" indent="0" algn="l"/>
            <a:endParaRPr lang="en-US" sz="1200"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6</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057460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chemeClr val="tx1"/>
                </a:solidFill>
                <a:latin typeface="+mn-lt"/>
                <a:ea typeface="+mn-lt"/>
                <a:cs typeface="+mn-lt"/>
              </a:rPr>
              <a:t>Decide together on a list of actions, a time frame, and each item's owners.</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7</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199559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and white sign&#10;&#10;Description automatically generated">
            <a:extLst>
              <a:ext uri="{FF2B5EF4-FFF2-40B4-BE49-F238E27FC236}">
                <a16:creationId xmlns:a16="http://schemas.microsoft.com/office/drawing/2014/main" id="{822232FD-C22F-F23F-4961-1710BB33EBF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3589" b="27671"/>
          <a:stretch/>
        </p:blipFill>
        <p:spPr>
          <a:xfrm>
            <a:off x="89039" y="75304"/>
            <a:ext cx="2686433" cy="419548"/>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594983218"/>
              </p:ext>
            </p:extLst>
          </p:nvPr>
        </p:nvGraphicFramePr>
        <p:xfrm>
          <a:off x="256819" y="719276"/>
          <a:ext cx="9695564" cy="6529660"/>
        </p:xfrm>
        <a:graphic>
          <a:graphicData uri="http://schemas.openxmlformats.org/drawingml/2006/table">
            <a:tbl>
              <a:tblPr firstRow="1" bandRow="1">
                <a:tableStyleId>{2D5ABB26-0587-4C30-8999-92F81FD0307C}</a:tableStyleId>
              </a:tblPr>
              <a:tblGrid>
                <a:gridCol w="4847782">
                  <a:extLst>
                    <a:ext uri="{9D8B030D-6E8A-4147-A177-3AD203B41FA5}">
                      <a16:colId xmlns:a16="http://schemas.microsoft.com/office/drawing/2014/main" val="3308902235"/>
                    </a:ext>
                  </a:extLst>
                </a:gridCol>
                <a:gridCol w="4847782">
                  <a:extLst>
                    <a:ext uri="{9D8B030D-6E8A-4147-A177-3AD203B41FA5}">
                      <a16:colId xmlns:a16="http://schemas.microsoft.com/office/drawing/2014/main" val="3046643254"/>
                    </a:ext>
                  </a:extLst>
                </a:gridCol>
              </a:tblGrid>
              <a:tr h="39063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Typical behaviors, and ways of doing things in the company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2937983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7487134"/>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8554850"/>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37174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01523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357261"/>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133664"/>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120663"/>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844840"/>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0379632"/>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Top 5 most commonly observed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 The 5 company values that these behaviors represent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10689"/>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650493"/>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009344"/>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891231"/>
                  </a:ext>
                </a:extLst>
              </a:tr>
            </a:tbl>
          </a:graphicData>
        </a:graphic>
      </p:graphicFrame>
    </p:spTree>
    <p:extLst>
      <p:ext uri="{BB962C8B-B14F-4D97-AF65-F5344CB8AC3E}">
        <p14:creationId xmlns:p14="http://schemas.microsoft.com/office/powerpoint/2010/main" val="1820793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624B64-7AAF-9ED2-FC73-2EF925D5DD1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22620" b="20133"/>
          <a:stretch/>
        </p:blipFill>
        <p:spPr>
          <a:xfrm>
            <a:off x="108212" y="96819"/>
            <a:ext cx="5786977" cy="398034"/>
          </a:xfrm>
          <a:prstGeom prst="rect">
            <a:avLst/>
          </a:prstGeom>
        </p:spPr>
      </p:pic>
      <p:graphicFrame>
        <p:nvGraphicFramePr>
          <p:cNvPr id="18" name="Table 17">
            <a:extLst>
              <a:ext uri="{FF2B5EF4-FFF2-40B4-BE49-F238E27FC236}">
                <a16:creationId xmlns:a16="http://schemas.microsoft.com/office/drawing/2014/main" id="{1F74CD5A-9F80-0549-8844-6BFF5ADE70C7}"/>
              </a:ext>
            </a:extLst>
          </p:cNvPr>
          <p:cNvGraphicFramePr>
            <a:graphicFrameLocks noGrp="1" noDrilldown="1" noMove="1" noResize="1"/>
          </p:cNvGraphicFramePr>
          <p:nvPr>
            <p:extLst>
              <p:ext uri="{D42A27DB-BD31-4B8C-83A1-F6EECF244321}">
                <p14:modId xmlns:p14="http://schemas.microsoft.com/office/powerpoint/2010/main" val="3554592310"/>
              </p:ext>
            </p:extLst>
          </p:nvPr>
        </p:nvGraphicFramePr>
        <p:xfrm>
          <a:off x="248067" y="762788"/>
          <a:ext cx="9664560" cy="6529126"/>
        </p:xfrm>
        <a:graphic>
          <a:graphicData uri="http://schemas.openxmlformats.org/drawingml/2006/table">
            <a:tbl>
              <a:tblPr firstRow="1" bandRow="1">
                <a:tableStyleId>{2D5ABB26-0587-4C30-8999-92F81FD0307C}</a:tableStyleId>
              </a:tblPr>
              <a:tblGrid>
                <a:gridCol w="9664560">
                  <a:extLst>
                    <a:ext uri="{9D8B030D-6E8A-4147-A177-3AD203B41FA5}">
                      <a16:colId xmlns:a16="http://schemas.microsoft.com/office/drawing/2014/main" val="3313590318"/>
                    </a:ext>
                  </a:extLst>
                </a:gridCol>
              </a:tblGrid>
              <a:tr h="416655">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Your dream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Copy-paste a reminder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What are the required values for a team to achieve this dream </a:t>
                      </a:r>
                      <a:endPar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algn="l" rtl="0" fontAlgn="ctr"/>
                      <a:r>
                        <a:rPr lang="en-GB" sz="1600" b="0" i="0" u="none" strike="noStrike" dirty="0">
                          <a:solidFill>
                            <a:srgbClr val="FFFFFF"/>
                          </a:solidFill>
                          <a:effectLst/>
                          <a:latin typeface="Calibri "/>
                        </a:rPr>
                        <a:t>What is the gap between the aspirational values (previous response) and the current company values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spTree>
    <p:extLst>
      <p:ext uri="{BB962C8B-B14F-4D97-AF65-F5344CB8AC3E}">
        <p14:creationId xmlns:p14="http://schemas.microsoft.com/office/powerpoint/2010/main" val="1877047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640A1A-9979-6CB5-E593-CAA9FCD475F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4375" b="25473"/>
          <a:stretch/>
        </p:blipFill>
        <p:spPr>
          <a:xfrm>
            <a:off x="79208" y="88490"/>
            <a:ext cx="6911528" cy="422787"/>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070258384"/>
              </p:ext>
            </p:extLst>
          </p:nvPr>
        </p:nvGraphicFramePr>
        <p:xfrm>
          <a:off x="276084" y="729008"/>
          <a:ext cx="9664560" cy="6622156"/>
        </p:xfrm>
        <a:graphic>
          <a:graphicData uri="http://schemas.openxmlformats.org/drawingml/2006/table">
            <a:tbl>
              <a:tblPr firstRow="1" bandRow="1">
                <a:tableStyleId>{2D5ABB26-0587-4C30-8999-92F81FD0307C}</a:tableStyleId>
              </a:tblPr>
              <a:tblGrid>
                <a:gridCol w="2648607">
                  <a:extLst>
                    <a:ext uri="{9D8B030D-6E8A-4147-A177-3AD203B41FA5}">
                      <a16:colId xmlns:a16="http://schemas.microsoft.com/office/drawing/2014/main" val="3308902235"/>
                    </a:ext>
                  </a:extLst>
                </a:gridCol>
                <a:gridCol w="3524194">
                  <a:extLst>
                    <a:ext uri="{9D8B030D-6E8A-4147-A177-3AD203B41FA5}">
                      <a16:colId xmlns:a16="http://schemas.microsoft.com/office/drawing/2014/main" val="3313590318"/>
                    </a:ext>
                  </a:extLst>
                </a:gridCol>
                <a:gridCol w="3491759">
                  <a:extLst>
                    <a:ext uri="{9D8B030D-6E8A-4147-A177-3AD203B41FA5}">
                      <a16:colId xmlns:a16="http://schemas.microsoft.com/office/drawing/2014/main" val="1506629949"/>
                    </a:ext>
                  </a:extLst>
                </a:gridCol>
              </a:tblGrid>
              <a:tr h="44207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Company values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Cool Behaviors this value represents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Non-Cool Behaviors associated with this value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0545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02861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02958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01803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02861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102070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bl>
          </a:graphicData>
        </a:graphic>
      </p:graphicFrame>
    </p:spTree>
    <p:extLst>
      <p:ext uri="{BB962C8B-B14F-4D97-AF65-F5344CB8AC3E}">
        <p14:creationId xmlns:p14="http://schemas.microsoft.com/office/powerpoint/2010/main" val="311010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79AD69-02F7-7152-A53E-668687ACE44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3810" b="23275"/>
          <a:stretch/>
        </p:blipFill>
        <p:spPr>
          <a:xfrm>
            <a:off x="89040" y="88490"/>
            <a:ext cx="6907029" cy="403123"/>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769272212"/>
              </p:ext>
            </p:extLst>
          </p:nvPr>
        </p:nvGraphicFramePr>
        <p:xfrm>
          <a:off x="276084" y="729008"/>
          <a:ext cx="9664560" cy="6493427"/>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413158">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24275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21221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21335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997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21221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Tree>
    <p:extLst>
      <p:ext uri="{BB962C8B-B14F-4D97-AF65-F5344CB8AC3E}">
        <p14:creationId xmlns:p14="http://schemas.microsoft.com/office/powerpoint/2010/main" val="66283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text on a white background&#10;&#10;Description automatically generated">
            <a:extLst>
              <a:ext uri="{FF2B5EF4-FFF2-40B4-BE49-F238E27FC236}">
                <a16:creationId xmlns:a16="http://schemas.microsoft.com/office/drawing/2014/main" id="{F8D57A5D-AA64-C283-8806-7BD312DB52B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4812"/>
          <a:stretch/>
        </p:blipFill>
        <p:spPr>
          <a:xfrm>
            <a:off x="110556" y="75304"/>
            <a:ext cx="1821657" cy="556833"/>
          </a:xfrm>
          <a:prstGeom prst="rect">
            <a:avLst/>
          </a:prstGeom>
        </p:spPr>
      </p:pic>
      <p:graphicFrame>
        <p:nvGraphicFramePr>
          <p:cNvPr id="2" name="Table 1">
            <a:extLst>
              <a:ext uri="{FF2B5EF4-FFF2-40B4-BE49-F238E27FC236}">
                <a16:creationId xmlns:a16="http://schemas.microsoft.com/office/drawing/2014/main" id="{2B69F258-3FBC-CE9B-438A-ECF368A7F320}"/>
              </a:ext>
            </a:extLst>
          </p:cNvPr>
          <p:cNvGraphicFramePr>
            <a:graphicFrameLocks noGrp="1"/>
          </p:cNvGraphicFramePr>
          <p:nvPr>
            <p:extLst>
              <p:ext uri="{D42A27DB-BD31-4B8C-83A1-F6EECF244321}">
                <p14:modId xmlns:p14="http://schemas.microsoft.com/office/powerpoint/2010/main" val="1308194240"/>
              </p:ext>
            </p:extLst>
          </p:nvPr>
        </p:nvGraphicFramePr>
        <p:xfrm>
          <a:off x="276084" y="795130"/>
          <a:ext cx="9664560" cy="6230018"/>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7566">
                <a:tc>
                  <a:txBody>
                    <a:bodyPr/>
                    <a:lstStyle/>
                    <a:p>
                      <a:r>
                        <a:rPr lang="en-US" sz="1400" b="0" i="0" dirty="0">
                          <a:solidFill>
                            <a:schemeClr val="tx1"/>
                          </a:solidFill>
                          <a:latin typeface="Arial" panose="020B0604020202020204" pitchFamily="34" charset="0"/>
                          <a:ea typeface="Riforma LL" panose="020B0504020101020102" pitchFamily="34" charset="0"/>
                          <a:cs typeface="Arial" panose="020B0604020202020204" pitchFamily="34" charset="0"/>
                        </a:rPr>
                        <a:t>Yellow Lines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Red Lines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19210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1628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1638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5084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1628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Tree>
    <p:extLst>
      <p:ext uri="{BB962C8B-B14F-4D97-AF65-F5344CB8AC3E}">
        <p14:creationId xmlns:p14="http://schemas.microsoft.com/office/powerpoint/2010/main" val="379109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text on a white background&#10;&#10;Description automatically generated">
            <a:extLst>
              <a:ext uri="{FF2B5EF4-FFF2-40B4-BE49-F238E27FC236}">
                <a16:creationId xmlns:a16="http://schemas.microsoft.com/office/drawing/2014/main" id="{593BFF4C-FC00-5FF9-A59C-9D7C4123D48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12489" y="1"/>
            <a:ext cx="5273451" cy="671166"/>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nvGraphicFramePr>
        <p:xfrm>
          <a:off x="276084" y="729008"/>
          <a:ext cx="9664560" cy="6427166"/>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9174">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61701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0241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5956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2526878"/>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60774"/>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01432355"/>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390714"/>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8077906"/>
                  </a:ext>
                </a:extLst>
              </a:tr>
            </a:tbl>
          </a:graphicData>
        </a:graphic>
      </p:graphicFrame>
    </p:spTree>
    <p:extLst>
      <p:ext uri="{BB962C8B-B14F-4D97-AF65-F5344CB8AC3E}">
        <p14:creationId xmlns:p14="http://schemas.microsoft.com/office/powerpoint/2010/main" val="2521260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49CE44-6E1A-2728-E184-D8AA5B92C3D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5441"/>
          <a:stretch/>
        </p:blipFill>
        <p:spPr>
          <a:xfrm>
            <a:off x="67524" y="86061"/>
            <a:ext cx="5959744" cy="589155"/>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722049370"/>
              </p:ext>
            </p:extLst>
          </p:nvPr>
        </p:nvGraphicFramePr>
        <p:xfrm>
          <a:off x="276084" y="729011"/>
          <a:ext cx="9664560" cy="6654394"/>
        </p:xfrm>
        <a:graphic>
          <a:graphicData uri="http://schemas.openxmlformats.org/drawingml/2006/table">
            <a:tbl>
              <a:tblPr firstRow="1" bandRow="1">
                <a:tableStyleId>{2D5ABB26-0587-4C30-8999-92F81FD0307C}</a:tableStyleId>
              </a:tblPr>
              <a:tblGrid>
                <a:gridCol w="5871476">
                  <a:extLst>
                    <a:ext uri="{9D8B030D-6E8A-4147-A177-3AD203B41FA5}">
                      <a16:colId xmlns:a16="http://schemas.microsoft.com/office/drawing/2014/main" val="3308902235"/>
                    </a:ext>
                  </a:extLst>
                </a:gridCol>
                <a:gridCol w="1952062">
                  <a:extLst>
                    <a:ext uri="{9D8B030D-6E8A-4147-A177-3AD203B41FA5}">
                      <a16:colId xmlns:a16="http://schemas.microsoft.com/office/drawing/2014/main" val="3313590318"/>
                    </a:ext>
                  </a:extLst>
                </a:gridCol>
                <a:gridCol w="1841022">
                  <a:extLst>
                    <a:ext uri="{9D8B030D-6E8A-4147-A177-3AD203B41FA5}">
                      <a16:colId xmlns:a16="http://schemas.microsoft.com/office/drawing/2014/main" val="674830108"/>
                    </a:ext>
                  </a:extLst>
                </a:gridCol>
              </a:tblGrid>
              <a:tr h="2725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Idea to implement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Who</a:t>
                      </a:r>
                      <a:endPar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7503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46379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45858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45979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7125558"/>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9884543"/>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6119861"/>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spTree>
    <p:extLst>
      <p:ext uri="{BB962C8B-B14F-4D97-AF65-F5344CB8AC3E}">
        <p14:creationId xmlns:p14="http://schemas.microsoft.com/office/powerpoint/2010/main" val="1543771418"/>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10857</TotalTime>
  <Words>601</Words>
  <Application>Microsoft Macintosh PowerPoint</Application>
  <PresentationFormat>Custom</PresentationFormat>
  <Paragraphs>77</Paragraphs>
  <Slides>7</Slides>
  <Notes>7</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7</vt:i4>
      </vt:variant>
    </vt:vector>
  </HeadingPairs>
  <TitlesOfParts>
    <vt:vector size="15" baseType="lpstr">
      <vt:lpstr>Arial</vt:lpstr>
      <vt:lpstr>Arial Black</vt:lpstr>
      <vt:lpstr>Calibri</vt:lpstr>
      <vt:lpstr>Calibri </vt:lpstr>
      <vt:lpstr>PF Square Sans Pro Light</vt:lpstr>
      <vt:lpstr>4_Custom Design</vt:lpstr>
      <vt:lpstr>5_Custom Design</vt:lpstr>
      <vt:lpstr>SOLIDS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775</cp:revision>
  <cp:lastPrinted>2020-02-28T13:07:06Z</cp:lastPrinted>
  <dcterms:created xsi:type="dcterms:W3CDTF">2019-08-22T09:52:59Z</dcterms:created>
  <dcterms:modified xsi:type="dcterms:W3CDTF">2024-11-12T11:43:16Z</dcterms:modified>
</cp:coreProperties>
</file>