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9"/>
  </p:notesMasterIdLst>
  <p:handoutMasterIdLst>
    <p:handoutMasterId r:id="rId10"/>
  </p:handoutMasterIdLst>
  <p:sldIdLst>
    <p:sldId id="2465" r:id="rId4"/>
    <p:sldId id="2420" r:id="rId5"/>
    <p:sldId id="2463" r:id="rId6"/>
    <p:sldId id="2423" r:id="rId7"/>
    <p:sldId id="2466" r:id="rId8"/>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90" autoAdjust="0"/>
    <p:restoredTop sz="84206" autoAdjust="0"/>
  </p:normalViewPr>
  <p:slideViewPr>
    <p:cSldViewPr snapToGrid="0">
      <p:cViewPr>
        <p:scale>
          <a:sx n="102" d="100"/>
          <a:sy n="102" d="100"/>
        </p:scale>
        <p:origin x="2152" y="112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4" d="100"/>
          <a:sy n="84" d="100"/>
        </p:scale>
        <p:origin x="222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dirty="0">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8/30/24</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dirty="0"/>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8/30/24</a:t>
            </a:fld>
            <a:endParaRPr lang="en-US" dirty="0"/>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dirty="0"/>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Let’s suppose someone offers to buy your company at a fair price. Let’s also suppose this buyer is intent on killing your company after the purchase. Your products and services will be immediately discontinued. All operations will be shut down. The brand will be shelved forever. Your company will completely cease to exist.</a:t>
            </a:r>
            <a:br>
              <a:rPr lang="en-GB" sz="1800" b="0" i="0" u="none" strike="noStrike" dirty="0">
                <a:solidFill>
                  <a:srgbClr val="000000"/>
                </a:solidFill>
                <a:effectLst/>
                <a:latin typeface="Calibri "/>
              </a:rPr>
            </a:br>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Try to answer the following questions in order to articulate what your company brings to the world: </a:t>
            </a:r>
            <a:br>
              <a:rPr lang="en-GB" sz="1800" b="0" i="0" u="none" strike="noStrike" dirty="0">
                <a:solidFill>
                  <a:srgbClr val="000000"/>
                </a:solidFill>
                <a:effectLst/>
                <a:latin typeface="Calibri "/>
              </a:rPr>
            </a:br>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 What will be lost if your brand ceased to exist? - e.g. A sixty-year legacy of innovation and entrepreneurship</a:t>
            </a:r>
            <a:br>
              <a:rPr lang="en-GB" sz="1800" b="0" i="0" u="none" strike="noStrike" dirty="0">
                <a:solidFill>
                  <a:srgbClr val="000000"/>
                </a:solidFill>
                <a:effectLst/>
                <a:latin typeface="Calibri "/>
              </a:rPr>
            </a:br>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 Why is it important that your brand continues to exist? - e.g. Because our company will enhance people’s quality of life</a:t>
            </a:r>
            <a:br>
              <a:rPr lang="en-GB" sz="1800" b="0" i="0" u="none" strike="noStrike" dirty="0">
                <a:solidFill>
                  <a:srgbClr val="000000"/>
                </a:solidFill>
                <a:effectLst/>
                <a:latin typeface="Calibri "/>
              </a:rPr>
            </a:br>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 What’s at stake here? - e.g. Increased congestion, pollution and space taken up by vehicles </a:t>
            </a:r>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356490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Plaak 3 Trial Regular" panose="02000000000000000000" pitchFamily="2" charset="0"/>
              </a:rPr>
              <a:t>Every single company on the planet understands what it does regardless of its size or industry. Some understand how their work is different or better than others. But few can clearly articulate why they do what they do.</a:t>
            </a:r>
          </a:p>
          <a:p>
            <a:endParaRPr lang="en-US" sz="1200" dirty="0">
              <a:latin typeface="Plaak 3 Trial Regular" panose="02000000000000000000" pitchFamily="2" charset="0"/>
            </a:endParaRPr>
          </a:p>
          <a:p>
            <a:r>
              <a:rPr lang="en-US" sz="1200" dirty="0">
                <a:latin typeface="Plaak 3 Trial Regular" panose="02000000000000000000" pitchFamily="2" charset="0"/>
              </a:rPr>
              <a:t>Start asking why from the inside of the circle and proceed outwards.</a:t>
            </a:r>
          </a:p>
          <a:p>
            <a:endParaRPr lang="en-US" sz="1200" dirty="0">
              <a:latin typeface="Plaak 3 Trial Regular" panose="02000000000000000000" pitchFamily="2" charset="0"/>
            </a:endParaRPr>
          </a:p>
          <a:p>
            <a:endParaRPr lang="en-US" sz="1200" dirty="0">
              <a:latin typeface="Plaak 3 Trial Regular" panose="02000000000000000000" pitchFamily="2" charset="0"/>
            </a:endParaRPr>
          </a:p>
          <a:p>
            <a:r>
              <a:rPr lang="en-US" sz="1200" dirty="0">
                <a:latin typeface="Plaak 3 Trial Regular" panose="02000000000000000000" pitchFamily="2" charset="0"/>
              </a:rPr>
              <a:t>Why</a:t>
            </a:r>
          </a:p>
          <a:p>
            <a:endParaRPr lang="en-US" sz="1200" dirty="0">
              <a:latin typeface="Plaak 3 Trial Regular" panose="02000000000000000000" pitchFamily="2" charset="0"/>
            </a:endParaRPr>
          </a:p>
          <a:p>
            <a:r>
              <a:rPr lang="en-US" sz="1200" dirty="0">
                <a:latin typeface="Plaak 3 Trial Regular" panose="02000000000000000000" pitchFamily="2" charset="0"/>
              </a:rPr>
              <a:t>Why do you do what you do? What’s in it for you? What’s the reason beyond money for what you do as a person, as a team and as a company? If money was irrelevant, would you still do what you do?</a:t>
            </a:r>
          </a:p>
          <a:p>
            <a:endParaRPr lang="en-US" sz="1200" dirty="0">
              <a:latin typeface="Plaak 3 Trial Regular" panose="02000000000000000000" pitchFamily="2" charset="0"/>
            </a:endParaRPr>
          </a:p>
          <a:p>
            <a:endParaRPr lang="en-US" sz="1200" dirty="0">
              <a:latin typeface="Plaak 3 Trial Regular" panose="02000000000000000000" pitchFamily="2" charset="0"/>
            </a:endParaRPr>
          </a:p>
          <a:p>
            <a:endParaRPr lang="en-US" sz="1200" dirty="0">
              <a:latin typeface="Plaak 3 Trial Regular" panose="02000000000000000000" pitchFamily="2" charset="0"/>
            </a:endParaRPr>
          </a:p>
          <a:p>
            <a:r>
              <a:rPr lang="en-US" sz="1200" dirty="0">
                <a:latin typeface="Plaak 3 Trial Regular" panose="02000000000000000000" pitchFamily="2" charset="0"/>
              </a:rPr>
              <a:t>How</a:t>
            </a:r>
          </a:p>
          <a:p>
            <a:endParaRPr lang="en-US" sz="1200" dirty="0">
              <a:latin typeface="Plaak 3 Trial Regular" panose="02000000000000000000" pitchFamily="2" charset="0"/>
            </a:endParaRPr>
          </a:p>
          <a:p>
            <a:r>
              <a:rPr lang="en-US" sz="1200" dirty="0">
                <a:latin typeface="Plaak 3 Trial Regular" panose="02000000000000000000" pitchFamily="2" charset="0"/>
              </a:rPr>
              <a:t>What are the specific steps you take to deliver your products and/or services? What makes your products or services different from the competition?</a:t>
            </a:r>
          </a:p>
          <a:p>
            <a:endParaRPr lang="en-US" sz="1200" dirty="0">
              <a:latin typeface="Plaak 3 Trial Regular" panose="02000000000000000000" pitchFamily="2" charset="0"/>
            </a:endParaRPr>
          </a:p>
          <a:p>
            <a:endParaRPr lang="en-US" sz="1200" dirty="0">
              <a:latin typeface="Plaak 3 Trial Regular" panose="02000000000000000000" pitchFamily="2" charset="0"/>
            </a:endParaRPr>
          </a:p>
          <a:p>
            <a:endParaRPr lang="en-US" sz="1200" dirty="0">
              <a:latin typeface="Plaak 3 Trial Regular" panose="02000000000000000000" pitchFamily="2" charset="0"/>
            </a:endParaRPr>
          </a:p>
          <a:p>
            <a:r>
              <a:rPr lang="en-US" sz="1200" dirty="0">
                <a:latin typeface="Plaak 3 Trial Regular" panose="02000000000000000000" pitchFamily="2" charset="0"/>
              </a:rPr>
              <a:t>What</a:t>
            </a:r>
          </a:p>
          <a:p>
            <a:endParaRPr lang="en-US" sz="1200" dirty="0">
              <a:latin typeface="Plaak 3 Trial Regular" panose="02000000000000000000" pitchFamily="2" charset="0"/>
            </a:endParaRPr>
          </a:p>
          <a:p>
            <a:r>
              <a:rPr lang="en-US" sz="1200" dirty="0">
                <a:latin typeface="Plaak 3 Trial Regular" panose="02000000000000000000" pitchFamily="2" charset="0"/>
              </a:rPr>
              <a:t>What does your company do? What are the products you sell? What are the services you offer?</a:t>
            </a:r>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4680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a:latin typeface="Plaak 3 Trial Regular" panose="02000000000000000000" pitchFamily="2" charset="0"/>
              </a:rPr>
              <a:t>KNOW THYSELF: MY DREAM [PAGE 1 out of 3] </a:t>
            </a:r>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3</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976752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a:latin typeface="Plaak 3 Trial Regular" panose="02000000000000000000" pitchFamily="2" charset="0"/>
              </a:rPr>
              <a:t>KNOW THYSELF: MY DREAM [PAGE 1 out of 3] </a:t>
            </a:r>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4</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000305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Using the Company Dream Tool results, try to visualize the dream in more detail. Refer to particular words, images, people, scents, etc.</a:t>
            </a:r>
            <a:r>
              <a:rPr lang="en-GB" dirty="0"/>
              <a:t> </a:t>
            </a:r>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5</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45629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emf"/></Relationships>
</file>

<file path=ppt/slides/_rels/slide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1F74CD5A-9F80-0549-8844-6BFF5ADE70C7}"/>
              </a:ext>
            </a:extLst>
          </p:cNvPr>
          <p:cNvGraphicFramePr>
            <a:graphicFrameLocks noGrp="1"/>
          </p:cNvGraphicFramePr>
          <p:nvPr/>
        </p:nvGraphicFramePr>
        <p:xfrm>
          <a:off x="2888975" y="762788"/>
          <a:ext cx="7023652" cy="6588374"/>
        </p:xfrm>
        <a:graphic>
          <a:graphicData uri="http://schemas.openxmlformats.org/drawingml/2006/table">
            <a:tbl>
              <a:tblPr firstRow="1" bandRow="1">
                <a:tableStyleId>{2D5ABB26-0587-4C30-8999-92F81FD0307C}</a:tableStyleId>
              </a:tblPr>
              <a:tblGrid>
                <a:gridCol w="7023652">
                  <a:extLst>
                    <a:ext uri="{9D8B030D-6E8A-4147-A177-3AD203B41FA5}">
                      <a16:colId xmlns:a16="http://schemas.microsoft.com/office/drawing/2014/main" val="3313590318"/>
                    </a:ext>
                  </a:extLst>
                </a:gridCol>
              </a:tblGrid>
              <a:tr h="475903">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WHY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1828262">
                <a:tc>
                  <a:txBody>
                    <a:bodyPr/>
                    <a:lstStyle/>
                    <a:p>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2170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rPr>
                        <a:t>HOW</a:t>
                      </a:r>
                      <a:r>
                        <a:rPr kumimoji="0" lang="en-US" sz="12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95863688"/>
                  </a:ext>
                </a:extLst>
              </a:tr>
              <a:tr h="1801497">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2781455"/>
                  </a:ext>
                </a:extLst>
              </a:tr>
              <a:tr h="39826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rPr>
                        <a:t>WHAT</a:t>
                      </a:r>
                      <a:r>
                        <a:rPr kumimoji="0" lang="en-US" sz="12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65844164"/>
                  </a:ext>
                </a:extLst>
              </a:tr>
              <a:tr h="166274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2377547"/>
                  </a:ext>
                </a:extLst>
              </a:tr>
            </a:tbl>
          </a:graphicData>
        </a:graphic>
      </p:graphicFrame>
      <p:pic>
        <p:nvPicPr>
          <p:cNvPr id="4" name="Picture 3">
            <a:extLst>
              <a:ext uri="{FF2B5EF4-FFF2-40B4-BE49-F238E27FC236}">
                <a16:creationId xmlns:a16="http://schemas.microsoft.com/office/drawing/2014/main" id="{61DCA427-2413-EAA2-5DD8-E6D9C07FC23B}"/>
              </a:ext>
              <a:ext uri="{147F2762-F138-4A5C-976F-8EAC2B608ADB}">
                <a16:predDERef xmlns:a16="http://schemas.microsoft.com/office/drawing/2014/main" pred="{8F85E5D8-B029-4285-A723-F9B6F2E98767}"/>
              </a:ext>
            </a:extLst>
          </p:cNvPr>
          <p:cNvPicPr>
            <a:picLocks noGrp="1" noRot="1" noChangeAspec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val="0"/>
              </a:ext>
            </a:extLst>
          </a:blip>
          <a:stretch>
            <a:fillRect/>
          </a:stretch>
        </p:blipFill>
        <p:spPr>
          <a:xfrm>
            <a:off x="39756" y="1125610"/>
            <a:ext cx="2743200" cy="5228791"/>
          </a:xfrm>
          <a:prstGeom prst="rect">
            <a:avLst/>
          </a:prstGeom>
        </p:spPr>
      </p:pic>
      <p:pic>
        <p:nvPicPr>
          <p:cNvPr id="2" name="Picture 1">
            <a:extLst>
              <a:ext uri="{FF2B5EF4-FFF2-40B4-BE49-F238E27FC236}">
                <a16:creationId xmlns:a16="http://schemas.microsoft.com/office/drawing/2014/main" id="{1264E101-9DD2-EE60-0410-A79EC4304076}"/>
              </a:ext>
            </a:extLst>
          </p:cNvPr>
          <p:cNvPicPr>
            <a:picLocks noGrp="1" noRot="1" noChangeAspect="1" noMove="1" noResize="1" noEditPoints="1" noAdjustHandles="1" noChangeArrowheads="1" noChangeShapeType="1" noCrop="1"/>
          </p:cNvPicPr>
          <p:nvPr/>
        </p:nvPicPr>
        <p:blipFill>
          <a:blip r:embed="rId4"/>
          <a:stretch>
            <a:fillRect/>
          </a:stretch>
        </p:blipFill>
        <p:spPr>
          <a:xfrm>
            <a:off x="-105638" y="-92766"/>
            <a:ext cx="8873625" cy="880501"/>
          </a:xfrm>
          <a:prstGeom prst="rect">
            <a:avLst/>
          </a:prstGeom>
        </p:spPr>
      </p:pic>
      <p:pic>
        <p:nvPicPr>
          <p:cNvPr id="6" name="Picture 5">
            <a:extLst>
              <a:ext uri="{FF2B5EF4-FFF2-40B4-BE49-F238E27FC236}">
                <a16:creationId xmlns:a16="http://schemas.microsoft.com/office/drawing/2014/main" id="{7AEC92DF-E9A7-5793-3A74-D671A494551E}"/>
              </a:ext>
            </a:extLst>
          </p:cNvPr>
          <p:cNvPicPr>
            <a:picLocks noGrp="1" noRo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4070156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1F74CD5A-9F80-0549-8844-6BFF5ADE70C7}"/>
              </a:ext>
            </a:extLst>
          </p:cNvPr>
          <p:cNvGraphicFramePr>
            <a:graphicFrameLocks noGrp="1"/>
          </p:cNvGraphicFramePr>
          <p:nvPr>
            <p:extLst>
              <p:ext uri="{D42A27DB-BD31-4B8C-83A1-F6EECF244321}">
                <p14:modId xmlns:p14="http://schemas.microsoft.com/office/powerpoint/2010/main" val="4104219255"/>
              </p:ext>
            </p:extLst>
          </p:nvPr>
        </p:nvGraphicFramePr>
        <p:xfrm>
          <a:off x="248067" y="762788"/>
          <a:ext cx="9664560" cy="6588374"/>
        </p:xfrm>
        <a:graphic>
          <a:graphicData uri="http://schemas.openxmlformats.org/drawingml/2006/table">
            <a:tbl>
              <a:tblPr firstRow="1" bandRow="1">
                <a:tableStyleId>{2D5ABB26-0587-4C30-8999-92F81FD0307C}</a:tableStyleId>
              </a:tblPr>
              <a:tblGrid>
                <a:gridCol w="9664560">
                  <a:extLst>
                    <a:ext uri="{9D8B030D-6E8A-4147-A177-3AD203B41FA5}">
                      <a16:colId xmlns:a16="http://schemas.microsoft.com/office/drawing/2014/main" val="3313590318"/>
                    </a:ext>
                  </a:extLst>
                </a:gridCol>
              </a:tblGrid>
              <a:tr h="475903">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What would be lost if your brand ceased to exist?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1828262">
                <a:tc>
                  <a:txBody>
                    <a:bodyPr/>
                    <a:lstStyle/>
                    <a:p>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2170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rPr>
                        <a:t>Why is it important that your brand continues to exist?</a:t>
                      </a:r>
                      <a:endParaRPr kumimoji="0" lang="en-US" sz="12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95863688"/>
                  </a:ext>
                </a:extLst>
              </a:tr>
              <a:tr h="1801497">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2781455"/>
                  </a:ext>
                </a:extLst>
              </a:tr>
              <a:tr h="398262">
                <a:tc>
                  <a:txBody>
                    <a:bodyPr/>
                    <a:lstStyle/>
                    <a:p>
                      <a:pPr algn="l" rtl="0" fontAlgn="ctr"/>
                      <a:r>
                        <a:rPr lang="en-GB" sz="1600" b="0" i="0" u="none" strike="noStrike" dirty="0">
                          <a:solidFill>
                            <a:srgbClr val="FFFFFF"/>
                          </a:solidFill>
                          <a:effectLst/>
                          <a:latin typeface="Calibri "/>
                        </a:rPr>
                        <a:t>What is at stake here?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65844164"/>
                  </a:ext>
                </a:extLst>
              </a:tr>
              <a:tr h="166274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2377547"/>
                  </a:ext>
                </a:extLst>
              </a:tr>
            </a:tbl>
          </a:graphicData>
        </a:graphic>
      </p:graphicFrame>
      <p:pic>
        <p:nvPicPr>
          <p:cNvPr id="2" name="Picture 1">
            <a:extLst>
              <a:ext uri="{FF2B5EF4-FFF2-40B4-BE49-F238E27FC236}">
                <a16:creationId xmlns:a16="http://schemas.microsoft.com/office/drawing/2014/main" id="{DDCBB158-150D-92E3-F5F2-1E5192553630}"/>
              </a:ext>
            </a:extLst>
          </p:cNvPr>
          <p:cNvPicPr>
            <a:picLocks noGrp="1" noRot="1" noChangeAspect="1" noMove="1" noResize="1" noEditPoints="1" noAdjustHandles="1" noChangeArrowheads="1" noChangeShapeType="1" noCrop="1"/>
          </p:cNvPicPr>
          <p:nvPr/>
        </p:nvPicPr>
        <p:blipFill>
          <a:blip r:embed="rId3"/>
          <a:stretch>
            <a:fillRect/>
          </a:stretch>
        </p:blipFill>
        <p:spPr>
          <a:xfrm>
            <a:off x="-21266" y="-79322"/>
            <a:ext cx="8915358" cy="884642"/>
          </a:xfrm>
          <a:prstGeom prst="rect">
            <a:avLst/>
          </a:prstGeom>
        </p:spPr>
      </p:pic>
      <p:pic>
        <p:nvPicPr>
          <p:cNvPr id="6" name="Picture 5">
            <a:extLst>
              <a:ext uri="{FF2B5EF4-FFF2-40B4-BE49-F238E27FC236}">
                <a16:creationId xmlns:a16="http://schemas.microsoft.com/office/drawing/2014/main" id="{CC1C0079-8510-4EF0-C6F0-56E1E41D6A73}"/>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1877047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1932778992"/>
              </p:ext>
            </p:extLst>
          </p:nvPr>
        </p:nvGraphicFramePr>
        <p:xfrm>
          <a:off x="276084" y="729009"/>
          <a:ext cx="9776012" cy="6662663"/>
        </p:xfrm>
        <a:graphic>
          <a:graphicData uri="http://schemas.openxmlformats.org/drawingml/2006/table">
            <a:tbl>
              <a:tblPr firstRow="1" bandRow="1">
                <a:tableStyleId>{2D5ABB26-0587-4C30-8999-92F81FD0307C}</a:tableStyleId>
              </a:tblPr>
              <a:tblGrid>
                <a:gridCol w="2241829">
                  <a:extLst>
                    <a:ext uri="{9D8B030D-6E8A-4147-A177-3AD203B41FA5}">
                      <a16:colId xmlns:a16="http://schemas.microsoft.com/office/drawing/2014/main" val="3308902235"/>
                    </a:ext>
                  </a:extLst>
                </a:gridCol>
                <a:gridCol w="7534183">
                  <a:extLst>
                    <a:ext uri="{9D8B030D-6E8A-4147-A177-3AD203B41FA5}">
                      <a16:colId xmlns:a16="http://schemas.microsoft.com/office/drawing/2014/main" val="3313590318"/>
                    </a:ext>
                  </a:extLst>
                </a:gridCol>
              </a:tblGrid>
              <a:tr h="362316">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Imagine it is 5 years from today and answer the following questions: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63145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What have you achieved?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What do customers say about you?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61651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What do your employees say?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60960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What is your Market position?</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How do your offices look like?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61119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What capabilities does the achievement provide you with?</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How does it feel to achieve your dream?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981743"/>
                  </a:ext>
                </a:extLst>
              </a:tr>
              <a:tr h="72301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How does the team feel about the achievement of your dream?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0728161"/>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What is your own personal achievement?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9613438"/>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ea typeface="Riforma LL" panose="020B0504020101020102" pitchFamily="34" charset="77"/>
                          <a:cs typeface="Arial" panose="020B0604020202020204" pitchFamily="34" charset="0"/>
                        </a:rPr>
                        <a:t>Who is the person you have become along this journey?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7236550"/>
                  </a:ext>
                </a:extLst>
              </a:tr>
            </a:tbl>
          </a:graphicData>
        </a:graphic>
      </p:graphicFrame>
      <p:pic>
        <p:nvPicPr>
          <p:cNvPr id="3" name="Picture 2">
            <a:extLst>
              <a:ext uri="{FF2B5EF4-FFF2-40B4-BE49-F238E27FC236}">
                <a16:creationId xmlns:a16="http://schemas.microsoft.com/office/drawing/2014/main" id="{A3E82818-9104-0E86-EDB2-2CAA9CC0795F}"/>
              </a:ext>
            </a:extLst>
          </p:cNvPr>
          <p:cNvPicPr>
            <a:picLocks noGrp="1" noRot="1" noChangeAspect="1" noMove="1" noResize="1" noEditPoints="1" noAdjustHandles="1" noChangeArrowheads="1" noChangeShapeType="1" noCrop="1"/>
          </p:cNvPicPr>
          <p:nvPr/>
        </p:nvPicPr>
        <p:blipFill>
          <a:blip r:embed="rId3"/>
          <a:stretch>
            <a:fillRect/>
          </a:stretch>
        </p:blipFill>
        <p:spPr>
          <a:xfrm>
            <a:off x="-1" y="-79357"/>
            <a:ext cx="9262573" cy="919095"/>
          </a:xfrm>
          <a:prstGeom prst="rect">
            <a:avLst/>
          </a:prstGeom>
        </p:spPr>
      </p:pic>
      <p:pic>
        <p:nvPicPr>
          <p:cNvPr id="7" name="Picture 6">
            <a:extLst>
              <a:ext uri="{FF2B5EF4-FFF2-40B4-BE49-F238E27FC236}">
                <a16:creationId xmlns:a16="http://schemas.microsoft.com/office/drawing/2014/main" id="{F721A467-A4BF-35F5-7902-065535BD65EC}"/>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3110103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4083945161"/>
              </p:ext>
            </p:extLst>
          </p:nvPr>
        </p:nvGraphicFramePr>
        <p:xfrm>
          <a:off x="256819" y="719276"/>
          <a:ext cx="9776012" cy="6609109"/>
        </p:xfrm>
        <a:graphic>
          <a:graphicData uri="http://schemas.openxmlformats.org/drawingml/2006/table">
            <a:tbl>
              <a:tblPr firstRow="1" bandRow="1">
                <a:tableStyleId>{2D5ABB26-0587-4C30-8999-92F81FD0307C}</a:tableStyleId>
              </a:tblPr>
              <a:tblGrid>
                <a:gridCol w="9776012">
                  <a:extLst>
                    <a:ext uri="{9D8B030D-6E8A-4147-A177-3AD203B41FA5}">
                      <a16:colId xmlns:a16="http://schemas.microsoft.com/office/drawing/2014/main" val="3308902235"/>
                    </a:ext>
                  </a:extLst>
                </a:gridCol>
              </a:tblGrid>
              <a:tr h="36108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Describe your dream story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34936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36880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dirty="0">
                          <a:solidFill>
                            <a:schemeClr val="bg1"/>
                          </a:solidFill>
                          <a:latin typeface="Arial" panose="020B0604020202020204" pitchFamily="34" charset="0"/>
                          <a:ea typeface="Riforma LL" panose="020B0504020101020102" pitchFamily="34" charset="77"/>
                          <a:cs typeface="Arial" panose="020B0604020202020204" pitchFamily="34" charset="0"/>
                        </a:rPr>
                        <a:t>If you are to tell your dream story to a friend with 1 sentence, what would it be: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710048040"/>
                  </a:ext>
                </a:extLst>
              </a:tr>
              <a:tr h="152986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4050904300"/>
                  </a:ext>
                </a:extLst>
              </a:tr>
            </a:tbl>
          </a:graphicData>
        </a:graphic>
      </p:graphicFrame>
      <p:pic>
        <p:nvPicPr>
          <p:cNvPr id="3" name="Picture 2">
            <a:extLst>
              <a:ext uri="{FF2B5EF4-FFF2-40B4-BE49-F238E27FC236}">
                <a16:creationId xmlns:a16="http://schemas.microsoft.com/office/drawing/2014/main" id="{43CED4C8-D101-EFF5-D6A1-4881CAAC8C18}"/>
              </a:ext>
            </a:extLst>
          </p:cNvPr>
          <p:cNvPicPr>
            <a:picLocks noGrp="1" noRot="1" noChangeAspect="1" noMove="1" noResize="1" noEditPoints="1" noAdjustHandles="1" noChangeArrowheads="1" noChangeShapeType="1" noCrop="1"/>
          </p:cNvPicPr>
          <p:nvPr/>
        </p:nvPicPr>
        <p:blipFill>
          <a:blip r:embed="rId3"/>
          <a:stretch>
            <a:fillRect/>
          </a:stretch>
        </p:blipFill>
        <p:spPr>
          <a:xfrm>
            <a:off x="-1" y="-79357"/>
            <a:ext cx="9262573" cy="919095"/>
          </a:xfrm>
          <a:prstGeom prst="rect">
            <a:avLst/>
          </a:prstGeom>
        </p:spPr>
      </p:pic>
      <p:pic>
        <p:nvPicPr>
          <p:cNvPr id="6" name="Picture 5">
            <a:extLst>
              <a:ext uri="{FF2B5EF4-FFF2-40B4-BE49-F238E27FC236}">
                <a16:creationId xmlns:a16="http://schemas.microsoft.com/office/drawing/2014/main" id="{DF6EB51A-3803-BADB-7CE8-C501555EC4FC}"/>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2451837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1976930790"/>
              </p:ext>
            </p:extLst>
          </p:nvPr>
        </p:nvGraphicFramePr>
        <p:xfrm>
          <a:off x="256819" y="719276"/>
          <a:ext cx="9776012" cy="6631887"/>
        </p:xfrm>
        <a:graphic>
          <a:graphicData uri="http://schemas.openxmlformats.org/drawingml/2006/table">
            <a:tbl>
              <a:tblPr firstRow="1" bandRow="1">
                <a:tableStyleId>{2D5ABB26-0587-4C30-8999-92F81FD0307C}</a:tableStyleId>
              </a:tblPr>
              <a:tblGrid>
                <a:gridCol w="4888006">
                  <a:extLst>
                    <a:ext uri="{9D8B030D-6E8A-4147-A177-3AD203B41FA5}">
                      <a16:colId xmlns:a16="http://schemas.microsoft.com/office/drawing/2014/main" val="3308902235"/>
                    </a:ext>
                  </a:extLst>
                </a:gridCol>
                <a:gridCol w="4888006">
                  <a:extLst>
                    <a:ext uri="{9D8B030D-6E8A-4147-A177-3AD203B41FA5}">
                      <a16:colId xmlns:a16="http://schemas.microsoft.com/office/drawing/2014/main" val="3046643254"/>
                    </a:ext>
                  </a:extLst>
                </a:gridCol>
              </a:tblGrid>
              <a:tr h="4349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List 7-10 words that best describe your dream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The people that could be associated with your dream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209748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52636">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dirty="0">
                          <a:solidFill>
                            <a:schemeClr val="bg1"/>
                          </a:solidFill>
                          <a:latin typeface="Arial" panose="020B0604020202020204" pitchFamily="34" charset="0"/>
                          <a:ea typeface="Riforma LL" panose="020B0504020101020102" pitchFamily="34" charset="77"/>
                          <a:cs typeface="Arial" panose="020B0604020202020204" pitchFamily="34" charset="0"/>
                        </a:rPr>
                        <a:t>Select 7-10 pictures that make your dream vivid</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BG"/>
                    </a:p>
                  </a:txBody>
                  <a:tcPr/>
                </a:tc>
                <a:extLst>
                  <a:ext uri="{0D108BD9-81ED-4DB2-BD59-A6C34878D82A}">
                    <a16:rowId xmlns:a16="http://schemas.microsoft.com/office/drawing/2014/main" val="1710048040"/>
                  </a:ext>
                </a:extLst>
              </a:tr>
              <a:tr h="3646824">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BG"/>
                    </a:p>
                  </a:txBody>
                  <a:tcPr/>
                </a:tc>
                <a:extLst>
                  <a:ext uri="{0D108BD9-81ED-4DB2-BD59-A6C34878D82A}">
                    <a16:rowId xmlns:a16="http://schemas.microsoft.com/office/drawing/2014/main" val="4050904300"/>
                  </a:ext>
                </a:extLst>
              </a:tr>
            </a:tbl>
          </a:graphicData>
        </a:graphic>
      </p:graphicFrame>
      <p:pic>
        <p:nvPicPr>
          <p:cNvPr id="3" name="Picture 2">
            <a:extLst>
              <a:ext uri="{FF2B5EF4-FFF2-40B4-BE49-F238E27FC236}">
                <a16:creationId xmlns:a16="http://schemas.microsoft.com/office/drawing/2014/main" id="{C022960C-4729-A534-948C-E924FD35EFA6}"/>
              </a:ext>
            </a:extLst>
          </p:cNvPr>
          <p:cNvPicPr>
            <a:picLocks noGrp="1" noRot="1" noChangeAspect="1" noMove="1" noResize="1" noEditPoints="1" noAdjustHandles="1" noChangeArrowheads="1" noChangeShapeType="1" noCrop="1"/>
          </p:cNvPicPr>
          <p:nvPr/>
        </p:nvPicPr>
        <p:blipFill>
          <a:blip r:embed="rId3"/>
          <a:stretch>
            <a:fillRect/>
          </a:stretch>
        </p:blipFill>
        <p:spPr>
          <a:xfrm>
            <a:off x="0" y="-52852"/>
            <a:ext cx="8840832" cy="877247"/>
          </a:xfrm>
          <a:prstGeom prst="rect">
            <a:avLst/>
          </a:prstGeom>
        </p:spPr>
      </p:pic>
      <p:sp>
        <p:nvSpPr>
          <p:cNvPr id="2" name="TextBox 1">
            <a:extLst>
              <a:ext uri="{FF2B5EF4-FFF2-40B4-BE49-F238E27FC236}">
                <a16:creationId xmlns:a16="http://schemas.microsoft.com/office/drawing/2014/main" id="{EB171F56-627E-C7FC-DB65-634C364E36C5}"/>
              </a:ext>
            </a:extLst>
          </p:cNvPr>
          <p:cNvSpPr txBox="1">
            <a:spLocks noGrp="1" noRot="1" noMove="1" noResize="1" noEditPoints="1" noAdjustHandles="1" noChangeArrowheads="1" noChangeShapeType="1"/>
          </p:cNvSpPr>
          <p:nvPr/>
        </p:nvSpPr>
        <p:spPr>
          <a:xfrm>
            <a:off x="4766046" y="242623"/>
            <a:ext cx="5342860" cy="230832"/>
          </a:xfrm>
          <a:prstGeom prst="rect">
            <a:avLst/>
          </a:prstGeom>
          <a:noFill/>
        </p:spPr>
        <p:txBody>
          <a:bodyPr wrap="square">
            <a:spAutoFit/>
          </a:bodyPr>
          <a:lstStyle/>
          <a:p>
            <a:pPr algn="r"/>
            <a:r>
              <a:rPr lang="en-GB" sz="900" b="0" i="0" u="none" strike="noStrike" dirty="0">
                <a:effectLst/>
                <a:latin typeface="Monument Grotesk Mono" panose="02010504030000020004" pitchFamily="2" charset="0"/>
              </a:rPr>
              <a:t>[MODULE:INDIVIDUAL AND COMPANY IDENTITY - SPRINT:DREAM]</a:t>
            </a:r>
            <a:endParaRPr lang="en-BG" sz="900" dirty="0">
              <a:latin typeface="Monument Grotesk Mono" panose="02010504030000020004" pitchFamily="2" charset="0"/>
            </a:endParaRPr>
          </a:p>
        </p:txBody>
      </p:sp>
    </p:spTree>
    <p:extLst>
      <p:ext uri="{BB962C8B-B14F-4D97-AF65-F5344CB8AC3E}">
        <p14:creationId xmlns:p14="http://schemas.microsoft.com/office/powerpoint/2010/main" val="1820793006"/>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10832</TotalTime>
  <Words>552</Words>
  <Application>Microsoft Macintosh PowerPoint</Application>
  <PresentationFormat>Custom</PresentationFormat>
  <Paragraphs>52</Paragraphs>
  <Slides>5</Slides>
  <Notes>5</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5</vt:i4>
      </vt:variant>
    </vt:vector>
  </HeadingPairs>
  <TitlesOfParts>
    <vt:vector size="15" baseType="lpstr">
      <vt:lpstr>Arial</vt:lpstr>
      <vt:lpstr>Arial Black</vt:lpstr>
      <vt:lpstr>Calibri</vt:lpstr>
      <vt:lpstr>Calibri </vt:lpstr>
      <vt:lpstr>Monument Grotesk Mono</vt:lpstr>
      <vt:lpstr>PF Square Sans Pro Light</vt:lpstr>
      <vt:lpstr>Plaak 3 Trial Regular</vt:lpstr>
      <vt:lpstr>4_Custom Design</vt:lpstr>
      <vt:lpstr>5_Custom Design</vt:lpstr>
      <vt:lpstr>SOLIDS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lastModifiedBy>Nikol Nankova</cp:lastModifiedBy>
  <cp:revision>754</cp:revision>
  <cp:lastPrinted>2020-02-28T13:07:06Z</cp:lastPrinted>
  <dcterms:created xsi:type="dcterms:W3CDTF">2019-08-22T09:52:59Z</dcterms:created>
  <dcterms:modified xsi:type="dcterms:W3CDTF">2024-08-30T08:12:14Z</dcterms:modified>
</cp:coreProperties>
</file>