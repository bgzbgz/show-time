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9"/>
  </p:notesMasterIdLst>
  <p:handoutMasterIdLst>
    <p:handoutMasterId r:id="rId10"/>
  </p:handoutMasterIdLst>
  <p:sldIdLst>
    <p:sldId id="2465" r:id="rId4"/>
    <p:sldId id="2467" r:id="rId5"/>
    <p:sldId id="2463" r:id="rId6"/>
    <p:sldId id="2423" r:id="rId7"/>
    <p:sldId id="2466" r:id="rId8"/>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9F232-CDCE-9602-6697-C4AD70635263}" v="2" dt="2024-10-08T09:04:48.2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90" autoAdjust="0"/>
    <p:restoredTop sz="84206" autoAdjust="0"/>
  </p:normalViewPr>
  <p:slideViewPr>
    <p:cSldViewPr snapToGrid="0">
      <p:cViewPr>
        <p:scale>
          <a:sx n="102" d="100"/>
          <a:sy n="102" d="100"/>
        </p:scale>
        <p:origin x="2152" y="112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ec95bdbb195dcb711f0cde8a0006c15dcc891c944d6525962269e1d492ecbcab::" providerId="AD" clId="Web-{8B9C09DF-FA20-EC6E-A7DE-068B60503350}"/>
    <pc:docChg chg="modSld">
      <pc:chgData name="Guest User" userId="S::urn:spo:anon#ec95bdbb195dcb711f0cde8a0006c15dcc891c944d6525962269e1d492ecbcab::" providerId="AD" clId="Web-{8B9C09DF-FA20-EC6E-A7DE-068B60503350}" dt="2024-09-26T08:08:39.861" v="1648"/>
      <pc:docMkLst>
        <pc:docMk/>
      </pc:docMkLst>
      <pc:sldChg chg="addSp delSp modSp">
        <pc:chgData name="Guest User" userId="S::urn:spo:anon#ec95bdbb195dcb711f0cde8a0006c15dcc891c944d6525962269e1d492ecbcab::" providerId="AD" clId="Web-{8B9C09DF-FA20-EC6E-A7DE-068B60503350}" dt="2024-09-26T08:08:39.861" v="1648"/>
        <pc:sldMkLst>
          <pc:docMk/>
          <pc:sldMk cId="4070156159" sldId="2465"/>
        </pc:sldMkLst>
        <pc:spChg chg="add del mod">
          <ac:chgData name="Guest User" userId="S::urn:spo:anon#ec95bdbb195dcb711f0cde8a0006c15dcc891c944d6525962269e1d492ecbcab::" providerId="AD" clId="Web-{8B9C09DF-FA20-EC6E-A7DE-068B60503350}" dt="2024-09-26T08:08:08.735" v="1640"/>
          <ac:spMkLst>
            <pc:docMk/>
            <pc:sldMk cId="4070156159" sldId="2465"/>
            <ac:spMk id="5" creationId="{56DD1FB2-5FD2-8578-E7F4-4369ADE9419B}"/>
          </ac:spMkLst>
        </pc:spChg>
        <pc:spChg chg="add del mod">
          <ac:chgData name="Guest User" userId="S::urn:spo:anon#ec95bdbb195dcb711f0cde8a0006c15dcc891c944d6525962269e1d492ecbcab::" providerId="AD" clId="Web-{8B9C09DF-FA20-EC6E-A7DE-068B60503350}" dt="2024-09-26T07:48:07.628" v="1438"/>
          <ac:spMkLst>
            <pc:docMk/>
            <pc:sldMk cId="4070156159" sldId="2465"/>
            <ac:spMk id="7" creationId="{3435CCEC-28B3-1F4A-EC7C-0F5548A94669}"/>
          </ac:spMkLst>
        </pc:spChg>
        <pc:graphicFrameChg chg="add del">
          <ac:chgData name="Guest User" userId="S::urn:spo:anon#ec95bdbb195dcb711f0cde8a0006c15dcc891c944d6525962269e1d492ecbcab::" providerId="AD" clId="Web-{8B9C09DF-FA20-EC6E-A7DE-068B60503350}" dt="2024-09-26T07:39:03.328" v="1096"/>
          <ac:graphicFrameMkLst>
            <pc:docMk/>
            <pc:sldMk cId="4070156159" sldId="2465"/>
            <ac:graphicFrameMk id="3" creationId="{7573CA38-D8B1-4904-DCBE-B18A1555A9D0}"/>
          </ac:graphicFrameMkLst>
        </pc:graphicFrameChg>
        <pc:graphicFrameChg chg="add del mod modGraphic">
          <ac:chgData name="Guest User" userId="S::urn:spo:anon#ec95bdbb195dcb711f0cde8a0006c15dcc891c944d6525962269e1d492ecbcab::" providerId="AD" clId="Web-{8B9C09DF-FA20-EC6E-A7DE-068B60503350}" dt="2024-09-26T08:08:39.861" v="1648"/>
          <ac:graphicFrameMkLst>
            <pc:docMk/>
            <pc:sldMk cId="4070156159" sldId="2465"/>
            <ac:graphicFrameMk id="8" creationId="{9309EE66-4AD2-B021-237D-6D0AE69EF5E4}"/>
          </ac:graphicFrameMkLst>
        </pc:graphicFrameChg>
        <pc:graphicFrameChg chg="mod modGraphic">
          <ac:chgData name="Guest User" userId="S::urn:spo:anon#ec95bdbb195dcb711f0cde8a0006c15dcc891c944d6525962269e1d492ecbcab::" providerId="AD" clId="Web-{8B9C09DF-FA20-EC6E-A7DE-068B60503350}" dt="2024-09-26T08:04:18.961" v="1620"/>
          <ac:graphicFrameMkLst>
            <pc:docMk/>
            <pc:sldMk cId="4070156159" sldId="2465"/>
            <ac:graphicFrameMk id="18" creationId="{1F74CD5A-9F80-0549-8844-6BFF5ADE70C7}"/>
          </ac:graphicFrameMkLst>
        </pc:graphicFrameChg>
      </pc:sldChg>
    </pc:docChg>
  </pc:docChgLst>
  <pc:docChgLst>
    <pc:chgData name="Maria Atanasova" userId="S::maria@fasttrack-europe.com::0b3ce385-b8c6-44f0-a260-e652256ac7fa" providerId="AD" clId="Web-{5629F232-CDCE-9602-6697-C4AD70635263}"/>
    <pc:docChg chg="modSld">
      <pc:chgData name="Maria Atanasova" userId="S::maria@fasttrack-europe.com::0b3ce385-b8c6-44f0-a260-e652256ac7fa" providerId="AD" clId="Web-{5629F232-CDCE-9602-6697-C4AD70635263}" dt="2024-10-08T09:04:48.240" v="1"/>
      <pc:docMkLst>
        <pc:docMk/>
      </pc:docMkLst>
      <pc:sldChg chg="modSp">
        <pc:chgData name="Maria Atanasova" userId="S::maria@fasttrack-europe.com::0b3ce385-b8c6-44f0-a260-e652256ac7fa" providerId="AD" clId="Web-{5629F232-CDCE-9602-6697-C4AD70635263}" dt="2024-10-08T09:04:48.240" v="1"/>
        <pc:sldMkLst>
          <pc:docMk/>
          <pc:sldMk cId="4070156159" sldId="2465"/>
        </pc:sldMkLst>
        <pc:graphicFrameChg chg="mod modGraphic">
          <ac:chgData name="Maria Atanasova" userId="S::maria@fasttrack-europe.com::0b3ce385-b8c6-44f0-a260-e652256ac7fa" providerId="AD" clId="Web-{5629F232-CDCE-9602-6697-C4AD70635263}" dt="2024-10-08T09:04:48.240" v="1"/>
          <ac:graphicFrameMkLst>
            <pc:docMk/>
            <pc:sldMk cId="4070156159" sldId="2465"/>
            <ac:graphicFrameMk id="8" creationId="{9309EE66-4AD2-B021-237D-6D0AE69EF5E4}"/>
          </ac:graphicFrameMkLst>
        </pc:graphicFrameChg>
      </pc:sldChg>
    </pc:docChg>
  </pc:docChgLst>
  <pc:docChgLst>
    <pc:chgData name="Guest User" userId="S::urn:spo:anon#ec95bdbb195dcb711f0cde8a0006c15dcc891c944d6525962269e1d492ecbcab::" providerId="AD" clId="Web-{81DD2BA1-7308-8E13-8F8A-0CE263C8B414}"/>
    <pc:docChg chg="modSld">
      <pc:chgData name="Guest User" userId="S::urn:spo:anon#ec95bdbb195dcb711f0cde8a0006c15dcc891c944d6525962269e1d492ecbcab::" providerId="AD" clId="Web-{81DD2BA1-7308-8E13-8F8A-0CE263C8B414}" dt="2024-09-26T13:58:26.423" v="3"/>
      <pc:docMkLst>
        <pc:docMk/>
      </pc:docMkLst>
      <pc:sldChg chg="modSp">
        <pc:chgData name="Guest User" userId="S::urn:spo:anon#ec95bdbb195dcb711f0cde8a0006c15dcc891c944d6525962269e1d492ecbcab::" providerId="AD" clId="Web-{81DD2BA1-7308-8E13-8F8A-0CE263C8B414}" dt="2024-09-26T13:58:26.423" v="3"/>
        <pc:sldMkLst>
          <pc:docMk/>
          <pc:sldMk cId="2451837985" sldId="2423"/>
        </pc:sldMkLst>
        <pc:graphicFrameChg chg="mod modGraphic">
          <ac:chgData name="Guest User" userId="S::urn:spo:anon#ec95bdbb195dcb711f0cde8a0006c15dcc891c944d6525962269e1d492ecbcab::" providerId="AD" clId="Web-{81DD2BA1-7308-8E13-8F8A-0CE263C8B414}" dt="2024-09-26T13:58:26.423" v="3"/>
          <ac:graphicFrameMkLst>
            <pc:docMk/>
            <pc:sldMk cId="2451837985" sldId="2423"/>
            <ac:graphicFrameMk id="12" creationId="{74CF6476-D2C3-2348-BEC7-148925E380DF}"/>
          </ac:graphicFrameMkLst>
        </pc:graphicFrameChg>
      </pc:sldChg>
    </pc:docChg>
  </pc:docChgLst>
  <pc:docChgLst>
    <pc:chgData name="Fast Track Ltd." userId="S::yana.stoyanova@fasttrack-europe.com::0f88c369-ee4b-49a6-a65f-f0f2e93f1969" providerId="AD" clId="Web-{575A47F2-E232-BD83-5AFE-A3D5ECE0E2BA}"/>
    <pc:docChg chg="delSld">
      <pc:chgData name="Fast Track Ltd." userId="S::yana.stoyanova@fasttrack-europe.com::0f88c369-ee4b-49a6-a65f-f0f2e93f1969" providerId="AD" clId="Web-{575A47F2-E232-BD83-5AFE-A3D5ECE0E2BA}" dt="2024-09-06T06:34:56.576" v="0"/>
      <pc:docMkLst>
        <pc:docMk/>
      </pc:docMkLst>
      <pc:sldChg chg="del">
        <pc:chgData name="Fast Track Ltd." userId="S::yana.stoyanova@fasttrack-europe.com::0f88c369-ee4b-49a6-a65f-f0f2e93f1969" providerId="AD" clId="Web-{575A47F2-E232-BD83-5AFE-A3D5ECE0E2BA}" dt="2024-09-06T06:34:56.576" v="0"/>
        <pc:sldMkLst>
          <pc:docMk/>
          <pc:sldMk cId="1877047662" sldId="2420"/>
        </pc:sldMkLst>
      </pc:sldChg>
    </pc:docChg>
  </pc:docChgLst>
  <pc:docChgLst>
    <pc:chgData name="Guest User" userId="S::urn:spo:anon#ec95bdbb195dcb711f0cde8a0006c15dcc891c944d6525962269e1d492ecbcab::" providerId="AD" clId="Web-{2D15F8D7-5CB5-D4CC-94C8-60917C7DD094}"/>
    <pc:docChg chg="addSld modSld sldOrd">
      <pc:chgData name="Guest User" userId="S::urn:spo:anon#ec95bdbb195dcb711f0cde8a0006c15dcc891c944d6525962269e1d492ecbcab::" providerId="AD" clId="Web-{2D15F8D7-5CB5-D4CC-94C8-60917C7DD094}" dt="2024-09-26T10:24:46.052" v="4852" actId="1076"/>
      <pc:docMkLst>
        <pc:docMk/>
      </pc:docMkLst>
      <pc:sldChg chg="modSp">
        <pc:chgData name="Guest User" userId="S::urn:spo:anon#ec95bdbb195dcb711f0cde8a0006c15dcc891c944d6525962269e1d492ecbcab::" providerId="AD" clId="Web-{2D15F8D7-5CB5-D4CC-94C8-60917C7DD094}" dt="2024-09-26T10:11:53.551" v="4563" actId="1076"/>
        <pc:sldMkLst>
          <pc:docMk/>
          <pc:sldMk cId="2451837985" sldId="2423"/>
        </pc:sldMkLst>
        <pc:graphicFrameChg chg="mod modGraphic">
          <ac:chgData name="Guest User" userId="S::urn:spo:anon#ec95bdbb195dcb711f0cde8a0006c15dcc891c944d6525962269e1d492ecbcab::" providerId="AD" clId="Web-{2D15F8D7-5CB5-D4CC-94C8-60917C7DD094}" dt="2024-09-26T10:11:53.551" v="4563" actId="1076"/>
          <ac:graphicFrameMkLst>
            <pc:docMk/>
            <pc:sldMk cId="2451837985" sldId="2423"/>
            <ac:graphicFrameMk id="12" creationId="{74CF6476-D2C3-2348-BEC7-148925E380DF}"/>
          </ac:graphicFrameMkLst>
        </pc:graphicFrameChg>
      </pc:sldChg>
      <pc:sldChg chg="addSp delSp modSp">
        <pc:chgData name="Guest User" userId="S::urn:spo:anon#ec95bdbb195dcb711f0cde8a0006c15dcc891c944d6525962269e1d492ecbcab::" providerId="AD" clId="Web-{2D15F8D7-5CB5-D4CC-94C8-60917C7DD094}" dt="2024-09-26T09:41:54.043" v="3684"/>
        <pc:sldMkLst>
          <pc:docMk/>
          <pc:sldMk cId="3110103477" sldId="2463"/>
        </pc:sldMkLst>
        <pc:spChg chg="add del mod">
          <ac:chgData name="Guest User" userId="S::urn:spo:anon#ec95bdbb195dcb711f0cde8a0006c15dcc891c944d6525962269e1d492ecbcab::" providerId="AD" clId="Web-{2D15F8D7-5CB5-D4CC-94C8-60917C7DD094}" dt="2024-09-26T08:10:46.955" v="3"/>
          <ac:spMkLst>
            <pc:docMk/>
            <pc:sldMk cId="3110103477" sldId="2463"/>
            <ac:spMk id="2" creationId="{5405B9FF-B05F-7F1D-5827-7BCAC66DBF7A}"/>
          </ac:spMkLst>
        </pc:spChg>
        <pc:graphicFrameChg chg="mod modGraphic">
          <ac:chgData name="Guest User" userId="S::urn:spo:anon#ec95bdbb195dcb711f0cde8a0006c15dcc891c944d6525962269e1d492ecbcab::" providerId="AD" clId="Web-{2D15F8D7-5CB5-D4CC-94C8-60917C7DD094}" dt="2024-09-26T09:41:54.043" v="3684"/>
          <ac:graphicFrameMkLst>
            <pc:docMk/>
            <pc:sldMk cId="3110103477" sldId="2463"/>
            <ac:graphicFrameMk id="12" creationId="{74CF6476-D2C3-2348-BEC7-148925E380DF}"/>
          </ac:graphicFrameMkLst>
        </pc:graphicFrameChg>
      </pc:sldChg>
      <pc:sldChg chg="addSp delSp modSp">
        <pc:chgData name="Guest User" userId="S::urn:spo:anon#ec95bdbb195dcb711f0cde8a0006c15dcc891c944d6525962269e1d492ecbcab::" providerId="AD" clId="Web-{2D15F8D7-5CB5-D4CC-94C8-60917C7DD094}" dt="2024-09-26T10:24:46.052" v="4852" actId="1076"/>
        <pc:sldMkLst>
          <pc:docMk/>
          <pc:sldMk cId="1820793006" sldId="2466"/>
        </pc:sldMkLst>
        <pc:graphicFrameChg chg="add del mod modGraphic">
          <ac:chgData name="Guest User" userId="S::urn:spo:anon#ec95bdbb195dcb711f0cde8a0006c15dcc891c944d6525962269e1d492ecbcab::" providerId="AD" clId="Web-{2D15F8D7-5CB5-D4CC-94C8-60917C7DD094}" dt="2024-09-26T10:24:26.270" v="4846"/>
          <ac:graphicFrameMkLst>
            <pc:docMk/>
            <pc:sldMk cId="1820793006" sldId="2466"/>
            <ac:graphicFrameMk id="12" creationId="{74CF6476-D2C3-2348-BEC7-148925E380DF}"/>
          </ac:graphicFrameMkLst>
        </pc:graphicFrameChg>
        <pc:picChg chg="add mod ord">
          <ac:chgData name="Guest User" userId="S::urn:spo:anon#ec95bdbb195dcb711f0cde8a0006c15dcc891c944d6525962269e1d492ecbcab::" providerId="AD" clId="Web-{2D15F8D7-5CB5-D4CC-94C8-60917C7DD094}" dt="2024-09-26T10:24:43.661" v="4851" actId="1076"/>
          <ac:picMkLst>
            <pc:docMk/>
            <pc:sldMk cId="1820793006" sldId="2466"/>
            <ac:picMk id="4" creationId="{FA146DD7-8E52-AA0E-426D-F7E0C3537D6A}"/>
          </ac:picMkLst>
        </pc:picChg>
        <pc:picChg chg="add del mod modCrop">
          <ac:chgData name="Guest User" userId="S::urn:spo:anon#ec95bdbb195dcb711f0cde8a0006c15dcc891c944d6525962269e1d492ecbcab::" providerId="AD" clId="Web-{2D15F8D7-5CB5-D4CC-94C8-60917C7DD094}" dt="2024-09-26T10:20:32.578" v="4778"/>
          <ac:picMkLst>
            <pc:docMk/>
            <pc:sldMk cId="1820793006" sldId="2466"/>
            <ac:picMk id="5" creationId="{EF23B38E-2640-64FF-28DC-A0A3AF4F69B6}"/>
          </ac:picMkLst>
        </pc:picChg>
        <pc:picChg chg="add del mod">
          <ac:chgData name="Guest User" userId="S::urn:spo:anon#ec95bdbb195dcb711f0cde8a0006c15dcc891c944d6525962269e1d492ecbcab::" providerId="AD" clId="Web-{2D15F8D7-5CB5-D4CC-94C8-60917C7DD094}" dt="2024-09-26T10:16:18.322" v="4670"/>
          <ac:picMkLst>
            <pc:docMk/>
            <pc:sldMk cId="1820793006" sldId="2466"/>
            <ac:picMk id="6" creationId="{9D08E8C6-22FF-3364-AE8B-9DD3D0C0A0B9}"/>
          </ac:picMkLst>
        </pc:picChg>
        <pc:picChg chg="add mod ord">
          <ac:chgData name="Guest User" userId="S::urn:spo:anon#ec95bdbb195dcb711f0cde8a0006c15dcc891c944d6525962269e1d492ecbcab::" providerId="AD" clId="Web-{2D15F8D7-5CB5-D4CC-94C8-60917C7DD094}" dt="2024-09-26T10:24:41.005" v="4850" actId="1076"/>
          <ac:picMkLst>
            <pc:docMk/>
            <pc:sldMk cId="1820793006" sldId="2466"/>
            <ac:picMk id="7" creationId="{B78D7886-5BB3-A360-4990-686414C28D48}"/>
          </ac:picMkLst>
        </pc:picChg>
        <pc:picChg chg="add del mod">
          <ac:chgData name="Guest User" userId="S::urn:spo:anon#ec95bdbb195dcb711f0cde8a0006c15dcc891c944d6525962269e1d492ecbcab::" providerId="AD" clId="Web-{2D15F8D7-5CB5-D4CC-94C8-60917C7DD094}" dt="2024-09-26T10:23:13.331" v="4820"/>
          <ac:picMkLst>
            <pc:docMk/>
            <pc:sldMk cId="1820793006" sldId="2466"/>
            <ac:picMk id="8" creationId="{8CB0D138-CC5D-3455-B5AB-F9EEA2708ED3}"/>
          </ac:picMkLst>
        </pc:picChg>
        <pc:picChg chg="add mod">
          <ac:chgData name="Guest User" userId="S::urn:spo:anon#ec95bdbb195dcb711f0cde8a0006c15dcc891c944d6525962269e1d492ecbcab::" providerId="AD" clId="Web-{2D15F8D7-5CB5-D4CC-94C8-60917C7DD094}" dt="2024-09-26T10:23:58.770" v="4833" actId="1076"/>
          <ac:picMkLst>
            <pc:docMk/>
            <pc:sldMk cId="1820793006" sldId="2466"/>
            <ac:picMk id="9" creationId="{2C665EB7-355B-A1DA-D952-2664CF109553}"/>
          </ac:picMkLst>
        </pc:picChg>
        <pc:picChg chg="add mod">
          <ac:chgData name="Guest User" userId="S::urn:spo:anon#ec95bdbb195dcb711f0cde8a0006c15dcc891c944d6525962269e1d492ecbcab::" providerId="AD" clId="Web-{2D15F8D7-5CB5-D4CC-94C8-60917C7DD094}" dt="2024-09-26T10:24:46.052" v="4852" actId="1076"/>
          <ac:picMkLst>
            <pc:docMk/>
            <pc:sldMk cId="1820793006" sldId="2466"/>
            <ac:picMk id="10" creationId="{4EB5FA8D-297A-73C9-E965-62F51C6399BC}"/>
          </ac:picMkLst>
        </pc:picChg>
        <pc:picChg chg="add del mod">
          <ac:chgData name="Guest User" userId="S::urn:spo:anon#ec95bdbb195dcb711f0cde8a0006c15dcc891c944d6525962269e1d492ecbcab::" providerId="AD" clId="Web-{2D15F8D7-5CB5-D4CC-94C8-60917C7DD094}" dt="2024-09-26T10:18:09.043" v="4715"/>
          <ac:picMkLst>
            <pc:docMk/>
            <pc:sldMk cId="1820793006" sldId="2466"/>
            <ac:picMk id="11" creationId="{B738C8A5-E0BD-19D8-761E-59CB0A8A3C8B}"/>
          </ac:picMkLst>
        </pc:picChg>
        <pc:picChg chg="add mod">
          <ac:chgData name="Guest User" userId="S::urn:spo:anon#ec95bdbb195dcb711f0cde8a0006c15dcc891c944d6525962269e1d492ecbcab::" providerId="AD" clId="Web-{2D15F8D7-5CB5-D4CC-94C8-60917C7DD094}" dt="2024-09-26T10:24:01.941" v="4834" actId="1076"/>
          <ac:picMkLst>
            <pc:docMk/>
            <pc:sldMk cId="1820793006" sldId="2466"/>
            <ac:picMk id="13" creationId="{F7A67981-8F05-47E0-0993-2397FFEAE011}"/>
          </ac:picMkLst>
        </pc:picChg>
        <pc:picChg chg="add mod">
          <ac:chgData name="Guest User" userId="S::urn:spo:anon#ec95bdbb195dcb711f0cde8a0006c15dcc891c944d6525962269e1d492ecbcab::" providerId="AD" clId="Web-{2D15F8D7-5CB5-D4CC-94C8-60917C7DD094}" dt="2024-09-26T10:24:07.551" v="4836" actId="1076"/>
          <ac:picMkLst>
            <pc:docMk/>
            <pc:sldMk cId="1820793006" sldId="2466"/>
            <ac:picMk id="14" creationId="{6339DF74-ADA8-C56E-3196-7197B53E7C9A}"/>
          </ac:picMkLst>
        </pc:picChg>
        <pc:picChg chg="add mod">
          <ac:chgData name="Guest User" userId="S::urn:spo:anon#ec95bdbb195dcb711f0cde8a0006c15dcc891c944d6525962269e1d492ecbcab::" providerId="AD" clId="Web-{2D15F8D7-5CB5-D4CC-94C8-60917C7DD094}" dt="2024-09-26T10:23:45.035" v="4828" actId="1076"/>
          <ac:picMkLst>
            <pc:docMk/>
            <pc:sldMk cId="1820793006" sldId="2466"/>
            <ac:picMk id="15" creationId="{3BC5E0A9-5BC9-B3CB-634E-F0CBE2E106F8}"/>
          </ac:picMkLst>
        </pc:picChg>
        <pc:picChg chg="add mod">
          <ac:chgData name="Guest User" userId="S::urn:spo:anon#ec95bdbb195dcb711f0cde8a0006c15dcc891c944d6525962269e1d492ecbcab::" providerId="AD" clId="Web-{2D15F8D7-5CB5-D4CC-94C8-60917C7DD094}" dt="2024-09-26T10:23:50.769" v="4830" actId="1076"/>
          <ac:picMkLst>
            <pc:docMk/>
            <pc:sldMk cId="1820793006" sldId="2466"/>
            <ac:picMk id="16" creationId="{7AED45E8-DEF8-A77B-19DC-C1C705AB20A4}"/>
          </ac:picMkLst>
        </pc:picChg>
        <pc:picChg chg="add mod">
          <ac:chgData name="Guest User" userId="S::urn:spo:anon#ec95bdbb195dcb711f0cde8a0006c15dcc891c944d6525962269e1d492ecbcab::" providerId="AD" clId="Web-{2D15F8D7-5CB5-D4CC-94C8-60917C7DD094}" dt="2024-09-26T10:24:09.895" v="4837" actId="1076"/>
          <ac:picMkLst>
            <pc:docMk/>
            <pc:sldMk cId="1820793006" sldId="2466"/>
            <ac:picMk id="17" creationId="{36D24BF0-2D16-5AE9-A3FE-85F6727973AF}"/>
          </ac:picMkLst>
        </pc:picChg>
        <pc:picChg chg="add del mod">
          <ac:chgData name="Guest User" userId="S::urn:spo:anon#ec95bdbb195dcb711f0cde8a0006c15dcc891c944d6525962269e1d492ecbcab::" providerId="AD" clId="Web-{2D15F8D7-5CB5-D4CC-94C8-60917C7DD094}" dt="2024-09-26T10:23:08.143" v="4819"/>
          <ac:picMkLst>
            <pc:docMk/>
            <pc:sldMk cId="1820793006" sldId="2466"/>
            <ac:picMk id="18" creationId="{7CA11111-D8D1-CC40-558F-CC4FE3899231}"/>
          </ac:picMkLst>
        </pc:picChg>
        <pc:picChg chg="add mod">
          <ac:chgData name="Guest User" userId="S::urn:spo:anon#ec95bdbb195dcb711f0cde8a0006c15dcc891c944d6525962269e1d492ecbcab::" providerId="AD" clId="Web-{2D15F8D7-5CB5-D4CC-94C8-60917C7DD094}" dt="2024-09-26T10:23:22.878" v="4823" actId="1076"/>
          <ac:picMkLst>
            <pc:docMk/>
            <pc:sldMk cId="1820793006" sldId="2466"/>
            <ac:picMk id="19" creationId="{D9D28E71-D579-4A12-45B1-4F31F6113342}"/>
          </ac:picMkLst>
        </pc:picChg>
      </pc:sldChg>
      <pc:sldChg chg="modSp add ord replId">
        <pc:chgData name="Guest User" userId="S::urn:spo:anon#ec95bdbb195dcb711f0cde8a0006c15dcc891c944d6525962269e1d492ecbcab::" providerId="AD" clId="Web-{2D15F8D7-5CB5-D4CC-94C8-60917C7DD094}" dt="2024-09-26T09:25:24.772" v="2510"/>
        <pc:sldMkLst>
          <pc:docMk/>
          <pc:sldMk cId="164923158" sldId="2467"/>
        </pc:sldMkLst>
        <pc:graphicFrameChg chg="mod modGraphic">
          <ac:chgData name="Guest User" userId="S::urn:spo:anon#ec95bdbb195dcb711f0cde8a0006c15dcc891c944d6525962269e1d492ecbcab::" providerId="AD" clId="Web-{2D15F8D7-5CB5-D4CC-94C8-60917C7DD094}" dt="2024-09-26T09:25:24.772" v="2510"/>
          <ac:graphicFrameMkLst>
            <pc:docMk/>
            <pc:sldMk cId="164923158" sldId="2467"/>
            <ac:graphicFrameMk id="12" creationId="{74CF6476-D2C3-2348-BEC7-148925E380DF}"/>
          </ac:graphicFrameMkLst>
        </pc:graphicFrameChg>
      </pc:sldChg>
    </pc:docChg>
  </pc:docChgLst>
  <pc:docChgLst>
    <pc:chgData name="Guest User" userId="S::urn:spo:anon#ec95bdbb195dcb711f0cde8a0006c15dcc891c944d6525962269e1d492ecbcab::" providerId="AD" clId="Web-{27D0E585-5286-467F-4F3C-D601299D3B39}"/>
    <pc:docChg chg="modSld">
      <pc:chgData name="Guest User" userId="S::urn:spo:anon#ec95bdbb195dcb711f0cde8a0006c15dcc891c944d6525962269e1d492ecbcab::" providerId="AD" clId="Web-{27D0E585-5286-467F-4F3C-D601299D3B39}" dt="2024-09-26T10:43:51.584" v="23"/>
      <pc:docMkLst>
        <pc:docMk/>
      </pc:docMkLst>
      <pc:sldChg chg="modSp">
        <pc:chgData name="Guest User" userId="S::urn:spo:anon#ec95bdbb195dcb711f0cde8a0006c15dcc891c944d6525962269e1d492ecbcab::" providerId="AD" clId="Web-{27D0E585-5286-467F-4F3C-D601299D3B39}" dt="2024-09-26T10:43:51.584" v="23"/>
        <pc:sldMkLst>
          <pc:docMk/>
          <pc:sldMk cId="2451837985" sldId="2423"/>
        </pc:sldMkLst>
        <pc:graphicFrameChg chg="mod modGraphic">
          <ac:chgData name="Guest User" userId="S::urn:spo:anon#ec95bdbb195dcb711f0cde8a0006c15dcc891c944d6525962269e1d492ecbcab::" providerId="AD" clId="Web-{27D0E585-5286-467F-4F3C-D601299D3B39}" dt="2024-09-26T10:43:51.584" v="23"/>
          <ac:graphicFrameMkLst>
            <pc:docMk/>
            <pc:sldMk cId="2451837985" sldId="2423"/>
            <ac:graphicFrameMk id="12" creationId="{74CF6476-D2C3-2348-BEC7-148925E380D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10/8/2024</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10/8/2024</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Let’s suppose someone offers to buy your company at a fair price. Let’s also suppose this buyer is intent on killing your company after the purchase. Your products and services will be immediately discontinued. All operations will be shut down. The brand will be shelved forever. Your company will completely cease to exist.</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Try to answer the following questions in order to articulate what your company brings to the world: </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 What will be lost if your brand ceased to exist? - e.g. A sixty-year legacy of innovation and entrepreneurship</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 Why is it important that your brand continues to exist? - e.g. Because our company will enhance people’s quality of life</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 What’s at stake here? - e.g. Increased congestion, pollution and space taken up by vehicles </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356490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latin typeface="Plaak 3 Trial Regular" panose="02000000000000000000" pitchFamily="2" charset="0"/>
              </a:rPr>
              <a:t>KNOW THYSELF: MY DREAM [PAGE 1 out of 3] </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340531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latin typeface="Plaak 3 Trial Regular" panose="02000000000000000000" pitchFamily="2" charset="0"/>
              </a:rPr>
              <a:t>KNOW THYSELF: MY DREAM [PAGE 1 out of 3] </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latin typeface="Plaak 3 Trial Regular" panose="02000000000000000000" pitchFamily="2" charset="0"/>
              </a:rPr>
              <a:t>KNOW THYSELF: MY DREAM [PAGE 1 out of 3] </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000305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Using the Company Dream Tool results, try to visualize the dream in more detail. Refer to particular words, images, people, scents, etc.</a:t>
            </a:r>
            <a:r>
              <a:rPr lang="en-GB" dirty="0"/>
              <a:t> </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5</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45629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emf"/></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emf"/><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jpe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F74CD5A-9F80-0549-8844-6BFF5ADE70C7}"/>
              </a:ext>
            </a:extLst>
          </p:cNvPr>
          <p:cNvGraphicFramePr>
            <a:graphicFrameLocks noGrp="1"/>
          </p:cNvGraphicFramePr>
          <p:nvPr>
            <p:extLst>
              <p:ext uri="{D42A27DB-BD31-4B8C-83A1-F6EECF244321}">
                <p14:modId xmlns:p14="http://schemas.microsoft.com/office/powerpoint/2010/main" val="74961208"/>
              </p:ext>
            </p:extLst>
          </p:nvPr>
        </p:nvGraphicFramePr>
        <p:xfrm>
          <a:off x="2888975" y="762788"/>
          <a:ext cx="7023652" cy="4046758"/>
        </p:xfrm>
        <a:graphic>
          <a:graphicData uri="http://schemas.openxmlformats.org/drawingml/2006/table">
            <a:tbl>
              <a:tblPr firstRow="1" bandRow="1">
                <a:tableStyleId>{2D5ABB26-0587-4C30-8999-92F81FD0307C}</a:tableStyleId>
              </a:tblPr>
              <a:tblGrid>
                <a:gridCol w="7023652">
                  <a:extLst>
                    <a:ext uri="{9D8B030D-6E8A-4147-A177-3AD203B41FA5}">
                      <a16:colId xmlns:a16="http://schemas.microsoft.com/office/drawing/2014/main" val="3313590318"/>
                    </a:ext>
                  </a:extLst>
                </a:gridCol>
              </a:tblGrid>
              <a:tr h="475903">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WHY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822202">
                <a:tc>
                  <a:txBody>
                    <a:bodyPr/>
                    <a:lstStyle/>
                    <a:p>
                      <a:pPr lvl="0">
                        <a:buNone/>
                      </a:pPr>
                      <a:r>
                        <a:rPr lang="en-US" sz="1200" b="0" i="0" u="none" strike="noStrike" noProof="0" dirty="0"/>
                        <a:t>Our mission is to improve health and quality of life by making a healthy lifestyle second nature. We empower people to take control of their well-being through preventive and integrative care, fostering a culture where wellness is a priority and transforming lives for the better.</a:t>
                      </a:r>
                      <a:endParaRPr lang="en-US" dirty="0"/>
                    </a:p>
                    <a:p>
                      <a:pPr lvl="0">
                        <a:buNone/>
                      </a:pPr>
                      <a:endParaRPr lang="en-US" sz="12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217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HOW</a:t>
                      </a:r>
                      <a:r>
                        <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927924">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prstClr val="black"/>
                          </a:solidFill>
                          <a:effectLst/>
                          <a:uLnTx/>
                          <a:uFillTx/>
                        </a:rPr>
                        <a:t>We take an integrative medicine approach, combining the best global health trends with a commitment to high-quality products and services. Through continuous education for both customers and professionals, we empower informed decisions about health and wellness. Our strong partnerships with major global suppliers and healthcare professionals ensure we stay ahead of industry innovations. With customer centricity at the heart of our business, we prioritize their needs through personalized care in our own wellness stores and sustainable practices. Guided by ethics and a commitment to agile, collaborative teamwork, we focus on constant improvement across all areas, from route to market to differentiated marketing strategies that leverage communities, word of mouth, and tech-savvy solutions. </a:t>
                      </a:r>
                      <a:r>
                        <a:rPr lang="en-US" sz="1200" b="0" i="0" u="none" strike="noStrike" kern="1200" cap="none" spc="0" normalizeH="0" baseline="0" noProof="0" dirty="0">
                          <a:ln>
                            <a:noFill/>
                          </a:ln>
                          <a:solidFill>
                            <a:prstClr val="black"/>
                          </a:solidFill>
                          <a:effectLst/>
                          <a:uLnTx/>
                          <a:uFillTx/>
                          <a:latin typeface="PF Square Sans Pro Light"/>
                        </a:rPr>
                        <a:t>All of this is driven by a highly skilled team with deep industry expertise, ensuring we deliver a truly unique and impactful wellness experiences. </a:t>
                      </a:r>
                      <a:endParaRPr lang="en-US" sz="1200" b="0" i="0" u="none" strike="noStrike" kern="1200" cap="none" spc="0" normalizeH="0" baseline="0" noProof="0" dirty="0">
                        <a:ln>
                          <a:noFill/>
                        </a:ln>
                        <a:solidFill>
                          <a:srgbClr val="000000"/>
                        </a:solidFill>
                        <a:effectLst/>
                        <a:uLnTx/>
                        <a:uFillTx/>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9826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WHAT</a:t>
                      </a:r>
                      <a:r>
                        <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bl>
          </a:graphicData>
        </a:graphic>
      </p:graphicFrame>
      <p:pic>
        <p:nvPicPr>
          <p:cNvPr id="4" name="Picture 3">
            <a:extLst>
              <a:ext uri="{FF2B5EF4-FFF2-40B4-BE49-F238E27FC236}">
                <a16:creationId xmlns:a16="http://schemas.microsoft.com/office/drawing/2014/main" id="{61DCA427-2413-EAA2-5DD8-E6D9C07FC23B}"/>
              </a:ext>
              <a:ext uri="{147F2762-F138-4A5C-976F-8EAC2B608ADB}">
                <a16:predDERef xmlns:a16="http://schemas.microsoft.com/office/drawing/2014/main" pred="{8F85E5D8-B029-4285-A723-F9B6F2E98767}"/>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val="0"/>
              </a:ext>
            </a:extLst>
          </a:blip>
          <a:stretch>
            <a:fillRect/>
          </a:stretch>
        </p:blipFill>
        <p:spPr>
          <a:xfrm>
            <a:off x="39756" y="1125610"/>
            <a:ext cx="2743200" cy="5228791"/>
          </a:xfrm>
          <a:prstGeom prst="rect">
            <a:avLst/>
          </a:prstGeom>
        </p:spPr>
      </p:pic>
      <p:pic>
        <p:nvPicPr>
          <p:cNvPr id="2" name="Picture 1">
            <a:extLst>
              <a:ext uri="{FF2B5EF4-FFF2-40B4-BE49-F238E27FC236}">
                <a16:creationId xmlns:a16="http://schemas.microsoft.com/office/drawing/2014/main" id="{1264E101-9DD2-EE60-0410-A79EC4304076}"/>
              </a:ext>
            </a:extLst>
          </p:cNvPr>
          <p:cNvPicPr>
            <a:picLocks noGrp="1" noRot="1" noChangeAspect="1" noMove="1" noResize="1" noEditPoints="1" noAdjustHandles="1" noChangeArrowheads="1" noChangeShapeType="1" noCrop="1"/>
          </p:cNvPicPr>
          <p:nvPr/>
        </p:nvPicPr>
        <p:blipFill>
          <a:blip r:embed="rId4"/>
          <a:stretch>
            <a:fillRect/>
          </a:stretch>
        </p:blipFill>
        <p:spPr>
          <a:xfrm>
            <a:off x="-105638" y="-92766"/>
            <a:ext cx="8873625" cy="880501"/>
          </a:xfrm>
          <a:prstGeom prst="rect">
            <a:avLst/>
          </a:prstGeom>
        </p:spPr>
      </p:pic>
      <p:pic>
        <p:nvPicPr>
          <p:cNvPr id="6" name="Picture 5">
            <a:extLst>
              <a:ext uri="{FF2B5EF4-FFF2-40B4-BE49-F238E27FC236}">
                <a16:creationId xmlns:a16="http://schemas.microsoft.com/office/drawing/2014/main" id="{7AEC92DF-E9A7-5793-3A74-D671A494551E}"/>
              </a:ext>
            </a:extLst>
          </p:cNvPr>
          <p:cNvPicPr>
            <a:picLocks noGrp="1" noRo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graphicFrame>
        <p:nvGraphicFramePr>
          <p:cNvPr id="8" name="Table 7">
            <a:extLst>
              <a:ext uri="{FF2B5EF4-FFF2-40B4-BE49-F238E27FC236}">
                <a16:creationId xmlns:a16="http://schemas.microsoft.com/office/drawing/2014/main" id="{9309EE66-4AD2-B021-237D-6D0AE69EF5E4}"/>
              </a:ext>
            </a:extLst>
          </p:cNvPr>
          <p:cNvGraphicFramePr>
            <a:graphicFrameLocks noGrp="1"/>
          </p:cNvGraphicFramePr>
          <p:nvPr>
            <p:extLst>
              <p:ext uri="{D42A27DB-BD31-4B8C-83A1-F6EECF244321}">
                <p14:modId xmlns:p14="http://schemas.microsoft.com/office/powerpoint/2010/main" val="446325255"/>
              </p:ext>
            </p:extLst>
          </p:nvPr>
        </p:nvGraphicFramePr>
        <p:xfrm>
          <a:off x="2895108" y="4822124"/>
          <a:ext cx="7023652" cy="1774847"/>
        </p:xfrm>
        <a:graphic>
          <a:graphicData uri="http://schemas.openxmlformats.org/drawingml/2006/table">
            <a:tbl>
              <a:tblPr firstRow="1" bandRow="1">
                <a:tableStyleId>{2D5ABB26-0587-4C30-8999-92F81FD0307C}</a:tableStyleId>
              </a:tblPr>
              <a:tblGrid>
                <a:gridCol w="7023652">
                  <a:extLst>
                    <a:ext uri="{9D8B030D-6E8A-4147-A177-3AD203B41FA5}">
                      <a16:colId xmlns:a16="http://schemas.microsoft.com/office/drawing/2014/main" val="3313590318"/>
                    </a:ext>
                  </a:extLst>
                </a:gridCol>
              </a:tblGrid>
              <a:tr h="1384055">
                <a:tc>
                  <a:txBody>
                    <a:bodyPr/>
                    <a:lstStyle/>
                    <a:p>
                      <a:pPr lvl="0" algn="l">
                        <a:lnSpc>
                          <a:spcPct val="100000"/>
                        </a:lnSpc>
                        <a:spcBef>
                          <a:spcPts val="0"/>
                        </a:spcBef>
                        <a:spcAft>
                          <a:spcPts val="0"/>
                        </a:spcAft>
                        <a:buNone/>
                      </a:pPr>
                      <a:r>
                        <a:rPr lang="en-US" sz="1200" b="0" i="0" u="none" strike="noStrike" noProof="0" dirty="0">
                          <a:solidFill>
                            <a:srgbClr val="000000"/>
                          </a:solidFill>
                          <a:latin typeface="PF Square Sans Pro Light"/>
                        </a:rPr>
                        <a:t>We offer a comprehensive range of premium health and wellness products, carefully selected for their high quality and effectiveness. Our portfolio includes both imported and own-brand food supplements, wellness foods, and health products that support preventive and integrative care. Through our own wellness stores and eShop, we deliver personalized health solutions tailored to individual needs. With in-store consultancy services and high availability nationwide, we ensure everyone has access to the best tools and expertise they need to lead healthier, more balanced lives.</a:t>
                      </a:r>
                    </a:p>
                    <a:p>
                      <a:pPr lvl="0">
                        <a:buNone/>
                      </a:pPr>
                      <a:endParaRPr lang="en-US" sz="1200" b="0" i="0" dirty="0">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39079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bg1"/>
                        </a:solidFill>
                        <a:effectLst/>
                        <a:uLnTx/>
                        <a:uFillTx/>
                        <a:latin typeface="Arial"/>
                        <a:ea typeface="Riforma LL" panose="020B0504020101020102" pitchFamily="34" charset="0"/>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bl>
          </a:graphicData>
        </a:graphic>
      </p:graphicFrame>
    </p:spTree>
    <p:extLst>
      <p:ext uri="{BB962C8B-B14F-4D97-AF65-F5344CB8AC3E}">
        <p14:creationId xmlns:p14="http://schemas.microsoft.com/office/powerpoint/2010/main" val="407015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710371053"/>
              </p:ext>
            </p:extLst>
          </p:nvPr>
        </p:nvGraphicFramePr>
        <p:xfrm>
          <a:off x="276084" y="729009"/>
          <a:ext cx="9776012" cy="6580236"/>
        </p:xfrm>
        <a:graphic>
          <a:graphicData uri="http://schemas.openxmlformats.org/drawingml/2006/table">
            <a:tbl>
              <a:tblPr firstRow="1" bandRow="1">
                <a:tableStyleId>{2D5ABB26-0587-4C30-8999-92F81FD0307C}</a:tableStyleId>
              </a:tblPr>
              <a:tblGrid>
                <a:gridCol w="2241829">
                  <a:extLst>
                    <a:ext uri="{9D8B030D-6E8A-4147-A177-3AD203B41FA5}">
                      <a16:colId xmlns:a16="http://schemas.microsoft.com/office/drawing/2014/main" val="3308902235"/>
                    </a:ext>
                  </a:extLst>
                </a:gridCol>
                <a:gridCol w="7534183">
                  <a:extLst>
                    <a:ext uri="{9D8B030D-6E8A-4147-A177-3AD203B41FA5}">
                      <a16:colId xmlns:a16="http://schemas.microsoft.com/office/drawing/2014/main" val="3313590318"/>
                    </a:ext>
                  </a:extLst>
                </a:gridCol>
              </a:tblGrid>
              <a:tr h="36231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Imagine it is 5 years from today and answer the following questions: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63145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What have you achieved?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We have established an extensive product portfolio that offers a 360-degree approach to health, solidifying our position as the largest wellness chain in the market with 75 stores and over 1 million customers annually. Our own brand, Good Routine, now holds a 25% share in the business, covering three product categories and actively operating in 10 international markets. For 8 consecutive years, we’ve been the undisputed quality leader, and we are widely recognized as the industry’s leader. Our commitment to excellence is further reflected in our lean, digitalized, and automated processes, ensuring efficiency and growth. As we continue to refine our Route to Market and prioritize customer-centricity, we remain focused on setting the highest standards in the industry."</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What do customers say about you?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latin typeface="PF Square Sans Pro Light"/>
                        </a:rPr>
                        <a:t>Customers describe us as their most trusted partner in well-being, recognizing our commitment to providing premium, high-quality products. They appreciate our team of energetic, passionate, and solution-oriented professionals who truly care about their health. Our solid business ethics, combined with an innovative approach and deep expertise, make us stand out as a competent and reliable choice. With easy access to our products and services, customers feel confident knowing they are supported by a company dedicated to improving their overall well-being.</a:t>
                      </a:r>
                      <a:endParaRPr lang="en-US" dirty="0">
                        <a:latin typeface="PF Square Sans Pro Ligh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61651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What do your employees say?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Our employees are proud and thrilled to be part of a company where they feel a true sense of professional purpose that aligns with their personal mission and values. They are motivated by continuous opportunities for personal learning and development, knowing that their ideas and contributions truly matter. They feel appreciated and joyful, working in an environment that fosters growth and meaning every day."</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60960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What is your Market position?</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solidFill>
                            <a:srgbClr val="000000"/>
                          </a:solidFill>
                        </a:rPr>
                        <a:t>We are proud to hold a top 3 position in the supplements market, while leading the health store sector as the number 1 in both store count and consumers reached. Our own brand, Good Routine, ranks among the top 10 in the supplements market, and we are also positioned in the top 10 for wellness foods in modern trade, reinforcing our leadership in the health and wellness industry.</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How do your offices look like?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Our offices remain in the same location, but we’ve expanded to take over the entire floor, optimizing the space for efficiency and collaboration. The design has been upgraded with a sustainable approach, incorporating modern elements that reflect our wellness ethos. We’ve created dedicated spaces for fitness, meditation, and yoga, along with collaborative areas that foster teamwork and innovation, ensuring our work environment aligns with our mission of health and well-being.</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61119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What capabilities does the achievement provide you with?</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Our success has equipped us with robust sales and distribution capabilities, both in retail and across new markets. We’ve strengthened our ability to develop and sell new product categories, while also enhancing our skills in talent management, customer acquisition, and market penetration. With AI-integrated technology, we now offer hyper-personalized solutions and maintain a strong focus on customer centricity. Our team excels in brand building through marketing and innovation, backed by solid financial expertise. As we refine our route to market, we continue to foresee future trends and adapt swiftly, ensuring we remain industry leaders.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bl>
          </a:graphicData>
        </a:graphic>
      </p:graphicFrame>
      <p:pic>
        <p:nvPicPr>
          <p:cNvPr id="3" name="Picture 2">
            <a:extLst>
              <a:ext uri="{FF2B5EF4-FFF2-40B4-BE49-F238E27FC236}">
                <a16:creationId xmlns:a16="http://schemas.microsoft.com/office/drawing/2014/main" id="{A3E82818-9104-0E86-EDB2-2CAA9CC0795F}"/>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7" name="Picture 6">
            <a:extLst>
              <a:ext uri="{FF2B5EF4-FFF2-40B4-BE49-F238E27FC236}">
                <a16:creationId xmlns:a16="http://schemas.microsoft.com/office/drawing/2014/main" id="{F721A467-A4BF-35F5-7902-065535BD65E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164923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584779594"/>
              </p:ext>
            </p:extLst>
          </p:nvPr>
        </p:nvGraphicFramePr>
        <p:xfrm>
          <a:off x="276084" y="729009"/>
          <a:ext cx="9776012" cy="3837036"/>
        </p:xfrm>
        <a:graphic>
          <a:graphicData uri="http://schemas.openxmlformats.org/drawingml/2006/table">
            <a:tbl>
              <a:tblPr firstRow="1" bandRow="1">
                <a:tableStyleId>{2D5ABB26-0587-4C30-8999-92F81FD0307C}</a:tableStyleId>
              </a:tblPr>
              <a:tblGrid>
                <a:gridCol w="2241829">
                  <a:extLst>
                    <a:ext uri="{9D8B030D-6E8A-4147-A177-3AD203B41FA5}">
                      <a16:colId xmlns:a16="http://schemas.microsoft.com/office/drawing/2014/main" val="3308902235"/>
                    </a:ext>
                  </a:extLst>
                </a:gridCol>
                <a:gridCol w="7534183">
                  <a:extLst>
                    <a:ext uri="{9D8B030D-6E8A-4147-A177-3AD203B41FA5}">
                      <a16:colId xmlns:a16="http://schemas.microsoft.com/office/drawing/2014/main" val="3313590318"/>
                    </a:ext>
                  </a:extLst>
                </a:gridCol>
              </a:tblGrid>
              <a:tr h="36231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Imagine it is 5 years from today and answer the following questions: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How does it feel to achieve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Achieving this dream feels incredibly fulfilling and joyful. It brings a sense of pride and empowerment, knowing we’ve made a lasting impact. We feel energized and grateful for the journey, blessed to have built something that others trust and believe in. This achievement reflects a shared purpose, making us even more committed to the path ahead.</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81743"/>
                  </a:ext>
                </a:extLst>
              </a:tr>
              <a:tr h="72301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How does the team feel about the achievement of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The team feels an immense sense of pride and motivation, deeply connected to the mission we’ve accomplished together. They are excited about the positive impact we’ve made and energized by the shared sense of purpose. There is a strong feeling of accomplishment, enthusiasm, and unity, with everyone fully engaged, committed, and empowered. The team is inspired and driven by the journey, and the collective achievement fills them with a great sense of fulfillment.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0728161"/>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What is your own personal achievement?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My personal achievement lies in taking better care of my own life and lifestyle, while finding a profound sense of professional purpose. I've reached a great mental state, experienced career success, and grown personally, all while creating a lasting legacy. As a visionary leader, I've inspired positive change, built a high-performance team, and contributed to a future that aligns with both my personal and professional values.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613438"/>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Who is the person you have become along this journey?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Through this journey, I’ve become a lifelong learner and a more confident leader, resilient and adaptable in the face of challenges. I’ve developed a deep sense of focus, balance, and mindfulness, driving my actions with purpose. I now empower others to believe in their potential, with a profound commitment to well-being and being a catalyst for positive change. Curiosity continues to guide me, and I feel grateful for the growth and fulfillment this journey has brought.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7236550"/>
                  </a:ext>
                </a:extLst>
              </a:tr>
            </a:tbl>
          </a:graphicData>
        </a:graphic>
      </p:graphicFrame>
      <p:pic>
        <p:nvPicPr>
          <p:cNvPr id="3" name="Picture 2">
            <a:extLst>
              <a:ext uri="{FF2B5EF4-FFF2-40B4-BE49-F238E27FC236}">
                <a16:creationId xmlns:a16="http://schemas.microsoft.com/office/drawing/2014/main" id="{A3E82818-9104-0E86-EDB2-2CAA9CC0795F}"/>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7" name="Picture 6">
            <a:extLst>
              <a:ext uri="{FF2B5EF4-FFF2-40B4-BE49-F238E27FC236}">
                <a16:creationId xmlns:a16="http://schemas.microsoft.com/office/drawing/2014/main" id="{F721A467-A4BF-35F5-7902-065535BD65E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3110103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996245837"/>
              </p:ext>
            </p:extLst>
          </p:nvPr>
        </p:nvGraphicFramePr>
        <p:xfrm>
          <a:off x="70795" y="796764"/>
          <a:ext cx="10101965" cy="6888937"/>
        </p:xfrm>
        <a:graphic>
          <a:graphicData uri="http://schemas.openxmlformats.org/drawingml/2006/table">
            <a:tbl>
              <a:tblPr firstRow="1" bandRow="1">
                <a:tableStyleId>{2D5ABB26-0587-4C30-8999-92F81FD0307C}</a:tableStyleId>
              </a:tblPr>
              <a:tblGrid>
                <a:gridCol w="10101965">
                  <a:extLst>
                    <a:ext uri="{9D8B030D-6E8A-4147-A177-3AD203B41FA5}">
                      <a16:colId xmlns:a16="http://schemas.microsoft.com/office/drawing/2014/main" val="3308902235"/>
                    </a:ext>
                  </a:extLst>
                </a:gridCol>
              </a:tblGrid>
              <a:tr h="36108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Describe your dream story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3841672">
                <a:tc>
                  <a:txBody>
                    <a:bodyPr/>
                    <a:lstStyle/>
                    <a:p>
                      <a:pPr lvl="0" algn="l">
                        <a:lnSpc>
                          <a:spcPct val="100000"/>
                        </a:lnSpc>
                        <a:spcBef>
                          <a:spcPts val="0"/>
                        </a:spcBef>
                        <a:spcAft>
                          <a:spcPts val="0"/>
                        </a:spcAft>
                        <a:buNone/>
                      </a:pPr>
                      <a:r>
                        <a:rPr lang="en-US" sz="1200" b="0" i="0" u="none" strike="noStrike" noProof="0" dirty="0"/>
                        <a:t>I</a:t>
                      </a:r>
                      <a:r>
                        <a:rPr lang="en-US" sz="1200" b="0" i="0" u="none" strike="noStrike" noProof="0" dirty="0">
                          <a:latin typeface="Monument Grotesk Mono"/>
                        </a:rPr>
                        <a:t>n 5 years, we are at the forefront of a wellness revolution, transforming the way people take charge of their health. What began as a bold vision has evolved into a movement that has redefined how health and well-being are experienced and prioritized in everyday life.</a:t>
                      </a:r>
                      <a:endParaRPr lang="en-US" sz="1200">
                        <a:latin typeface="Monument Grotesk Mono"/>
                      </a:endParaRPr>
                    </a:p>
                    <a:p>
                      <a:pPr lvl="0" algn="l">
                        <a:lnSpc>
                          <a:spcPct val="100000"/>
                        </a:lnSpc>
                        <a:spcBef>
                          <a:spcPts val="0"/>
                        </a:spcBef>
                        <a:spcAft>
                          <a:spcPts val="0"/>
                        </a:spcAft>
                        <a:buNone/>
                      </a:pPr>
                      <a:r>
                        <a:rPr lang="en-US" sz="1200" b="0" i="0" u="none" strike="noStrike" noProof="0" dirty="0">
                          <a:latin typeface="Monument Grotesk Mono"/>
                        </a:rPr>
                        <a:t>Our mission is clear: we empower people to live healthier, more fulfilling lives by making a healthy lifestyle second nature. Through preventive and integrative care, we foster a culture where wellness is at the forefront. Our products, services, and experiences are designed to improve the health, vitality, and quality of life of individuals and families around the world.</a:t>
                      </a:r>
                      <a:endParaRPr lang="en-US" sz="1200">
                        <a:latin typeface="Monument Grotesk Mono"/>
                      </a:endParaRPr>
                    </a:p>
                    <a:p>
                      <a:pPr lvl="0" algn="l">
                        <a:lnSpc>
                          <a:spcPct val="100000"/>
                        </a:lnSpc>
                        <a:spcBef>
                          <a:spcPts val="0"/>
                        </a:spcBef>
                        <a:spcAft>
                          <a:spcPts val="0"/>
                        </a:spcAft>
                        <a:buNone/>
                      </a:pPr>
                      <a:r>
                        <a:rPr lang="en-US" sz="1200" b="0" i="0" u="none" strike="noStrike" noProof="0" dirty="0">
                          <a:latin typeface="Monument Grotesk Mono"/>
                        </a:rPr>
                        <a:t>Today, we have built an extensive product portfolio offering a 360-degree approach to health, positioning ourselves as the leader in the wellness industry. With 75 of our own wellness stores across the country, serving over 1 million customers annually, we’ve made well-being accessible and essential. Our brand, </a:t>
                      </a:r>
                      <a:r>
                        <a:rPr lang="en-US" sz="1200" b="1" i="0" u="none" strike="noStrike" noProof="0" dirty="0">
                          <a:latin typeface="Monument Grotesk Mono"/>
                        </a:rPr>
                        <a:t>Good Routine</a:t>
                      </a:r>
                      <a:r>
                        <a:rPr lang="en-US" sz="1200" b="0" i="0" u="none" strike="noStrike" noProof="0" dirty="0">
                          <a:latin typeface="Monument Grotesk Mono"/>
                        </a:rPr>
                        <a:t>, now holds a 25% share in our business covering three product categories, and operates successfully in 10 international markets. For 8 years, we’ve maintained our standing as the undisputed leader in quality, a recognition that reflects our relentless commitment to excellence.</a:t>
                      </a:r>
                      <a:endParaRPr lang="en-US" sz="1200">
                        <a:latin typeface="Monument Grotesk Mono"/>
                      </a:endParaRPr>
                    </a:p>
                    <a:p>
                      <a:pPr lvl="0" algn="l">
                        <a:lnSpc>
                          <a:spcPct val="100000"/>
                        </a:lnSpc>
                        <a:spcBef>
                          <a:spcPts val="0"/>
                        </a:spcBef>
                        <a:spcAft>
                          <a:spcPts val="0"/>
                        </a:spcAft>
                        <a:buNone/>
                      </a:pPr>
                      <a:r>
                        <a:rPr lang="en-US" sz="1200" b="0" i="0" u="none" strike="noStrike" noProof="0" dirty="0">
                          <a:latin typeface="Monument Grotesk Mono"/>
                        </a:rPr>
                        <a:t>Our impact is felt beyond products. We provide personalized health solutions and in-store consultancy services, guiding our customers toward better health. Every interaction—whether in-store or through our eShop—carries the promise of expert advice and premium, high-quality products that are effective and trusted. Our lean, automated processes ensure we stay ahead in efficiency, and our route to market is refined to deliver our unique offerings to as many people as possible.</a:t>
                      </a:r>
                      <a:endParaRPr lang="en-US" sz="1200">
                        <a:latin typeface="Monument Grotesk Mono"/>
                      </a:endParaRPr>
                    </a:p>
                    <a:p>
                      <a:pPr lvl="0" algn="l">
                        <a:lnSpc>
                          <a:spcPct val="100000"/>
                        </a:lnSpc>
                        <a:spcBef>
                          <a:spcPts val="0"/>
                        </a:spcBef>
                        <a:spcAft>
                          <a:spcPts val="0"/>
                        </a:spcAft>
                        <a:buNone/>
                      </a:pPr>
                      <a:r>
                        <a:rPr lang="en-US" sz="1200" b="0" i="0" u="none" strike="noStrike" noProof="0" dirty="0">
                          <a:latin typeface="Monument Grotesk Mono"/>
                        </a:rPr>
                        <a:t>Customers describe us as a trusted partner in their wellness journey. They trust the quality of our products and appreciate the energy, passion, and dedication of our team. With strong business ethics, innovation at the core, and a solution-oriented approach, we stand out as a reliable and inspiring choice in the health and wellness industry.</a:t>
                      </a:r>
                    </a:p>
                    <a:p>
                      <a:pPr lvl="0" algn="l">
                        <a:lnSpc>
                          <a:spcPct val="100000"/>
                        </a:lnSpc>
                        <a:spcBef>
                          <a:spcPts val="0"/>
                        </a:spcBef>
                        <a:spcAft>
                          <a:spcPts val="0"/>
                        </a:spcAft>
                        <a:buNone/>
                      </a:pPr>
                      <a:r>
                        <a:rPr lang="en-US" sz="1200" b="0" i="0" u="none" strike="noStrike" noProof="0" dirty="0">
                          <a:solidFill>
                            <a:srgbClr val="000000"/>
                          </a:solidFill>
                          <a:latin typeface="Monument Grotesk Mono"/>
                        </a:rPr>
                        <a:t>Our team is the heartbeat of this journey. Proud, motivated, and deeply connected to our mission, they feel a profound sense of accomplishment and unity. Every day, they are energized by the purpose we’ve cultivated, fully engaged in driving our shared vision forward. Our employees find personal and professional fulfillment here, thriving in a culture of continuous learning and meaningful contribution. Their ideas matter, and they take joy in being part of a movement that is transforming lives.</a:t>
                      </a:r>
                    </a:p>
                    <a:p>
                      <a:pPr lvl="0" algn="l">
                        <a:lnSpc>
                          <a:spcPct val="100000"/>
                        </a:lnSpc>
                        <a:spcBef>
                          <a:spcPts val="0"/>
                        </a:spcBef>
                        <a:spcAft>
                          <a:spcPts val="0"/>
                        </a:spcAft>
                        <a:buNone/>
                      </a:pPr>
                      <a:r>
                        <a:rPr lang="en-US" sz="1200" b="0" i="0" u="none" strike="noStrike" noProof="0" dirty="0">
                          <a:solidFill>
                            <a:srgbClr val="000000"/>
                          </a:solidFill>
                        </a:rPr>
                        <a:t>Our offices are a reflection of who we are—sustainable, efficient, and designed to foster collaboration. We’ve expanded to take over the entire floor, creating spaces for fitness, meditation, and innovation. The design aligns with our wellness ethos, ensuring that our environment reflects the values we stand for.</a:t>
                      </a:r>
                      <a:endParaRPr lang="en-US" dirty="0"/>
                    </a:p>
                    <a:p>
                      <a:pPr lvl="0" algn="l">
                        <a:lnSpc>
                          <a:spcPct val="100000"/>
                        </a:lnSpc>
                        <a:spcBef>
                          <a:spcPts val="0"/>
                        </a:spcBef>
                        <a:spcAft>
                          <a:spcPts val="0"/>
                        </a:spcAft>
                        <a:buNone/>
                      </a:pPr>
                      <a:r>
                        <a:rPr lang="en-US" sz="1200" b="0" i="0" u="none" strike="noStrike" noProof="0" dirty="0">
                          <a:solidFill>
                            <a:srgbClr val="000000"/>
                          </a:solidFill>
                          <a:latin typeface="Monument Grotesk Mono"/>
                        </a:rPr>
                        <a:t>The capabilities we’ve built are remarkable. Our sales and distribution network is strong, with a robust retail presence and a growing ability to develop new product categories. Talent management has become a core strength, enabling us to attract and retain top talent, while our AI-integrated technology allows for hyper-personalized health solutions. Our customer-centric approach remains unwavering, and we continue to anticipate future trends, ensuring we stay ahead in a constantly evolving industry.</a:t>
                      </a:r>
                    </a:p>
                    <a:p>
                      <a:pPr lvl="0" algn="l">
                        <a:lnSpc>
                          <a:spcPct val="100000"/>
                        </a:lnSpc>
                        <a:spcBef>
                          <a:spcPts val="0"/>
                        </a:spcBef>
                        <a:spcAft>
                          <a:spcPts val="0"/>
                        </a:spcAft>
                        <a:buNone/>
                      </a:pPr>
                      <a:r>
                        <a:rPr lang="en-US" sz="1200" b="0" i="0" u="none" strike="noStrike" noProof="0" dirty="0">
                          <a:solidFill>
                            <a:srgbClr val="000000"/>
                          </a:solidFill>
                          <a:latin typeface="Monument Grotesk Mono"/>
                        </a:rPr>
                        <a:t>Achieving this dream feels deeply fulfilling. It brings us joy, pride, and a sense of empowerment, knowing we’ve made a lasting impact on the world of health and well-being. We are energized and grateful for the journey, and this shared achievement strengthens our commitment to continue pushing boundaries.</a:t>
                      </a:r>
                    </a:p>
                    <a:p>
                      <a:pPr lvl="0" algn="l">
                        <a:lnSpc>
                          <a:spcPct val="100000"/>
                        </a:lnSpc>
                        <a:spcBef>
                          <a:spcPts val="0"/>
                        </a:spcBef>
                        <a:spcAft>
                          <a:spcPts val="0"/>
                        </a:spcAft>
                        <a:buNone/>
                      </a:pPr>
                      <a:r>
                        <a:rPr lang="en-US" sz="1200" b="0" i="0" u="none" strike="noStrike" noProof="0" dirty="0">
                          <a:solidFill>
                            <a:srgbClr val="000000"/>
                          </a:solidFill>
                          <a:latin typeface="Monument Grotesk Mono"/>
                        </a:rPr>
                        <a:t>We are not just a company—we are a catalyst for positive change, and every day we continue to shape the future of wellness. Our vision is bold, but it’s real, and we are living it today.</a:t>
                      </a:r>
                      <a:endParaRPr lang="en-US" sz="1200" dirty="0">
                        <a:latin typeface="Monument Grotesk Mono"/>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36880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dirty="0">
                          <a:solidFill>
                            <a:schemeClr val="bg1"/>
                          </a:solidFill>
                          <a:latin typeface="Arial" panose="020B0604020202020204" pitchFamily="34" charset="0"/>
                          <a:ea typeface="Riforma LL" panose="020B0504020101020102" pitchFamily="34" charset="77"/>
                          <a:cs typeface="Arial" panose="020B0604020202020204" pitchFamily="34" charset="0"/>
                        </a:rPr>
                        <a:t>If you are to tell your dream story to a friend with 1 sentence, what would it be: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710048040"/>
                  </a:ext>
                </a:extLst>
              </a:tr>
              <a:tr h="581212">
                <a:tc>
                  <a:txBody>
                    <a:bodyPr/>
                    <a:lstStyle/>
                    <a:p>
                      <a:pPr marL="0" marR="0" lvl="0" indent="0" algn="l">
                        <a:lnSpc>
                          <a:spcPct val="100000"/>
                        </a:lnSpc>
                        <a:spcBef>
                          <a:spcPts val="0"/>
                        </a:spcBef>
                        <a:spcAft>
                          <a:spcPts val="0"/>
                        </a:spcAft>
                        <a:buNone/>
                      </a:pPr>
                      <a:r>
                        <a:rPr lang="en-US" sz="1200" b="0" i="0" u="none" strike="noStrike" noProof="0" dirty="0"/>
                        <a:t>Our dream is to revolutionize health and well-being by making a healthy lifestyle second nature for everyone, through innovative, high-quality products and personalized solutions that transform lives.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43CED4C8-D101-EFF5-D6A1-4881CAAC8C18}"/>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6" name="Picture 5">
            <a:extLst>
              <a:ext uri="{FF2B5EF4-FFF2-40B4-BE49-F238E27FC236}">
                <a16:creationId xmlns:a16="http://schemas.microsoft.com/office/drawing/2014/main" id="{DF6EB51A-3803-BADB-7CE8-C501555EC4F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2451837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996668490"/>
              </p:ext>
            </p:extLst>
          </p:nvPr>
        </p:nvGraphicFramePr>
        <p:xfrm>
          <a:off x="39791" y="618541"/>
          <a:ext cx="10660282" cy="7351797"/>
        </p:xfrm>
        <a:graphic>
          <a:graphicData uri="http://schemas.openxmlformats.org/drawingml/2006/table">
            <a:tbl>
              <a:tblPr firstRow="1" bandRow="1">
                <a:tableStyleId>{2D5ABB26-0587-4C30-8999-92F81FD0307C}</a:tableStyleId>
              </a:tblPr>
              <a:tblGrid>
                <a:gridCol w="5968059">
                  <a:extLst>
                    <a:ext uri="{9D8B030D-6E8A-4147-A177-3AD203B41FA5}">
                      <a16:colId xmlns:a16="http://schemas.microsoft.com/office/drawing/2014/main" val="3308902235"/>
                    </a:ext>
                  </a:extLst>
                </a:gridCol>
                <a:gridCol w="4692223">
                  <a:extLst>
                    <a:ext uri="{9D8B030D-6E8A-4147-A177-3AD203B41FA5}">
                      <a16:colId xmlns:a16="http://schemas.microsoft.com/office/drawing/2014/main" val="3046643254"/>
                    </a:ext>
                  </a:extLst>
                </a:gridCol>
              </a:tblGrid>
              <a:tr h="4349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List 7-10 words that best describe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The people that could be associated with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3232108">
                <a:tc>
                  <a:txBody>
                    <a:bodyPr/>
                    <a:lstStyle/>
                    <a:p>
                      <a:pPr marL="0" lvl="0" indent="0" algn="l">
                        <a:lnSpc>
                          <a:spcPct val="100000"/>
                        </a:lnSpc>
                        <a:spcBef>
                          <a:spcPts val="0"/>
                        </a:spcBef>
                        <a:spcAft>
                          <a:spcPts val="0"/>
                        </a:spcAft>
                        <a:buNone/>
                      </a:pPr>
                      <a:r>
                        <a:rPr lang="en-US" sz="1200" b="1" i="0" u="none" strike="noStrike" noProof="0" dirty="0">
                          <a:latin typeface="PF Square Sans Pro Light"/>
                        </a:rPr>
                        <a:t>Transformative</a:t>
                      </a:r>
                      <a:r>
                        <a:rPr lang="en-US" sz="1200" b="0" i="0" u="none" strike="noStrike" noProof="0" dirty="0">
                          <a:latin typeface="PF Square Sans Pro Light"/>
                        </a:rPr>
                        <a:t> – our dream is about fundamentally changing how people approach health and well-being.</a:t>
                      </a:r>
                      <a:endParaRPr lang="en-US" i="0"/>
                    </a:p>
                    <a:p>
                      <a:pPr marL="0" lvl="0" indent="0" algn="l">
                        <a:lnSpc>
                          <a:spcPct val="100000"/>
                        </a:lnSpc>
                        <a:spcBef>
                          <a:spcPts val="0"/>
                        </a:spcBef>
                        <a:spcAft>
                          <a:spcPts val="0"/>
                        </a:spcAft>
                        <a:buNone/>
                      </a:pPr>
                      <a:r>
                        <a:rPr lang="en-US" sz="1200" b="1" i="0" u="none" strike="noStrike" noProof="0" dirty="0">
                          <a:latin typeface="PF Square Sans Pro Light"/>
                        </a:rPr>
                        <a:t>Wellness</a:t>
                      </a:r>
                      <a:r>
                        <a:rPr lang="en-US" sz="1200" b="0" i="0" u="none" strike="noStrike" noProof="0" dirty="0">
                          <a:latin typeface="PF Square Sans Pro Light"/>
                        </a:rPr>
                        <a:t> – At the heart of our vision is promoting a balanced, healthy lifestyle.</a:t>
                      </a:r>
                      <a:endParaRPr lang="en-US" dirty="0"/>
                    </a:p>
                    <a:p>
                      <a:pPr marL="0" lvl="0" indent="0" algn="l">
                        <a:lnSpc>
                          <a:spcPct val="100000"/>
                        </a:lnSpc>
                        <a:spcBef>
                          <a:spcPts val="0"/>
                        </a:spcBef>
                        <a:spcAft>
                          <a:spcPts val="0"/>
                        </a:spcAft>
                        <a:buNone/>
                      </a:pPr>
                      <a:r>
                        <a:rPr lang="en-US" sz="1200" b="1" i="0" u="none" strike="noStrike" noProof="0" dirty="0">
                          <a:latin typeface="PF Square Sans Pro Light"/>
                        </a:rPr>
                        <a:t>Empowering</a:t>
                      </a:r>
                      <a:r>
                        <a:rPr lang="en-US" sz="1200" b="0" i="0" u="none" strike="noStrike" noProof="0" dirty="0">
                          <a:latin typeface="PF Square Sans Pro Light"/>
                        </a:rPr>
                        <a:t> – we aim to empower people to take charge of their health through personalized solutions.</a:t>
                      </a:r>
                      <a:endParaRPr lang="en-US" dirty="0"/>
                    </a:p>
                    <a:p>
                      <a:pPr marL="0" lvl="0" indent="0" algn="l">
                        <a:lnSpc>
                          <a:spcPct val="100000"/>
                        </a:lnSpc>
                        <a:spcBef>
                          <a:spcPts val="0"/>
                        </a:spcBef>
                        <a:spcAft>
                          <a:spcPts val="0"/>
                        </a:spcAft>
                        <a:buNone/>
                      </a:pPr>
                      <a:r>
                        <a:rPr lang="en-US" sz="1200" b="1" i="0" u="none" strike="noStrike" noProof="0" dirty="0">
                          <a:latin typeface="PF Square Sans Pro Light"/>
                        </a:rPr>
                        <a:t>Innovative</a:t>
                      </a:r>
                      <a:r>
                        <a:rPr lang="en-US" sz="1200" b="0" i="0" u="none" strike="noStrike" noProof="0" dirty="0">
                          <a:latin typeface="PF Square Sans Pro Light"/>
                        </a:rPr>
                        <a:t> – our approach incorporates cutting-edge trends &amp; technologies in health &amp; wellness.</a:t>
                      </a:r>
                      <a:endParaRPr lang="en-US" dirty="0"/>
                    </a:p>
                    <a:p>
                      <a:pPr marL="0" lvl="0" indent="0" algn="l">
                        <a:lnSpc>
                          <a:spcPct val="100000"/>
                        </a:lnSpc>
                        <a:spcBef>
                          <a:spcPts val="0"/>
                        </a:spcBef>
                        <a:spcAft>
                          <a:spcPts val="0"/>
                        </a:spcAft>
                        <a:buNone/>
                      </a:pPr>
                      <a:r>
                        <a:rPr lang="en-US" sz="1200" b="1" i="0" u="none" strike="noStrike" noProof="0" dirty="0">
                          <a:latin typeface="PF Square Sans Pro Light"/>
                        </a:rPr>
                        <a:t>Health-focused</a:t>
                      </a:r>
                      <a:r>
                        <a:rPr lang="en-US" sz="1200" b="0" i="0" u="none" strike="noStrike" noProof="0" dirty="0">
                          <a:latin typeface="PF Square Sans Pro Light"/>
                        </a:rPr>
                        <a:t> – our mission centers around improving health and quality of life.</a:t>
                      </a:r>
                      <a:endParaRPr lang="en-US" dirty="0"/>
                    </a:p>
                    <a:p>
                      <a:pPr marL="0" lvl="0" indent="0" algn="l">
                        <a:lnSpc>
                          <a:spcPct val="100000"/>
                        </a:lnSpc>
                        <a:spcBef>
                          <a:spcPts val="0"/>
                        </a:spcBef>
                        <a:spcAft>
                          <a:spcPts val="0"/>
                        </a:spcAft>
                        <a:buNone/>
                      </a:pPr>
                      <a:r>
                        <a:rPr lang="en-US" sz="1200" b="1" i="0" u="none" strike="noStrike" noProof="0" dirty="0">
                          <a:latin typeface="PF Square Sans Pro Light"/>
                        </a:rPr>
                        <a:t>Holistic</a:t>
                      </a:r>
                      <a:r>
                        <a:rPr lang="en-US" sz="1200" b="0" i="0" u="none" strike="noStrike" noProof="0" dirty="0">
                          <a:latin typeface="PF Square Sans Pro Light"/>
                        </a:rPr>
                        <a:t> – we take a 360-degree approach, addressing physical, mental, and spiritual health.</a:t>
                      </a:r>
                      <a:endParaRPr lang="en-US" dirty="0"/>
                    </a:p>
                    <a:p>
                      <a:pPr marL="0" lvl="0" indent="0" algn="l">
                        <a:lnSpc>
                          <a:spcPct val="100000"/>
                        </a:lnSpc>
                        <a:spcBef>
                          <a:spcPts val="0"/>
                        </a:spcBef>
                        <a:spcAft>
                          <a:spcPts val="0"/>
                        </a:spcAft>
                        <a:buNone/>
                      </a:pPr>
                      <a:r>
                        <a:rPr lang="en-US" sz="1200" b="1" i="0" u="none" strike="noStrike" noProof="0" dirty="0">
                          <a:latin typeface="PF Square Sans Pro Light"/>
                        </a:rPr>
                        <a:t>Purpose-driven</a:t>
                      </a:r>
                      <a:r>
                        <a:rPr lang="en-US" sz="1200" b="0" i="0" u="none" strike="noStrike" noProof="0" dirty="0">
                          <a:latin typeface="PF Square Sans Pro Light"/>
                        </a:rPr>
                        <a:t> – Everything we do is driven by a deeper sense of purpose to positively impact lives.</a:t>
                      </a:r>
                      <a:endParaRPr lang="en-US" dirty="0"/>
                    </a:p>
                    <a:p>
                      <a:pPr marL="0" lvl="0" indent="0" algn="l">
                        <a:lnSpc>
                          <a:spcPct val="100000"/>
                        </a:lnSpc>
                        <a:spcBef>
                          <a:spcPts val="0"/>
                        </a:spcBef>
                        <a:spcAft>
                          <a:spcPts val="0"/>
                        </a:spcAft>
                        <a:buNone/>
                      </a:pPr>
                      <a:r>
                        <a:rPr lang="en-US" sz="1200" b="1" i="0" u="none" strike="noStrike" noProof="0" dirty="0">
                          <a:latin typeface="PF Square Sans Pro Light"/>
                        </a:rPr>
                        <a:t>Sustainable</a:t>
                      </a:r>
                      <a:r>
                        <a:rPr lang="en-US" sz="1200" b="0" i="0" u="none" strike="noStrike" noProof="0" dirty="0">
                          <a:latin typeface="PF Square Sans Pro Light"/>
                        </a:rPr>
                        <a:t> – our vision includes sustainable practices that ensure long-term health and environmental responsibility.</a:t>
                      </a:r>
                      <a:endParaRPr lang="en-US" dirty="0"/>
                    </a:p>
                    <a:p>
                      <a:pPr marL="0" lvl="0" indent="0" algn="l">
                        <a:lnSpc>
                          <a:spcPct val="100000"/>
                        </a:lnSpc>
                        <a:spcBef>
                          <a:spcPts val="0"/>
                        </a:spcBef>
                        <a:spcAft>
                          <a:spcPts val="0"/>
                        </a:spcAft>
                        <a:buNone/>
                      </a:pPr>
                      <a:r>
                        <a:rPr lang="en-US" sz="1200" b="1" i="0" u="none" strike="noStrike" noProof="0" dirty="0">
                          <a:latin typeface="PF Square Sans Pro Light"/>
                        </a:rPr>
                        <a:t>Personalized</a:t>
                      </a:r>
                      <a:r>
                        <a:rPr lang="en-US" sz="1200" b="0" i="0" u="none" strike="noStrike" noProof="0" dirty="0">
                          <a:latin typeface="PF Square Sans Pro Light"/>
                        </a:rPr>
                        <a:t> – we offer tailored health solutions, meeting individual needs.</a:t>
                      </a:r>
                      <a:endParaRPr lang="en-US" dirty="0"/>
                    </a:p>
                    <a:p>
                      <a:pPr marL="0" lvl="0" indent="0" algn="l">
                        <a:lnSpc>
                          <a:spcPct val="100000"/>
                        </a:lnSpc>
                        <a:spcBef>
                          <a:spcPts val="0"/>
                        </a:spcBef>
                        <a:spcAft>
                          <a:spcPts val="0"/>
                        </a:spcAft>
                        <a:buNone/>
                      </a:pPr>
                      <a:r>
                        <a:rPr lang="en-US" sz="1200" b="1" i="0" u="none" strike="noStrike" noProof="0" dirty="0">
                          <a:latin typeface="PF Square Sans Pro Light"/>
                        </a:rPr>
                        <a:t>Inspiring</a:t>
                      </a:r>
                      <a:r>
                        <a:rPr lang="en-US" sz="1200" b="0" i="0" u="none" strike="noStrike" noProof="0" dirty="0">
                          <a:latin typeface="PF Square Sans Pro Light"/>
                        </a:rPr>
                        <a:t> – Your dream inspires both our customers and our team to strive for better health and well-being.</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l">
                        <a:lnSpc>
                          <a:spcPct val="100000"/>
                        </a:lnSpc>
                        <a:spcBef>
                          <a:spcPts val="0"/>
                        </a:spcBef>
                        <a:spcAft>
                          <a:spcPts val="0"/>
                        </a:spcAft>
                        <a:buNone/>
                      </a:pPr>
                      <a:r>
                        <a:rPr lang="en-US" sz="1200" b="1" i="0" u="none" strike="noStrike" noProof="0" dirty="0"/>
                        <a:t>Bill Gates</a:t>
                      </a:r>
                      <a:r>
                        <a:rPr lang="en-US" sz="1200" b="0" i="0" u="none" strike="noStrike" noProof="0" dirty="0"/>
                        <a:t> – for his passion for learning and curiosity.</a:t>
                      </a:r>
                      <a:endParaRPr lang="en-US" sz="1200" b="0" i="0" dirty="0">
                        <a:latin typeface="Arial"/>
                        <a:ea typeface="Riforma LL" panose="020B0504020101020102" pitchFamily="34" charset="77"/>
                        <a:cs typeface="Arial"/>
                      </a:endParaRPr>
                    </a:p>
                    <a:p>
                      <a:pPr marL="0" lvl="0" indent="0" algn="l">
                        <a:lnSpc>
                          <a:spcPct val="100000"/>
                        </a:lnSpc>
                        <a:spcBef>
                          <a:spcPts val="0"/>
                        </a:spcBef>
                        <a:spcAft>
                          <a:spcPts val="0"/>
                        </a:spcAft>
                        <a:buNone/>
                      </a:pPr>
                      <a:r>
                        <a:rPr lang="en-US" sz="1200" b="1" i="0" u="none" strike="noStrike" noProof="0" dirty="0"/>
                        <a:t>David Sinclair</a:t>
                      </a:r>
                      <a:r>
                        <a:rPr lang="en-US" sz="1200" b="0" i="0" u="none" strike="noStrike" noProof="0" dirty="0"/>
                        <a:t> – for his groundbreaking research and innovation in health and longevity.</a:t>
                      </a:r>
                      <a:endParaRPr lang="en-US" dirty="0"/>
                    </a:p>
                    <a:p>
                      <a:pPr marL="0" lvl="0" indent="0" algn="l">
                        <a:lnSpc>
                          <a:spcPct val="100000"/>
                        </a:lnSpc>
                        <a:spcBef>
                          <a:spcPts val="0"/>
                        </a:spcBef>
                        <a:spcAft>
                          <a:spcPts val="0"/>
                        </a:spcAft>
                        <a:buNone/>
                      </a:pPr>
                      <a:r>
                        <a:rPr lang="en-US" sz="1200" b="1" i="0" u="none" strike="noStrike" noProof="0" dirty="0"/>
                        <a:t>Steve Jobs</a:t>
                      </a:r>
                      <a:r>
                        <a:rPr lang="en-US" sz="1200" b="0" i="0" u="none" strike="noStrike" noProof="0" dirty="0"/>
                        <a:t> – for his visionary thinking and simplicity in execution.</a:t>
                      </a:r>
                      <a:endParaRPr lang="en-US" dirty="0"/>
                    </a:p>
                    <a:p>
                      <a:pPr marL="0" lvl="0" indent="0" algn="l">
                        <a:lnSpc>
                          <a:spcPct val="100000"/>
                        </a:lnSpc>
                        <a:spcBef>
                          <a:spcPts val="0"/>
                        </a:spcBef>
                        <a:spcAft>
                          <a:spcPts val="0"/>
                        </a:spcAft>
                        <a:buNone/>
                      </a:pPr>
                      <a:r>
                        <a:rPr lang="en-US" sz="1200" b="1" i="0" u="none" strike="noStrike" noProof="0" dirty="0"/>
                        <a:t>Brian Johnson</a:t>
                      </a:r>
                      <a:r>
                        <a:rPr lang="en-US" sz="1200" b="0" i="0" u="none" strike="noStrike" noProof="0" dirty="0"/>
                        <a:t> – for his remarkable discipline and commitment to optimizing health.</a:t>
                      </a:r>
                      <a:endParaRPr lang="en-US" dirty="0"/>
                    </a:p>
                    <a:p>
                      <a:pPr marL="0" lvl="0" indent="0" algn="l">
                        <a:lnSpc>
                          <a:spcPct val="100000"/>
                        </a:lnSpc>
                        <a:spcBef>
                          <a:spcPts val="0"/>
                        </a:spcBef>
                        <a:spcAft>
                          <a:spcPts val="0"/>
                        </a:spcAft>
                        <a:buNone/>
                      </a:pPr>
                      <a:r>
                        <a:rPr lang="en-US" sz="1200" b="1" i="0" u="none" strike="noStrike" noProof="0" dirty="0"/>
                        <a:t>Elon Musk</a:t>
                      </a:r>
                      <a:r>
                        <a:rPr lang="en-US" sz="1200" b="0" i="0" u="none" strike="noStrike" noProof="0" dirty="0"/>
                        <a:t> – for bold dreaming and fearless implementation.</a:t>
                      </a:r>
                      <a:endParaRPr lang="en-US" dirty="0"/>
                    </a:p>
                    <a:p>
                      <a:pPr marL="0" lvl="0" indent="0" algn="l">
                        <a:lnSpc>
                          <a:spcPct val="100000"/>
                        </a:lnSpc>
                        <a:spcBef>
                          <a:spcPts val="0"/>
                        </a:spcBef>
                        <a:spcAft>
                          <a:spcPts val="0"/>
                        </a:spcAft>
                        <a:buNone/>
                      </a:pPr>
                      <a:r>
                        <a:rPr lang="en-US" sz="1200" b="1" i="0" u="none" strike="noStrike" noProof="0" dirty="0"/>
                        <a:t>Michelle Obama</a:t>
                      </a:r>
                      <a:r>
                        <a:rPr lang="en-US" sz="1200" b="0" i="0" u="none" strike="noStrike" noProof="0" dirty="0"/>
                        <a:t> – for her advocacy of health, wellness, and empowerment.</a:t>
                      </a:r>
                      <a:endParaRPr lang="en-US" dirty="0"/>
                    </a:p>
                    <a:p>
                      <a:pPr marL="0" lvl="0" indent="0" algn="l">
                        <a:lnSpc>
                          <a:spcPct val="100000"/>
                        </a:lnSpc>
                        <a:spcBef>
                          <a:spcPts val="0"/>
                        </a:spcBef>
                        <a:spcAft>
                          <a:spcPts val="0"/>
                        </a:spcAft>
                        <a:buNone/>
                      </a:pPr>
                      <a:r>
                        <a:rPr lang="en-US" sz="1200" b="1" i="0" u="none" strike="noStrike" noProof="0" dirty="0"/>
                        <a:t>J.K. Rowling</a:t>
                      </a:r>
                      <a:r>
                        <a:rPr lang="en-US" sz="1200" b="0" i="0" u="none" strike="noStrike" noProof="0" dirty="0"/>
                        <a:t> – for her storytelling joy and pursuit of a balanced lifestyle</a:t>
                      </a:r>
                      <a:endParaRPr lang="en-US" dirty="0"/>
                    </a:p>
                    <a:p>
                      <a:pPr marL="0" lvl="0" indent="0" algn="l">
                        <a:lnSpc>
                          <a:spcPct val="100000"/>
                        </a:lnSpc>
                        <a:spcBef>
                          <a:spcPts val="0"/>
                        </a:spcBef>
                        <a:spcAft>
                          <a:spcPts val="0"/>
                        </a:spcAft>
                        <a:buNone/>
                      </a:pPr>
                      <a:r>
                        <a:rPr lang="en-US" sz="1200" b="1" i="0" u="none" strike="noStrike" noProof="0" dirty="0"/>
                        <a:t>Richard Branson</a:t>
                      </a:r>
                      <a:r>
                        <a:rPr lang="en-US" sz="1200" b="0" i="0" u="none" strike="noStrike" noProof="0" dirty="0"/>
                        <a:t> – for his daring entrepreneurial spirit.</a:t>
                      </a:r>
                      <a:endParaRPr lang="en-US" dirty="0"/>
                    </a:p>
                    <a:p>
                      <a:pPr marL="0" lvl="0" indent="0" algn="l">
                        <a:lnSpc>
                          <a:spcPct val="100000"/>
                        </a:lnSpc>
                        <a:spcBef>
                          <a:spcPts val="0"/>
                        </a:spcBef>
                        <a:spcAft>
                          <a:spcPts val="0"/>
                        </a:spcAft>
                        <a:buNone/>
                      </a:pPr>
                      <a:r>
                        <a:rPr lang="en-US" sz="1200" b="1" i="0" u="none" strike="noStrike" noProof="0" dirty="0"/>
                        <a:t>Mother Teresa</a:t>
                      </a:r>
                      <a:r>
                        <a:rPr lang="en-US" sz="1200" b="0" i="0" u="none" strike="noStrike" noProof="0" dirty="0"/>
                        <a:t> – for her caring spirit and dedication to others’ wellbeing.</a:t>
                      </a:r>
                      <a:endParaRPr lang="en-US" dirty="0"/>
                    </a:p>
                    <a:p>
                      <a:pPr marL="0" lvl="0" indent="0" algn="l">
                        <a:lnSpc>
                          <a:spcPct val="100000"/>
                        </a:lnSpc>
                        <a:spcBef>
                          <a:spcPts val="0"/>
                        </a:spcBef>
                        <a:spcAft>
                          <a:spcPts val="0"/>
                        </a:spcAft>
                        <a:buNone/>
                      </a:pPr>
                      <a:r>
                        <a:rPr lang="en-US" sz="1200" b="1" i="0" u="none" strike="noStrike" noProof="0" dirty="0"/>
                        <a:t>David Popovici</a:t>
                      </a:r>
                      <a:r>
                        <a:rPr lang="en-US" sz="1200" b="0" i="0" u="none" strike="noStrike" noProof="0" dirty="0"/>
                        <a:t> – for his discipline, persistence, and pursuit of excellence.</a:t>
                      </a:r>
                    </a:p>
                    <a:p>
                      <a:pPr marL="0" lvl="0" indent="0" algn="l">
                        <a:lnSpc>
                          <a:spcPct val="100000"/>
                        </a:lnSpc>
                        <a:spcBef>
                          <a:spcPts val="0"/>
                        </a:spcBef>
                        <a:spcAft>
                          <a:spcPts val="0"/>
                        </a:spcAft>
                        <a:buNone/>
                      </a:pPr>
                      <a:r>
                        <a:rPr lang="en-US" sz="1200" b="1" i="0" u="none" strike="noStrike" noProof="0" dirty="0">
                          <a:latin typeface="PF Square Sans Pro Light"/>
                        </a:rPr>
                        <a:t>Howard Schultz</a:t>
                      </a:r>
                      <a:r>
                        <a:rPr lang="en-US" sz="1200" b="0" i="0" u="none" strike="noStrike" noProof="0" dirty="0">
                          <a:latin typeface="PF Square Sans Pro Light"/>
                        </a:rPr>
                        <a:t> – for his vision in creating an iconic global brand with a strong sense of community.</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5263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dirty="0">
                          <a:solidFill>
                            <a:schemeClr val="bg1"/>
                          </a:solidFill>
                          <a:latin typeface="Arial" panose="020B0604020202020204" pitchFamily="34" charset="0"/>
                          <a:ea typeface="Riforma LL" panose="020B0504020101020102" pitchFamily="34" charset="77"/>
                          <a:cs typeface="Arial" panose="020B0604020202020204" pitchFamily="34" charset="0"/>
                        </a:rPr>
                        <a:t>Select 7-10 pictures that make your dream vivid</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BG"/>
                    </a:p>
                  </a:txBody>
                  <a:tcPr/>
                </a:tc>
                <a:extLst>
                  <a:ext uri="{0D108BD9-81ED-4DB2-BD59-A6C34878D82A}">
                    <a16:rowId xmlns:a16="http://schemas.microsoft.com/office/drawing/2014/main" val="1710048040"/>
                  </a:ext>
                </a:extLst>
              </a:tr>
              <a:tr h="3232108">
                <a:tc gridSpan="2">
                  <a:txBody>
                    <a:bodyPr/>
                    <a:lstStyle/>
                    <a:p>
                      <a:pPr marL="0" marR="0" lvl="0" indent="0" algn="l">
                        <a:lnSpc>
                          <a:spcPct val="100000"/>
                        </a:lnSpc>
                        <a:spcBef>
                          <a:spcPts val="0"/>
                        </a:spcBef>
                        <a:spcAft>
                          <a:spcPts val="0"/>
                        </a:spcAft>
                        <a:buClrTx/>
                        <a:buSzTx/>
                        <a:buFontTx/>
                        <a:buNone/>
                      </a:pPr>
                      <a:endParaRPr lang="en-US" sz="1200" b="0" i="0" dirty="0" err="1">
                        <a:latin typeface="Arial"/>
                        <a:ea typeface="Riforma LL" panose="020B0504020101020102" pitchFamily="34" charset="77"/>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BG"/>
                    </a:p>
                  </a:txBody>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C022960C-4729-A534-948C-E924FD35EFA6}"/>
              </a:ext>
            </a:extLst>
          </p:cNvPr>
          <p:cNvPicPr>
            <a:picLocks noGrp="1" noRot="1" noChangeAspect="1" noMove="1" noResize="1" noEditPoints="1" noAdjustHandles="1" noChangeArrowheads="1" noChangeShapeType="1" noCrop="1"/>
          </p:cNvPicPr>
          <p:nvPr/>
        </p:nvPicPr>
        <p:blipFill>
          <a:blip r:embed="rId3"/>
          <a:stretch>
            <a:fillRect/>
          </a:stretch>
        </p:blipFill>
        <p:spPr>
          <a:xfrm>
            <a:off x="0" y="-52852"/>
            <a:ext cx="8840832" cy="877247"/>
          </a:xfrm>
          <a:prstGeom prst="rect">
            <a:avLst/>
          </a:prstGeom>
        </p:spPr>
      </p:pic>
      <p:sp>
        <p:nvSpPr>
          <p:cNvPr id="2" name="TextBox 1">
            <a:extLst>
              <a:ext uri="{FF2B5EF4-FFF2-40B4-BE49-F238E27FC236}">
                <a16:creationId xmlns:a16="http://schemas.microsoft.com/office/drawing/2014/main" id="{EB171F56-627E-C7FC-DB65-634C364E36C5}"/>
              </a:ext>
            </a:extLst>
          </p:cNvPr>
          <p:cNvSpPr txBox="1">
            <a:spLocks noGrp="1" noRot="1" noMove="1" noResize="1" noEditPoints="1" noAdjustHandles="1" noChangeArrowheads="1" noChangeShapeType="1"/>
          </p:cNvSpPr>
          <p:nvPr/>
        </p:nvSpPr>
        <p:spPr>
          <a:xfrm>
            <a:off x="4766046" y="242623"/>
            <a:ext cx="5342860" cy="230832"/>
          </a:xfrm>
          <a:prstGeom prst="rect">
            <a:avLst/>
          </a:prstGeom>
          <a:noFill/>
        </p:spPr>
        <p:txBody>
          <a:bodyPr wrap="square">
            <a:spAutoFit/>
          </a:bodyPr>
          <a:lstStyle/>
          <a:p>
            <a:pPr algn="r"/>
            <a:r>
              <a:rPr lang="en-GB" sz="900" b="0" i="0" u="none" strike="noStrike" dirty="0">
                <a:effectLst/>
                <a:latin typeface="Monument Grotesk Mono" panose="02010504030000020004" pitchFamily="2" charset="0"/>
              </a:rPr>
              <a:t>[MODULE:INDIVIDUAL AND COMPANY IDENTITY - SPRINT:DREAM]</a:t>
            </a:r>
            <a:endParaRPr lang="en-BG" sz="900" dirty="0">
              <a:latin typeface="Monument Grotesk Mono" panose="02010504030000020004" pitchFamily="2" charset="0"/>
            </a:endParaRPr>
          </a:p>
        </p:txBody>
      </p:sp>
      <p:pic>
        <p:nvPicPr>
          <p:cNvPr id="9" name="Picture 8" descr="People sitting at tables in a restaurant&#10;&#10;Description automatically generated">
            <a:extLst>
              <a:ext uri="{FF2B5EF4-FFF2-40B4-BE49-F238E27FC236}">
                <a16:creationId xmlns:a16="http://schemas.microsoft.com/office/drawing/2014/main" id="{2C665EB7-355B-A1DA-D952-2664CF109553}"/>
              </a:ext>
            </a:extLst>
          </p:cNvPr>
          <p:cNvPicPr>
            <a:picLocks noChangeAspect="1"/>
          </p:cNvPicPr>
          <p:nvPr/>
        </p:nvPicPr>
        <p:blipFill>
          <a:blip r:embed="rId4"/>
          <a:stretch>
            <a:fillRect/>
          </a:stretch>
        </p:blipFill>
        <p:spPr>
          <a:xfrm>
            <a:off x="36373" y="6528606"/>
            <a:ext cx="3114343" cy="1626804"/>
          </a:xfrm>
          <a:prstGeom prst="rect">
            <a:avLst/>
          </a:prstGeom>
        </p:spPr>
      </p:pic>
      <p:pic>
        <p:nvPicPr>
          <p:cNvPr id="10" name="Picture 9" descr="A screenshot of a cell phone&#10;&#10;Description automatically generated">
            <a:extLst>
              <a:ext uri="{FF2B5EF4-FFF2-40B4-BE49-F238E27FC236}">
                <a16:creationId xmlns:a16="http://schemas.microsoft.com/office/drawing/2014/main" id="{4EB5FA8D-297A-73C9-E965-62F51C6399BC}"/>
              </a:ext>
            </a:extLst>
          </p:cNvPr>
          <p:cNvPicPr>
            <a:picLocks noChangeAspect="1"/>
          </p:cNvPicPr>
          <p:nvPr/>
        </p:nvPicPr>
        <p:blipFill>
          <a:blip r:embed="rId5"/>
          <a:stretch>
            <a:fillRect/>
          </a:stretch>
        </p:blipFill>
        <p:spPr>
          <a:xfrm>
            <a:off x="8844588" y="4881757"/>
            <a:ext cx="1883540" cy="2712088"/>
          </a:xfrm>
          <a:prstGeom prst="rect">
            <a:avLst/>
          </a:prstGeom>
        </p:spPr>
      </p:pic>
      <p:pic>
        <p:nvPicPr>
          <p:cNvPr id="13" name="Picture 12" descr="A group of people in a room&#10;&#10;Description automatically generated">
            <a:extLst>
              <a:ext uri="{FF2B5EF4-FFF2-40B4-BE49-F238E27FC236}">
                <a16:creationId xmlns:a16="http://schemas.microsoft.com/office/drawing/2014/main" id="{F7A67981-8F05-47E0-0993-2397FFEAE011}"/>
              </a:ext>
            </a:extLst>
          </p:cNvPr>
          <p:cNvPicPr>
            <a:picLocks noChangeAspect="1"/>
          </p:cNvPicPr>
          <p:nvPr/>
        </p:nvPicPr>
        <p:blipFill>
          <a:blip r:embed="rId6"/>
          <a:stretch>
            <a:fillRect/>
          </a:stretch>
        </p:blipFill>
        <p:spPr>
          <a:xfrm>
            <a:off x="3081913" y="6114932"/>
            <a:ext cx="2107923" cy="1446805"/>
          </a:xfrm>
          <a:prstGeom prst="rect">
            <a:avLst/>
          </a:prstGeom>
        </p:spPr>
      </p:pic>
      <p:pic>
        <p:nvPicPr>
          <p:cNvPr id="14" name="Picture 13" descr="A person holding a bowl of food&#10;&#10;Description automatically generated">
            <a:extLst>
              <a:ext uri="{FF2B5EF4-FFF2-40B4-BE49-F238E27FC236}">
                <a16:creationId xmlns:a16="http://schemas.microsoft.com/office/drawing/2014/main" id="{6339DF74-ADA8-C56E-3196-7197B53E7C9A}"/>
              </a:ext>
            </a:extLst>
          </p:cNvPr>
          <p:cNvPicPr>
            <a:picLocks noChangeAspect="1"/>
          </p:cNvPicPr>
          <p:nvPr/>
        </p:nvPicPr>
        <p:blipFill>
          <a:blip r:embed="rId7"/>
          <a:stretch>
            <a:fillRect/>
          </a:stretch>
        </p:blipFill>
        <p:spPr>
          <a:xfrm>
            <a:off x="5189934" y="4984385"/>
            <a:ext cx="2201442" cy="1274769"/>
          </a:xfrm>
          <a:prstGeom prst="rect">
            <a:avLst/>
          </a:prstGeom>
        </p:spPr>
      </p:pic>
      <p:pic>
        <p:nvPicPr>
          <p:cNvPr id="15" name="Picture 14" descr="A brain on a circuit board&#10;&#10;Description automatically generated">
            <a:extLst>
              <a:ext uri="{FF2B5EF4-FFF2-40B4-BE49-F238E27FC236}">
                <a16:creationId xmlns:a16="http://schemas.microsoft.com/office/drawing/2014/main" id="{3BC5E0A9-5BC9-B3CB-634E-F0CBE2E106F8}"/>
              </a:ext>
            </a:extLst>
          </p:cNvPr>
          <p:cNvPicPr>
            <a:picLocks noChangeAspect="1"/>
          </p:cNvPicPr>
          <p:nvPr/>
        </p:nvPicPr>
        <p:blipFill>
          <a:blip r:embed="rId8"/>
          <a:stretch>
            <a:fillRect/>
          </a:stretch>
        </p:blipFill>
        <p:spPr>
          <a:xfrm>
            <a:off x="5251003" y="6264893"/>
            <a:ext cx="2172312" cy="1371600"/>
          </a:xfrm>
          <a:prstGeom prst="rect">
            <a:avLst/>
          </a:prstGeom>
        </p:spPr>
      </p:pic>
      <p:pic>
        <p:nvPicPr>
          <p:cNvPr id="16" name="Picture 15">
            <a:extLst>
              <a:ext uri="{FF2B5EF4-FFF2-40B4-BE49-F238E27FC236}">
                <a16:creationId xmlns:a16="http://schemas.microsoft.com/office/drawing/2014/main" id="{7AED45E8-DEF8-A77B-19DC-C1C705AB20A4}"/>
              </a:ext>
            </a:extLst>
          </p:cNvPr>
          <p:cNvPicPr>
            <a:picLocks noChangeAspect="1"/>
          </p:cNvPicPr>
          <p:nvPr/>
        </p:nvPicPr>
        <p:blipFill>
          <a:blip r:embed="rId9"/>
          <a:stretch>
            <a:fillRect/>
          </a:stretch>
        </p:blipFill>
        <p:spPr>
          <a:xfrm>
            <a:off x="37271" y="4879767"/>
            <a:ext cx="3050539" cy="1685477"/>
          </a:xfrm>
          <a:prstGeom prst="rect">
            <a:avLst/>
          </a:prstGeom>
        </p:spPr>
      </p:pic>
      <p:pic>
        <p:nvPicPr>
          <p:cNvPr id="17" name="Picture 16" descr="A microscope with plants in the background&#10;&#10;Description automatically generated">
            <a:extLst>
              <a:ext uri="{FF2B5EF4-FFF2-40B4-BE49-F238E27FC236}">
                <a16:creationId xmlns:a16="http://schemas.microsoft.com/office/drawing/2014/main" id="{36D24BF0-2D16-5AE9-A3FE-85F6727973AF}"/>
              </a:ext>
            </a:extLst>
          </p:cNvPr>
          <p:cNvPicPr>
            <a:picLocks noChangeAspect="1"/>
          </p:cNvPicPr>
          <p:nvPr/>
        </p:nvPicPr>
        <p:blipFill>
          <a:blip r:embed="rId10"/>
          <a:stretch>
            <a:fillRect/>
          </a:stretch>
        </p:blipFill>
        <p:spPr>
          <a:xfrm>
            <a:off x="3196460" y="4875571"/>
            <a:ext cx="1987343" cy="1205693"/>
          </a:xfrm>
          <a:prstGeom prst="rect">
            <a:avLst/>
          </a:prstGeom>
        </p:spPr>
      </p:pic>
      <p:pic>
        <p:nvPicPr>
          <p:cNvPr id="19" name="Picture 18" descr="A couple of children running in a field&#10;&#10;Description automatically generated">
            <a:extLst>
              <a:ext uri="{FF2B5EF4-FFF2-40B4-BE49-F238E27FC236}">
                <a16:creationId xmlns:a16="http://schemas.microsoft.com/office/drawing/2014/main" id="{D9D28E71-D579-4A12-45B1-4F31F6113342}"/>
              </a:ext>
            </a:extLst>
          </p:cNvPr>
          <p:cNvPicPr>
            <a:picLocks noChangeAspect="1"/>
          </p:cNvPicPr>
          <p:nvPr/>
        </p:nvPicPr>
        <p:blipFill>
          <a:blip r:embed="rId11"/>
          <a:stretch>
            <a:fillRect/>
          </a:stretch>
        </p:blipFill>
        <p:spPr>
          <a:xfrm>
            <a:off x="7425327" y="6264249"/>
            <a:ext cx="1962703" cy="1295400"/>
          </a:xfrm>
          <a:prstGeom prst="rect">
            <a:avLst/>
          </a:prstGeom>
        </p:spPr>
      </p:pic>
      <p:pic>
        <p:nvPicPr>
          <p:cNvPr id="4" name="Picture 3" descr="A person sitting on a mat with her hands in front of her&#10;&#10;Description automatically generated">
            <a:extLst>
              <a:ext uri="{FF2B5EF4-FFF2-40B4-BE49-F238E27FC236}">
                <a16:creationId xmlns:a16="http://schemas.microsoft.com/office/drawing/2014/main" id="{FA146DD7-8E52-AA0E-426D-F7E0C3537D6A}"/>
              </a:ext>
            </a:extLst>
          </p:cNvPr>
          <p:cNvPicPr>
            <a:picLocks noChangeAspect="1"/>
          </p:cNvPicPr>
          <p:nvPr/>
        </p:nvPicPr>
        <p:blipFill>
          <a:blip r:embed="rId12"/>
          <a:stretch>
            <a:fillRect/>
          </a:stretch>
        </p:blipFill>
        <p:spPr>
          <a:xfrm>
            <a:off x="7436320" y="5179102"/>
            <a:ext cx="1855458" cy="1102303"/>
          </a:xfrm>
          <a:prstGeom prst="rect">
            <a:avLst/>
          </a:prstGeom>
        </p:spPr>
      </p:pic>
      <p:pic>
        <p:nvPicPr>
          <p:cNvPr id="7" name="Picture 6">
            <a:extLst>
              <a:ext uri="{FF2B5EF4-FFF2-40B4-BE49-F238E27FC236}">
                <a16:creationId xmlns:a16="http://schemas.microsoft.com/office/drawing/2014/main" id="{B78D7886-5BB3-A360-4990-686414C28D48}"/>
              </a:ext>
            </a:extLst>
          </p:cNvPr>
          <p:cNvPicPr>
            <a:picLocks noChangeAspect="1"/>
          </p:cNvPicPr>
          <p:nvPr/>
        </p:nvPicPr>
        <p:blipFill>
          <a:blip r:embed="rId13"/>
          <a:stretch>
            <a:fillRect/>
          </a:stretch>
        </p:blipFill>
        <p:spPr>
          <a:xfrm>
            <a:off x="7437392" y="4110058"/>
            <a:ext cx="2031584" cy="1047477"/>
          </a:xfrm>
          <a:prstGeom prst="rect">
            <a:avLst/>
          </a:prstGeom>
        </p:spPr>
      </p:pic>
    </p:spTree>
    <p:extLst>
      <p:ext uri="{BB962C8B-B14F-4D97-AF65-F5344CB8AC3E}">
        <p14:creationId xmlns:p14="http://schemas.microsoft.com/office/powerpoint/2010/main" val="1820793006"/>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10832</TotalTime>
  <Words>552</Words>
  <Application>Microsoft Office PowerPoint</Application>
  <PresentationFormat>Custom</PresentationFormat>
  <Paragraphs>52</Paragraphs>
  <Slides>5</Slides>
  <Notes>5</Notes>
  <HiddenSlides>0</HiddenSlides>
  <MMClips>0</MMClips>
  <ScaleCrop>false</ScaleCrop>
  <HeadingPairs>
    <vt:vector size="4" baseType="variant">
      <vt:variant>
        <vt:lpstr>Theme</vt:lpstr>
      </vt:variant>
      <vt:variant>
        <vt:i4>3</vt:i4>
      </vt:variant>
      <vt:variant>
        <vt:lpstr>Slide Titles</vt:lpstr>
      </vt:variant>
      <vt:variant>
        <vt:i4>5</vt:i4>
      </vt:variant>
    </vt:vector>
  </HeadingPairs>
  <TitlesOfParts>
    <vt:vector size="8" baseType="lpstr">
      <vt:lpstr>4_Custom Design</vt:lpstr>
      <vt:lpstr>5_Custom Design</vt:lpstr>
      <vt:lpstr>SOLIDS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1302</cp:revision>
  <cp:lastPrinted>2020-02-28T13:07:06Z</cp:lastPrinted>
  <dcterms:created xsi:type="dcterms:W3CDTF">2019-08-22T09:52:59Z</dcterms:created>
  <dcterms:modified xsi:type="dcterms:W3CDTF">2024-10-08T09:04:56Z</dcterms:modified>
</cp:coreProperties>
</file>