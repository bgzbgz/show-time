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9"/>
  </p:notesMasterIdLst>
  <p:handoutMasterIdLst>
    <p:handoutMasterId r:id="rId10"/>
  </p:handoutMasterIdLst>
  <p:sldIdLst>
    <p:sldId id="2587" r:id="rId4"/>
    <p:sldId id="2581" r:id="rId5"/>
    <p:sldId id="2583" r:id="rId6"/>
    <p:sldId id="2579" r:id="rId7"/>
    <p:sldId id="2588" r:id="rId8"/>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80" autoAdjust="0"/>
    <p:restoredTop sz="84242" autoAdjust="0"/>
  </p:normalViewPr>
  <p:slideViewPr>
    <p:cSldViewPr snapToGrid="0">
      <p:cViewPr varScale="1">
        <p:scale>
          <a:sx n="86" d="100"/>
          <a:sy n="86" d="100"/>
        </p:scale>
        <p:origin x="1120" y="2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10/4/24</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10/4/24</a:t>
            </a:fld>
            <a:endParaRPr lang="en-US" dirty="0"/>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876485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927332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604415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267952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804865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19">
            <a:extLst>
              <a:ext uri="{FF2B5EF4-FFF2-40B4-BE49-F238E27FC236}">
                <a16:creationId xmlns:a16="http://schemas.microsoft.com/office/drawing/2014/main" id="{20D55511-4B5F-5458-A1E7-7922D5B57BB9}"/>
              </a:ext>
            </a:extLst>
          </p:cNvPr>
          <p:cNvGraphicFramePr>
            <a:graphicFrameLocks noGrp="1"/>
          </p:cNvGraphicFramePr>
          <p:nvPr>
            <p:extLst>
              <p:ext uri="{D42A27DB-BD31-4B8C-83A1-F6EECF244321}">
                <p14:modId xmlns:p14="http://schemas.microsoft.com/office/powerpoint/2010/main" val="1292499733"/>
              </p:ext>
            </p:extLst>
          </p:nvPr>
        </p:nvGraphicFramePr>
        <p:xfrm>
          <a:off x="163556" y="1443789"/>
          <a:ext cx="9778093" cy="5910024"/>
        </p:xfrm>
        <a:graphic>
          <a:graphicData uri="http://schemas.openxmlformats.org/drawingml/2006/table">
            <a:tbl>
              <a:tblPr firstRow="1" bandRow="1">
                <a:tableStyleId>{2D5ABB26-0587-4C30-8999-92F81FD0307C}</a:tableStyleId>
              </a:tblPr>
              <a:tblGrid>
                <a:gridCol w="9089741">
                  <a:extLst>
                    <a:ext uri="{9D8B030D-6E8A-4147-A177-3AD203B41FA5}">
                      <a16:colId xmlns:a16="http://schemas.microsoft.com/office/drawing/2014/main" val="3021297392"/>
                    </a:ext>
                  </a:extLst>
                </a:gridCol>
                <a:gridCol w="688352">
                  <a:extLst>
                    <a:ext uri="{9D8B030D-6E8A-4147-A177-3AD203B41FA5}">
                      <a16:colId xmlns:a16="http://schemas.microsoft.com/office/drawing/2014/main" val="4021649492"/>
                    </a:ext>
                  </a:extLst>
                </a:gridCol>
              </a:tblGrid>
              <a:tr h="29916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cs typeface="Arial" panose="020B0604020202020204" pitchFamily="34" charset="0"/>
                        </a:rPr>
                        <a:t>Question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cs typeface="Arial" panose="020B0604020202020204" pitchFamily="34" charset="0"/>
                        </a:rPr>
                        <a:t>Score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Team members are passionate and unguarded in the discussion of issues.</a:t>
                      </a:r>
                      <a:r>
                        <a:rPr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Team members call out one another's deficiencies or unproductive behaviors.</a:t>
                      </a:r>
                      <a:r>
                        <a:rPr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Team members know what their peers are working on and how they contribute to the collective good of the team.</a:t>
                      </a:r>
                      <a:r>
                        <a:rPr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r h="441284">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Team members quickly and genuinely apologize to one another when they say or do something inappropriate or possibly damaging to the team.</a:t>
                      </a:r>
                      <a:r>
                        <a:rPr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1631666"/>
                  </a:ext>
                </a:extLst>
              </a:tr>
              <a:tr h="441284">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Team members willingly make sacrifices (such as budget, turf, head count) in their departments or areas of expertise for the good of the team.</a:t>
                      </a:r>
                      <a:r>
                        <a:rPr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7127176"/>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Team members openly admit their weaknesses and mistakes.</a:t>
                      </a:r>
                      <a:r>
                        <a:rPr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5836976"/>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Team members are compelling and not boring.</a:t>
                      </a:r>
                      <a:r>
                        <a:rPr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4910896"/>
                  </a:ext>
                </a:extLst>
              </a:tr>
              <a:tr h="441284">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Team members leave meetings confident that their peers are completely committed to the decisions that were agreed on, even if there was initial disagreement.</a:t>
                      </a:r>
                      <a:r>
                        <a:rPr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2850822"/>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Morale is significantly affected by the failure to achieve team goals.</a:t>
                      </a:r>
                      <a:r>
                        <a:rPr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614542"/>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During team meetings, the most important and difficult issues are put on the table to be resolved.</a:t>
                      </a:r>
                      <a:r>
                        <a:rPr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08535567"/>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Team members are deeply concerned about the prospect of letting down their peers.</a:t>
                      </a:r>
                      <a:r>
                        <a:rPr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3114384"/>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Team members know about one another's personal lives and are comfortable discussing them.</a:t>
                      </a:r>
                      <a:r>
                        <a:rPr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98219"/>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Team members end discussions with clear and specific resolutions and call to action.</a:t>
                      </a:r>
                      <a:r>
                        <a:rPr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8715253"/>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Team members challenge one another about their plans and approaches.</a:t>
                      </a:r>
                      <a:r>
                        <a:rPr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810404"/>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Team members are slow to seek credit for their own contributions but quick to point out those of others.</a:t>
                      </a:r>
                      <a:r>
                        <a:rPr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3664186"/>
                  </a:ext>
                </a:extLst>
              </a:tr>
            </a:tbl>
          </a:graphicData>
        </a:graphic>
      </p:graphicFrame>
      <p:pic>
        <p:nvPicPr>
          <p:cNvPr id="5" name="Picture 4">
            <a:extLst>
              <a:ext uri="{FF2B5EF4-FFF2-40B4-BE49-F238E27FC236}">
                <a16:creationId xmlns:a16="http://schemas.microsoft.com/office/drawing/2014/main" id="{B0ABCB30-8567-2448-7617-67EA44D81A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6122"/>
            <a:ext cx="6503484" cy="597524"/>
          </a:xfrm>
          <a:prstGeom prst="rect">
            <a:avLst/>
          </a:prstGeom>
        </p:spPr>
      </p:pic>
      <p:pic>
        <p:nvPicPr>
          <p:cNvPr id="6" name="Picture 5">
            <a:extLst>
              <a:ext uri="{FF2B5EF4-FFF2-40B4-BE49-F238E27FC236}">
                <a16:creationId xmlns:a16="http://schemas.microsoft.com/office/drawing/2014/main" id="{3E3D3BF5-7001-9B59-9FFF-F46C83437D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cxnSp>
        <p:nvCxnSpPr>
          <p:cNvPr id="7" name="Straight Connector 6">
            <a:extLst>
              <a:ext uri="{FF2B5EF4-FFF2-40B4-BE49-F238E27FC236}">
                <a16:creationId xmlns:a16="http://schemas.microsoft.com/office/drawing/2014/main" id="{734A025F-DA09-F19C-3CF4-9E5C5928D76F}"/>
              </a:ext>
            </a:extLst>
          </p:cNvPr>
          <p:cNvCxnSpPr>
            <a:cxnSpLocks/>
          </p:cNvCxnSpPr>
          <p:nvPr/>
        </p:nvCxnSpPr>
        <p:spPr>
          <a:xfrm flipH="1">
            <a:off x="0" y="540000"/>
            <a:ext cx="101493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7D5F7B5-03C1-BE5F-9380-8D979A69FC21}"/>
              </a:ext>
            </a:extLst>
          </p:cNvPr>
          <p:cNvSpPr txBox="1"/>
          <p:nvPr/>
        </p:nvSpPr>
        <p:spPr>
          <a:xfrm>
            <a:off x="174067" y="655984"/>
            <a:ext cx="9778092" cy="646331"/>
          </a:xfrm>
          <a:prstGeom prst="rect">
            <a:avLst/>
          </a:prstGeom>
          <a:solidFill>
            <a:schemeClr val="bg2"/>
          </a:solidFill>
        </p:spPr>
        <p:txBody>
          <a:bodyPr wrap="square" rtlCol="0">
            <a:spAutoFit/>
          </a:bodyPr>
          <a:lstStyle/>
          <a:p>
            <a:r>
              <a:rPr lang="en-GB" sz="1200" b="0" i="0" u="none" strike="noStrike" dirty="0">
                <a:solidFill>
                  <a:schemeClr val="tx1"/>
                </a:solidFill>
                <a:effectLst/>
                <a:latin typeface="Arial" panose="020B0604020202020204" pitchFamily="34" charset="0"/>
                <a:cs typeface="Arial" panose="020B0604020202020204" pitchFamily="34" charset="0"/>
              </a:rPr>
              <a:t>Evaluate each statement, considering how it applies to your team’s current dynamics. </a:t>
            </a:r>
          </a:p>
          <a:p>
            <a:r>
              <a:rPr lang="en-GB" sz="1200" b="0" i="0" u="none" strike="noStrike" dirty="0">
                <a:solidFill>
                  <a:schemeClr val="tx1"/>
                </a:solidFill>
                <a:effectLst/>
                <a:latin typeface="Arial" panose="020B0604020202020204" pitchFamily="34" charset="0"/>
                <a:cs typeface="Arial" panose="020B0604020202020204" pitchFamily="34" charset="0"/>
              </a:rPr>
              <a:t>Utilize a scale of 1-3 for your responses:</a:t>
            </a:r>
          </a:p>
          <a:p>
            <a:r>
              <a:rPr lang="en-GB" sz="1200" b="0" i="0" u="none" strike="noStrike" dirty="0">
                <a:solidFill>
                  <a:schemeClr val="tx1"/>
                </a:solidFill>
                <a:effectLst/>
                <a:latin typeface="Arial" panose="020B0604020202020204" pitchFamily="34" charset="0"/>
                <a:cs typeface="Arial" panose="020B0604020202020204" pitchFamily="34" charset="0"/>
              </a:rPr>
              <a:t>3 = Usually (This happens most of the time); 2 = Sometimes (This happens occasionally); 1 = Rarely (This hardly ever happens)</a:t>
            </a:r>
          </a:p>
        </p:txBody>
      </p:sp>
    </p:spTree>
    <p:extLst>
      <p:ext uri="{BB962C8B-B14F-4D97-AF65-F5344CB8AC3E}">
        <p14:creationId xmlns:p14="http://schemas.microsoft.com/office/powerpoint/2010/main" val="854044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5AB1F6C-C39D-2919-A946-05CA775DE313}"/>
              </a:ext>
            </a:extLst>
          </p:cNvPr>
          <p:cNvGraphicFramePr>
            <a:graphicFrameLocks noGrp="1"/>
          </p:cNvGraphicFramePr>
          <p:nvPr>
            <p:extLst>
              <p:ext uri="{D42A27DB-BD31-4B8C-83A1-F6EECF244321}">
                <p14:modId xmlns:p14="http://schemas.microsoft.com/office/powerpoint/2010/main" val="2313717701"/>
              </p:ext>
            </p:extLst>
          </p:nvPr>
        </p:nvGraphicFramePr>
        <p:xfrm>
          <a:off x="181245" y="1400238"/>
          <a:ext cx="9707739" cy="5869199"/>
        </p:xfrm>
        <a:graphic>
          <a:graphicData uri="http://schemas.openxmlformats.org/drawingml/2006/table">
            <a:tbl>
              <a:tblPr firstRow="1" bandRow="1">
                <a:tableStyleId>{2D5ABB26-0587-4C30-8999-92F81FD0307C}</a:tableStyleId>
              </a:tblPr>
              <a:tblGrid>
                <a:gridCol w="1890907">
                  <a:extLst>
                    <a:ext uri="{9D8B030D-6E8A-4147-A177-3AD203B41FA5}">
                      <a16:colId xmlns:a16="http://schemas.microsoft.com/office/drawing/2014/main" val="1435361538"/>
                    </a:ext>
                  </a:extLst>
                </a:gridCol>
                <a:gridCol w="2005263">
                  <a:extLst>
                    <a:ext uri="{9D8B030D-6E8A-4147-A177-3AD203B41FA5}">
                      <a16:colId xmlns:a16="http://schemas.microsoft.com/office/drawing/2014/main" val="3691210030"/>
                    </a:ext>
                  </a:extLst>
                </a:gridCol>
                <a:gridCol w="1876927">
                  <a:extLst>
                    <a:ext uri="{9D8B030D-6E8A-4147-A177-3AD203B41FA5}">
                      <a16:colId xmlns:a16="http://schemas.microsoft.com/office/drawing/2014/main" val="3917548566"/>
                    </a:ext>
                  </a:extLst>
                </a:gridCol>
                <a:gridCol w="2005263">
                  <a:extLst>
                    <a:ext uri="{9D8B030D-6E8A-4147-A177-3AD203B41FA5}">
                      <a16:colId xmlns:a16="http://schemas.microsoft.com/office/drawing/2014/main" val="14683607"/>
                    </a:ext>
                  </a:extLst>
                </a:gridCol>
                <a:gridCol w="1929379">
                  <a:extLst>
                    <a:ext uri="{9D8B030D-6E8A-4147-A177-3AD203B41FA5}">
                      <a16:colId xmlns:a16="http://schemas.microsoft.com/office/drawing/2014/main" val="2403508123"/>
                    </a:ext>
                  </a:extLst>
                </a:gridCol>
              </a:tblGrid>
              <a:tr h="84788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cs typeface="Arial" panose="020B0604020202020204" pitchFamily="34" charset="0"/>
                        </a:rPr>
                        <a:t>Dysfunction 1:</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cs typeface="Arial" panose="020B0604020202020204" pitchFamily="34" charset="0"/>
                        </a:rPr>
                        <a:t>Absence of trust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cs typeface="Arial" panose="020B0604020202020204" pitchFamily="34" charset="0"/>
                        </a:rPr>
                        <a:t>Dysfunction 2:</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cs typeface="Arial" panose="020B0604020202020204" pitchFamily="34" charset="0"/>
                        </a:rPr>
                        <a:t>Fear of conflict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cs typeface="Arial" panose="020B0604020202020204" pitchFamily="34" charset="0"/>
                        </a:rPr>
                        <a:t>Dysfunction 3:</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cs typeface="Arial" panose="020B0604020202020204" pitchFamily="34" charset="0"/>
                        </a:rPr>
                        <a:t>Lack of commitment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cs typeface="Arial" panose="020B0604020202020204" pitchFamily="34" charset="0"/>
                        </a:rPr>
                        <a:t>Dysfunction 4:</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cs typeface="Arial" panose="020B0604020202020204" pitchFamily="34" charset="0"/>
                        </a:rPr>
                        <a:t>Avoidance of accountability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cs typeface="Arial" panose="020B0604020202020204" pitchFamily="34" charset="0"/>
                        </a:rPr>
                        <a:t>Dysfunction 5:</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cs typeface="Arial" panose="020B0604020202020204" pitchFamily="34" charset="0"/>
                        </a:rPr>
                        <a:t>Inattention to results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583075">
                <a:tc>
                  <a:txBody>
                    <a:bodyPr/>
                    <a:lstStyle/>
                    <a:p>
                      <a:pPr lvl="1" algn="l" fontAlgn="t"/>
                      <a:r>
                        <a:rPr lang="en-GB" sz="14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4</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lvl="1" algn="l" fontAlgn="t"/>
                      <a:r>
                        <a:rPr lang="en-GB" sz="14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1</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lvl="1" algn="l" fontAlgn="t"/>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3</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lvl="1" algn="l" fontAlgn="t"/>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2</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lvl="1" algn="l" fontAlgn="t"/>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5</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67901036"/>
                  </a:ext>
                </a:extLst>
              </a:tr>
              <a:tr h="583075">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583075">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6</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7</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8</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11</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9</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604860994"/>
                  </a:ext>
                </a:extLst>
              </a:tr>
              <a:tr h="583075">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1631666"/>
                  </a:ext>
                </a:extLst>
              </a:tr>
              <a:tr h="583075">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12</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10</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13</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14</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15</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997127176"/>
                  </a:ext>
                </a:extLst>
              </a:tr>
              <a:tr h="583075">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dirty="0">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5836976"/>
                  </a:ext>
                </a:extLst>
              </a:tr>
              <a:tr h="583075">
                <a:tc>
                  <a:txBody>
                    <a:bodyPr/>
                    <a:lstStyle/>
                    <a:p>
                      <a:pPr lvl="0" algn="ctr" fontAlgn="t"/>
                      <a:r>
                        <a:rPr lang="en-GB" sz="1400" b="0" i="0" u="none" strike="noStrike" dirty="0">
                          <a:solidFill>
                            <a:schemeClr val="bg1"/>
                          </a:solidFill>
                          <a:effectLst/>
                          <a:latin typeface="Arial" panose="020B0604020202020204" pitchFamily="34" charset="0"/>
                          <a:ea typeface="Riforma LL" panose="020B0504020101020102" pitchFamily="34" charset="0"/>
                          <a:cs typeface="Arial" panose="020B0604020202020204" pitchFamily="34" charset="0"/>
                        </a:rPr>
                        <a:t>Sum (total score for dysfunction 1)</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Arial" panose="020B0604020202020204" pitchFamily="34" charset="0"/>
                          <a:ea typeface="Riforma LL" panose="020B0504020101020102" pitchFamily="34" charset="0"/>
                          <a:cs typeface="Arial" panose="020B0604020202020204" pitchFamily="34" charset="0"/>
                        </a:rPr>
                        <a:t>Sum (total score for dysfunction 2)</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Arial" panose="020B0604020202020204" pitchFamily="34" charset="0"/>
                          <a:ea typeface="Riforma LL" panose="020B0504020101020102" pitchFamily="34" charset="0"/>
                          <a:cs typeface="Arial" panose="020B0604020202020204" pitchFamily="34" charset="0"/>
                        </a:rPr>
                        <a:t>Sum (total score for dysfunction 3)</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rial" panose="020B0604020202020204" pitchFamily="34" charset="0"/>
                          <a:ea typeface="Riforma LL" panose="020B0504020101020102" pitchFamily="34" charset="0"/>
                          <a:cs typeface="Arial" panose="020B0604020202020204" pitchFamily="34" charset="0"/>
                        </a:rPr>
                        <a:t>Sum (total score for dysfunction 4)</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Arial" panose="020B0604020202020204" pitchFamily="34" charset="0"/>
                          <a:ea typeface="Riforma LL" panose="020B0504020101020102" pitchFamily="34" charset="0"/>
                          <a:cs typeface="Arial" panose="020B0604020202020204" pitchFamily="34" charset="0"/>
                        </a:rPr>
                        <a:t>Sum (total score for dysfunction 5)</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17614542"/>
                  </a:ext>
                </a:extLst>
              </a:tr>
              <a:tr h="939786">
                <a:tc>
                  <a:txBody>
                    <a:bodyPr/>
                    <a:lstStyle/>
                    <a:p>
                      <a:pPr algn="ctr"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dirty="0">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dirty="0">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dirty="0">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dirty="0">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8304135"/>
                  </a:ext>
                </a:extLst>
              </a:tr>
            </a:tbl>
          </a:graphicData>
        </a:graphic>
      </p:graphicFrame>
      <p:pic>
        <p:nvPicPr>
          <p:cNvPr id="6" name="Picture 5">
            <a:extLst>
              <a:ext uri="{FF2B5EF4-FFF2-40B4-BE49-F238E27FC236}">
                <a16:creationId xmlns:a16="http://schemas.microsoft.com/office/drawing/2014/main" id="{A1C45C8A-FF8D-B098-31DF-B26A6F5560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pic>
        <p:nvPicPr>
          <p:cNvPr id="8" name="Picture 7">
            <a:extLst>
              <a:ext uri="{FF2B5EF4-FFF2-40B4-BE49-F238E27FC236}">
                <a16:creationId xmlns:a16="http://schemas.microsoft.com/office/drawing/2014/main" id="{08C9E639-E532-5FAA-4DF9-A18C5F14D2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122"/>
            <a:ext cx="6503484" cy="597524"/>
          </a:xfrm>
          <a:prstGeom prst="rect">
            <a:avLst/>
          </a:prstGeom>
        </p:spPr>
      </p:pic>
      <p:cxnSp>
        <p:nvCxnSpPr>
          <p:cNvPr id="9" name="Straight Connector 8">
            <a:extLst>
              <a:ext uri="{FF2B5EF4-FFF2-40B4-BE49-F238E27FC236}">
                <a16:creationId xmlns:a16="http://schemas.microsoft.com/office/drawing/2014/main" id="{4A67A95A-263E-268F-E31A-FC452192E8BE}"/>
              </a:ext>
            </a:extLst>
          </p:cNvPr>
          <p:cNvCxnSpPr>
            <a:cxnSpLocks/>
          </p:cNvCxnSpPr>
          <p:nvPr/>
        </p:nvCxnSpPr>
        <p:spPr>
          <a:xfrm flipH="1">
            <a:off x="0" y="540000"/>
            <a:ext cx="101493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E1F5DB7-DC75-5B42-79EF-F4C52B3D546C}"/>
              </a:ext>
            </a:extLst>
          </p:cNvPr>
          <p:cNvSpPr txBox="1"/>
          <p:nvPr/>
        </p:nvSpPr>
        <p:spPr>
          <a:xfrm>
            <a:off x="181244" y="640485"/>
            <a:ext cx="9707740" cy="576000"/>
          </a:xfrm>
          <a:prstGeom prst="rect">
            <a:avLst/>
          </a:prstGeom>
          <a:solidFill>
            <a:schemeClr val="bg2"/>
          </a:solidFill>
        </p:spPr>
        <p:txBody>
          <a:bodyPr wrap="square" rtlCol="0" anchor="ctr">
            <a:spAutoFit/>
          </a:bodyPr>
          <a:lstStyle/>
          <a:p>
            <a:pPr algn="l"/>
            <a:r>
              <a:rPr lang="en-GB" sz="1200" dirty="0">
                <a:solidFill>
                  <a:schemeClr val="tx1"/>
                </a:solidFill>
                <a:latin typeface="Arial" panose="020B0604020202020204" pitchFamily="34" charset="0"/>
                <a:cs typeface="Arial" panose="020B0604020202020204" pitchFamily="34" charset="0"/>
              </a:rPr>
              <a:t>Calculate the total scores for each dysfunction based on the inputs. </a:t>
            </a:r>
          </a:p>
          <a:p>
            <a:pPr algn="l"/>
            <a:r>
              <a:rPr lang="en-GB" sz="1200" dirty="0">
                <a:solidFill>
                  <a:schemeClr val="tx1"/>
                </a:solidFill>
                <a:latin typeface="Arial" panose="020B0604020202020204" pitchFamily="34" charset="0"/>
                <a:cs typeface="Arial" panose="020B0604020202020204" pitchFamily="34" charset="0"/>
              </a:rPr>
              <a:t>Each row represents an individual team member’s responses</a:t>
            </a:r>
            <a:r>
              <a:rPr lang="en-GB" sz="1200" dirty="0">
                <a:latin typeface="Arial" panose="020B0604020202020204" pitchFamily="34" charset="0"/>
                <a:cs typeface="Arial" panose="020B0604020202020204" pitchFamily="34" charset="0"/>
              </a:rPr>
              <a:t>. In </a:t>
            </a:r>
            <a:r>
              <a:rPr lang="en-GB" sz="1200" dirty="0">
                <a:solidFill>
                  <a:schemeClr val="tx1"/>
                </a:solidFill>
                <a:latin typeface="Arial" panose="020B0604020202020204" pitchFamily="34" charset="0"/>
                <a:cs typeface="Arial" panose="020B0604020202020204" pitchFamily="34" charset="0"/>
              </a:rPr>
              <a:t>the final row, calculate the total score for each dysfunction.</a:t>
            </a:r>
          </a:p>
        </p:txBody>
      </p:sp>
    </p:spTree>
    <p:extLst>
      <p:ext uri="{BB962C8B-B14F-4D97-AF65-F5344CB8AC3E}">
        <p14:creationId xmlns:p14="http://schemas.microsoft.com/office/powerpoint/2010/main" val="1471373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1738ED5-E9D1-73F8-82EA-74F27AC84D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185" y="110784"/>
            <a:ext cx="5586388" cy="506266"/>
          </a:xfrm>
          <a:prstGeom prst="rect">
            <a:avLst/>
          </a:prstGeom>
        </p:spPr>
      </p:pic>
      <p:graphicFrame>
        <p:nvGraphicFramePr>
          <p:cNvPr id="2" name="Table 1">
            <a:extLst>
              <a:ext uri="{FF2B5EF4-FFF2-40B4-BE49-F238E27FC236}">
                <a16:creationId xmlns:a16="http://schemas.microsoft.com/office/drawing/2014/main" id="{D5AB1F6C-C39D-2919-A946-05CA775DE313}"/>
              </a:ext>
            </a:extLst>
          </p:cNvPr>
          <p:cNvGraphicFramePr>
            <a:graphicFrameLocks noGrp="1"/>
          </p:cNvGraphicFramePr>
          <p:nvPr>
            <p:extLst>
              <p:ext uri="{D42A27DB-BD31-4B8C-83A1-F6EECF244321}">
                <p14:modId xmlns:p14="http://schemas.microsoft.com/office/powerpoint/2010/main" val="1551242680"/>
              </p:ext>
            </p:extLst>
          </p:nvPr>
        </p:nvGraphicFramePr>
        <p:xfrm>
          <a:off x="258734" y="1859905"/>
          <a:ext cx="9707739" cy="5153787"/>
        </p:xfrm>
        <a:graphic>
          <a:graphicData uri="http://schemas.openxmlformats.org/drawingml/2006/table">
            <a:tbl>
              <a:tblPr firstRow="1" bandRow="1">
                <a:tableStyleId>{2D5ABB26-0587-4C30-8999-92F81FD0307C}</a:tableStyleId>
              </a:tblPr>
              <a:tblGrid>
                <a:gridCol w="1582636">
                  <a:extLst>
                    <a:ext uri="{9D8B030D-6E8A-4147-A177-3AD203B41FA5}">
                      <a16:colId xmlns:a16="http://schemas.microsoft.com/office/drawing/2014/main" val="1341437967"/>
                    </a:ext>
                  </a:extLst>
                </a:gridCol>
                <a:gridCol w="1582636">
                  <a:extLst>
                    <a:ext uri="{9D8B030D-6E8A-4147-A177-3AD203B41FA5}">
                      <a16:colId xmlns:a16="http://schemas.microsoft.com/office/drawing/2014/main" val="1435361538"/>
                    </a:ext>
                  </a:extLst>
                </a:gridCol>
                <a:gridCol w="1678348">
                  <a:extLst>
                    <a:ext uri="{9D8B030D-6E8A-4147-A177-3AD203B41FA5}">
                      <a16:colId xmlns:a16="http://schemas.microsoft.com/office/drawing/2014/main" val="3691210030"/>
                    </a:ext>
                  </a:extLst>
                </a:gridCol>
                <a:gridCol w="1570935">
                  <a:extLst>
                    <a:ext uri="{9D8B030D-6E8A-4147-A177-3AD203B41FA5}">
                      <a16:colId xmlns:a16="http://schemas.microsoft.com/office/drawing/2014/main" val="3917548566"/>
                    </a:ext>
                  </a:extLst>
                </a:gridCol>
                <a:gridCol w="1678348">
                  <a:extLst>
                    <a:ext uri="{9D8B030D-6E8A-4147-A177-3AD203B41FA5}">
                      <a16:colId xmlns:a16="http://schemas.microsoft.com/office/drawing/2014/main" val="14683607"/>
                    </a:ext>
                  </a:extLst>
                </a:gridCol>
                <a:gridCol w="1614836">
                  <a:extLst>
                    <a:ext uri="{9D8B030D-6E8A-4147-A177-3AD203B41FA5}">
                      <a16:colId xmlns:a16="http://schemas.microsoft.com/office/drawing/2014/main" val="2403508123"/>
                    </a:ext>
                  </a:extLst>
                </a:gridCol>
              </a:tblGrid>
              <a:tr h="61183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Team member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1:</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2:</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Fear of conflict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3:</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4:</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5:</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Inattention to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813697056"/>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05836976"/>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50553704"/>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1303769"/>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en-GB" sz="1200" b="0" i="0" u="none" strike="noStrike" dirty="0">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9675350"/>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2572780"/>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74705117"/>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8149056"/>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70126311"/>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2311506"/>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0979690"/>
                  </a:ext>
                </a:extLst>
              </a:tr>
              <a:tr h="4780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GB" sz="1200" b="0" i="0" kern="1200">
                          <a:solidFill>
                            <a:schemeClr val="bg1"/>
                          </a:solidFill>
                          <a:latin typeface="Arial" panose="020B0604020202020204" pitchFamily="34" charset="0"/>
                          <a:ea typeface="+mn-ea"/>
                          <a:cs typeface="Arial" panose="020B0604020202020204" pitchFamily="34" charset="0"/>
                        </a:rPr>
                        <a:t>Avg team scores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lvl="0" algn="ctr" fontAlgn="t"/>
                      <a:r>
                        <a:rPr lang="en-GB" sz="1200" b="0" i="0" u="none" strike="noStrike" dirty="0">
                          <a:solidFill>
                            <a:schemeClr val="bg1"/>
                          </a:solidFill>
                          <a:effectLst/>
                          <a:latin typeface="Arial" panose="020B0604020202020204" pitchFamily="34" charset="0"/>
                          <a:ea typeface="Riforma LL" panose="020B0504020101020102" pitchFamily="34" charset="0"/>
                          <a:cs typeface="Arial" panose="020B0604020202020204" pitchFamily="34" charset="0"/>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kern="1200">
                          <a:solidFill>
                            <a:schemeClr val="bg1"/>
                          </a:solidFill>
                          <a:effectLst/>
                          <a:latin typeface="Arial" panose="020B0604020202020204" pitchFamily="34" charset="0"/>
                          <a:ea typeface="Riforma LL" panose="020B0504020101020102" pitchFamily="34" charset="0"/>
                          <a:cs typeface="Arial" panose="020B0604020202020204" pitchFamily="34" charset="0"/>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kern="1200">
                          <a:solidFill>
                            <a:schemeClr val="bg1"/>
                          </a:solidFill>
                          <a:effectLst/>
                          <a:latin typeface="Arial" panose="020B0604020202020204" pitchFamily="34" charset="0"/>
                          <a:ea typeface="Riforma LL" panose="020B0504020101020102" pitchFamily="34" charset="0"/>
                          <a:cs typeface="Arial" panose="020B0604020202020204" pitchFamily="34" charset="0"/>
                        </a:rPr>
                        <a:t>Avoidance of accountability</a:t>
                      </a:r>
                      <a:endParaRPr lang="en-GB" sz="1200" b="0" i="0" u="none" strike="noStrike" kern="1200" dirty="0">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rtl="0" eaLnBrk="1" fontAlgn="t" latinLnBrk="0" hangingPunct="1">
                        <a:lnSpc>
                          <a:spcPct val="100000"/>
                        </a:lnSpc>
                        <a:spcBef>
                          <a:spcPts val="0"/>
                        </a:spcBef>
                        <a:spcAft>
                          <a:spcPts val="0"/>
                        </a:spcAft>
                        <a:buClrTx/>
                        <a:buSzTx/>
                        <a:buFontTx/>
                        <a:buNone/>
                      </a:pPr>
                      <a:r>
                        <a:rPr lang="en-GB" sz="1200" b="0" i="0" u="none" strike="noStrike" kern="1200" dirty="0">
                          <a:solidFill>
                            <a:schemeClr val="bg1"/>
                          </a:solidFill>
                          <a:effectLst/>
                          <a:latin typeface="Arial" panose="020B0604020202020204" pitchFamily="34" charset="0"/>
                          <a:ea typeface="Riforma LL" panose="020B0504020101020102" pitchFamily="34" charset="0"/>
                          <a:cs typeface="Arial" panose="020B0604020202020204" pitchFamily="34" charset="0"/>
                        </a:rPr>
                        <a:t>Inattention to results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17614542"/>
                  </a:ext>
                </a:extLst>
              </a:tr>
              <a:tr h="654061">
                <a:tc>
                  <a:txBody>
                    <a:bodyPr/>
                    <a:lstStyle/>
                    <a:p>
                      <a:pPr algn="ctr"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8304135"/>
                  </a:ext>
                </a:extLst>
              </a:tr>
            </a:tbl>
          </a:graphicData>
        </a:graphic>
      </p:graphicFrame>
      <p:pic>
        <p:nvPicPr>
          <p:cNvPr id="6" name="Picture 5">
            <a:extLst>
              <a:ext uri="{FF2B5EF4-FFF2-40B4-BE49-F238E27FC236}">
                <a16:creationId xmlns:a16="http://schemas.microsoft.com/office/drawing/2014/main" id="{54A37B33-B3BC-A3E0-A178-8230A0D3C3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sp>
        <p:nvSpPr>
          <p:cNvPr id="4" name="TextBox 3">
            <a:extLst>
              <a:ext uri="{FF2B5EF4-FFF2-40B4-BE49-F238E27FC236}">
                <a16:creationId xmlns:a16="http://schemas.microsoft.com/office/drawing/2014/main" id="{8E1F5DB7-DC75-5B42-79EF-F4C52B3D546C}"/>
              </a:ext>
            </a:extLst>
          </p:cNvPr>
          <p:cNvSpPr txBox="1"/>
          <p:nvPr/>
        </p:nvSpPr>
        <p:spPr>
          <a:xfrm>
            <a:off x="258734" y="655984"/>
            <a:ext cx="9707740" cy="1015663"/>
          </a:xfrm>
          <a:prstGeom prst="rect">
            <a:avLst/>
          </a:prstGeom>
          <a:solidFill>
            <a:schemeClr val="bg2"/>
          </a:solidFill>
        </p:spPr>
        <p:txBody>
          <a:bodyPr wrap="square" lIns="91440" tIns="45720" rIns="91440" bIns="45720" rtlCol="0" anchor="t">
            <a:spAutoFit/>
          </a:bodyPr>
          <a:lstStyle/>
          <a:p>
            <a:r>
              <a:rPr lang="en-GB" sz="1200" dirty="0">
                <a:latin typeface="Arial" panose="020B0604020202020204" pitchFamily="34" charset="0"/>
                <a:ea typeface="Calibri"/>
                <a:cs typeface="Arial" panose="020B0604020202020204" pitchFamily="34" charset="0"/>
              </a:rPr>
              <a:t>Compile all team members’ scores together to have a comprehensive view of the team’s perceptions (done by the module guru).</a:t>
            </a:r>
          </a:p>
          <a:p>
            <a:r>
              <a:rPr lang="en-GB" sz="1200" b="1" dirty="0" err="1">
                <a:latin typeface="Arial" panose="020B0604020202020204" pitchFamily="34" charset="0"/>
                <a:ea typeface="Calibri"/>
                <a:cs typeface="Arial" panose="020B0604020202020204" pitchFamily="34" charset="0"/>
              </a:rPr>
              <a:t>Analyze</a:t>
            </a:r>
            <a:r>
              <a:rPr lang="en-GB" sz="1200" b="1" dirty="0">
                <a:latin typeface="Arial" panose="020B0604020202020204" pitchFamily="34" charset="0"/>
                <a:ea typeface="Calibri"/>
                <a:cs typeface="Arial" panose="020B0604020202020204" pitchFamily="34" charset="0"/>
              </a:rPr>
              <a:t> </a:t>
            </a:r>
            <a:r>
              <a:rPr lang="en-GB" sz="1200" b="1" i="0" u="none" strike="noStrike" dirty="0">
                <a:effectLst/>
                <a:latin typeface="Arial" panose="020B0604020202020204" pitchFamily="34" charset="0"/>
                <a:ea typeface="Calibri"/>
                <a:cs typeface="Arial" panose="020B0604020202020204" pitchFamily="34" charset="0"/>
              </a:rPr>
              <a:t>the total scores for each dysfunction</a:t>
            </a:r>
            <a:r>
              <a:rPr lang="en-GB" sz="1200" b="1" dirty="0">
                <a:latin typeface="Arial" panose="020B0604020202020204" pitchFamily="34" charset="0"/>
                <a:ea typeface="Calibri"/>
                <a:cs typeface="Arial" panose="020B0604020202020204" pitchFamily="34" charset="0"/>
              </a:rPr>
              <a:t> </a:t>
            </a:r>
            <a:endParaRPr lang="en-GB" sz="1200" b="1" i="0" u="none" strike="noStrike" dirty="0">
              <a:effectLst/>
              <a:latin typeface="Arial" panose="020B0604020202020204" pitchFamily="34" charset="0"/>
              <a:ea typeface="Calibri"/>
              <a:cs typeface="Arial" panose="020B0604020202020204" pitchFamily="34" charset="0"/>
            </a:endParaRPr>
          </a:p>
          <a:p>
            <a:pPr marL="171450" indent="-171450">
              <a:buFont typeface="Arial"/>
              <a:buChar char="•"/>
            </a:pPr>
            <a:r>
              <a:rPr lang="en-GB" sz="1200" dirty="0">
                <a:latin typeface="Arial" panose="020B0604020202020204" pitchFamily="34" charset="0"/>
                <a:cs typeface="Arial" panose="020B0604020202020204" pitchFamily="34" charset="0"/>
              </a:rPr>
              <a:t>A score between 9-8 indicates no problem</a:t>
            </a:r>
          </a:p>
          <a:p>
            <a:pPr marL="171450" indent="-171450">
              <a:buFont typeface="Arial"/>
              <a:buChar char="•"/>
            </a:pPr>
            <a:r>
              <a:rPr lang="en-GB" sz="1200" dirty="0">
                <a:latin typeface="Arial" panose="020B0604020202020204" pitchFamily="34" charset="0"/>
                <a:cs typeface="Arial" panose="020B0604020202020204" pitchFamily="34" charset="0"/>
              </a:rPr>
              <a:t>7-6 indicates </a:t>
            </a:r>
            <a:r>
              <a:rPr lang="en-GB" sz="1200" b="0" i="0" u="none" strike="noStrike" dirty="0">
                <a:effectLst/>
                <a:latin typeface="Arial" panose="020B0604020202020204" pitchFamily="34" charset="0"/>
                <a:cs typeface="Arial" panose="020B0604020202020204" pitchFamily="34" charset="0"/>
              </a:rPr>
              <a:t>a </a:t>
            </a:r>
            <a:r>
              <a:rPr lang="en-GB" sz="1200" dirty="0">
                <a:latin typeface="Arial" panose="020B0604020202020204" pitchFamily="34" charset="0"/>
                <a:cs typeface="Arial" panose="020B0604020202020204" pitchFamily="34" charset="0"/>
              </a:rPr>
              <a:t>possible problem</a:t>
            </a:r>
          </a:p>
          <a:p>
            <a:pPr marL="171450" indent="-171450">
              <a:buFont typeface="Arial"/>
              <a:buChar char="•"/>
            </a:pPr>
            <a:r>
              <a:rPr lang="en-GB" sz="1200" dirty="0">
                <a:latin typeface="Arial" panose="020B0604020202020204" pitchFamily="34" charset="0"/>
                <a:cs typeface="Arial" panose="020B0604020202020204" pitchFamily="34" charset="0"/>
              </a:rPr>
              <a:t>3-5 indicates </a:t>
            </a:r>
            <a:r>
              <a:rPr lang="en-GB" sz="1200" b="0" i="0" u="none" strike="noStrike" dirty="0">
                <a:effectLst/>
                <a:latin typeface="Arial" panose="020B0604020202020204" pitchFamily="34" charset="0"/>
                <a:cs typeface="Arial" panose="020B0604020202020204" pitchFamily="34" charset="0"/>
              </a:rPr>
              <a:t>a </a:t>
            </a:r>
            <a:r>
              <a:rPr lang="en-GB" sz="1200" dirty="0">
                <a:latin typeface="Arial" panose="020B0604020202020204" pitchFamily="34" charset="0"/>
                <a:cs typeface="Arial" panose="020B0604020202020204" pitchFamily="34" charset="0"/>
              </a:rPr>
              <a:t>serious problem</a:t>
            </a:r>
            <a:r>
              <a:rPr lang="en-GB" sz="1200" b="0" i="0" u="none" strike="noStrike" dirty="0">
                <a:effectLst/>
                <a:latin typeface="Arial" panose="020B0604020202020204" pitchFamily="34" charset="0"/>
                <a:cs typeface="Arial" panose="020B0604020202020204" pitchFamily="34" charset="0"/>
              </a:rPr>
              <a:t>.</a:t>
            </a:r>
            <a:endParaRPr lang="en-GB" sz="1200" dirty="0">
              <a:latin typeface="Arial" panose="020B0604020202020204" pitchFamily="34" charset="0"/>
              <a:cs typeface="Arial" panose="020B0604020202020204" pitchFamily="34" charset="0"/>
            </a:endParaRPr>
          </a:p>
        </p:txBody>
      </p:sp>
      <p:cxnSp>
        <p:nvCxnSpPr>
          <p:cNvPr id="9" name="Straight Connector 8">
            <a:extLst>
              <a:ext uri="{FF2B5EF4-FFF2-40B4-BE49-F238E27FC236}">
                <a16:creationId xmlns:a16="http://schemas.microsoft.com/office/drawing/2014/main" id="{2111E4B7-C7EA-E5AE-8076-90D038889129}"/>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827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B89E5E8-C3DB-3314-84F3-89C2C53E93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3" y="66962"/>
            <a:ext cx="6157913" cy="555302"/>
          </a:xfrm>
          <a:prstGeom prst="rect">
            <a:avLst/>
          </a:prstGeom>
        </p:spPr>
      </p:pic>
      <p:graphicFrame>
        <p:nvGraphicFramePr>
          <p:cNvPr id="4" name="Table 3">
            <a:extLst>
              <a:ext uri="{FF2B5EF4-FFF2-40B4-BE49-F238E27FC236}">
                <a16:creationId xmlns:a16="http://schemas.microsoft.com/office/drawing/2014/main" id="{C7B4E9FB-F0E9-A518-DC6D-E19ABF645AD4}"/>
              </a:ext>
            </a:extLst>
          </p:cNvPr>
          <p:cNvGraphicFramePr>
            <a:graphicFrameLocks noGrp="1"/>
          </p:cNvGraphicFramePr>
          <p:nvPr>
            <p:extLst>
              <p:ext uri="{D42A27DB-BD31-4B8C-83A1-F6EECF244321}">
                <p14:modId xmlns:p14="http://schemas.microsoft.com/office/powerpoint/2010/main" val="1711452625"/>
              </p:ext>
            </p:extLst>
          </p:nvPr>
        </p:nvGraphicFramePr>
        <p:xfrm>
          <a:off x="162482" y="1550732"/>
          <a:ext cx="9707740" cy="4172403"/>
        </p:xfrm>
        <a:graphic>
          <a:graphicData uri="http://schemas.openxmlformats.org/drawingml/2006/table">
            <a:tbl>
              <a:tblPr firstRow="1" bandRow="1">
                <a:tableStyleId>{2D5ABB26-0587-4C30-8999-92F81FD0307C}</a:tableStyleId>
              </a:tblPr>
              <a:tblGrid>
                <a:gridCol w="1817369">
                  <a:extLst>
                    <a:ext uri="{9D8B030D-6E8A-4147-A177-3AD203B41FA5}">
                      <a16:colId xmlns:a16="http://schemas.microsoft.com/office/drawing/2014/main" val="107519044"/>
                    </a:ext>
                  </a:extLst>
                </a:gridCol>
                <a:gridCol w="1181447">
                  <a:extLst>
                    <a:ext uri="{9D8B030D-6E8A-4147-A177-3AD203B41FA5}">
                      <a16:colId xmlns:a16="http://schemas.microsoft.com/office/drawing/2014/main" val="3128123737"/>
                    </a:ext>
                  </a:extLst>
                </a:gridCol>
                <a:gridCol w="6708924">
                  <a:extLst>
                    <a:ext uri="{9D8B030D-6E8A-4147-A177-3AD203B41FA5}">
                      <a16:colId xmlns:a16="http://schemas.microsoft.com/office/drawing/2014/main" val="1435361538"/>
                    </a:ext>
                  </a:extLst>
                </a:gridCol>
              </a:tblGrid>
              <a:tr h="371753">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Dysfunction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Team score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How can it be addressed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ABSENCE OF TRUST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FEAR OF CONFLICT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1631666"/>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LACK OF COMMITMENT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7127176"/>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5836976"/>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FEAR OF AVOIDANCE OF ACCOUNTABILITY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3902349"/>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4910896"/>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INATTENTION TO RESULTS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2850822"/>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614542"/>
                  </a:ext>
                </a:extLst>
              </a:tr>
            </a:tbl>
          </a:graphicData>
        </a:graphic>
      </p:graphicFrame>
      <p:graphicFrame>
        <p:nvGraphicFramePr>
          <p:cNvPr id="5" name="Table 4">
            <a:extLst>
              <a:ext uri="{FF2B5EF4-FFF2-40B4-BE49-F238E27FC236}">
                <a16:creationId xmlns:a16="http://schemas.microsoft.com/office/drawing/2014/main" id="{6299D935-5D86-5BBC-DFB2-D1461E84A089}"/>
              </a:ext>
            </a:extLst>
          </p:cNvPr>
          <p:cNvGraphicFramePr>
            <a:graphicFrameLocks noGrp="1"/>
          </p:cNvGraphicFramePr>
          <p:nvPr>
            <p:extLst>
              <p:ext uri="{D42A27DB-BD31-4B8C-83A1-F6EECF244321}">
                <p14:modId xmlns:p14="http://schemas.microsoft.com/office/powerpoint/2010/main" val="3704289808"/>
              </p:ext>
            </p:extLst>
          </p:nvPr>
        </p:nvGraphicFramePr>
        <p:xfrm>
          <a:off x="162482" y="5819151"/>
          <a:ext cx="9707740" cy="1364736"/>
        </p:xfrm>
        <a:graphic>
          <a:graphicData uri="http://schemas.openxmlformats.org/drawingml/2006/table">
            <a:tbl>
              <a:tblPr firstRow="1" bandRow="1">
                <a:tableStyleId>{2D5ABB26-0587-4C30-8999-92F81FD0307C}</a:tableStyleId>
              </a:tblPr>
              <a:tblGrid>
                <a:gridCol w="6770716">
                  <a:extLst>
                    <a:ext uri="{9D8B030D-6E8A-4147-A177-3AD203B41FA5}">
                      <a16:colId xmlns:a16="http://schemas.microsoft.com/office/drawing/2014/main" val="1435361538"/>
                    </a:ext>
                  </a:extLst>
                </a:gridCol>
                <a:gridCol w="1585913">
                  <a:extLst>
                    <a:ext uri="{9D8B030D-6E8A-4147-A177-3AD203B41FA5}">
                      <a16:colId xmlns:a16="http://schemas.microsoft.com/office/drawing/2014/main" val="3691210030"/>
                    </a:ext>
                  </a:extLst>
                </a:gridCol>
                <a:gridCol w="1351111">
                  <a:extLst>
                    <a:ext uri="{9D8B030D-6E8A-4147-A177-3AD203B41FA5}">
                      <a16:colId xmlns:a16="http://schemas.microsoft.com/office/drawing/2014/main" val="14683607"/>
                    </a:ext>
                  </a:extLst>
                </a:gridCol>
              </a:tblGrid>
              <a:tr h="29098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Calibri" panose="020F0502020204030204" pitchFamily="34" charset="0"/>
                        </a:rPr>
                        <a:t>What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Calibri" panose="020F0502020204030204" pitchFamily="34" charset="0"/>
                        </a:rPr>
                        <a:t>Who</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Calibri" panose="020F0502020204030204" pitchFamily="34" charset="0"/>
                        </a:rPr>
                        <a:t>When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343152">
                <a:tc>
                  <a:txBody>
                    <a:bodyPr/>
                    <a:lstStyle/>
                    <a:p>
                      <a:pPr algn="l" fontAlgn="t"/>
                      <a:endParaRPr lang="en-GB" sz="1200" b="0" i="0" u="none" strike="noStrike" dirty="0">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343152">
                <a:tc>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343152">
                <a:tc>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bl>
          </a:graphicData>
        </a:graphic>
      </p:graphicFrame>
      <p:pic>
        <p:nvPicPr>
          <p:cNvPr id="7" name="Picture 6">
            <a:extLst>
              <a:ext uri="{FF2B5EF4-FFF2-40B4-BE49-F238E27FC236}">
                <a16:creationId xmlns:a16="http://schemas.microsoft.com/office/drawing/2014/main" id="{618CE0F8-17FE-6C52-B4BD-45C20D34A2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sp>
        <p:nvSpPr>
          <p:cNvPr id="6" name="TextBox 5">
            <a:extLst>
              <a:ext uri="{FF2B5EF4-FFF2-40B4-BE49-F238E27FC236}">
                <a16:creationId xmlns:a16="http://schemas.microsoft.com/office/drawing/2014/main" id="{2B9D2F5A-F904-B16E-20BD-22A4CA2C250A}"/>
              </a:ext>
            </a:extLst>
          </p:cNvPr>
          <p:cNvSpPr txBox="1"/>
          <p:nvPr/>
        </p:nvSpPr>
        <p:spPr>
          <a:xfrm>
            <a:off x="162482" y="655984"/>
            <a:ext cx="9707740" cy="646331"/>
          </a:xfrm>
          <a:prstGeom prst="rect">
            <a:avLst/>
          </a:prstGeom>
          <a:solidFill>
            <a:schemeClr val="bg2"/>
          </a:solidFill>
        </p:spPr>
        <p:txBody>
          <a:bodyPr wrap="square" rtlCol="0">
            <a:spAutoFit/>
          </a:bodyPr>
          <a:lstStyle/>
          <a:p>
            <a:pPr marL="0" marR="0" indent="0" defTabSz="914400" eaLnBrk="1" fontAlgn="auto" latinLnBrk="0" hangingPunct="1">
              <a:lnSpc>
                <a:spcPct val="100000"/>
              </a:lnSpc>
              <a:spcBef>
                <a:spcPts val="0"/>
              </a:spcBef>
              <a:spcAft>
                <a:spcPts val="0"/>
              </a:spcAft>
              <a:buClrTx/>
              <a:buSzTx/>
              <a:buFontTx/>
              <a:buNone/>
              <a:tabLst/>
              <a:defRPr/>
            </a:pPr>
            <a:r>
              <a:rPr lang="en-GB" sz="1200" b="0" i="0" u="none" strike="noStrike" dirty="0">
                <a:solidFill>
                  <a:schemeClr val="tx1"/>
                </a:solidFill>
                <a:effectLst/>
                <a:latin typeface="Arial" panose="020B0604020202020204" pitchFamily="34" charset="0"/>
                <a:cs typeface="Arial" panose="020B0604020202020204" pitchFamily="34" charset="0"/>
              </a:rPr>
              <a:t>With the scores at hand, initiate an open and honest discussion within the team (during the Fast Track hour). Talk about the areas of strength, acknowledge the challenges, and collectively brainstorm on actionable steps to overcome the dysfunctions. In the end, choose the most important 3 action points you want to implement first, assign a responsible person and a deadline.</a:t>
            </a:r>
          </a:p>
        </p:txBody>
      </p:sp>
      <p:cxnSp>
        <p:nvCxnSpPr>
          <p:cNvPr id="9" name="Straight Connector 8">
            <a:extLst>
              <a:ext uri="{FF2B5EF4-FFF2-40B4-BE49-F238E27FC236}">
                <a16:creationId xmlns:a16="http://schemas.microsoft.com/office/drawing/2014/main" id="{3C638621-3CD4-CC58-8D03-0981D8DB759F}"/>
              </a:ext>
            </a:extLst>
          </p:cNvPr>
          <p:cNvCxnSpPr>
            <a:cxnSpLocks/>
          </p:cNvCxnSpPr>
          <p:nvPr/>
        </p:nvCxnSpPr>
        <p:spPr>
          <a:xfrm flipH="1">
            <a:off x="0" y="540000"/>
            <a:ext cx="101493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8A76642-D343-493C-F922-4F49C5932654}"/>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0704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63303F-A64C-4156-FED0-8EF30C3304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0101"/>
            <a:ext cx="6503483" cy="465161"/>
          </a:xfrm>
          <a:prstGeom prst="rect">
            <a:avLst/>
          </a:prstGeom>
        </p:spPr>
      </p:pic>
      <p:pic>
        <p:nvPicPr>
          <p:cNvPr id="7" name="Picture 6">
            <a:extLst>
              <a:ext uri="{FF2B5EF4-FFF2-40B4-BE49-F238E27FC236}">
                <a16:creationId xmlns:a16="http://schemas.microsoft.com/office/drawing/2014/main" id="{328D056D-B237-9C25-C117-0D65A69AD5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graphicFrame>
        <p:nvGraphicFramePr>
          <p:cNvPr id="2" name="Table 1">
            <a:extLst>
              <a:ext uri="{FF2B5EF4-FFF2-40B4-BE49-F238E27FC236}">
                <a16:creationId xmlns:a16="http://schemas.microsoft.com/office/drawing/2014/main" id="{168CAB4A-D1FE-EC8A-DBBE-298C0CF2861D}"/>
              </a:ext>
            </a:extLst>
          </p:cNvPr>
          <p:cNvGraphicFramePr>
            <a:graphicFrameLocks noGrp="1"/>
          </p:cNvGraphicFramePr>
          <p:nvPr>
            <p:extLst>
              <p:ext uri="{D42A27DB-BD31-4B8C-83A1-F6EECF244321}">
                <p14:modId xmlns:p14="http://schemas.microsoft.com/office/powerpoint/2010/main" val="2973302771"/>
              </p:ext>
            </p:extLst>
          </p:nvPr>
        </p:nvGraphicFramePr>
        <p:xfrm>
          <a:off x="133922" y="727579"/>
          <a:ext cx="9910191" cy="6592471"/>
        </p:xfrm>
        <a:graphic>
          <a:graphicData uri="http://schemas.openxmlformats.org/drawingml/2006/table">
            <a:tbl>
              <a:tblPr>
                <a:tableStyleId>{2D5ABB26-0587-4C30-8999-92F81FD0307C}</a:tableStyleId>
              </a:tblPr>
              <a:tblGrid>
                <a:gridCol w="1600581">
                  <a:extLst>
                    <a:ext uri="{9D8B030D-6E8A-4147-A177-3AD203B41FA5}">
                      <a16:colId xmlns:a16="http://schemas.microsoft.com/office/drawing/2014/main" val="3396632856"/>
                    </a:ext>
                  </a:extLst>
                </a:gridCol>
                <a:gridCol w="1460028">
                  <a:extLst>
                    <a:ext uri="{9D8B030D-6E8A-4147-A177-3AD203B41FA5}">
                      <a16:colId xmlns:a16="http://schemas.microsoft.com/office/drawing/2014/main" val="1770714274"/>
                    </a:ext>
                  </a:extLst>
                </a:gridCol>
                <a:gridCol w="4372035">
                  <a:extLst>
                    <a:ext uri="{9D8B030D-6E8A-4147-A177-3AD203B41FA5}">
                      <a16:colId xmlns:a16="http://schemas.microsoft.com/office/drawing/2014/main" val="2054896753"/>
                    </a:ext>
                  </a:extLst>
                </a:gridCol>
                <a:gridCol w="2477547">
                  <a:extLst>
                    <a:ext uri="{9D8B030D-6E8A-4147-A177-3AD203B41FA5}">
                      <a16:colId xmlns:a16="http://schemas.microsoft.com/office/drawing/2014/main" val="37218262"/>
                    </a:ext>
                  </a:extLst>
                </a:gridCol>
              </a:tblGrid>
              <a:tr h="344802">
                <a:tc>
                  <a:txBody>
                    <a:bodyPr/>
                    <a:lstStyle/>
                    <a:p>
                      <a:pPr fontAlgn="b"/>
                      <a:r>
                        <a:rPr lang="en-GB" sz="1400" b="0" dirty="0">
                          <a:solidFill>
                            <a:schemeClr val="bg1"/>
                          </a:solidFill>
                          <a:effectLst/>
                          <a:latin typeface="Arial" panose="020B0604020202020204" pitchFamily="34" charset="0"/>
                          <a:cs typeface="Arial" panose="020B0604020202020204" pitchFamily="34" charset="0"/>
                        </a:rPr>
                        <a:t>Dysfunction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a:solidFill>
                            <a:schemeClr val="bg1"/>
                          </a:solidFill>
                          <a:effectLst/>
                          <a:latin typeface="Arial" panose="020B0604020202020204" pitchFamily="34" charset="0"/>
                          <a:cs typeface="Arial" panose="020B0604020202020204" pitchFamily="34" charset="0"/>
                        </a:rPr>
                        <a:t>Who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a:solidFill>
                            <a:schemeClr val="bg1"/>
                          </a:solidFill>
                          <a:effectLst/>
                          <a:latin typeface="Arial" panose="020B0604020202020204" pitchFamily="34" charset="0"/>
                          <a:cs typeface="Arial" panose="020B0604020202020204" pitchFamily="34" charset="0"/>
                        </a:rPr>
                        <a:t>What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dirty="0">
                          <a:solidFill>
                            <a:schemeClr val="bg1"/>
                          </a:solidFill>
                          <a:effectLst/>
                          <a:latin typeface="Arial" panose="020B0604020202020204" pitchFamily="34" charset="0"/>
                          <a:cs typeface="Arial" panose="020B0604020202020204" pitchFamily="34" charset="0"/>
                        </a:rPr>
                        <a:t>When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081422586"/>
                  </a:ext>
                </a:extLst>
              </a:tr>
              <a:tr h="674503">
                <a:tc rowSpan="2">
                  <a:txBody>
                    <a:bodyPr/>
                    <a:lstStyle/>
                    <a:p>
                      <a:pPr lvl="0" fontAlgn="base"/>
                      <a:r>
                        <a:rPr lang="en-GB" sz="1200" b="1" dirty="0">
                          <a:effectLst/>
                          <a:latin typeface="Arial" panose="020B0604020202020204" pitchFamily="34" charset="0"/>
                          <a:cs typeface="Arial" panose="020B0604020202020204" pitchFamily="34" charset="0"/>
                        </a:rPr>
                        <a:t>ABSENCE</a:t>
                      </a:r>
                    </a:p>
                    <a:p>
                      <a:pPr lvl="0" fontAlgn="base"/>
                      <a:r>
                        <a:rPr lang="en-GB" sz="1200" b="1" dirty="0">
                          <a:effectLst/>
                          <a:latin typeface="Arial" panose="020B0604020202020204" pitchFamily="34" charset="0"/>
                          <a:cs typeface="Arial" panose="020B0604020202020204" pitchFamily="34" charset="0"/>
                        </a:rPr>
                        <a:t>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Begin team meetings by sharing a personal story or a significant past challenge, encouraging others to do the same.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First 10 minutes of each team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334258"/>
                  </a:ext>
                </a:extLst>
              </a:tr>
              <a:tr h="617608">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Participate in a scheduled workshop using r Thomas PPA to explore and discuss each person’s traits and how they impact team dynamics.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 within the next 30 days, then bi-annual refresh sessions.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234934"/>
                  </a:ext>
                </a:extLst>
              </a:tr>
              <a:tr h="617608">
                <a:tc rowSpan="2">
                  <a:txBody>
                    <a:bodyPr/>
                    <a:lstStyle/>
                    <a:p>
                      <a:pPr lvl="0" fontAlgn="base"/>
                      <a:r>
                        <a:rPr lang="en-GB" sz="1200" b="1" dirty="0">
                          <a:effectLst/>
                          <a:latin typeface="Arial" panose="020B0604020202020204" pitchFamily="34" charset="0"/>
                          <a:cs typeface="Arial" panose="020B0604020202020204" pitchFamily="34" charset="0"/>
                        </a:rPr>
                        <a:t>FEAR OF CONFLICT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Facilitate a session to discuss hypothetical sensitive issues that could arise in projects, guiding the team through structured debates.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During the next monthly strategic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8677706"/>
                  </a:ext>
                </a:extLst>
              </a:tr>
              <a:tr h="715501">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Collaboratively develop and sign a conflict engagement charter using insights from the Thomas-Kilmann Instrument, outlining how to handle disagreements.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Implement in the next team meeting; annually review and update.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315370"/>
                  </a:ext>
                </a:extLst>
              </a:tr>
              <a:tr h="715501">
                <a:tc>
                  <a:txBody>
                    <a:bodyPr/>
                    <a:lstStyle/>
                    <a:p>
                      <a:pPr lvl="0" fontAlgn="base"/>
                      <a:r>
                        <a:rPr lang="en-GB" sz="1200" b="1" dirty="0">
                          <a:effectLst/>
                          <a:latin typeface="Arial" panose="020B0604020202020204" pitchFamily="34" charset="0"/>
                          <a:cs typeface="Arial" panose="020B0604020202020204" pitchFamily="34" charset="0"/>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 and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Explicitly state commitments at the end of each meeting, requesting each member to verbally agree or express disagreements before committing.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Last 10 minutes of every team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0663678"/>
                  </a:ext>
                </a:extLst>
              </a:tr>
              <a:tr h="715501">
                <a:tc rowSpan="2">
                  <a:txBody>
                    <a:bodyPr/>
                    <a:lstStyle/>
                    <a:p>
                      <a:pPr lvl="0" fontAlgn="base"/>
                      <a:r>
                        <a:rPr lang="en-GB" sz="1200" b="1" dirty="0">
                          <a:effectLst/>
                          <a:latin typeface="Arial" panose="020B0604020202020204" pitchFamily="34" charset="0"/>
                          <a:cs typeface="Arial" panose="020B0604020202020204" pitchFamily="34" charset="0"/>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At the start of each quarter, clearly outline individual and team goals, making these visible in the workplace and revisiting them in weekly updates.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First team meeting of each quarter.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3237145"/>
                  </a:ext>
                </a:extLst>
              </a:tr>
              <a:tr h="715501">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 peer-review sessions where team members provide specific feedback on each other’s contributions compared to the set goals.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Scheduled midway and at the end of each project 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6014976"/>
                  </a:ext>
                </a:extLst>
              </a:tr>
              <a:tr h="715501">
                <a:tc rowSpan="2">
                  <a:txBody>
                    <a:bodyPr/>
                    <a:lstStyle/>
                    <a:p>
                      <a:pPr marL="0" marR="0" lvl="0" indent="0" algn="l" defTabSz="913760" rtl="0" eaLnBrk="1" fontAlgn="base" latinLnBrk="0" hangingPunct="1">
                        <a:lnSpc>
                          <a:spcPct val="100000"/>
                        </a:lnSpc>
                        <a:spcBef>
                          <a:spcPts val="0"/>
                        </a:spcBef>
                        <a:spcAft>
                          <a:spcPts val="0"/>
                        </a:spcAft>
                        <a:buClrTx/>
                        <a:buSzTx/>
                        <a:buFontTx/>
                        <a:buNone/>
                        <a:tabLst/>
                        <a:defRPr/>
                      </a:pPr>
                      <a:r>
                        <a:rPr lang="en-GB" sz="1200" b="1" dirty="0">
                          <a:effectLst/>
                          <a:latin typeface="Arial" panose="020B0604020202020204" pitchFamily="34" charset="0"/>
                          <a:cs typeface="Arial" panose="020B0604020202020204" pitchFamily="34" charset="0"/>
                        </a:rPr>
                        <a:t>INATTENTION </a:t>
                      </a:r>
                    </a:p>
                    <a:p>
                      <a:pPr marL="0" marR="0" lvl="0" indent="0" algn="l" defTabSz="913760" rtl="0" eaLnBrk="1" fontAlgn="base" latinLnBrk="0" hangingPunct="1">
                        <a:lnSpc>
                          <a:spcPct val="100000"/>
                        </a:lnSpc>
                        <a:spcBef>
                          <a:spcPts val="0"/>
                        </a:spcBef>
                        <a:spcAft>
                          <a:spcPts val="0"/>
                        </a:spcAft>
                        <a:buClrTx/>
                        <a:buSzTx/>
                        <a:buFontTx/>
                        <a:buNone/>
                        <a:tabLst/>
                        <a:defRPr/>
                      </a:pPr>
                      <a:r>
                        <a:rPr lang="en-GB" sz="1200" b="1" dirty="0">
                          <a:effectLst/>
                          <a:latin typeface="Arial" panose="020B0604020202020204" pitchFamily="34" charset="0"/>
                          <a:cs typeface="Arial" panose="020B0604020202020204" pitchFamily="34" charset="0"/>
                        </a:rPr>
                        <a:t>TO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CEO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Set up a scoreboard that tracks team progress against goals. Update and review this scoreboard in weekly team meetings.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Set up within the first week of the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0172732"/>
                  </a:ext>
                </a:extLst>
              </a:tr>
              <a:tr h="715501">
                <a:tc vMerge="1">
                  <a:txBody>
                    <a:bodyPr/>
                    <a:lstStyle/>
                    <a:p>
                      <a:pPr fontAlgn="base"/>
                      <a:endParaRPr lang="en-GB" sz="1400" dirty="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base" latinLnBrk="0" hangingPunct="1">
                        <a:lnSpc>
                          <a:spcPct val="100000"/>
                        </a:lnSpc>
                        <a:spcBef>
                          <a:spcPts val="0"/>
                        </a:spcBef>
                        <a:spcAft>
                          <a:spcPts val="0"/>
                        </a:spcAft>
                        <a:buClrTx/>
                        <a:buSzTx/>
                        <a:buFontTx/>
                        <a:buNone/>
                        <a:tabLst/>
                        <a:defRPr/>
                      </a:pPr>
                      <a:r>
                        <a:rPr lang="en-GB" sz="1200" kern="1200">
                          <a:solidFill>
                            <a:schemeClr val="tx1"/>
                          </a:solidFill>
                          <a:effectLst/>
                          <a:latin typeface="Arial" panose="020B0604020202020204" pitchFamily="34" charset="0"/>
                          <a:ea typeface="+mn-ea"/>
                          <a:cs typeface="Arial" panose="020B0604020202020204" pitchFamily="34" charset="0"/>
                        </a:rPr>
                        <a:t>Team Leader</a:t>
                      </a:r>
                    </a:p>
                    <a:p>
                      <a:pPr marL="0" algn="l" defTabSz="913760" rtl="0" eaLnBrk="1" fontAlgn="base" latinLnBrk="0" hangingPunct="1"/>
                      <a:endParaRPr lang="en-BG" sz="1200" kern="1200">
                        <a:solidFill>
                          <a:schemeClr val="tx1"/>
                        </a:solidFill>
                        <a:effectLst/>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Hold end-of-project retrospectives to assess the achievement of goals and discuss lessons learned and strategies for future 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At the end of each project or quarterly cycle.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24359858"/>
                  </a:ext>
                </a:extLst>
              </a:tr>
            </a:tbl>
          </a:graphicData>
        </a:graphic>
      </p:graphicFrame>
      <p:cxnSp>
        <p:nvCxnSpPr>
          <p:cNvPr id="3" name="Straight Connector 2">
            <a:extLst>
              <a:ext uri="{FF2B5EF4-FFF2-40B4-BE49-F238E27FC236}">
                <a16:creationId xmlns:a16="http://schemas.microsoft.com/office/drawing/2014/main" id="{7516FE52-CFCB-598E-060B-C9FA42991ECD}"/>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549982"/>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10865</TotalTime>
  <Words>951</Words>
  <Application>Microsoft Macintosh PowerPoint</Application>
  <PresentationFormat>Custom</PresentationFormat>
  <Paragraphs>130</Paragraphs>
  <Slides>5</Slides>
  <Notes>5</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5</vt:i4>
      </vt:variant>
    </vt:vector>
  </HeadingPairs>
  <TitlesOfParts>
    <vt:vector size="12" baseType="lpstr">
      <vt:lpstr>Arial</vt:lpstr>
      <vt:lpstr>Arial Black</vt:lpstr>
      <vt:lpstr>Calibri</vt:lpstr>
      <vt:lpstr>PF Square Sans Pro Light</vt:lpstr>
      <vt:lpstr>4_Custom Design</vt:lpstr>
      <vt:lpstr>5_Custom Design</vt:lpstr>
      <vt:lpstr>SOLIDS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765</cp:revision>
  <cp:lastPrinted>2020-02-28T13:07:06Z</cp:lastPrinted>
  <dcterms:created xsi:type="dcterms:W3CDTF">2019-08-22T09:52:59Z</dcterms:created>
  <dcterms:modified xsi:type="dcterms:W3CDTF">2024-10-04T17:29:00Z</dcterms:modified>
</cp:coreProperties>
</file>