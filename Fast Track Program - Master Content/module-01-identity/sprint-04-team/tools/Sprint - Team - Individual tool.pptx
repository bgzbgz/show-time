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87" r:id="rId4"/>
    <p:sldId id="2581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9" autoAdjust="0"/>
    <p:restoredTop sz="84247" autoAdjust="0"/>
  </p:normalViewPr>
  <p:slideViewPr>
    <p:cSldViewPr snapToGrid="0">
      <p:cViewPr varScale="1">
        <p:scale>
          <a:sx n="96" d="100"/>
          <a:sy n="96" d="100"/>
        </p:scale>
        <p:origin x="120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10/4/24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10/4/24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485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33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0D55511-4B5F-5458-A1E7-7922D5B57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499733"/>
              </p:ext>
            </p:extLst>
          </p:nvPr>
        </p:nvGraphicFramePr>
        <p:xfrm>
          <a:off x="163556" y="1443789"/>
          <a:ext cx="9778093" cy="5910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89741">
                  <a:extLst>
                    <a:ext uri="{9D8B030D-6E8A-4147-A177-3AD203B41FA5}">
                      <a16:colId xmlns:a16="http://schemas.microsoft.com/office/drawing/2014/main" val="3021297392"/>
                    </a:ext>
                  </a:extLst>
                </a:gridCol>
                <a:gridCol w="688352">
                  <a:extLst>
                    <a:ext uri="{9D8B030D-6E8A-4147-A177-3AD203B41FA5}">
                      <a16:colId xmlns:a16="http://schemas.microsoft.com/office/drawing/2014/main" val="4021649492"/>
                    </a:ext>
                  </a:extLst>
                </a:gridCol>
              </a:tblGrid>
              <a:tr h="29916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are passionate and unguarded in the discussion of issues.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call out one another's deficiencies or unproductive behaviors.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know what their peers are working on and how they contribute to the collective good of the team.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441284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quickly and genuinely apologize to one another when they say or do something inappropriate or possibly damaging to the team.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31666"/>
                  </a:ext>
                </a:extLst>
              </a:tr>
              <a:tr h="441284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willingly make sacrifices (such as budget, turf, head count) in their departments or areas of expertise for the good of the team.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27176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openly admit their weaknesses and mistakes.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36976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are compelling and not boring.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10896"/>
                  </a:ext>
                </a:extLst>
              </a:tr>
              <a:tr h="441284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leave meetings confident that their peers are completely committed to the decisions that were agreed on, even if there was initial disagreement.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850822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Morale is significantly affected by the failure to achieve team goals.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4542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During team meetings, the most important and difficult issues are put on the table to be resolved.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535567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are deeply concerned about the prospect of letting down their peers.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114384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know about one another's personal lives and are comfortable discussing them.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8219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end discussions with clear and specific resolutions and call to action.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715253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challenge one another about their plans and approaches.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810404"/>
                  </a:ext>
                </a:extLst>
              </a:tr>
              <a:tr h="352802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members are slow to seek credit for their own contributions but quick to point out those of others.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6418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ABCB30-8567-2448-7617-67EA44D8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22"/>
            <a:ext cx="6503484" cy="597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3D3BF5-7001-9B59-9FFF-F46C83437D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483" y="262418"/>
            <a:ext cx="3645889" cy="2724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4A025F-DA09-F19C-3CF4-9E5C5928D76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D5F7B5-03C1-BE5F-9380-8D979A69FC21}"/>
              </a:ext>
            </a:extLst>
          </p:cNvPr>
          <p:cNvSpPr txBox="1"/>
          <p:nvPr/>
        </p:nvSpPr>
        <p:spPr>
          <a:xfrm>
            <a:off x="174067" y="655984"/>
            <a:ext cx="977809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 each statement, considering how it applies to your team’s current dynamics. </a:t>
            </a:r>
          </a:p>
          <a:p>
            <a:r>
              <a:rPr lang="en-GB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Utilize a scale of 1-3 for your responses:</a:t>
            </a:r>
          </a:p>
          <a:p>
            <a:r>
              <a:rPr lang="en-GB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 = Usually (This happens most of the time); 2 = Sometimes (This happens occasionally); 1 = Rarely (This hardly ever happens)</a:t>
            </a:r>
          </a:p>
        </p:txBody>
      </p:sp>
    </p:spTree>
    <p:extLst>
      <p:ext uri="{BB962C8B-B14F-4D97-AF65-F5344CB8AC3E}">
        <p14:creationId xmlns:p14="http://schemas.microsoft.com/office/powerpoint/2010/main" val="854044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AB1F6C-C39D-2919-A946-05CA775DE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717701"/>
              </p:ext>
            </p:extLst>
          </p:nvPr>
        </p:nvGraphicFramePr>
        <p:xfrm>
          <a:off x="181245" y="1400238"/>
          <a:ext cx="9707739" cy="5869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0907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200526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876927">
                  <a:extLst>
                    <a:ext uri="{9D8B030D-6E8A-4147-A177-3AD203B41FA5}">
                      <a16:colId xmlns:a16="http://schemas.microsoft.com/office/drawing/2014/main" val="3917548566"/>
                    </a:ext>
                  </a:extLst>
                </a:gridCol>
                <a:gridCol w="2005263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  <a:gridCol w="1929379">
                  <a:extLst>
                    <a:ext uri="{9D8B030D-6E8A-4147-A177-3AD203B41FA5}">
                      <a16:colId xmlns:a16="http://schemas.microsoft.com/office/drawing/2014/main" val="2403508123"/>
                    </a:ext>
                  </a:extLst>
                </a:gridCol>
              </a:tblGrid>
              <a:tr h="847888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Dysfunction 1: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Absence of trust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Dysfunction 2: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Fear of conflict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Dysfunction 3: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Lack of commitment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Dysfunction 4: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Avoidance of accountability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Dysfunction 5: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Inattention to results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583075">
                <a:tc>
                  <a:txBody>
                    <a:bodyPr/>
                    <a:lstStyle/>
                    <a:p>
                      <a:pPr lvl="1" algn="l" fontAlgn="t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583075"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583075"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11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583075"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31666"/>
                  </a:ext>
                </a:extLst>
              </a:tr>
              <a:tr h="583075"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12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13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14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6880" marR="0" lvl="1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Statement 15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27176"/>
                  </a:ext>
                </a:extLst>
              </a:tr>
              <a:tr h="583075"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36976"/>
                  </a:ext>
                </a:extLst>
              </a:tr>
              <a:tr h="583075">
                <a:tc>
                  <a:txBody>
                    <a:bodyPr/>
                    <a:lstStyle/>
                    <a:p>
                      <a:pPr lvl="0" algn="ctr" fontAlgn="t"/>
                      <a:r>
                        <a:rPr lang="en-GB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Sum (total score for dysfunction 1)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Sum (total score for dysfunction 2)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Sum (total score for dysfunction 3)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Sum (total score for dysfunction 4)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Sum (total score for dysfunction 5)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4542"/>
                  </a:ext>
                </a:extLst>
              </a:tr>
              <a:tr h="939786"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30413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1C45C8A-FF8D-B098-31DF-B26A6F556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483" y="262418"/>
            <a:ext cx="3645889" cy="272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C9E639-E532-5FAA-4DF9-A18C5F14D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22"/>
            <a:ext cx="6503484" cy="59752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67A95A-263E-268F-E31A-FC452192E8BE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1F5DB7-DC75-5B42-79EF-F4C52B3D546C}"/>
              </a:ext>
            </a:extLst>
          </p:cNvPr>
          <p:cNvSpPr txBox="1"/>
          <p:nvPr/>
        </p:nvSpPr>
        <p:spPr>
          <a:xfrm>
            <a:off x="181244" y="640485"/>
            <a:ext cx="9707740" cy="57600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l"/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the total scores for each dysfunction based on the inputs. </a:t>
            </a:r>
          </a:p>
          <a:p>
            <a:pPr algn="l"/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row represents an individual team member’s responses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final row, calculate the total score for each dysfunction.</a:t>
            </a:r>
          </a:p>
        </p:txBody>
      </p:sp>
    </p:spTree>
    <p:extLst>
      <p:ext uri="{BB962C8B-B14F-4D97-AF65-F5344CB8AC3E}">
        <p14:creationId xmlns:p14="http://schemas.microsoft.com/office/powerpoint/2010/main" val="1471373494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10864</TotalTime>
  <Words>432</Words>
  <Application>Microsoft Macintosh PowerPoint</Application>
  <PresentationFormat>Custom</PresentationFormat>
  <Paragraphs>54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Calibri</vt:lpstr>
      <vt:lpstr>PF Square Sans Pro Light</vt:lpstr>
      <vt:lpstr>4_Custom Design</vt:lpstr>
      <vt:lpstr>5_Custom Design</vt:lpstr>
      <vt:lpstr>SOLIDS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765</cp:revision>
  <cp:lastPrinted>2020-02-28T13:07:06Z</cp:lastPrinted>
  <dcterms:created xsi:type="dcterms:W3CDTF">2019-08-22T09:52:59Z</dcterms:created>
  <dcterms:modified xsi:type="dcterms:W3CDTF">2024-10-04T16:33:59Z</dcterms:modified>
</cp:coreProperties>
</file>