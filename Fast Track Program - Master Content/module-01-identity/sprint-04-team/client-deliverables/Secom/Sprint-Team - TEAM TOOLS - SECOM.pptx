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7"/>
  </p:notesMasterIdLst>
  <p:handoutMasterIdLst>
    <p:handoutMasterId r:id="rId8"/>
  </p:handoutMasterIdLst>
  <p:sldIdLst>
    <p:sldId id="2583" r:id="rId4"/>
    <p:sldId id="2579" r:id="rId5"/>
    <p:sldId id="2589" r:id="rId6"/>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325E39-A27D-B490-1431-0B711B5A001E}" v="372" dt="2024-10-11T02:23:10.474"/>
    <p1510:client id="{B9367466-CE79-00C7-49C3-4FF5D44A20F8}" v="1440" dt="2024-10-11T13:38:46.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autoAdjust="0"/>
    <p:restoredTop sz="84247" autoAdjust="0"/>
  </p:normalViewPr>
  <p:slideViewPr>
    <p:cSldViewPr snapToGrid="0">
      <p:cViewPr varScale="1">
        <p:scale>
          <a:sx n="96" d="100"/>
          <a:sy n="96" d="100"/>
        </p:scale>
        <p:origin x="2408"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b31d96b2f107ef39c58701f9a3d0d5c7eeed386e8d9c6bb1118bef90ca681a8b::" providerId="AD" clId="Web-{10325E39-A27D-B490-1431-0B711B5A001E}"/>
    <pc:docChg chg="addSld modSld">
      <pc:chgData name="Guest User" userId="S::urn:spo:anon#b31d96b2f107ef39c58701f9a3d0d5c7eeed386e8d9c6bb1118bef90ca681a8b::" providerId="AD" clId="Web-{10325E39-A27D-B490-1431-0B711B5A001E}" dt="2024-10-11T02:23:10.474" v="284"/>
      <pc:docMkLst>
        <pc:docMk/>
      </pc:docMkLst>
      <pc:sldChg chg="modSp">
        <pc:chgData name="Guest User" userId="S::urn:spo:anon#b31d96b2f107ef39c58701f9a3d0d5c7eeed386e8d9c6bb1118bef90ca681a8b::" providerId="AD" clId="Web-{10325E39-A27D-B490-1431-0B711B5A001E}" dt="2024-10-11T02:20:40.484" v="210"/>
        <pc:sldMkLst>
          <pc:docMk/>
          <pc:sldMk cId="2480704689" sldId="2579"/>
        </pc:sldMkLst>
        <pc:graphicFrameChg chg="mod modGraphic">
          <ac:chgData name="Guest User" userId="S::urn:spo:anon#b31d96b2f107ef39c58701f9a3d0d5c7eeed386e8d9c6bb1118bef90ca681a8b::" providerId="AD" clId="Web-{10325E39-A27D-B490-1431-0B711B5A001E}" dt="2024-10-11T02:20:40.484" v="210"/>
          <ac:graphicFrameMkLst>
            <pc:docMk/>
            <pc:sldMk cId="2480704689" sldId="2579"/>
            <ac:graphicFrameMk id="4" creationId="{C7B4E9FB-F0E9-A518-DC6D-E19ABF645AD4}"/>
          </ac:graphicFrameMkLst>
        </pc:graphicFrameChg>
      </pc:sldChg>
      <pc:sldChg chg="modSp">
        <pc:chgData name="Guest User" userId="S::urn:spo:anon#b31d96b2f107ef39c58701f9a3d0d5c7eeed386e8d9c6bb1118bef90ca681a8b::" providerId="AD" clId="Web-{10325E39-A27D-B490-1431-0B711B5A001E}" dt="2024-10-11T02:20:26.577" v="196"/>
        <pc:sldMkLst>
          <pc:docMk/>
          <pc:sldMk cId="4165827913" sldId="2583"/>
        </pc:sldMkLst>
        <pc:graphicFrameChg chg="mod modGraphic">
          <ac:chgData name="Guest User" userId="S::urn:spo:anon#b31d96b2f107ef39c58701f9a3d0d5c7eeed386e8d9c6bb1118bef90ca681a8b::" providerId="AD" clId="Web-{10325E39-A27D-B490-1431-0B711B5A001E}" dt="2024-10-11T02:20:26.577" v="196"/>
          <ac:graphicFrameMkLst>
            <pc:docMk/>
            <pc:sldMk cId="4165827913" sldId="2583"/>
            <ac:graphicFrameMk id="2" creationId="{D5AB1F6C-C39D-2919-A946-05CA775DE313}"/>
          </ac:graphicFrameMkLst>
        </pc:graphicFrameChg>
      </pc:sldChg>
      <pc:sldChg chg="addSp delSp modSp add replId">
        <pc:chgData name="Guest User" userId="S::urn:spo:anon#b31d96b2f107ef39c58701f9a3d0d5c7eeed386e8d9c6bb1118bef90ca681a8b::" providerId="AD" clId="Web-{10325E39-A27D-B490-1431-0B711B5A001E}" dt="2024-10-11T02:23:10.474" v="284"/>
        <pc:sldMkLst>
          <pc:docMk/>
          <pc:sldMk cId="2288268939" sldId="2589"/>
        </pc:sldMkLst>
        <pc:spChg chg="add mod">
          <ac:chgData name="Guest User" userId="S::urn:spo:anon#b31d96b2f107ef39c58701f9a3d0d5c7eeed386e8d9c6bb1118bef90ca681a8b::" providerId="AD" clId="Web-{10325E39-A27D-B490-1431-0B711B5A001E}" dt="2024-10-11T02:23:09.130" v="283" actId="1076"/>
          <ac:spMkLst>
            <pc:docMk/>
            <pc:sldMk cId="2288268939" sldId="2589"/>
            <ac:spMk id="4" creationId="{9FD84A30-9EFA-9C8B-89EB-6C4F9664A456}"/>
          </ac:spMkLst>
        </pc:spChg>
        <pc:graphicFrameChg chg="mod modGraphic">
          <ac:chgData name="Guest User" userId="S::urn:spo:anon#b31d96b2f107ef39c58701f9a3d0d5c7eeed386e8d9c6bb1118bef90ca681a8b::" providerId="AD" clId="Web-{10325E39-A27D-B490-1431-0B711B5A001E}" dt="2024-10-11T02:21:33.314" v="244"/>
          <ac:graphicFrameMkLst>
            <pc:docMk/>
            <pc:sldMk cId="2288268939" sldId="2589"/>
            <ac:graphicFrameMk id="2" creationId="{168CAB4A-D1FE-EC8A-DBBE-298C0CF2861D}"/>
          </ac:graphicFrameMkLst>
        </pc:graphicFrameChg>
        <pc:picChg chg="add del mod">
          <ac:chgData name="Guest User" userId="S::urn:spo:anon#b31d96b2f107ef39c58701f9a3d0d5c7eeed386e8d9c6bb1118bef90ca681a8b::" providerId="AD" clId="Web-{10325E39-A27D-B490-1431-0B711B5A001E}" dt="2024-10-11T02:23:10.474" v="284"/>
          <ac:picMkLst>
            <pc:docMk/>
            <pc:sldMk cId="2288268939" sldId="2589"/>
            <ac:picMk id="5" creationId="{2463303F-A64C-4156-FED0-8EF30C3304B4}"/>
          </ac:picMkLst>
        </pc:picChg>
      </pc:sldChg>
    </pc:docChg>
  </pc:docChgLst>
  <pc:docChgLst>
    <pc:chgData name="Guest User" userId="S::urn:spo:anon#b31d96b2f107ef39c58701f9a3d0d5c7eeed386e8d9c6bb1118bef90ca681a8b::" providerId="AD" clId="Web-{B9367466-CE79-00C7-49C3-4FF5D44A20F8}"/>
    <pc:docChg chg="delSld modSld">
      <pc:chgData name="Guest User" userId="S::urn:spo:anon#b31d96b2f107ef39c58701f9a3d0d5c7eeed386e8d9c6bb1118bef90ca681a8b::" providerId="AD" clId="Web-{B9367466-CE79-00C7-49C3-4FF5D44A20F8}" dt="2024-10-11T13:38:46.657" v="1340"/>
      <pc:docMkLst>
        <pc:docMk/>
      </pc:docMkLst>
      <pc:sldChg chg="modSp">
        <pc:chgData name="Guest User" userId="S::urn:spo:anon#b31d96b2f107ef39c58701f9a3d0d5c7eeed386e8d9c6bb1118bef90ca681a8b::" providerId="AD" clId="Web-{B9367466-CE79-00C7-49C3-4FF5D44A20F8}" dt="2024-10-11T13:16:21.272" v="949"/>
        <pc:sldMkLst>
          <pc:docMk/>
          <pc:sldMk cId="2480704689" sldId="2579"/>
        </pc:sldMkLst>
        <pc:spChg chg="mod">
          <ac:chgData name="Guest User" userId="S::urn:spo:anon#b31d96b2f107ef39c58701f9a3d0d5c7eeed386e8d9c6bb1118bef90ca681a8b::" providerId="AD" clId="Web-{B9367466-CE79-00C7-49C3-4FF5D44A20F8}" dt="2024-10-11T13:14:02.080" v="794" actId="1076"/>
          <ac:spMkLst>
            <pc:docMk/>
            <pc:sldMk cId="2480704689" sldId="2579"/>
            <ac:spMk id="6" creationId="{2B9D2F5A-F904-B16E-20BD-22A4CA2C250A}"/>
          </ac:spMkLst>
        </pc:spChg>
        <pc:graphicFrameChg chg="mod modGraphic">
          <ac:chgData name="Guest User" userId="S::urn:spo:anon#b31d96b2f107ef39c58701f9a3d0d5c7eeed386e8d9c6bb1118bef90ca681a8b::" providerId="AD" clId="Web-{B9367466-CE79-00C7-49C3-4FF5D44A20F8}" dt="2024-10-11T13:13:57.908" v="793" actId="1076"/>
          <ac:graphicFrameMkLst>
            <pc:docMk/>
            <pc:sldMk cId="2480704689" sldId="2579"/>
            <ac:graphicFrameMk id="4" creationId="{C7B4E9FB-F0E9-A518-DC6D-E19ABF645AD4}"/>
          </ac:graphicFrameMkLst>
        </pc:graphicFrameChg>
        <pc:graphicFrameChg chg="mod modGraphic">
          <ac:chgData name="Guest User" userId="S::urn:spo:anon#b31d96b2f107ef39c58701f9a3d0d5c7eeed386e8d9c6bb1118bef90ca681a8b::" providerId="AD" clId="Web-{B9367466-CE79-00C7-49C3-4FF5D44A20F8}" dt="2024-10-11T13:16:21.272" v="949"/>
          <ac:graphicFrameMkLst>
            <pc:docMk/>
            <pc:sldMk cId="2480704689" sldId="2579"/>
            <ac:graphicFrameMk id="5" creationId="{6299D935-5D86-5BBC-DFB2-D1461E84A089}"/>
          </ac:graphicFrameMkLst>
        </pc:graphicFrameChg>
      </pc:sldChg>
      <pc:sldChg chg="del">
        <pc:chgData name="Guest User" userId="S::urn:spo:anon#b31d96b2f107ef39c58701f9a3d0d5c7eeed386e8d9c6bb1118bef90ca681a8b::" providerId="AD" clId="Web-{B9367466-CE79-00C7-49C3-4FF5D44A20F8}" dt="2024-10-11T13:38:46.657" v="1340"/>
        <pc:sldMkLst>
          <pc:docMk/>
          <pc:sldMk cId="2096549982" sldId="2588"/>
        </pc:sldMkLst>
      </pc:sldChg>
      <pc:sldChg chg="addSp delSp modSp">
        <pc:chgData name="Guest User" userId="S::urn:spo:anon#b31d96b2f107ef39c58701f9a3d0d5c7eeed386e8d9c6bb1118bef90ca681a8b::" providerId="AD" clId="Web-{B9367466-CE79-00C7-49C3-4FF5D44A20F8}" dt="2024-10-11T13:38:33.125" v="1339"/>
        <pc:sldMkLst>
          <pc:docMk/>
          <pc:sldMk cId="2288268939" sldId="2589"/>
        </pc:sldMkLst>
        <pc:graphicFrameChg chg="mod modGraphic">
          <ac:chgData name="Guest User" userId="S::urn:spo:anon#b31d96b2f107ef39c58701f9a3d0d5c7eeed386e8d9c6bb1118bef90ca681a8b::" providerId="AD" clId="Web-{B9367466-CE79-00C7-49C3-4FF5D44A20F8}" dt="2024-10-11T13:38:33.125" v="1339"/>
          <ac:graphicFrameMkLst>
            <pc:docMk/>
            <pc:sldMk cId="2288268939" sldId="2589"/>
            <ac:graphicFrameMk id="2" creationId="{168CAB4A-D1FE-EC8A-DBBE-298C0CF2861D}"/>
          </ac:graphicFrameMkLst>
        </pc:graphicFrameChg>
        <pc:graphicFrameChg chg="add del mod">
          <ac:chgData name="Guest User" userId="S::urn:spo:anon#b31d96b2f107ef39c58701f9a3d0d5c7eeed386e8d9c6bb1118bef90ca681a8b::" providerId="AD" clId="Web-{B9367466-CE79-00C7-49C3-4FF5D44A20F8}" dt="2024-10-11T13:34:05.014" v="1075"/>
          <ac:graphicFrameMkLst>
            <pc:docMk/>
            <pc:sldMk cId="2288268939" sldId="2589"/>
            <ac:graphicFrameMk id="6" creationId="{72E5D19E-BCAE-EE6C-234E-5D5D9AF08DFD}"/>
          </ac:graphicFrameMkLst>
        </pc:graphicFrameChg>
        <pc:graphicFrameChg chg="add del mod">
          <ac:chgData name="Guest User" userId="S::urn:spo:anon#b31d96b2f107ef39c58701f9a3d0d5c7eeed386e8d9c6bb1118bef90ca681a8b::" providerId="AD" clId="Web-{B9367466-CE79-00C7-49C3-4FF5D44A20F8}" dt="2024-10-11T13:36:06.381" v="1193"/>
          <ac:graphicFrameMkLst>
            <pc:docMk/>
            <pc:sldMk cId="2288268939" sldId="2589"/>
            <ac:graphicFrameMk id="9" creationId="{35A21D90-BB0C-F2DD-0E15-8E707ED3BFFE}"/>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10/11/2024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10/11/2024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98852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1478129430"/>
              </p:ext>
            </p:extLst>
          </p:nvPr>
        </p:nvGraphicFramePr>
        <p:xfrm>
          <a:off x="258734" y="1859905"/>
          <a:ext cx="9707739" cy="4815626"/>
        </p:xfrm>
        <a:graphic>
          <a:graphicData uri="http://schemas.openxmlformats.org/drawingml/2006/table">
            <a:tbl>
              <a:tblPr firstRow="1" bandRow="1">
                <a:tableStyleId>{2D5ABB26-0587-4C30-8999-92F81FD0307C}</a:tableStyleId>
              </a:tblPr>
              <a:tblGrid>
                <a:gridCol w="1582636">
                  <a:extLst>
                    <a:ext uri="{9D8B030D-6E8A-4147-A177-3AD203B41FA5}">
                      <a16:colId xmlns:a16="http://schemas.microsoft.com/office/drawing/2014/main" val="1341437967"/>
                    </a:ext>
                  </a:extLst>
                </a:gridCol>
                <a:gridCol w="1582636">
                  <a:extLst>
                    <a:ext uri="{9D8B030D-6E8A-4147-A177-3AD203B41FA5}">
                      <a16:colId xmlns:a16="http://schemas.microsoft.com/office/drawing/2014/main" val="1435361538"/>
                    </a:ext>
                  </a:extLst>
                </a:gridCol>
                <a:gridCol w="1678348">
                  <a:extLst>
                    <a:ext uri="{9D8B030D-6E8A-4147-A177-3AD203B41FA5}">
                      <a16:colId xmlns:a16="http://schemas.microsoft.com/office/drawing/2014/main" val="3691210030"/>
                    </a:ext>
                  </a:extLst>
                </a:gridCol>
                <a:gridCol w="1570935">
                  <a:extLst>
                    <a:ext uri="{9D8B030D-6E8A-4147-A177-3AD203B41FA5}">
                      <a16:colId xmlns:a16="http://schemas.microsoft.com/office/drawing/2014/main" val="3917548566"/>
                    </a:ext>
                  </a:extLst>
                </a:gridCol>
                <a:gridCol w="1678348">
                  <a:extLst>
                    <a:ext uri="{9D8B030D-6E8A-4147-A177-3AD203B41FA5}">
                      <a16:colId xmlns:a16="http://schemas.microsoft.com/office/drawing/2014/main" val="14683607"/>
                    </a:ext>
                  </a:extLst>
                </a:gridCol>
                <a:gridCol w="1614836">
                  <a:extLst>
                    <a:ext uri="{9D8B030D-6E8A-4147-A177-3AD203B41FA5}">
                      <a16:colId xmlns:a16="http://schemas.microsoft.com/office/drawing/2014/main" val="2403508123"/>
                    </a:ext>
                  </a:extLst>
                </a:gridCol>
              </a:tblGrid>
              <a:tr h="6118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Team 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Inattention 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1369705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Johnny</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5</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5</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583697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Adina</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4</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5</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0553704"/>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Andrei</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5</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4</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1303769"/>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Lucia</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7</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en-GB" sz="1200" b="0" i="0" u="none" strike="noStrike" dirty="0">
                          <a:solidFill>
                            <a:schemeClr val="tx1"/>
                          </a:solidFill>
                          <a:effectLst/>
                          <a:latin typeface="Arial"/>
                          <a:ea typeface="Riforma LL" panose="020B0504020101020102" pitchFamily="34" charset="0"/>
                          <a:cs typeface="Arial"/>
                        </a:rPr>
                        <a:t>7</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4</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5</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9675350"/>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George</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6</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572780"/>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Andreia</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4705117"/>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Tudor</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5</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8</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8149056"/>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Mada</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5</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6</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4</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dirty="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0126311"/>
                  </a:ext>
                </a:extLst>
              </a:tr>
              <a:tr h="338161">
                <a:tc>
                  <a:txBody>
                    <a:bodyPr/>
                    <a:lstStyle/>
                    <a:p>
                      <a:pPr algn="l" fontAlgn="t"/>
                      <a:r>
                        <a:rPr lang="en-GB" sz="1200" b="0" i="0" u="none" strike="noStrike" dirty="0">
                          <a:solidFill>
                            <a:schemeClr val="tx1"/>
                          </a:solidFill>
                          <a:effectLst/>
                          <a:latin typeface="Arial"/>
                          <a:ea typeface="Riforma LL" panose="020B0504020101020102" pitchFamily="34" charset="0"/>
                          <a:cs typeface="Arial"/>
                        </a:rPr>
                        <a:t>Radu</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11506"/>
                  </a:ext>
                </a:extLst>
              </a:tr>
              <a:tr h="4780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kern="1200" dirty="0" err="1">
                          <a:solidFill>
                            <a:schemeClr val="bg1"/>
                          </a:solidFill>
                          <a:latin typeface="Arial"/>
                          <a:ea typeface="+mn-ea"/>
                          <a:cs typeface="Arial"/>
                        </a:rPr>
                        <a:t>Avg</a:t>
                      </a:r>
                      <a:r>
                        <a:rPr lang="en-GB" sz="1200" b="0" i="0" kern="1200" dirty="0">
                          <a:solidFill>
                            <a:schemeClr val="bg1"/>
                          </a:solidFill>
                          <a:latin typeface="Arial"/>
                          <a:ea typeface="+mn-ea"/>
                          <a:cs typeface="Arial"/>
                        </a:rPr>
                        <a:t> team scores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lvl="0" algn="ctr" fontAlgn="t"/>
                      <a:r>
                        <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dirty="0">
                          <a:solidFill>
                            <a:schemeClr val="bg1"/>
                          </a:solidFill>
                          <a:effectLst/>
                          <a:latin typeface="Arial"/>
                          <a:ea typeface="Riforma LL" panose="020B0504020101020102" pitchFamily="34" charset="0"/>
                          <a:cs typeface="Arial"/>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GB" sz="1200" b="0" i="0" u="none" strike="noStrike" kern="1200" dirty="0">
                          <a:solidFill>
                            <a:schemeClr val="bg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14542"/>
                  </a:ext>
                </a:extLst>
              </a:tr>
              <a:tr h="654061">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r>
                        <a:rPr lang="en-GB" sz="1200" b="0" i="0" u="none" strike="noStrike" dirty="0">
                          <a:solidFill>
                            <a:schemeClr val="tx1"/>
                          </a:solidFill>
                          <a:effectLst/>
                          <a:latin typeface="Arial"/>
                          <a:ea typeface="Riforma LL" panose="020B0504020101020102" pitchFamily="34" charset="0"/>
                          <a:cs typeface="Arial"/>
                        </a:rPr>
                        <a:t>6</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en-GB" sz="1200" b="0" i="0" u="none" strike="noStrike" dirty="0">
                          <a:solidFill>
                            <a:schemeClr val="tx1"/>
                          </a:solidFill>
                          <a:effectLst/>
                          <a:latin typeface="Arial"/>
                          <a:ea typeface="Riforma LL" panose="020B0504020101020102" pitchFamily="34" charset="0"/>
                          <a:cs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latin typeface="Arial"/>
                          <a:cs typeface="Arial"/>
                        </a:rPr>
                        <a:t>6</a:t>
                      </a: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latin typeface="Arial"/>
                          <a:cs typeface="Arial"/>
                        </a:rPr>
                        <a:t>6</a:t>
                      </a: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dirty="0">
                          <a:latin typeface="Arial"/>
                          <a:cs typeface="Arial"/>
                        </a:rPr>
                        <a:t>6</a:t>
                      </a: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dirty="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dirty="0" err="1">
                <a:latin typeface="Arial" panose="020B0604020202020204" pitchFamily="34" charset="0"/>
                <a:ea typeface="Calibri"/>
                <a:cs typeface="Arial" panose="020B0604020202020204" pitchFamily="34" charset="0"/>
              </a:rPr>
              <a:t>Analyze</a:t>
            </a:r>
            <a:r>
              <a:rPr lang="en-GB" sz="1200" b="1" dirty="0">
                <a:latin typeface="Arial" panose="020B0604020202020204" pitchFamily="34" charset="0"/>
                <a:ea typeface="Calibri"/>
                <a:cs typeface="Arial" panose="020B0604020202020204" pitchFamily="34" charset="0"/>
              </a:rPr>
              <a:t> </a:t>
            </a:r>
            <a:r>
              <a:rPr lang="en-GB" sz="1200" b="1" i="0" u="none" strike="noStrike" dirty="0">
                <a:effectLst/>
                <a:latin typeface="Arial" panose="020B0604020202020204" pitchFamily="34" charset="0"/>
                <a:ea typeface="Calibri"/>
                <a:cs typeface="Arial" panose="020B0604020202020204" pitchFamily="34" charset="0"/>
              </a:rPr>
              <a:t>the total scores for each dysfunction</a:t>
            </a:r>
            <a:r>
              <a:rPr lang="en-GB" sz="1200" b="1" dirty="0">
                <a:latin typeface="Arial" panose="020B0604020202020204" pitchFamily="34" charset="0"/>
                <a:ea typeface="Calibri"/>
                <a:cs typeface="Arial" panose="020B0604020202020204" pitchFamily="34" charset="0"/>
              </a:rPr>
              <a:t> </a:t>
            </a:r>
            <a:endParaRPr lang="en-GB" sz="1200" b="1" i="0" u="none" strike="noStrike" dirty="0">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dirty="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dirty="0">
                <a:latin typeface="Arial" panose="020B0604020202020204" pitchFamily="34" charset="0"/>
                <a:cs typeface="Arial" panose="020B0604020202020204" pitchFamily="34" charset="0"/>
              </a:rPr>
              <a:t>7-6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possible problem</a:t>
            </a:r>
          </a:p>
          <a:p>
            <a:pPr marL="171450" indent="-171450">
              <a:buFont typeface="Arial"/>
              <a:buChar char="•"/>
            </a:pPr>
            <a:r>
              <a:rPr lang="en-GB" sz="1200" dirty="0">
                <a:latin typeface="Arial" panose="020B0604020202020204" pitchFamily="34" charset="0"/>
                <a:cs typeface="Arial" panose="020B0604020202020204" pitchFamily="34" charset="0"/>
              </a:rPr>
              <a:t>3-5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serious problem</a:t>
            </a:r>
            <a:r>
              <a:rPr lang="en-GB" sz="1200" b="0" i="0" u="none" strike="noStrike" dirty="0">
                <a:effectLst/>
                <a:latin typeface="Arial" panose="020B0604020202020204" pitchFamily="34" charset="0"/>
                <a:cs typeface="Arial" panose="020B0604020202020204" pitchFamily="34" charset="0"/>
              </a:rPr>
              <a:t>.</a:t>
            </a:r>
            <a:endParaRPr lang="en-GB" sz="1200" dirty="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827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1229597144"/>
              </p:ext>
            </p:extLst>
          </p:nvPr>
        </p:nvGraphicFramePr>
        <p:xfrm>
          <a:off x="216739" y="1116798"/>
          <a:ext cx="9707740" cy="4740958"/>
        </p:xfrm>
        <a:graphic>
          <a:graphicData uri="http://schemas.openxmlformats.org/drawingml/2006/table">
            <a:tbl>
              <a:tblPr firstRow="1" bandRow="1">
                <a:tableStyleId>{2D5ABB26-0587-4C30-8999-92F81FD0307C}</a:tableStyleId>
              </a:tblPr>
              <a:tblGrid>
                <a:gridCol w="1817369">
                  <a:extLst>
                    <a:ext uri="{9D8B030D-6E8A-4147-A177-3AD203B41FA5}">
                      <a16:colId xmlns:a16="http://schemas.microsoft.com/office/drawing/2014/main" val="107519044"/>
                    </a:ext>
                  </a:extLst>
                </a:gridCol>
                <a:gridCol w="1181447">
                  <a:extLst>
                    <a:ext uri="{9D8B030D-6E8A-4147-A177-3AD203B41FA5}">
                      <a16:colId xmlns:a16="http://schemas.microsoft.com/office/drawing/2014/main" val="3128123737"/>
                    </a:ext>
                  </a:extLst>
                </a:gridCol>
                <a:gridCol w="6708924">
                  <a:extLst>
                    <a:ext uri="{9D8B030D-6E8A-4147-A177-3AD203B41FA5}">
                      <a16:colId xmlns:a16="http://schemas.microsoft.com/office/drawing/2014/main" val="1435361538"/>
                    </a:ext>
                  </a:extLst>
                </a:gridCol>
              </a:tblGrid>
              <a:tr h="371753">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0" i="0" u="none" strike="noStrike" dirty="0">
                          <a:solidFill>
                            <a:schemeClr val="tx1"/>
                          </a:solidFill>
                          <a:effectLst/>
                          <a:latin typeface="Arial"/>
                          <a:ea typeface="Riforma LL" panose="020B0504020101020102" pitchFamily="34" charset="0"/>
                          <a:cs typeface="Arial"/>
                        </a:rPr>
                        <a:t>6</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Re-start Coffee of Joy!!! (a YPO forum like meeting, bi-monthly)</a:t>
                      </a:r>
                      <a:endParaRPr 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Establish a meeting for sharing Thomas (strengths / weakness) profiles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0" i="0" u="none" strike="noStrike" dirty="0">
                          <a:solidFill>
                            <a:schemeClr val="tx1"/>
                          </a:solidFill>
                          <a:effectLst/>
                          <a:latin typeface="Arial"/>
                          <a:ea typeface="Riforma LL" panose="020B0504020101020102" pitchFamily="34" charset="0"/>
                          <a:cs typeface="Arial"/>
                        </a:rPr>
                        <a:t>7</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Organize yearly a </a:t>
                      </a:r>
                      <a:r>
                        <a:rPr lang="en-GB" sz="1200" b="0" i="0" u="none" strike="noStrike" noProof="0" dirty="0" err="1">
                          <a:solidFill>
                            <a:srgbClr val="000000"/>
                          </a:solidFill>
                          <a:effectLst/>
                          <a:latin typeface="Arial"/>
                        </a:rPr>
                        <a:t>BoD</a:t>
                      </a:r>
                      <a:r>
                        <a:rPr lang="en-GB" sz="1200" b="0" i="0" u="none" strike="noStrike" noProof="0" dirty="0">
                          <a:solidFill>
                            <a:srgbClr val="000000"/>
                          </a:solidFill>
                          <a:effectLst/>
                          <a:latin typeface="Arial"/>
                        </a:rPr>
                        <a:t> Retreat (YPO Forum like, with a resource &amp; fun time together)</a:t>
                      </a:r>
                      <a:endParaRPr 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Develop a Taboo List and discuss it in the next Retreat. Everyone introduces at lease 2 topics that was not put on table until know but knows it is a problem.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0" i="0" u="none" strike="noStrike" dirty="0">
                          <a:solidFill>
                            <a:schemeClr val="tx1"/>
                          </a:solidFill>
                          <a:effectLst/>
                          <a:latin typeface="Arial"/>
                          <a:ea typeface="Riforma LL" panose="020B0504020101020102" pitchFamily="34" charset="0"/>
                          <a:cs typeface="Arial"/>
                        </a:rPr>
                        <a:t>6</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Update the Weekly team meeting – In addition to individual priorities, we are adding a section where each member mentions 2-3 interdepartmental priorities they aim to close together during that week.</a:t>
                      </a:r>
                      <a:endParaRPr lang="en-US" dirty="0" err="1"/>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Disagree and commit (explicit consent) – update the </a:t>
                      </a:r>
                      <a:r>
                        <a:rPr lang="en-GB" sz="1200" b="0" i="0" u="none" strike="noStrike" noProof="0" dirty="0" err="1">
                          <a:solidFill>
                            <a:srgbClr val="000000"/>
                          </a:solidFill>
                          <a:effectLst/>
                          <a:latin typeface="Arial"/>
                        </a:rPr>
                        <a:t>BoD</a:t>
                      </a:r>
                      <a:r>
                        <a:rPr lang="en-GB" sz="1200" b="0" i="0" u="none" strike="noStrike" noProof="0" dirty="0">
                          <a:solidFill>
                            <a:srgbClr val="000000"/>
                          </a:solidFill>
                          <a:effectLst/>
                          <a:latin typeface="Arial"/>
                        </a:rPr>
                        <a:t> meeting Structure / Minutes / Decisions</a:t>
                      </a:r>
                      <a:endParaRPr 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0" i="0" u="none" strike="noStrike" dirty="0">
                          <a:solidFill>
                            <a:schemeClr val="tx1"/>
                          </a:solidFill>
                          <a:effectLst/>
                          <a:latin typeface="Arial"/>
                          <a:ea typeface="Riforma LL" panose="020B0504020101020102" pitchFamily="34" charset="0"/>
                          <a:cs typeface="Arial"/>
                        </a:rPr>
                        <a:t>6</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Brutal Honest Feedback – put in calendar 121s among all team members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ea typeface="+mn-ea"/>
                          <a:cs typeface="+mn-cs"/>
                        </a:rPr>
                        <a:t>Designate a team member responsible for managing a reasonable share of voice for everyone, so each person can express their point of view</a:t>
                      </a:r>
                      <a:endParaRPr lang="en-US" sz="1200" b="0" i="0" u="none" strike="noStrike" kern="1200" dirty="0">
                        <a:solidFill>
                          <a:srgbClr val="000000"/>
                        </a:solidFill>
                        <a:effectLst/>
                        <a:latin typeface="Arial"/>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r>
                        <a:rPr lang="en-GB" sz="1200" b="0" i="0" u="none" strike="noStrike" dirty="0">
                          <a:solidFill>
                            <a:schemeClr val="tx1"/>
                          </a:solidFill>
                          <a:effectLst/>
                          <a:latin typeface="Arial"/>
                          <a:ea typeface="Riforma LL" panose="020B0504020101020102" pitchFamily="34" charset="0"/>
                          <a:cs typeface="Arial"/>
                        </a:rPr>
                        <a:t>6</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GB" sz="1200" b="0" i="0" u="none" strike="noStrike" noProof="0" dirty="0">
                          <a:solidFill>
                            <a:srgbClr val="000000"/>
                          </a:solidFill>
                          <a:effectLst/>
                          <a:latin typeface="Arial"/>
                        </a:rPr>
                        <a:t>Develop a company scorecard – top 3 KPIs / per department</a:t>
                      </a:r>
                      <a:endParaRPr lang="en-US"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GB" sz="1200" b="0" i="0" u="none" strike="noStrike" kern="1200" noProof="0" dirty="0">
                          <a:solidFill>
                            <a:srgbClr val="000000"/>
                          </a:solidFill>
                          <a:effectLst/>
                          <a:latin typeface="Arial"/>
                          <a:ea typeface="+mn-ea"/>
                          <a:cs typeface="+mn-cs"/>
                        </a:rPr>
                        <a:t>Starting from the next </a:t>
                      </a:r>
                      <a:r>
                        <a:rPr lang="en-GB" sz="1200" b="0" i="0" u="none" strike="noStrike" kern="1200" noProof="0" err="1">
                          <a:solidFill>
                            <a:srgbClr val="000000"/>
                          </a:solidFill>
                          <a:effectLst/>
                          <a:latin typeface="Arial"/>
                          <a:ea typeface="+mn-ea"/>
                          <a:cs typeface="+mn-cs"/>
                        </a:rPr>
                        <a:t>BoD</a:t>
                      </a:r>
                      <a:r>
                        <a:rPr lang="en-GB" sz="1200" b="0" i="0" u="none" strike="noStrike" kern="1200" noProof="0" dirty="0">
                          <a:solidFill>
                            <a:srgbClr val="000000"/>
                          </a:solidFill>
                          <a:effectLst/>
                          <a:latin typeface="Arial"/>
                          <a:ea typeface="+mn-ea"/>
                          <a:cs typeface="+mn-cs"/>
                        </a:rPr>
                        <a:t> meeting, each member will propose a success, and together we will vote for the success of the month.</a:t>
                      </a:r>
                      <a:endParaRPr lang="en-US" sz="1200" b="0" i="0" u="none" strike="noStrike" kern="1200" dirty="0">
                        <a:solidFill>
                          <a:srgbClr val="000000"/>
                        </a:solidFill>
                        <a:effectLst/>
                        <a:latin typeface="Arial"/>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3966889963"/>
              </p:ext>
            </p:extLst>
          </p:nvPr>
        </p:nvGraphicFramePr>
        <p:xfrm>
          <a:off x="162482" y="5981876"/>
          <a:ext cx="9707738" cy="1478784"/>
        </p:xfrm>
        <a:graphic>
          <a:graphicData uri="http://schemas.openxmlformats.org/drawingml/2006/table">
            <a:tbl>
              <a:tblPr firstRow="1" bandRow="1">
                <a:tableStyleId>{2D5ABB26-0587-4C30-8999-92F81FD0307C}</a:tableStyleId>
              </a:tblPr>
              <a:tblGrid>
                <a:gridCol w="6770715">
                  <a:extLst>
                    <a:ext uri="{9D8B030D-6E8A-4147-A177-3AD203B41FA5}">
                      <a16:colId xmlns:a16="http://schemas.microsoft.com/office/drawing/2014/main" val="1435361538"/>
                    </a:ext>
                  </a:extLst>
                </a:gridCol>
                <a:gridCol w="1585913">
                  <a:extLst>
                    <a:ext uri="{9D8B030D-6E8A-4147-A177-3AD203B41FA5}">
                      <a16:colId xmlns:a16="http://schemas.microsoft.com/office/drawing/2014/main" val="3691210030"/>
                    </a:ext>
                  </a:extLst>
                </a:gridCol>
                <a:gridCol w="1351110">
                  <a:extLst>
                    <a:ext uri="{9D8B030D-6E8A-4147-A177-3AD203B41FA5}">
                      <a16:colId xmlns:a16="http://schemas.microsoft.com/office/drawing/2014/main" val="14683607"/>
                    </a:ext>
                  </a:extLst>
                </a:gridCol>
              </a:tblGrid>
              <a:tr h="290984">
                <a:tc>
                  <a:txBody>
                    <a:bodyPr/>
                    <a:lstStyle/>
                    <a:p>
                      <a:pPr marL="0" marR="0" lvl="0" indent="0" algn="l" defTabSz="913760" rtl="0">
                        <a:lnSpc>
                          <a:spcPct val="100000"/>
                        </a:lnSpc>
                        <a:spcBef>
                          <a:spcPts val="0"/>
                        </a:spcBef>
                        <a:spcAft>
                          <a:spcPts val="0"/>
                        </a:spcAft>
                        <a:buClrTx/>
                        <a:buSzTx/>
                        <a:buFontTx/>
                        <a:buNone/>
                        <a:tabLst/>
                        <a:defRPr/>
                      </a:pPr>
                      <a:r>
                        <a:rPr lang="en-US" sz="1600" b="0" i="0" dirty="0">
                          <a:solidFill>
                            <a:schemeClr val="bg1"/>
                          </a:solidFill>
                          <a:latin typeface="Calibri"/>
                        </a:rPr>
                        <a:t>What</a:t>
                      </a:r>
                      <a:endParaRPr lang="en-US" dirty="0"/>
                    </a:p>
                  </a:txBody>
                  <a:tcPr anchor="ctr">
                    <a:lnL w="6350">
                      <a:solidFill>
                        <a:schemeClr val="tx1"/>
                      </a:solidFill>
                    </a:lnL>
                    <a:lnR w="6350">
                      <a:solidFill>
                        <a:schemeClr val="tx1"/>
                      </a:solidFill>
                    </a:lnR>
                    <a:lnT w="6350">
                      <a:solidFill>
                        <a:schemeClr val="tx1"/>
                      </a:solidFill>
                    </a:lnT>
                    <a:lnB w="6350">
                      <a:solidFill>
                        <a:schemeClr val="tx1"/>
                      </a:solidFill>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43152">
                <a:tc>
                  <a:txBody>
                    <a:bodyPr/>
                    <a:lstStyle/>
                    <a:p>
                      <a:pPr lvl="0" algn="l">
                        <a:lnSpc>
                          <a:spcPct val="100000"/>
                        </a:lnSpc>
                        <a:spcBef>
                          <a:spcPts val="0"/>
                        </a:spcBef>
                        <a:spcAft>
                          <a:spcPts val="0"/>
                        </a:spcAft>
                        <a:buNone/>
                      </a:pPr>
                      <a:r>
                        <a:rPr lang="en-GB" sz="1200" b="0" i="0" u="none" strike="noStrike" noProof="0" dirty="0">
                          <a:solidFill>
                            <a:schemeClr val="tx1"/>
                          </a:solidFill>
                          <a:effectLst/>
                          <a:latin typeface="Arial"/>
                        </a:rPr>
                        <a:t>Re-start Coffee of Joy!!! (a YPO forum like meeting, bi-monthly)</a:t>
                      </a:r>
                    </a:p>
                  </a:txBody>
                  <a:tcPr anchor="ctr">
                    <a:lnL w="6350">
                      <a:solidFill>
                        <a:schemeClr val="tx1"/>
                      </a:solidFill>
                    </a:lnL>
                    <a:lnR w="6350">
                      <a:solidFill>
                        <a:schemeClr val="tx1"/>
                      </a:solidFill>
                    </a:lnR>
                    <a:lnT w="6350">
                      <a:solidFill>
                        <a:schemeClr val="tx1"/>
                      </a:solidFill>
                    </a:lnT>
                    <a:lnB w="6350">
                      <a:solidFill>
                        <a:schemeClr val="tx1"/>
                      </a:solidFill>
                    </a:lnB>
                    <a:solidFill>
                      <a:schemeClr val="bg1"/>
                    </a:solidFill>
                  </a:tcPr>
                </a:tc>
                <a:tc>
                  <a:txBody>
                    <a:bodyPr/>
                    <a:lstStyle/>
                    <a:p>
                      <a:pPr algn="l" fontAlgn="t"/>
                      <a:r>
                        <a:rPr lang="en-GB" sz="1200" b="0" i="0" u="none" strike="noStrike" kern="1200" dirty="0">
                          <a:solidFill>
                            <a:schemeClr val="tx1"/>
                          </a:solidFill>
                          <a:effectLst/>
                          <a:latin typeface="Arial"/>
                          <a:ea typeface="+mn-ea"/>
                          <a:cs typeface="+mn-cs"/>
                        </a:rPr>
                        <a:t>Radu &amp; then rotation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kern="1200" dirty="0">
                          <a:solidFill>
                            <a:schemeClr val="tx1"/>
                          </a:solidFill>
                          <a:effectLst/>
                          <a:latin typeface="Arial"/>
                          <a:ea typeface="+mn-ea"/>
                          <a:cs typeface="+mn-cs"/>
                        </a:rPr>
                        <a:t>Every 2 weeks, starting 1 Nov</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43152">
                <a:tc>
                  <a:txBody>
                    <a:bodyPr/>
                    <a:lstStyle/>
                    <a:p>
                      <a:pPr lvl="0" algn="l">
                        <a:lnSpc>
                          <a:spcPct val="100000"/>
                        </a:lnSpc>
                        <a:spcBef>
                          <a:spcPts val="0"/>
                        </a:spcBef>
                        <a:spcAft>
                          <a:spcPts val="0"/>
                        </a:spcAft>
                        <a:buNone/>
                      </a:pPr>
                      <a:r>
                        <a:rPr lang="en-GB" sz="1200" b="0" i="0" u="none" strike="noStrike" kern="1200" noProof="0" dirty="0">
                          <a:solidFill>
                            <a:schemeClr val="tx1"/>
                          </a:solidFill>
                          <a:effectLst/>
                          <a:latin typeface="Arial"/>
                          <a:ea typeface="+mn-ea"/>
                          <a:cs typeface="+mn-cs"/>
                        </a:rPr>
                        <a:t>Brutal Honest Feedback – put in calendar 121s among all team members</a:t>
                      </a:r>
                    </a:p>
                  </a:txBody>
                  <a:tcPr anchor="ctr">
                    <a:lnL w="6350">
                      <a:solidFill>
                        <a:schemeClr val="tx1"/>
                      </a:solidFill>
                    </a:lnL>
                    <a:lnR w="6350">
                      <a:solidFill>
                        <a:schemeClr val="tx1"/>
                      </a:solidFill>
                    </a:lnR>
                    <a:lnT w="6350">
                      <a:solidFill>
                        <a:schemeClr val="tx1"/>
                      </a:solidFill>
                    </a:lnT>
                    <a:lnB w="6350">
                      <a:solidFill>
                        <a:schemeClr val="tx1"/>
                      </a:solidFill>
                    </a:lnB>
                    <a:solidFill>
                      <a:schemeClr val="bg1"/>
                    </a:solidFill>
                  </a:tcPr>
                </a:tc>
                <a:tc>
                  <a:txBody>
                    <a:bodyPr/>
                    <a:lstStyle/>
                    <a:p>
                      <a:pPr algn="l" fontAlgn="t"/>
                      <a:r>
                        <a:rPr lang="en-GB" sz="1200" b="0" i="0" u="none" strike="noStrike" kern="1200" err="1">
                          <a:solidFill>
                            <a:schemeClr val="tx1"/>
                          </a:solidFill>
                          <a:effectLst/>
                          <a:latin typeface="Arial"/>
                          <a:ea typeface="+mn-ea"/>
                          <a:cs typeface="+mn-cs"/>
                        </a:rPr>
                        <a:t>BoD</a:t>
                      </a:r>
                      <a:r>
                        <a:rPr lang="en-GB" sz="1200" b="0" i="0" u="none" strike="noStrike" kern="1200" dirty="0">
                          <a:solidFill>
                            <a:schemeClr val="tx1"/>
                          </a:solidFill>
                          <a:effectLst/>
                          <a:latin typeface="Arial"/>
                          <a:ea typeface="+mn-ea"/>
                          <a:cs typeface="+mn-cs"/>
                        </a:rPr>
                        <a:t> members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kern="1200" dirty="0">
                          <a:solidFill>
                            <a:schemeClr val="tx1"/>
                          </a:solidFill>
                          <a:effectLst/>
                          <a:latin typeface="Arial"/>
                          <a:ea typeface="+mn-ea"/>
                          <a:cs typeface="+mn-cs"/>
                        </a:rPr>
                        <a:t>By 21 Oct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43152">
                <a:tc>
                  <a:txBody>
                    <a:bodyPr/>
                    <a:lstStyle/>
                    <a:p>
                      <a:pPr lvl="0" algn="l">
                        <a:lnSpc>
                          <a:spcPct val="100000"/>
                        </a:lnSpc>
                        <a:spcBef>
                          <a:spcPts val="0"/>
                        </a:spcBef>
                        <a:spcAft>
                          <a:spcPts val="0"/>
                        </a:spcAft>
                        <a:buNone/>
                      </a:pPr>
                      <a:r>
                        <a:rPr lang="en-GB" sz="1200" b="0" i="0" u="none" strike="noStrike" noProof="0" dirty="0">
                          <a:solidFill>
                            <a:schemeClr val="tx1"/>
                          </a:solidFill>
                          <a:effectLst/>
                          <a:latin typeface="Arial"/>
                        </a:rPr>
                        <a:t>Develop a c</a:t>
                      </a:r>
                      <a:r>
                        <a:rPr lang="en-GB" sz="1200" b="0" i="0" u="none" strike="noStrike" kern="1200" noProof="0" dirty="0">
                          <a:solidFill>
                            <a:schemeClr val="tx1"/>
                          </a:solidFill>
                          <a:effectLst/>
                          <a:latin typeface="Arial"/>
                          <a:ea typeface="+mn-ea"/>
                          <a:cs typeface="+mn-cs"/>
                        </a:rPr>
                        <a:t>ompany scorecard – top 3 KPIs / per department</a:t>
                      </a:r>
                    </a:p>
                  </a:txBody>
                  <a:tcPr anchor="ctr">
                    <a:lnL w="6350">
                      <a:solidFill>
                        <a:schemeClr val="tx1"/>
                      </a:solidFill>
                    </a:lnL>
                    <a:lnR w="6350">
                      <a:solidFill>
                        <a:schemeClr val="tx1"/>
                      </a:solidFill>
                    </a:lnR>
                    <a:lnT w="6350">
                      <a:solidFill>
                        <a:schemeClr val="tx1"/>
                      </a:solidFill>
                    </a:lnT>
                    <a:lnB w="6350">
                      <a:solidFill>
                        <a:schemeClr val="tx1"/>
                      </a:solidFill>
                    </a:lnB>
                    <a:solidFill>
                      <a:schemeClr val="bg1"/>
                    </a:solidFill>
                  </a:tcPr>
                </a:tc>
                <a:tc>
                  <a:txBody>
                    <a:bodyPr/>
                    <a:lstStyle/>
                    <a:p>
                      <a:pPr algn="l" fontAlgn="t"/>
                      <a:r>
                        <a:rPr lang="en-GB" sz="1200" b="0" i="0" u="none" strike="noStrike" kern="1200" dirty="0">
                          <a:solidFill>
                            <a:schemeClr val="tx1"/>
                          </a:solidFill>
                          <a:effectLst/>
                          <a:latin typeface="Arial"/>
                          <a:ea typeface="+mn-ea"/>
                          <a:cs typeface="+mn-cs"/>
                        </a:rPr>
                        <a:t>Johnny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kern="1200" dirty="0">
                          <a:solidFill>
                            <a:schemeClr val="tx1"/>
                          </a:solidFill>
                          <a:effectLst/>
                          <a:latin typeface="Arial"/>
                          <a:ea typeface="+mn-ea"/>
                          <a:cs typeface="+mn-cs"/>
                        </a:rPr>
                        <a:t>1 Nov</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470013"/>
            <a:ext cx="9707740" cy="646331"/>
          </a:xfrm>
          <a:prstGeom prst="rect">
            <a:avLst/>
          </a:prstGeom>
          <a:solidFill>
            <a:schemeClr val="bg2"/>
          </a:solidFill>
        </p:spPr>
        <p:txBody>
          <a:bodyPr wrap="square" rtlCol="0">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dirty="0">
                <a:solidFill>
                  <a:schemeClr val="tx1"/>
                </a:solidFill>
                <a:effectLst/>
                <a:latin typeface="Arial" panose="020B0604020202020204" pitchFamily="34" charset="0"/>
                <a:cs typeface="Arial" panose="020B0604020202020204" pitchFamily="34" charset="0"/>
              </a:rPr>
              <a:t>With the scores at hand, initiate an open and honest discussion within the team (during the Fast Track hour). Talk about the areas of strength, acknowledge the challenges, and collectively brainstorm on actionable steps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3769816325"/>
              </p:ext>
            </p:extLst>
          </p:nvPr>
        </p:nvGraphicFramePr>
        <p:xfrm>
          <a:off x="133922" y="580351"/>
          <a:ext cx="9910191" cy="6468244"/>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a:cs typeface="Arial"/>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a:cs typeface="Arial"/>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37916">
                <a:tc rowSpan="2">
                  <a:txBody>
                    <a:bodyPr/>
                    <a:lstStyle/>
                    <a:p>
                      <a:pPr lvl="0" fontAlgn="base"/>
                      <a:r>
                        <a:rPr lang="en-GB" sz="1200" b="1" dirty="0">
                          <a:effectLst/>
                          <a:latin typeface="Arial" panose="020B0604020202020204" pitchFamily="34" charset="0"/>
                          <a:cs typeface="Arial" panose="020B0604020202020204" pitchFamily="34" charset="0"/>
                        </a:rPr>
                        <a:t>ABSENCE</a:t>
                      </a:r>
                    </a:p>
                    <a:p>
                      <a:pPr lvl="0" fontAlgn="base"/>
                      <a:r>
                        <a:rPr lang="en-GB" sz="1200" b="1" dirty="0">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rtl="0" eaLnBrk="1" fontAlgn="base" latinLnBrk="0" hangingPunct="1"/>
                      <a:r>
                        <a:rPr lang="en-GB" sz="1200" kern="1200" dirty="0">
                          <a:solidFill>
                            <a:schemeClr val="tx1"/>
                          </a:solidFill>
                          <a:effectLst/>
                          <a:latin typeface="Arial"/>
                          <a:ea typeface="+mn-ea"/>
                          <a:cs typeface="Arial"/>
                        </a:rPr>
                        <a:t>Radu starts, then </a:t>
                      </a:r>
                      <a:r>
                        <a:rPr lang="en-GB" sz="1200" kern="1200" dirty="0" err="1">
                          <a:solidFill>
                            <a:schemeClr val="tx1"/>
                          </a:solidFill>
                          <a:effectLst/>
                          <a:latin typeface="Arial"/>
                          <a:ea typeface="+mn-ea"/>
                          <a:cs typeface="Arial"/>
                        </a:rPr>
                        <a:t>BoD</a:t>
                      </a:r>
                      <a:r>
                        <a:rPr lang="en-GB" sz="1200" kern="1200" dirty="0">
                          <a:solidFill>
                            <a:schemeClr val="tx1"/>
                          </a:solidFill>
                          <a:effectLst/>
                          <a:latin typeface="Arial"/>
                          <a:ea typeface="+mn-ea"/>
                          <a:cs typeface="Arial"/>
                        </a:rPr>
                        <a:t> members rotation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Re-start Coffee of Joy!!! (a YPO forum like meeting, bi-monthly)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Every 2 weeks, starting 1 Nov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453629">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a:ea typeface="+mn-ea"/>
                          <a:cs typeface="Arial"/>
                        </a:rPr>
                        <a:t>Andreia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Establish a meeting for sharing Thomas (strengths / weakness) profiles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By 15 Nov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453629">
                <a:tc rowSpan="2">
                  <a:txBody>
                    <a:bodyPr/>
                    <a:lstStyle/>
                    <a:p>
                      <a:pPr lvl="0" fontAlgn="base"/>
                      <a:r>
                        <a:rPr lang="en-GB" sz="1200" b="1" dirty="0">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dirty="0">
                          <a:solidFill>
                            <a:schemeClr val="tx1"/>
                          </a:solidFill>
                          <a:effectLst/>
                          <a:latin typeface="Arial"/>
                          <a:ea typeface="+mn-ea"/>
                          <a:cs typeface="Arial"/>
                        </a:rPr>
                        <a:t>Lucia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Organize yearly a </a:t>
                      </a:r>
                      <a:r>
                        <a:rPr lang="en-GB" sz="1200" b="0" i="0" u="none" strike="noStrike" kern="1200" noProof="0" dirty="0" err="1">
                          <a:solidFill>
                            <a:srgbClr val="000000"/>
                          </a:solidFill>
                          <a:effectLst/>
                          <a:latin typeface="Arial"/>
                        </a:rPr>
                        <a:t>BoD</a:t>
                      </a:r>
                      <a:r>
                        <a:rPr lang="en-GB" sz="1200" b="0" i="0" u="none" strike="noStrike" kern="1200" noProof="0" dirty="0">
                          <a:solidFill>
                            <a:srgbClr val="000000"/>
                          </a:solidFill>
                          <a:effectLst/>
                          <a:latin typeface="Arial"/>
                        </a:rPr>
                        <a:t> Retreat (YPO Forum like, with a resource &amp; fun time together)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21-24 Nov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a:ea typeface="+mn-ea"/>
                          <a:cs typeface="Arial"/>
                        </a:rPr>
                        <a:t>Lucia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Develop a Taboo List and discuss it in the next Retreat. Everyone introduces at lease 2 topics that was not put on table until know but knows it is a problem.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21-24 Nov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algn="l">
                        <a:lnSpc>
                          <a:spcPct val="100000"/>
                        </a:lnSpc>
                        <a:spcBef>
                          <a:spcPts val="0"/>
                        </a:spcBef>
                        <a:spcAft>
                          <a:spcPts val="0"/>
                        </a:spcAft>
                        <a:buNone/>
                      </a:pPr>
                      <a:r>
                        <a:rPr lang="en-GB" sz="1200" b="1" i="0" u="none" strike="noStrike" noProof="0" dirty="0">
                          <a:solidFill>
                            <a:srgbClr val="000000"/>
                          </a:solidFill>
                          <a:effectLst/>
                          <a:latin typeface="Arial"/>
                        </a:rPr>
                        <a:t>LACK OF COMMITMENT</a:t>
                      </a:r>
                      <a:endParaRPr lang="en-GB" sz="1200" b="0" i="0" u="none" strike="noStrike" noProof="0" dirty="0">
                        <a:solidFill>
                          <a:srgbClr val="000000"/>
                        </a:solidFill>
                        <a:effectLst/>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95000"/>
                      </a:schemeClr>
                    </a:solidFill>
                  </a:tcPr>
                </a:tc>
                <a:tc>
                  <a:txBody>
                    <a:bodyPr/>
                    <a:lstStyle/>
                    <a:p>
                      <a:pPr marL="0" lvl="0" algn="l" defTabSz="913760">
                        <a:buNone/>
                      </a:pPr>
                      <a:r>
                        <a:rPr lang="en-GB" sz="1200" kern="1200" dirty="0">
                          <a:solidFill>
                            <a:schemeClr val="tx1"/>
                          </a:solidFill>
                          <a:effectLst/>
                          <a:latin typeface="Arial"/>
                          <a:ea typeface="+mn-ea"/>
                          <a:cs typeface="Arial"/>
                        </a:rPr>
                        <a:t>Andreia</a:t>
                      </a: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Update the Weekly team meeting – In addition to individual priorities, we are adding a section where each member mentions 2-3 interdepartmental priorities they aim to close together during that week.</a:t>
                      </a: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tcPr>
                </a:tc>
                <a:tc>
                  <a:txBody>
                    <a:bodyPr/>
                    <a:lstStyle/>
                    <a:p>
                      <a:pPr marL="0" lvl="0" algn="l">
                        <a:buNone/>
                      </a:pPr>
                      <a:r>
                        <a:rPr lang="en-GB" sz="1200" b="0" i="0" u="none" strike="noStrike" kern="1200" noProof="0" dirty="0">
                          <a:solidFill>
                            <a:schemeClr val="tx1"/>
                          </a:solidFill>
                          <a:effectLst/>
                          <a:latin typeface="Arial"/>
                        </a:rPr>
                        <a:t>14 Oct</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tcPr>
                </a:tc>
                <a:extLst>
                  <a:ext uri="{0D108BD9-81ED-4DB2-BD59-A6C34878D82A}">
                    <a16:rowId xmlns:a16="http://schemas.microsoft.com/office/drawing/2014/main" val="221626597"/>
                  </a:ext>
                </a:extLst>
              </a:tr>
              <a:tr h="453629">
                <a:tc>
                  <a:txBody>
                    <a:bodyPr/>
                    <a:lstStyle/>
                    <a:p>
                      <a:pPr lvl="0">
                        <a:buNone/>
                      </a:pPr>
                      <a:endParaRPr lang="en-GB" sz="1200" b="1" dirty="0">
                        <a:effectLst/>
                        <a:latin typeface="Arial"/>
                        <a:cs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solidFill>
                      <a:schemeClr val="bg1">
                        <a:lumMod val="95000"/>
                      </a:schemeClr>
                    </a:solidFill>
                  </a:tcPr>
                </a:tc>
                <a:tc>
                  <a:txBody>
                    <a:bodyPr/>
                    <a:lstStyle/>
                    <a:p>
                      <a:pPr marL="0" lvl="0" algn="l" defTabSz="913760">
                        <a:buNone/>
                      </a:pPr>
                      <a:r>
                        <a:rPr lang="en-GB" sz="1200" b="0" i="0" u="none" strike="noStrike" kern="1200" noProof="0" dirty="0">
                          <a:solidFill>
                            <a:schemeClr val="tx1"/>
                          </a:solidFill>
                          <a:effectLst/>
                          <a:latin typeface="Arial"/>
                        </a:rPr>
                        <a:t>Lucia</a:t>
                      </a:r>
                      <a:endParaRPr lang="en-US" dirty="0"/>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Disagree and commit (explicit consent) – update the </a:t>
                      </a:r>
                      <a:r>
                        <a:rPr lang="en-GB" sz="1200" b="0" i="0" u="none" strike="noStrike" kern="1200" noProof="0" dirty="0" err="1">
                          <a:solidFill>
                            <a:srgbClr val="000000"/>
                          </a:solidFill>
                          <a:effectLst/>
                          <a:latin typeface="Arial"/>
                        </a:rPr>
                        <a:t>BoD</a:t>
                      </a:r>
                      <a:r>
                        <a:rPr lang="en-GB" sz="1200" b="0" i="0" u="none" strike="noStrike" kern="1200" noProof="0" dirty="0">
                          <a:solidFill>
                            <a:srgbClr val="000000"/>
                          </a:solidFill>
                          <a:effectLst/>
                          <a:latin typeface="Arial"/>
                        </a:rPr>
                        <a:t> meeting Structure / Minutes / Decisions</a:t>
                      </a: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tcPr>
                </a:tc>
                <a:tc>
                  <a:txBody>
                    <a:bodyPr/>
                    <a:lstStyle/>
                    <a:p>
                      <a:pPr lvl="0" algn="l">
                        <a:lnSpc>
                          <a:spcPct val="100000"/>
                        </a:lnSpc>
                        <a:spcBef>
                          <a:spcPts val="0"/>
                        </a:spcBef>
                        <a:spcAft>
                          <a:spcPts val="0"/>
                        </a:spcAft>
                        <a:buNone/>
                      </a:pPr>
                      <a:r>
                        <a:rPr lang="en-GB" sz="1200" b="0" i="0" u="none" strike="noStrike" kern="1200" noProof="0" dirty="0">
                          <a:solidFill>
                            <a:schemeClr val="tx1"/>
                          </a:solidFill>
                          <a:effectLst/>
                          <a:latin typeface="Arial"/>
                        </a:rPr>
                        <a:t>14 Oct</a:t>
                      </a:r>
                      <a:endParaRPr lang="en-GB" sz="1200" b="0" i="0" u="none" strike="noStrike" kern="1200" noProof="0" dirty="0">
                        <a:solidFill>
                          <a:srgbClr val="000000"/>
                        </a:solidFill>
                        <a:effectLst/>
                        <a:latin typeface="Arial"/>
                      </a:endParaRPr>
                    </a:p>
                  </a:txBody>
                  <a:tcPr anchor="ctr">
                    <a:lnL w="12700">
                      <a:solidFill>
                        <a:schemeClr val="tx1"/>
                      </a:solidFill>
                    </a:lnL>
                    <a:lnR w="12700">
                      <a:solidFill>
                        <a:schemeClr val="tx1"/>
                      </a:solidFill>
                    </a:lnR>
                    <a:lnT w="12700">
                      <a:solidFill>
                        <a:schemeClr val="tx1"/>
                      </a:solidFill>
                    </a:lnT>
                    <a:lnB w="12700">
                      <a:solidFill>
                        <a:schemeClr val="tx1"/>
                      </a:solidFill>
                    </a:lnB>
                    <a:lnTlToBr w="0">
                      <a:noFill/>
                    </a:lnTlToBr>
                    <a:lnBlToTr w="0">
                      <a:noFill/>
                    </a:lnBlToTr>
                  </a:tcPr>
                </a:tc>
                <a:extLst>
                  <a:ext uri="{0D108BD9-81ED-4DB2-BD59-A6C34878D82A}">
                    <a16:rowId xmlns:a16="http://schemas.microsoft.com/office/drawing/2014/main" val="2544332861"/>
                  </a:ext>
                </a:extLst>
              </a:tr>
              <a:tr h="524508">
                <a:tc rowSpan="2">
                  <a:txBody>
                    <a:bodyPr/>
                    <a:lstStyle/>
                    <a:p>
                      <a:pPr lvl="0" fontAlgn="base"/>
                      <a:r>
                        <a:rPr lang="en-GB" sz="1200" b="1" dirty="0">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rtl="0" eaLnBrk="1" fontAlgn="base" latinLnBrk="0" hangingPunct="1"/>
                      <a:r>
                        <a:rPr lang="en-GB" sz="1200" kern="1200" err="1">
                          <a:solidFill>
                            <a:schemeClr val="tx1"/>
                          </a:solidFill>
                          <a:effectLst/>
                          <a:latin typeface="Arial"/>
                          <a:ea typeface="+mn-ea"/>
                          <a:cs typeface="Arial"/>
                        </a:rPr>
                        <a:t>BoD</a:t>
                      </a:r>
                      <a:r>
                        <a:rPr lang="en-GB" sz="1200" kern="1200" dirty="0">
                          <a:solidFill>
                            <a:schemeClr val="tx1"/>
                          </a:solidFill>
                          <a:effectLst/>
                          <a:latin typeface="Arial"/>
                          <a:ea typeface="+mn-ea"/>
                          <a:cs typeface="Arial"/>
                        </a:rPr>
                        <a:t>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Brutal Honest Feedback – put in calendar 121s among 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By 21 Oct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822202">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a:ea typeface="+mn-ea"/>
                          <a:cs typeface="Arial"/>
                        </a:rPr>
                        <a:t>Radu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Designate a team member responsible for managing a reasonable share of voice for everyone, so each person can express their point of view</a:t>
                      </a:r>
                    </a:p>
                    <a:p>
                      <a:pPr lvl="0" algn="l">
                        <a:lnSpc>
                          <a:spcPct val="100000"/>
                        </a:lnSpc>
                        <a:spcBef>
                          <a:spcPts val="0"/>
                        </a:spcBef>
                        <a:spcAft>
                          <a:spcPts val="0"/>
                        </a:spcAft>
                        <a:buNone/>
                      </a:pPr>
                      <a:endParaRPr lang="en-GB" sz="1200" b="0" i="0" u="none" strike="noStrike" kern="1200" noProof="0" dirty="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Starting 14 Oct in every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510332">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dirty="0">
                          <a:solidFill>
                            <a:schemeClr val="tx1"/>
                          </a:solidFill>
                          <a:effectLst/>
                          <a:latin typeface="Arial"/>
                          <a:ea typeface="+mn-ea"/>
                          <a:cs typeface="Arial"/>
                        </a:rPr>
                        <a:t>Johnny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Develop a company scorecard – top 3 KPIs / per department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1 Nov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dirty="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base" latinLnBrk="0" hangingPunct="1">
                        <a:lnSpc>
                          <a:spcPct val="100000"/>
                        </a:lnSpc>
                        <a:spcBef>
                          <a:spcPts val="0"/>
                        </a:spcBef>
                        <a:spcAft>
                          <a:spcPts val="0"/>
                        </a:spcAft>
                        <a:buClrTx/>
                        <a:buSzTx/>
                        <a:buFontTx/>
                        <a:buNone/>
                      </a:pPr>
                      <a:r>
                        <a:rPr lang="en-GB" sz="1200" kern="1200" dirty="0" err="1">
                          <a:solidFill>
                            <a:schemeClr val="tx1"/>
                          </a:solidFill>
                          <a:effectLst/>
                          <a:latin typeface="Arial"/>
                          <a:ea typeface="+mn-ea"/>
                          <a:cs typeface="Arial"/>
                        </a:rPr>
                        <a:t>BoD</a:t>
                      </a:r>
                      <a:r>
                        <a:rPr lang="en-GB" sz="1200" kern="1200" dirty="0">
                          <a:solidFill>
                            <a:schemeClr val="tx1"/>
                          </a:solidFill>
                          <a:effectLst/>
                          <a:latin typeface="Arial"/>
                          <a:ea typeface="+mn-ea"/>
                          <a:cs typeface="Arial"/>
                        </a:rPr>
                        <a:t>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GB" sz="1200" b="0" i="0" u="none" strike="noStrike" kern="1200" noProof="0" dirty="0">
                          <a:solidFill>
                            <a:srgbClr val="000000"/>
                          </a:solidFill>
                          <a:effectLst/>
                          <a:latin typeface="Arial"/>
                        </a:rPr>
                        <a:t>Starting from the next </a:t>
                      </a:r>
                      <a:r>
                        <a:rPr lang="en-GB" sz="1200" b="0" i="0" u="none" strike="noStrike" kern="1200" noProof="0" dirty="0" err="1">
                          <a:solidFill>
                            <a:srgbClr val="000000"/>
                          </a:solidFill>
                          <a:effectLst/>
                          <a:latin typeface="Arial"/>
                        </a:rPr>
                        <a:t>BoD</a:t>
                      </a:r>
                      <a:r>
                        <a:rPr lang="en-GB" sz="1200" b="0" i="0" u="none" strike="noStrike" kern="1200" noProof="0" dirty="0">
                          <a:solidFill>
                            <a:srgbClr val="000000"/>
                          </a:solidFill>
                          <a:effectLst/>
                          <a:latin typeface="Arial"/>
                        </a:rPr>
                        <a:t> meeting, each member will propose a success, and together we will vote for the success of the month.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base" latinLnBrk="0" hangingPunct="1"/>
                      <a:r>
                        <a:rPr lang="en-GB" sz="1200" kern="1200" dirty="0">
                          <a:solidFill>
                            <a:schemeClr val="tx1"/>
                          </a:solidFill>
                          <a:effectLst/>
                          <a:latin typeface="Arial"/>
                          <a:ea typeface="+mn-ea"/>
                          <a:cs typeface="Arial"/>
                        </a:rPr>
                        <a:t>31 Oct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FD84A30-9EFA-9C8B-89EB-6C4F9664A456}"/>
              </a:ext>
            </a:extLst>
          </p:cNvPr>
          <p:cNvSpPr txBox="1"/>
          <p:nvPr/>
        </p:nvSpPr>
        <p:spPr>
          <a:xfrm>
            <a:off x="-3547" y="197585"/>
            <a:ext cx="711476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dirty="0">
                <a:latin typeface="Arial"/>
                <a:cs typeface="Segoe UI"/>
              </a:rPr>
              <a:t>THE 5 DYSFUNCTIONS OF A TEAM IMPROVEMENT PLAN – SECOM</a:t>
            </a:r>
            <a:endParaRPr lang="en-US" sz="1600">
              <a:cs typeface="Segoe UI"/>
            </a:endParaRPr>
          </a:p>
        </p:txBody>
      </p:sp>
    </p:spTree>
    <p:extLst>
      <p:ext uri="{BB962C8B-B14F-4D97-AF65-F5344CB8AC3E}">
        <p14:creationId xmlns:p14="http://schemas.microsoft.com/office/powerpoint/2010/main" val="2288268939"/>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10865</TotalTime>
  <Words>519</Words>
  <Application>Microsoft Office PowerPoint</Application>
  <PresentationFormat>Custom</PresentationFormat>
  <Paragraphs>76</Paragraphs>
  <Slides>3</Slides>
  <Notes>3</Notes>
  <HiddenSlides>0</HiddenSlides>
  <MMClips>0</MMClip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4_Custom Design</vt:lpstr>
      <vt:lpstr>5_Custom Design</vt:lpstr>
      <vt:lpstr>SOLIDS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925</cp:revision>
  <cp:lastPrinted>2020-02-28T13:07:06Z</cp:lastPrinted>
  <dcterms:created xsi:type="dcterms:W3CDTF">2019-08-22T09:52:59Z</dcterms:created>
  <dcterms:modified xsi:type="dcterms:W3CDTF">2024-10-11T13:38:53Z</dcterms:modified>
</cp:coreProperties>
</file>