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7"/>
  </p:notesMasterIdLst>
  <p:handoutMasterIdLst>
    <p:handoutMasterId r:id="rId8"/>
  </p:handoutMasterIdLst>
  <p:sldIdLst>
    <p:sldId id="2583" r:id="rId4"/>
    <p:sldId id="2579" r:id="rId5"/>
    <p:sldId id="2588" r:id="rId6"/>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2497DD-ADE7-1F55-E743-3EB7340D40DD}" v="51" dt="2024-11-04T10:44:46.7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61" autoAdjust="0"/>
    <p:restoredTop sz="84247" autoAdjust="0"/>
  </p:normalViewPr>
  <p:slideViewPr>
    <p:cSldViewPr snapToGrid="0">
      <p:cViewPr varScale="1">
        <p:scale>
          <a:sx n="96" d="100"/>
          <a:sy n="96" d="100"/>
        </p:scale>
        <p:origin x="2408"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4" d="100"/>
          <a:sy n="84" d="100"/>
        </p:scale>
        <p:origin x="22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ść" userId="S::urn:spo:anon#9f9e08589c9c069a35fb31c2b0721e7590d7f9fa52ce8c867a867665ee9d679b::" providerId="AD" clId="Web-{BC8E0CD8-14C7-8261-391E-21CDAC6F6619}"/>
    <pc:docChg chg="modSld">
      <pc:chgData name="Gość" userId="S::urn:spo:anon#9f9e08589c9c069a35fb31c2b0721e7590d7f9fa52ce8c867a867665ee9d679b::" providerId="AD" clId="Web-{BC8E0CD8-14C7-8261-391E-21CDAC6F6619}" dt="2024-10-31T10:26:58.281" v="2752" actId="1076"/>
      <pc:docMkLst>
        <pc:docMk/>
      </pc:docMkLst>
      <pc:sldChg chg="modSp">
        <pc:chgData name="Gość" userId="S::urn:spo:anon#9f9e08589c9c069a35fb31c2b0721e7590d7f9fa52ce8c867a867665ee9d679b::" providerId="AD" clId="Web-{BC8E0CD8-14C7-8261-391E-21CDAC6F6619}" dt="2024-10-31T10:26:58.281" v="2752" actId="1076"/>
        <pc:sldMkLst>
          <pc:docMk/>
          <pc:sldMk cId="2480704689" sldId="2579"/>
        </pc:sldMkLst>
        <pc:spChg chg="mod">
          <ac:chgData name="Gość" userId="S::urn:spo:anon#9f9e08589c9c069a35fb31c2b0721e7590d7f9fa52ce8c867a867665ee9d679b::" providerId="AD" clId="Web-{BC8E0CD8-14C7-8261-391E-21CDAC6F6619}" dt="2024-10-31T09:53:25.891" v="900" actId="20577"/>
          <ac:spMkLst>
            <pc:docMk/>
            <pc:sldMk cId="2480704689" sldId="2579"/>
            <ac:spMk id="6" creationId="{2B9D2F5A-F904-B16E-20BD-22A4CA2C250A}"/>
          </ac:spMkLst>
        </pc:spChg>
        <pc:graphicFrameChg chg="mod modGraphic">
          <ac:chgData name="Gość" userId="S::urn:spo:anon#9f9e08589c9c069a35fb31c2b0721e7590d7f9fa52ce8c867a867665ee9d679b::" providerId="AD" clId="Web-{BC8E0CD8-14C7-8261-391E-21CDAC6F6619}" dt="2024-10-31T10:17:33.074" v="2379"/>
          <ac:graphicFrameMkLst>
            <pc:docMk/>
            <pc:sldMk cId="2480704689" sldId="2579"/>
            <ac:graphicFrameMk id="4" creationId="{C7B4E9FB-F0E9-A518-DC6D-E19ABF645AD4}"/>
          </ac:graphicFrameMkLst>
        </pc:graphicFrameChg>
        <pc:graphicFrameChg chg="mod modGraphic">
          <ac:chgData name="Gość" userId="S::urn:spo:anon#9f9e08589c9c069a35fb31c2b0721e7590d7f9fa52ce8c867a867665ee9d679b::" providerId="AD" clId="Web-{BC8E0CD8-14C7-8261-391E-21CDAC6F6619}" dt="2024-10-31T10:26:58.281" v="2752" actId="1076"/>
          <ac:graphicFrameMkLst>
            <pc:docMk/>
            <pc:sldMk cId="2480704689" sldId="2579"/>
            <ac:graphicFrameMk id="5" creationId="{6299D935-5D86-5BBC-DFB2-D1461E84A089}"/>
          </ac:graphicFrameMkLst>
        </pc:graphicFrameChg>
      </pc:sldChg>
      <pc:sldChg chg="modSp">
        <pc:chgData name="Gość" userId="S::urn:spo:anon#9f9e08589c9c069a35fb31c2b0721e7590d7f9fa52ce8c867a867665ee9d679b::" providerId="AD" clId="Web-{BC8E0CD8-14C7-8261-391E-21CDAC6F6619}" dt="2024-10-31T09:46:05.905" v="297"/>
        <pc:sldMkLst>
          <pc:docMk/>
          <pc:sldMk cId="4165827913" sldId="2583"/>
        </pc:sldMkLst>
        <pc:graphicFrameChg chg="mod modGraphic">
          <ac:chgData name="Gość" userId="S::urn:spo:anon#9f9e08589c9c069a35fb31c2b0721e7590d7f9fa52ce8c867a867665ee9d679b::" providerId="AD" clId="Web-{BC8E0CD8-14C7-8261-391E-21CDAC6F6619}" dt="2024-10-31T09:46:05.905" v="297"/>
          <ac:graphicFrameMkLst>
            <pc:docMk/>
            <pc:sldMk cId="4165827913" sldId="2583"/>
            <ac:graphicFrameMk id="2" creationId="{D5AB1F6C-C39D-2919-A946-05CA775DE313}"/>
          </ac:graphicFrameMkLst>
        </pc:graphicFrameChg>
      </pc:sldChg>
    </pc:docChg>
  </pc:docChgLst>
  <pc:docChgLst>
    <pc:chgData name="Ana-Maria Nankova" userId="S::ana-maria@fasttrack-europe.com::a218cca0-34b6-447c-a499-8829ab6c4acb" providerId="AD" clId="Web-{452497DD-ADE7-1F55-E743-3EB7340D40DD}"/>
    <pc:docChg chg="modSld">
      <pc:chgData name="Ana-Maria Nankova" userId="S::ana-maria@fasttrack-europe.com::a218cca0-34b6-447c-a499-8829ab6c4acb" providerId="AD" clId="Web-{452497DD-ADE7-1F55-E743-3EB7340D40DD}" dt="2024-11-04T10:44:46.740" v="28" actId="1076"/>
      <pc:docMkLst>
        <pc:docMk/>
      </pc:docMkLst>
      <pc:sldChg chg="modSp">
        <pc:chgData name="Ana-Maria Nankova" userId="S::ana-maria@fasttrack-europe.com::a218cca0-34b6-447c-a499-8829ab6c4acb" providerId="AD" clId="Web-{452497DD-ADE7-1F55-E743-3EB7340D40DD}" dt="2024-11-04T10:44:46.740" v="28" actId="1076"/>
        <pc:sldMkLst>
          <pc:docMk/>
          <pc:sldMk cId="2480704689" sldId="2579"/>
        </pc:sldMkLst>
        <pc:graphicFrameChg chg="mod modGraphic">
          <ac:chgData name="Ana-Maria Nankova" userId="S::ana-maria@fasttrack-europe.com::a218cca0-34b6-447c-a499-8829ab6c4acb" providerId="AD" clId="Web-{452497DD-ADE7-1F55-E743-3EB7340D40DD}" dt="2024-11-04T10:44:31.615" v="25" actId="1076"/>
          <ac:graphicFrameMkLst>
            <pc:docMk/>
            <pc:sldMk cId="2480704689" sldId="2579"/>
            <ac:graphicFrameMk id="4" creationId="{C7B4E9FB-F0E9-A518-DC6D-E19ABF645AD4}"/>
          </ac:graphicFrameMkLst>
        </pc:graphicFrameChg>
        <pc:graphicFrameChg chg="mod modGraphic">
          <ac:chgData name="Ana-Maria Nankova" userId="S::ana-maria@fasttrack-europe.com::a218cca0-34b6-447c-a499-8829ab6c4acb" providerId="AD" clId="Web-{452497DD-ADE7-1F55-E743-3EB7340D40DD}" dt="2024-11-04T10:44:46.740" v="28" actId="1076"/>
          <ac:graphicFrameMkLst>
            <pc:docMk/>
            <pc:sldMk cId="2480704689" sldId="2579"/>
            <ac:graphicFrameMk id="5" creationId="{6299D935-5D86-5BBC-DFB2-D1461E84A089}"/>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dirty="0">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11/4/2024</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11/4/2024</a:t>
            </a:fld>
            <a:endParaRPr lang="en-US" dirty="0"/>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604415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267952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804865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1738ED5-E9D1-73F8-82EA-74F27AC84D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185" y="110784"/>
            <a:ext cx="5586388" cy="506266"/>
          </a:xfrm>
          <a:prstGeom prst="rect">
            <a:avLst/>
          </a:prstGeom>
        </p:spPr>
      </p:pic>
      <p:graphicFrame>
        <p:nvGraphicFramePr>
          <p:cNvPr id="2" name="Table 1">
            <a:extLst>
              <a:ext uri="{FF2B5EF4-FFF2-40B4-BE49-F238E27FC236}">
                <a16:creationId xmlns:a16="http://schemas.microsoft.com/office/drawing/2014/main" id="{D5AB1F6C-C39D-2919-A946-05CA775DE313}"/>
              </a:ext>
            </a:extLst>
          </p:cNvPr>
          <p:cNvGraphicFramePr>
            <a:graphicFrameLocks noGrp="1"/>
          </p:cNvGraphicFramePr>
          <p:nvPr>
            <p:extLst>
              <p:ext uri="{D42A27DB-BD31-4B8C-83A1-F6EECF244321}">
                <p14:modId xmlns:p14="http://schemas.microsoft.com/office/powerpoint/2010/main" val="1789169527"/>
              </p:ext>
            </p:extLst>
          </p:nvPr>
        </p:nvGraphicFramePr>
        <p:xfrm>
          <a:off x="258734" y="1859905"/>
          <a:ext cx="9707739" cy="5153787"/>
        </p:xfrm>
        <a:graphic>
          <a:graphicData uri="http://schemas.openxmlformats.org/drawingml/2006/table">
            <a:tbl>
              <a:tblPr firstRow="1" bandRow="1">
                <a:tableStyleId>{2D5ABB26-0587-4C30-8999-92F81FD0307C}</a:tableStyleId>
              </a:tblPr>
              <a:tblGrid>
                <a:gridCol w="1582636">
                  <a:extLst>
                    <a:ext uri="{9D8B030D-6E8A-4147-A177-3AD203B41FA5}">
                      <a16:colId xmlns:a16="http://schemas.microsoft.com/office/drawing/2014/main" val="1341437967"/>
                    </a:ext>
                  </a:extLst>
                </a:gridCol>
                <a:gridCol w="1582636">
                  <a:extLst>
                    <a:ext uri="{9D8B030D-6E8A-4147-A177-3AD203B41FA5}">
                      <a16:colId xmlns:a16="http://schemas.microsoft.com/office/drawing/2014/main" val="1435361538"/>
                    </a:ext>
                  </a:extLst>
                </a:gridCol>
                <a:gridCol w="1678348">
                  <a:extLst>
                    <a:ext uri="{9D8B030D-6E8A-4147-A177-3AD203B41FA5}">
                      <a16:colId xmlns:a16="http://schemas.microsoft.com/office/drawing/2014/main" val="3691210030"/>
                    </a:ext>
                  </a:extLst>
                </a:gridCol>
                <a:gridCol w="1570935">
                  <a:extLst>
                    <a:ext uri="{9D8B030D-6E8A-4147-A177-3AD203B41FA5}">
                      <a16:colId xmlns:a16="http://schemas.microsoft.com/office/drawing/2014/main" val="3917548566"/>
                    </a:ext>
                  </a:extLst>
                </a:gridCol>
                <a:gridCol w="1678348">
                  <a:extLst>
                    <a:ext uri="{9D8B030D-6E8A-4147-A177-3AD203B41FA5}">
                      <a16:colId xmlns:a16="http://schemas.microsoft.com/office/drawing/2014/main" val="14683607"/>
                    </a:ext>
                  </a:extLst>
                </a:gridCol>
                <a:gridCol w="1614836">
                  <a:extLst>
                    <a:ext uri="{9D8B030D-6E8A-4147-A177-3AD203B41FA5}">
                      <a16:colId xmlns:a16="http://schemas.microsoft.com/office/drawing/2014/main" val="2403508123"/>
                    </a:ext>
                  </a:extLst>
                </a:gridCol>
              </a:tblGrid>
              <a:tr h="61183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Team member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1:</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2:</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Fear of conflict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3:</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4:</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5:</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Inattention to results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813697056"/>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Paweł K</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r>
                        <a:rPr lang="de-DE" sz="1200" b="0" dirty="0">
                          <a:solidFill>
                            <a:schemeClr val="tx1"/>
                          </a:solidFill>
                          <a:latin typeface="Arial"/>
                          <a:cs typeface="Aria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05836976"/>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Ernest</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r>
                        <a:rPr lang="de-DE" sz="1200" b="0" dirty="0">
                          <a:solidFill>
                            <a:schemeClr val="tx1"/>
                          </a:solidFill>
                          <a:latin typeface="Arial"/>
                          <a:cs typeface="Aria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50553704"/>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Marcin </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r>
                        <a:rPr lang="en-GB" sz="1200" b="0" i="0" u="none" strike="noStrike" dirty="0">
                          <a:solidFill>
                            <a:schemeClr val="tx1"/>
                          </a:solidFill>
                          <a:effectLst/>
                          <a:latin typeface="Arial"/>
                          <a:ea typeface="Riforma LL" panose="020B0504020101020102" pitchFamily="34" charset="0"/>
                          <a:cs typeface="Arial"/>
                        </a:rPr>
                        <a:t>6</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1303769"/>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Ewa</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r>
                        <a:rPr lang="en-GB" sz="1200" b="0" i="0" u="none" strike="noStrike" dirty="0">
                          <a:solidFill>
                            <a:schemeClr val="tx1"/>
                          </a:solidFill>
                          <a:effectLst/>
                          <a:latin typeface="Arial"/>
                          <a:ea typeface="Riforma LL" panose="020B0504020101020102" pitchFamily="34" charset="0"/>
                          <a:cs typeface="Arial"/>
                        </a:rPr>
                        <a:t>8</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en-GB" sz="1200" b="0" i="0" u="none" strike="noStrike" dirty="0">
                          <a:solidFill>
                            <a:schemeClr val="tx1"/>
                          </a:solidFill>
                          <a:effectLst/>
                          <a:latin typeface="Arial"/>
                          <a:ea typeface="Riforma LL" panose="020B0504020101020102" pitchFamily="34" charset="0"/>
                          <a:cs typeface="Arial"/>
                        </a:rPr>
                        <a:t>8</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9675350"/>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Pawel W</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r>
                        <a:rPr lang="en-GB" sz="1200" b="0" i="0" u="none" strike="noStrike" dirty="0">
                          <a:solidFill>
                            <a:schemeClr val="tx1"/>
                          </a:solidFill>
                          <a:effectLst/>
                          <a:latin typeface="Arial"/>
                          <a:ea typeface="Riforma LL" panose="020B0504020101020102" pitchFamily="34" charset="0"/>
                          <a:cs typeface="Arial"/>
                        </a:rPr>
                        <a:t>7</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2572780"/>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Michal </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r>
                        <a:rPr lang="de-DE" sz="1200" b="0" dirty="0">
                          <a:solidFill>
                            <a:schemeClr val="tx1"/>
                          </a:solidFill>
                          <a:latin typeface="Arial"/>
                          <a:cs typeface="Aria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74705117"/>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Patryk </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r>
                        <a:rPr lang="de-DE" sz="1200" b="0" dirty="0">
                          <a:solidFill>
                            <a:schemeClr val="tx1"/>
                          </a:solidFill>
                          <a:latin typeface="Arial"/>
                          <a:cs typeface="Aria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8149056"/>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Piotr</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r>
                        <a:rPr lang="de-DE" sz="1200" b="0" dirty="0">
                          <a:solidFill>
                            <a:schemeClr val="tx1"/>
                          </a:solidFill>
                          <a:latin typeface="Arial"/>
                          <a:cs typeface="Aria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solidFill>
                            <a:schemeClr val="tx1"/>
                          </a:solidFill>
                          <a:latin typeface="Arial"/>
                          <a:cs typeface="Aria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70126311"/>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dirty="0">
                        <a:solidFill>
                          <a:schemeClr val="tx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solidFill>
                          <a:schemeClr val="tx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solidFill>
                          <a:schemeClr val="tx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solidFill>
                          <a:schemeClr val="tx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solidFill>
                          <a:schemeClr val="tx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2311506"/>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dirty="0">
                        <a:solidFill>
                          <a:schemeClr val="tx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dirty="0">
                        <a:solidFill>
                          <a:schemeClr val="tx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dirty="0">
                        <a:solidFill>
                          <a:schemeClr val="tx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dirty="0">
                        <a:solidFill>
                          <a:schemeClr val="tx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dirty="0">
                        <a:solidFill>
                          <a:schemeClr val="tx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0979690"/>
                  </a:ext>
                </a:extLst>
              </a:tr>
              <a:tr h="4780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GB" sz="1200" b="0" i="0" kern="1200" dirty="0" err="1">
                          <a:solidFill>
                            <a:schemeClr val="bg1"/>
                          </a:solidFill>
                          <a:latin typeface="Arial"/>
                          <a:ea typeface="+mn-ea"/>
                          <a:cs typeface="Arial"/>
                        </a:rPr>
                        <a:t>Avg</a:t>
                      </a:r>
                      <a:r>
                        <a:rPr lang="en-GB" sz="1200" b="0" i="0" kern="1200" dirty="0">
                          <a:solidFill>
                            <a:schemeClr val="bg1"/>
                          </a:solidFill>
                          <a:latin typeface="Arial"/>
                          <a:ea typeface="+mn-ea"/>
                          <a:cs typeface="Arial"/>
                        </a:rPr>
                        <a:t> team scores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lvl="0" algn="ctr" fontAlgn="t"/>
                      <a:r>
                        <a:rPr lang="en-GB" sz="1200" b="0" i="0" u="none" strike="noStrike" dirty="0">
                          <a:solidFill>
                            <a:schemeClr val="bg1"/>
                          </a:solidFill>
                          <a:effectLst/>
                          <a:latin typeface="Arial" panose="020B0604020202020204" pitchFamily="34" charset="0"/>
                          <a:ea typeface="Riforma LL" panose="020B0504020101020102" pitchFamily="34" charset="0"/>
                          <a:cs typeface="Arial" panose="020B0604020202020204" pitchFamily="34" charset="0"/>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dirty="0">
                          <a:solidFill>
                            <a:schemeClr val="bg1"/>
                          </a:solidFill>
                          <a:effectLst/>
                          <a:latin typeface="Arial"/>
                          <a:ea typeface="Riforma LL" panose="020B0504020101020102" pitchFamily="34" charset="0"/>
                          <a:cs typeface="Arial"/>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kern="1200" dirty="0">
                          <a:solidFill>
                            <a:schemeClr val="bg1"/>
                          </a:solidFill>
                          <a:effectLst/>
                          <a:latin typeface="Arial"/>
                          <a:ea typeface="Riforma LL" panose="020B0504020101020102" pitchFamily="34" charset="0"/>
                          <a:cs typeface="Arial"/>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kern="1200" dirty="0">
                          <a:solidFill>
                            <a:schemeClr val="bg1"/>
                          </a:solidFill>
                          <a:effectLst/>
                          <a:latin typeface="Arial"/>
                          <a:ea typeface="Riforma LL" panose="020B0504020101020102" pitchFamily="34" charset="0"/>
                          <a:cs typeface="Arial"/>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rtl="0" eaLnBrk="1" fontAlgn="t" latinLnBrk="0" hangingPunct="1">
                        <a:lnSpc>
                          <a:spcPct val="100000"/>
                        </a:lnSpc>
                        <a:spcBef>
                          <a:spcPts val="0"/>
                        </a:spcBef>
                        <a:spcAft>
                          <a:spcPts val="0"/>
                        </a:spcAft>
                        <a:buClrTx/>
                        <a:buSzTx/>
                        <a:buFontTx/>
                        <a:buNone/>
                      </a:pPr>
                      <a:r>
                        <a:rPr lang="en-GB" sz="1200" b="0" i="0" u="none" strike="noStrike" kern="1200" dirty="0">
                          <a:solidFill>
                            <a:schemeClr val="bg1"/>
                          </a:solidFill>
                          <a:effectLst/>
                          <a:latin typeface="Arial" panose="020B0604020202020204" pitchFamily="34" charset="0"/>
                          <a:ea typeface="Riforma LL" panose="020B0504020101020102" pitchFamily="34" charset="0"/>
                          <a:cs typeface="Arial" panose="020B0604020202020204" pitchFamily="34" charset="0"/>
                        </a:rPr>
                        <a:t>Inattention to results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17614542"/>
                  </a:ext>
                </a:extLst>
              </a:tr>
              <a:tr h="654061">
                <a:tc>
                  <a:txBody>
                    <a:bodyPr/>
                    <a:lstStyle/>
                    <a:p>
                      <a:pPr algn="ctr"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r>
                        <a:rPr lang="en-GB" sz="1200" b="0" i="0" u="none" strike="noStrike" dirty="0">
                          <a:solidFill>
                            <a:schemeClr val="tx1"/>
                          </a:solidFill>
                          <a:effectLst/>
                          <a:latin typeface="Arial"/>
                          <a:ea typeface="Riforma LL" panose="020B0504020101020102" pitchFamily="34" charset="0"/>
                          <a:cs typeface="Arial"/>
                        </a:rPr>
                        <a:t>6,25</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en-GB" sz="1200" b="0" i="0" u="none" strike="noStrike" dirty="0">
                          <a:solidFill>
                            <a:schemeClr val="tx1"/>
                          </a:solidFill>
                          <a:effectLst/>
                          <a:latin typeface="Arial"/>
                          <a:ea typeface="Riforma LL" panose="020B0504020101020102" pitchFamily="34" charset="0"/>
                          <a:cs typeface="Arial"/>
                        </a:rPr>
                        <a:t>7,9</a:t>
                      </a:r>
                      <a:endParaRPr lang="en-GB" sz="1200" b="0" i="0" u="none" strike="noStrike" dirty="0">
                        <a:solidFill>
                          <a:schemeClr val="bg1"/>
                        </a:solidFill>
                        <a:effectLst/>
                        <a:latin typeface="Arial"/>
                        <a:ea typeface="Riforma LL" panose="020B0504020101020102" pitchFamily="34" charset="0"/>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dirty="0">
                          <a:latin typeface="Arial"/>
                          <a:cs typeface="Arial"/>
                        </a:rPr>
                        <a:t>7,0</a:t>
                      </a:r>
                      <a:endParaRPr lang="de-DE"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dirty="0">
                          <a:latin typeface="Arial"/>
                          <a:cs typeface="Arial"/>
                        </a:rPr>
                        <a:t>6,5</a:t>
                      </a:r>
                      <a:endParaRPr lang="de-DE"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dirty="0">
                          <a:latin typeface="Arial"/>
                          <a:cs typeface="Arial"/>
                        </a:rPr>
                        <a:t>7,2</a:t>
                      </a:r>
                      <a:endParaRPr lang="de-DE"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8304135"/>
                  </a:ext>
                </a:extLst>
              </a:tr>
            </a:tbl>
          </a:graphicData>
        </a:graphic>
      </p:graphicFrame>
      <p:pic>
        <p:nvPicPr>
          <p:cNvPr id="6" name="Picture 5">
            <a:extLst>
              <a:ext uri="{FF2B5EF4-FFF2-40B4-BE49-F238E27FC236}">
                <a16:creationId xmlns:a16="http://schemas.microsoft.com/office/drawing/2014/main" id="{54A37B33-B3BC-A3E0-A178-8230A0D3C3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sp>
        <p:nvSpPr>
          <p:cNvPr id="4" name="TextBox 3">
            <a:extLst>
              <a:ext uri="{FF2B5EF4-FFF2-40B4-BE49-F238E27FC236}">
                <a16:creationId xmlns:a16="http://schemas.microsoft.com/office/drawing/2014/main" id="{8E1F5DB7-DC75-5B42-79EF-F4C52B3D546C}"/>
              </a:ext>
            </a:extLst>
          </p:cNvPr>
          <p:cNvSpPr txBox="1"/>
          <p:nvPr/>
        </p:nvSpPr>
        <p:spPr>
          <a:xfrm>
            <a:off x="258734" y="655984"/>
            <a:ext cx="9707740" cy="1015663"/>
          </a:xfrm>
          <a:prstGeom prst="rect">
            <a:avLst/>
          </a:prstGeom>
          <a:solidFill>
            <a:schemeClr val="bg2"/>
          </a:solidFill>
        </p:spPr>
        <p:txBody>
          <a:bodyPr wrap="square" lIns="91440" tIns="45720" rIns="91440" bIns="45720" rtlCol="0" anchor="t">
            <a:spAutoFit/>
          </a:bodyPr>
          <a:lstStyle/>
          <a:p>
            <a:r>
              <a:rPr lang="en-GB" sz="1200" dirty="0">
                <a:latin typeface="Arial" panose="020B0604020202020204" pitchFamily="34" charset="0"/>
                <a:ea typeface="Calibri"/>
                <a:cs typeface="Arial" panose="020B0604020202020204" pitchFamily="34" charset="0"/>
              </a:rPr>
              <a:t>Compile all team members’ scores together to have a comprehensive view of the team’s perceptions (done by the module guru).</a:t>
            </a:r>
          </a:p>
          <a:p>
            <a:r>
              <a:rPr lang="en-GB" sz="1200" b="1" dirty="0" err="1">
                <a:latin typeface="Arial" panose="020B0604020202020204" pitchFamily="34" charset="0"/>
                <a:ea typeface="Calibri"/>
                <a:cs typeface="Arial" panose="020B0604020202020204" pitchFamily="34" charset="0"/>
              </a:rPr>
              <a:t>Analyze</a:t>
            </a:r>
            <a:r>
              <a:rPr lang="en-GB" sz="1200" b="1" dirty="0">
                <a:latin typeface="Arial" panose="020B0604020202020204" pitchFamily="34" charset="0"/>
                <a:ea typeface="Calibri"/>
                <a:cs typeface="Arial" panose="020B0604020202020204" pitchFamily="34" charset="0"/>
              </a:rPr>
              <a:t> </a:t>
            </a:r>
            <a:r>
              <a:rPr lang="en-GB" sz="1200" b="1" i="0" u="none" strike="noStrike" dirty="0">
                <a:effectLst/>
                <a:latin typeface="Arial" panose="020B0604020202020204" pitchFamily="34" charset="0"/>
                <a:ea typeface="Calibri"/>
                <a:cs typeface="Arial" panose="020B0604020202020204" pitchFamily="34" charset="0"/>
              </a:rPr>
              <a:t>the total scores for each dysfunction</a:t>
            </a:r>
            <a:r>
              <a:rPr lang="en-GB" sz="1200" b="1" dirty="0">
                <a:latin typeface="Arial" panose="020B0604020202020204" pitchFamily="34" charset="0"/>
                <a:ea typeface="Calibri"/>
                <a:cs typeface="Arial" panose="020B0604020202020204" pitchFamily="34" charset="0"/>
              </a:rPr>
              <a:t> </a:t>
            </a:r>
            <a:endParaRPr lang="en-GB" sz="1200" b="1" i="0" u="none" strike="noStrike" dirty="0">
              <a:effectLst/>
              <a:latin typeface="Arial" panose="020B0604020202020204" pitchFamily="34" charset="0"/>
              <a:ea typeface="Calibri"/>
              <a:cs typeface="Arial" panose="020B0604020202020204" pitchFamily="34" charset="0"/>
            </a:endParaRPr>
          </a:p>
          <a:p>
            <a:pPr marL="171450" indent="-171450">
              <a:buFont typeface="Arial"/>
              <a:buChar char="•"/>
            </a:pPr>
            <a:r>
              <a:rPr lang="en-GB" sz="1200" dirty="0">
                <a:latin typeface="Arial" panose="020B0604020202020204" pitchFamily="34" charset="0"/>
                <a:cs typeface="Arial" panose="020B0604020202020204" pitchFamily="34" charset="0"/>
              </a:rPr>
              <a:t>A score between 9-8 indicates no problem</a:t>
            </a:r>
          </a:p>
          <a:p>
            <a:pPr marL="171450" indent="-171450">
              <a:buFont typeface="Arial"/>
              <a:buChar char="•"/>
            </a:pPr>
            <a:r>
              <a:rPr lang="en-GB" sz="1200" dirty="0">
                <a:latin typeface="Arial" panose="020B0604020202020204" pitchFamily="34" charset="0"/>
                <a:cs typeface="Arial" panose="020B0604020202020204" pitchFamily="34" charset="0"/>
              </a:rPr>
              <a:t>7-6 indicates </a:t>
            </a:r>
            <a:r>
              <a:rPr lang="en-GB" sz="1200" b="0" i="0" u="none" strike="noStrike" dirty="0">
                <a:effectLst/>
                <a:latin typeface="Arial" panose="020B0604020202020204" pitchFamily="34" charset="0"/>
                <a:cs typeface="Arial" panose="020B0604020202020204" pitchFamily="34" charset="0"/>
              </a:rPr>
              <a:t>a </a:t>
            </a:r>
            <a:r>
              <a:rPr lang="en-GB" sz="1200" dirty="0">
                <a:latin typeface="Arial" panose="020B0604020202020204" pitchFamily="34" charset="0"/>
                <a:cs typeface="Arial" panose="020B0604020202020204" pitchFamily="34" charset="0"/>
              </a:rPr>
              <a:t>possible problem</a:t>
            </a:r>
          </a:p>
          <a:p>
            <a:pPr marL="171450" indent="-171450">
              <a:buFont typeface="Arial"/>
              <a:buChar char="•"/>
            </a:pPr>
            <a:r>
              <a:rPr lang="en-GB" sz="1200" dirty="0">
                <a:latin typeface="Arial" panose="020B0604020202020204" pitchFamily="34" charset="0"/>
                <a:cs typeface="Arial" panose="020B0604020202020204" pitchFamily="34" charset="0"/>
              </a:rPr>
              <a:t>3-5 indicates </a:t>
            </a:r>
            <a:r>
              <a:rPr lang="en-GB" sz="1200" b="0" i="0" u="none" strike="noStrike" dirty="0">
                <a:effectLst/>
                <a:latin typeface="Arial" panose="020B0604020202020204" pitchFamily="34" charset="0"/>
                <a:cs typeface="Arial" panose="020B0604020202020204" pitchFamily="34" charset="0"/>
              </a:rPr>
              <a:t>a </a:t>
            </a:r>
            <a:r>
              <a:rPr lang="en-GB" sz="1200" dirty="0">
                <a:latin typeface="Arial" panose="020B0604020202020204" pitchFamily="34" charset="0"/>
                <a:cs typeface="Arial" panose="020B0604020202020204" pitchFamily="34" charset="0"/>
              </a:rPr>
              <a:t>serious problem</a:t>
            </a:r>
            <a:r>
              <a:rPr lang="en-GB" sz="1200" b="0" i="0" u="none" strike="noStrike" dirty="0">
                <a:effectLst/>
                <a:latin typeface="Arial" panose="020B0604020202020204" pitchFamily="34" charset="0"/>
                <a:cs typeface="Arial" panose="020B0604020202020204" pitchFamily="34" charset="0"/>
              </a:rPr>
              <a:t>.</a:t>
            </a:r>
            <a:endParaRPr lang="en-GB" sz="1200" dirty="0">
              <a:latin typeface="Arial" panose="020B0604020202020204" pitchFamily="34" charset="0"/>
              <a:cs typeface="Arial" panose="020B0604020202020204" pitchFamily="34" charset="0"/>
            </a:endParaRPr>
          </a:p>
        </p:txBody>
      </p:sp>
      <p:cxnSp>
        <p:nvCxnSpPr>
          <p:cNvPr id="9" name="Straight Connector 8">
            <a:extLst>
              <a:ext uri="{FF2B5EF4-FFF2-40B4-BE49-F238E27FC236}">
                <a16:creationId xmlns:a16="http://schemas.microsoft.com/office/drawing/2014/main" id="{2111E4B7-C7EA-E5AE-8076-90D038889129}"/>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827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B89E5E8-C3DB-3314-84F3-89C2C53E93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3" y="66962"/>
            <a:ext cx="6157913" cy="555302"/>
          </a:xfrm>
          <a:prstGeom prst="rect">
            <a:avLst/>
          </a:prstGeom>
        </p:spPr>
      </p:pic>
      <p:graphicFrame>
        <p:nvGraphicFramePr>
          <p:cNvPr id="4" name="Table 3">
            <a:extLst>
              <a:ext uri="{FF2B5EF4-FFF2-40B4-BE49-F238E27FC236}">
                <a16:creationId xmlns:a16="http://schemas.microsoft.com/office/drawing/2014/main" id="{C7B4E9FB-F0E9-A518-DC6D-E19ABF645AD4}"/>
              </a:ext>
            </a:extLst>
          </p:cNvPr>
          <p:cNvGraphicFramePr>
            <a:graphicFrameLocks noGrp="1"/>
          </p:cNvGraphicFramePr>
          <p:nvPr>
            <p:extLst>
              <p:ext uri="{D42A27DB-BD31-4B8C-83A1-F6EECF244321}">
                <p14:modId xmlns:p14="http://schemas.microsoft.com/office/powerpoint/2010/main" val="251647268"/>
              </p:ext>
            </p:extLst>
          </p:nvPr>
        </p:nvGraphicFramePr>
        <p:xfrm>
          <a:off x="210557" y="1406525"/>
          <a:ext cx="9732165" cy="4382340"/>
        </p:xfrm>
        <a:graphic>
          <a:graphicData uri="http://schemas.openxmlformats.org/drawingml/2006/table">
            <a:tbl>
              <a:tblPr firstRow="1" bandRow="1">
                <a:tableStyleId>{2D5ABB26-0587-4C30-8999-92F81FD0307C}</a:tableStyleId>
              </a:tblPr>
              <a:tblGrid>
                <a:gridCol w="1723154">
                  <a:extLst>
                    <a:ext uri="{9D8B030D-6E8A-4147-A177-3AD203B41FA5}">
                      <a16:colId xmlns:a16="http://schemas.microsoft.com/office/drawing/2014/main" val="107519044"/>
                    </a:ext>
                  </a:extLst>
                </a:gridCol>
                <a:gridCol w="1283206">
                  <a:extLst>
                    <a:ext uri="{9D8B030D-6E8A-4147-A177-3AD203B41FA5}">
                      <a16:colId xmlns:a16="http://schemas.microsoft.com/office/drawing/2014/main" val="3128123737"/>
                    </a:ext>
                  </a:extLst>
                </a:gridCol>
                <a:gridCol w="6725805">
                  <a:extLst>
                    <a:ext uri="{9D8B030D-6E8A-4147-A177-3AD203B41FA5}">
                      <a16:colId xmlns:a16="http://schemas.microsoft.com/office/drawing/2014/main" val="1435361538"/>
                    </a:ext>
                  </a:extLst>
                </a:gridCol>
              </a:tblGrid>
              <a:tr h="271768">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panose="020B0604020202020204" pitchFamily="34" charset="0"/>
                          <a:cs typeface="Arial" panose="020B0604020202020204" pitchFamily="34" charset="0"/>
                        </a:rPr>
                        <a:t>Dysfunction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panose="020B0604020202020204" pitchFamily="34" charset="0"/>
                          <a:cs typeface="Arial" panose="020B0604020202020204" pitchFamily="34" charset="0"/>
                        </a:rPr>
                        <a:t>Team score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panose="020B0604020202020204" pitchFamily="34" charset="0"/>
                          <a:cs typeface="Arial" panose="020B0604020202020204" pitchFamily="34" charset="0"/>
                        </a:rPr>
                        <a:t>How can it be addressed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512178">
                <a:tc rowSpan="2">
                  <a:txBody>
                    <a:bodyPr/>
                    <a:lstStyle/>
                    <a:p>
                      <a:pPr lvl="0" algn="l" fontAlgn="t"/>
                      <a:r>
                        <a:rPr lang="en-GB" sz="1100" b="0" i="0" u="none" strike="noStrike" dirty="0">
                          <a:solidFill>
                            <a:schemeClr val="tx1"/>
                          </a:solidFill>
                          <a:effectLst/>
                          <a:latin typeface="Arial"/>
                          <a:ea typeface="Riforma LL" panose="020B0504020101020102" pitchFamily="34" charset="0"/>
                          <a:cs typeface="Arial"/>
                        </a:rPr>
                        <a:t>ABSENCE OF TRUST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r>
                        <a:rPr lang="en-GB" sz="1100" b="0" i="0" u="none" strike="noStrike" dirty="0">
                          <a:solidFill>
                            <a:schemeClr val="tx1"/>
                          </a:solidFill>
                          <a:effectLst/>
                          <a:latin typeface="Arial"/>
                          <a:ea typeface="Riforma LL" panose="020B0504020101020102" pitchFamily="34" charset="0"/>
                          <a:cs typeface="Arial"/>
                        </a:rPr>
                        <a:t>6,25</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Słuchać</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częściej</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rozmawiać</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musimy</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pokazywać</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wrażliwość</a:t>
                      </a:r>
                      <a:r>
                        <a:rPr lang="en-GB" sz="1100" b="0" i="0" u="none" strike="noStrike" dirty="0">
                          <a:solidFill>
                            <a:schemeClr val="tx1"/>
                          </a:solidFill>
                          <a:effectLst/>
                          <a:latin typeface="Arial"/>
                          <a:ea typeface="Riforma LL" panose="020B0504020101020102" pitchFamily="34" charset="0"/>
                          <a:cs typeface="Arial"/>
                        </a:rPr>
                        <a:t> I </a:t>
                      </a:r>
                      <a:r>
                        <a:rPr lang="en-GB" sz="1100" b="0" i="0" u="none" strike="noStrike" err="1">
                          <a:solidFill>
                            <a:schemeClr val="tx1"/>
                          </a:solidFill>
                          <a:effectLst/>
                          <a:latin typeface="Arial"/>
                          <a:ea typeface="Riforma LL" panose="020B0504020101020102" pitchFamily="34" charset="0"/>
                          <a:cs typeface="Arial"/>
                        </a:rPr>
                        <a:t>nie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być</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perfekcyjni</a:t>
                      </a:r>
                      <a:r>
                        <a:rPr lang="en-GB" sz="1100" b="0" i="0" u="none" strike="noStrike" dirty="0">
                          <a:solidFill>
                            <a:schemeClr val="tx1"/>
                          </a:solidFill>
                          <a:effectLst/>
                          <a:latin typeface="Arial"/>
                          <a:ea typeface="Riforma LL" panose="020B0504020101020102" pitchFamily="34" charset="0"/>
                          <a:cs typeface="Arial"/>
                        </a:rPr>
                        <a:t> w </a:t>
                      </a:r>
                      <a:r>
                        <a:rPr lang="en-GB" sz="1100" b="0" i="0" u="none" strike="noStrike" err="1">
                          <a:solidFill>
                            <a:schemeClr val="tx1"/>
                          </a:solidFill>
                          <a:effectLst/>
                          <a:latin typeface="Arial"/>
                          <a:ea typeface="Riforma LL" panose="020B0504020101020102" pitchFamily="34" charset="0"/>
                          <a:cs typeface="Arial"/>
                        </a:rPr>
                        <a:t>sensie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przyznawać</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sie</a:t>
                      </a:r>
                      <a:r>
                        <a:rPr lang="en-GB" sz="1100" b="0" i="0" u="none" strike="noStrike" dirty="0">
                          <a:solidFill>
                            <a:schemeClr val="tx1"/>
                          </a:solidFill>
                          <a:effectLst/>
                          <a:latin typeface="Arial"/>
                          <a:ea typeface="Riforma LL" panose="020B0504020101020102" pitchFamily="34" charset="0"/>
                          <a:cs typeface="Arial"/>
                        </a:rPr>
                        <a:t> do </a:t>
                      </a:r>
                      <a:r>
                        <a:rPr lang="en-GB" sz="1100" b="0" i="0" u="none" strike="noStrike" err="1">
                          <a:solidFill>
                            <a:schemeClr val="tx1"/>
                          </a:solidFill>
                          <a:effectLst/>
                          <a:latin typeface="Arial"/>
                          <a:ea typeface="Riforma LL" panose="020B0504020101020102" pitchFamily="34" charset="0"/>
                          <a:cs typeface="Arial"/>
                        </a:rPr>
                        <a:t>błędów</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wrażliwosć</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musi</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być</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ceniona</a:t>
                      </a:r>
                      <a:r>
                        <a:rPr lang="en-GB" sz="1100" b="0" i="0" u="none" strike="noStrike" dirty="0">
                          <a:solidFill>
                            <a:schemeClr val="tx1"/>
                          </a:solidFill>
                          <a:effectLst/>
                          <a:latin typeface="Arial"/>
                          <a:ea typeface="Riforma LL" panose="020B0504020101020102" pitchFamily="34" charset="0"/>
                          <a:cs typeface="Arial"/>
                        </a:rPr>
                        <a:t> I </a:t>
                      </a:r>
                      <a:r>
                        <a:rPr lang="en-GB" sz="1100" b="0" i="0" u="none" strike="noStrike" err="1">
                          <a:solidFill>
                            <a:schemeClr val="tx1"/>
                          </a:solidFill>
                          <a:effectLst/>
                          <a:latin typeface="Arial"/>
                          <a:ea typeface="Riforma LL" panose="020B0504020101020102" pitchFamily="34" charset="0"/>
                          <a:cs typeface="Arial"/>
                        </a:rPr>
                        <a:t>nagradzana</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zrozumienie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mocnych</a:t>
                      </a:r>
                      <a:r>
                        <a:rPr lang="en-GB" sz="1100" b="0" i="0" u="none" strike="noStrike" dirty="0">
                          <a:solidFill>
                            <a:schemeClr val="tx1"/>
                          </a:solidFill>
                          <a:effectLst/>
                          <a:latin typeface="Arial"/>
                          <a:ea typeface="Riforma LL" panose="020B0504020101020102" pitchFamily="34" charset="0"/>
                          <a:cs typeface="Arial"/>
                        </a:rPr>
                        <a:t> I </a:t>
                      </a:r>
                      <a:r>
                        <a:rPr lang="en-GB" sz="1100" b="0" i="0" u="none" strike="noStrike" err="1">
                          <a:solidFill>
                            <a:schemeClr val="tx1"/>
                          </a:solidFill>
                          <a:effectLst/>
                          <a:latin typeface="Arial"/>
                          <a:ea typeface="Riforma LL" panose="020B0504020101020102" pitchFamily="34" charset="0"/>
                          <a:cs typeface="Arial"/>
                        </a:rPr>
                        <a:t>słanych</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stron</a:t>
                      </a:r>
                      <a:r>
                        <a:rPr lang="en-GB" sz="1100" b="0" i="0" u="none" strike="noStrike" dirty="0">
                          <a:solidFill>
                            <a:schemeClr val="tx1"/>
                          </a:solidFill>
                          <a:effectLst/>
                          <a:latin typeface="Arial"/>
                          <a:ea typeface="Riforma LL" panose="020B0504020101020102" pitchFamily="34" charset="0"/>
                          <a:cs typeface="Arial"/>
                        </a:rPr>
                        <a:t> – </a:t>
                      </a:r>
                      <a:r>
                        <a:rPr lang="en-GB" sz="1100" b="0" i="0" u="none" strike="noStrike" err="1">
                          <a:solidFill>
                            <a:schemeClr val="tx1"/>
                          </a:solidFill>
                          <a:effectLst/>
                          <a:latin typeface="Arial"/>
                          <a:ea typeface="Riforma LL" panose="020B0504020101020102" pitchFamily="34" charset="0"/>
                          <a:cs typeface="Arial"/>
                        </a:rPr>
                        <a:t>przydzielnie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odpowiedzlnmości</a:t>
                      </a:r>
                      <a:r>
                        <a:rPr lang="en-GB" sz="1100" b="0" i="0" u="none" strike="noStrike" dirty="0">
                          <a:solidFill>
                            <a:schemeClr val="tx1"/>
                          </a:solidFill>
                          <a:effectLst/>
                          <a:latin typeface="Arial"/>
                          <a:ea typeface="Riforma LL" panose="020B0504020101020102" pitchFamily="34" charset="0"/>
                          <a:cs typeface="Arial"/>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r h="65851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100" b="0" i="0" u="none" strike="noStrike" err="1">
                          <a:solidFill>
                            <a:schemeClr val="tx1"/>
                          </a:solidFill>
                          <a:effectLst/>
                          <a:latin typeface="Arial"/>
                          <a:ea typeface="Riforma LL" panose="020B0504020101020102" pitchFamily="34" charset="0"/>
                          <a:cs typeface="Arial"/>
                        </a:rPr>
                        <a:t>Zrozumiec</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nasze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wyniki</a:t>
                      </a:r>
                      <a:r>
                        <a:rPr lang="en-GB" sz="1100" b="0" i="0" u="none" strike="noStrike" dirty="0">
                          <a:solidFill>
                            <a:schemeClr val="tx1"/>
                          </a:solidFill>
                          <a:effectLst/>
                          <a:latin typeface="Arial"/>
                          <a:ea typeface="Riforma LL" panose="020B0504020101020102" pitchFamily="34" charset="0"/>
                          <a:cs typeface="Arial"/>
                        </a:rPr>
                        <a:t> Thomas, I </a:t>
                      </a:r>
                      <a:r>
                        <a:rPr lang="en-GB" sz="1100" b="0" i="0" u="none" strike="noStrike" err="1">
                          <a:solidFill>
                            <a:schemeClr val="tx1"/>
                          </a:solidFill>
                          <a:effectLst/>
                          <a:latin typeface="Arial"/>
                          <a:ea typeface="Riforma LL" panose="020B0504020101020102" pitchFamily="34" charset="0"/>
                          <a:cs typeface="Arial"/>
                        </a:rPr>
                        <a:t>odpowiednio</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wykorzystać</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silne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strony</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otwarty</a:t>
                      </a:r>
                      <a:r>
                        <a:rPr lang="en-GB" sz="1100" b="0" i="0" u="none" strike="noStrike" dirty="0">
                          <a:solidFill>
                            <a:schemeClr val="tx1"/>
                          </a:solidFill>
                          <a:effectLst/>
                          <a:latin typeface="Arial"/>
                          <a:ea typeface="Riforma LL" panose="020B0504020101020102" pitchFamily="34" charset="0"/>
                          <a:cs typeface="Arial"/>
                        </a:rPr>
                        <a:t> I </a:t>
                      </a:r>
                      <a:r>
                        <a:rPr lang="en-GB" sz="1100" b="0" i="0" u="none" strike="noStrike" err="1">
                          <a:solidFill>
                            <a:schemeClr val="tx1"/>
                          </a:solidFill>
                          <a:effectLst/>
                          <a:latin typeface="Arial"/>
                          <a:ea typeface="Riforma LL" panose="020B0504020101020102" pitchFamily="34" charset="0"/>
                          <a:cs typeface="Arial"/>
                        </a:rPr>
                        <a:t>szczery</a:t>
                      </a:r>
                      <a:r>
                        <a:rPr lang="en-GB" sz="1100" b="0" i="0" u="none" strike="noStrike" dirty="0">
                          <a:solidFill>
                            <a:schemeClr val="tx1"/>
                          </a:solidFill>
                          <a:effectLst/>
                          <a:latin typeface="Arial"/>
                          <a:ea typeface="Riforma LL" panose="020B0504020101020102" pitchFamily="34" charset="0"/>
                          <a:cs typeface="Arial"/>
                        </a:rPr>
                        <a:t> feedback, </a:t>
                      </a:r>
                      <a:r>
                        <a:rPr lang="en-GB" sz="1100" b="0" i="0" u="none" strike="noStrike" err="1">
                          <a:solidFill>
                            <a:schemeClr val="tx1"/>
                          </a:solidFill>
                          <a:effectLst/>
                          <a:latin typeface="Arial"/>
                          <a:ea typeface="Riforma LL" panose="020B0504020101020102" pitchFamily="34" charset="0"/>
                          <a:cs typeface="Arial"/>
                        </a:rPr>
                        <a:t>jasne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zrozuminie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ról</a:t>
                      </a:r>
                      <a:r>
                        <a:rPr lang="en-GB" sz="1100" b="0" i="0" u="none" strike="noStrike" dirty="0">
                          <a:solidFill>
                            <a:schemeClr val="tx1"/>
                          </a:solidFill>
                          <a:effectLst/>
                          <a:latin typeface="Arial"/>
                          <a:ea typeface="Riforma LL" panose="020B0504020101020102" pitchFamily="34" charset="0"/>
                          <a:cs typeface="Arial"/>
                        </a:rPr>
                        <a:t> I </a:t>
                      </a:r>
                      <a:r>
                        <a:rPr lang="en-GB" sz="1100" b="0" i="0" u="none" strike="noStrike" err="1">
                          <a:solidFill>
                            <a:schemeClr val="tx1"/>
                          </a:solidFill>
                          <a:effectLst/>
                          <a:latin typeface="Arial"/>
                          <a:ea typeface="Riforma LL" panose="020B0504020101020102" pitchFamily="34" charset="0"/>
                          <a:cs typeface="Arial"/>
                        </a:rPr>
                        <a:t>celów</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poleganie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na</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sobie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nawzajem</a:t>
                      </a:r>
                      <a:r>
                        <a:rPr lang="en-GB" sz="1100" b="0" i="0" u="none" strike="noStrike" dirty="0">
                          <a:solidFill>
                            <a:schemeClr val="tx1"/>
                          </a:solidFill>
                          <a:effectLst/>
                          <a:latin typeface="Arial"/>
                          <a:ea typeface="Riforma LL" panose="020B0504020101020102" pitchFamily="34" charset="0"/>
                          <a:cs typeface="Arial"/>
                        </a:rPr>
                        <a:t> – team spirit. </a:t>
                      </a:r>
                    </a:p>
                    <a:p>
                      <a:pPr lvl="0" algn="l">
                        <a:buNone/>
                      </a:pPr>
                      <a:r>
                        <a:rPr lang="en-GB" sz="1100" b="0" i="0" u="none" strike="noStrike" err="1">
                          <a:solidFill>
                            <a:schemeClr val="tx1"/>
                          </a:solidFill>
                          <a:effectLst/>
                          <a:latin typeface="Arial"/>
                          <a:cs typeface="Arial"/>
                        </a:rPr>
                        <a:t>Zbudowanie</a:t>
                      </a:r>
                      <a:r>
                        <a:rPr lang="en-GB" sz="1100" b="0" i="0" u="none" strike="noStrike" dirty="0">
                          <a:solidFill>
                            <a:schemeClr val="tx1"/>
                          </a:solidFill>
                          <a:effectLst/>
                          <a:latin typeface="Arial"/>
                          <a:cs typeface="Arial"/>
                        </a:rPr>
                        <a:t> platformy </a:t>
                      </a:r>
                      <a:r>
                        <a:rPr lang="en-GB" sz="1100" b="0" i="0" u="none" strike="noStrike" err="1">
                          <a:solidFill>
                            <a:schemeClr val="tx1"/>
                          </a:solidFill>
                          <a:effectLst/>
                          <a:latin typeface="Arial"/>
                          <a:cs typeface="Arial"/>
                        </a:rPr>
                        <a:t>wspłpracy</a:t>
                      </a:r>
                      <a:r>
                        <a:rPr lang="en-GB" sz="1100" b="0" i="0" u="none" strike="noStrike" dirty="0">
                          <a:solidFill>
                            <a:schemeClr val="tx1"/>
                          </a:solidFill>
                          <a:effectLst/>
                          <a:latin typeface="Arial"/>
                          <a:cs typeface="Arial"/>
                        </a:rPr>
                        <a:t> - </a:t>
                      </a:r>
                      <a:r>
                        <a:rPr lang="en-GB" sz="1100" b="0" i="0" u="none" strike="noStrike" err="1">
                          <a:solidFill>
                            <a:schemeClr val="tx1"/>
                          </a:solidFill>
                          <a:effectLst/>
                          <a:latin typeface="Arial"/>
                          <a:cs typeface="Arial"/>
                        </a:rPr>
                        <a:t>zrozumienia</a:t>
                      </a:r>
                      <a:r>
                        <a:rPr lang="en-GB" sz="1100" b="0" i="0" u="none" strike="noStrike" dirty="0">
                          <a:solidFill>
                            <a:schemeClr val="tx1"/>
                          </a:solidFill>
                          <a:effectLst/>
                          <a:latin typeface="Arial"/>
                          <a:cs typeface="Arial"/>
                        </a:rPr>
                        <a:t> </a:t>
                      </a:r>
                    </a:p>
                    <a:p>
                      <a:pPr lvl="0" algn="l">
                        <a:buNone/>
                      </a:pPr>
                      <a:r>
                        <a:rPr lang="en-GB" sz="1100" b="0" i="0" u="none" strike="noStrike" err="1">
                          <a:solidFill>
                            <a:schemeClr val="tx1"/>
                          </a:solidFill>
                          <a:effectLst/>
                          <a:latin typeface="Arial"/>
                          <a:cs typeface="Arial"/>
                        </a:rPr>
                        <a:t>Chwalnie</a:t>
                      </a:r>
                      <a:r>
                        <a:rPr lang="en-GB" sz="1100" b="0" i="0" u="none" strike="noStrike" dirty="0">
                          <a:solidFill>
                            <a:schemeClr val="tx1"/>
                          </a:solidFill>
                          <a:effectLst/>
                          <a:latin typeface="Arial"/>
                          <a:cs typeface="Arial"/>
                        </a:rPr>
                        <a:t> za </a:t>
                      </a:r>
                      <a:r>
                        <a:rPr lang="en-GB" sz="1100" b="0" i="0" u="none" strike="noStrike" err="1">
                          <a:solidFill>
                            <a:schemeClr val="tx1"/>
                          </a:solidFill>
                          <a:effectLst/>
                          <a:latin typeface="Arial"/>
                          <a:cs typeface="Arial"/>
                        </a:rPr>
                        <a:t>przyznanie</a:t>
                      </a:r>
                      <a:r>
                        <a:rPr lang="en-GB" sz="1100" b="0" i="0" u="none" strike="noStrike" dirty="0">
                          <a:solidFill>
                            <a:schemeClr val="tx1"/>
                          </a:solidFill>
                          <a:effectLst/>
                          <a:latin typeface="Arial"/>
                          <a:cs typeface="Arial"/>
                        </a:rPr>
                        <a:t> </a:t>
                      </a:r>
                      <a:r>
                        <a:rPr lang="en-GB" sz="1100" b="0" i="0" u="none" strike="noStrike" err="1">
                          <a:solidFill>
                            <a:schemeClr val="tx1"/>
                          </a:solidFill>
                          <a:effectLst/>
                          <a:latin typeface="Arial"/>
                          <a:cs typeface="Arial"/>
                        </a:rPr>
                        <a:t>się</a:t>
                      </a:r>
                      <a:r>
                        <a:rPr lang="en-GB" sz="1100" b="0" i="0" u="none" strike="noStrike" dirty="0">
                          <a:solidFill>
                            <a:schemeClr val="tx1"/>
                          </a:solidFill>
                          <a:effectLst/>
                          <a:latin typeface="Arial"/>
                          <a:cs typeface="Arial"/>
                        </a:rPr>
                        <a:t> do </a:t>
                      </a:r>
                      <a:r>
                        <a:rPr lang="en-GB" sz="1100" b="0" i="0" u="none" strike="noStrike" err="1">
                          <a:solidFill>
                            <a:schemeClr val="tx1"/>
                          </a:solidFill>
                          <a:effectLst/>
                          <a:latin typeface="Arial"/>
                          <a:cs typeface="Arial"/>
                        </a:rPr>
                        <a:t>błędu</a:t>
                      </a:r>
                      <a:r>
                        <a:rPr lang="en-GB" sz="1100" b="0" i="0" u="none" strike="noStrike" dirty="0">
                          <a:solidFill>
                            <a:schemeClr val="tx1"/>
                          </a:solidFill>
                          <a:effectLst/>
                          <a:latin typeface="Arial"/>
                          <a:cs typeface="Arial"/>
                        </a:rPr>
                        <a:t>, </a:t>
                      </a:r>
                      <a:r>
                        <a:rPr lang="en-GB" sz="1100" b="0" i="0" u="none" strike="noStrike" err="1">
                          <a:solidFill>
                            <a:schemeClr val="tx1"/>
                          </a:solidFill>
                          <a:effectLst/>
                          <a:latin typeface="Arial"/>
                          <a:cs typeface="Arial"/>
                        </a:rPr>
                        <a:t>sposobu</a:t>
                      </a:r>
                      <a:r>
                        <a:rPr lang="en-GB" sz="1100" b="0" i="0" u="none" strike="noStrike" dirty="0">
                          <a:solidFill>
                            <a:schemeClr val="tx1"/>
                          </a:solidFill>
                          <a:effectLst/>
                          <a:latin typeface="Arial"/>
                          <a:cs typeface="Arial"/>
                        </a:rPr>
                        <a:t> jak </a:t>
                      </a:r>
                      <a:r>
                        <a:rPr lang="en-GB" sz="1100" b="0" i="0" u="none" strike="noStrike" err="1">
                          <a:solidFill>
                            <a:schemeClr val="tx1"/>
                          </a:solidFill>
                          <a:effectLst/>
                          <a:latin typeface="Arial"/>
                          <a:cs typeface="Arial"/>
                        </a:rPr>
                        <a:t>pokinałem</a:t>
                      </a:r>
                      <a:r>
                        <a:rPr lang="en-GB" sz="1100" b="0" i="0" u="none" strike="noStrike" dirty="0">
                          <a:solidFill>
                            <a:schemeClr val="tx1"/>
                          </a:solidFill>
                          <a:effectLst/>
                          <a:latin typeface="Arial"/>
                          <a:cs typeface="Arial"/>
                        </a:rPr>
                        <a:t> </a:t>
                      </a:r>
                      <a:r>
                        <a:rPr lang="en-GB" sz="1100" b="0" i="0" u="none" strike="noStrike" err="1">
                          <a:solidFill>
                            <a:schemeClr val="tx1"/>
                          </a:solidFill>
                          <a:effectLst/>
                          <a:latin typeface="Arial"/>
                          <a:cs typeface="Arial"/>
                        </a:rPr>
                        <a:t>wyzwanie</a:t>
                      </a:r>
                      <a:r>
                        <a:rPr lang="en-GB" sz="1100" b="0" i="0" u="none" strike="noStrike" dirty="0">
                          <a:solidFill>
                            <a:schemeClr val="tx1"/>
                          </a:solidFill>
                          <a:effectLst/>
                          <a:latin typeface="Arial"/>
                          <a:cs typeface="Arial"/>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512178">
                <a:tc>
                  <a:txBody>
                    <a:bodyPr/>
                    <a:lstStyle/>
                    <a:p>
                      <a:pPr lvl="0" algn="l" fontAlgn="t"/>
                      <a:r>
                        <a:rPr lang="en-GB" sz="1100" b="0" i="0" u="none" strike="noStrike" dirty="0">
                          <a:solidFill>
                            <a:schemeClr val="tx1"/>
                          </a:solidFill>
                          <a:effectLst/>
                          <a:latin typeface="Arial"/>
                          <a:ea typeface="Riforma LL" panose="020B0504020101020102" pitchFamily="34" charset="0"/>
                          <a:cs typeface="Arial"/>
                        </a:rPr>
                        <a:t>FEAR OF CONFLICT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t"/>
                      <a:r>
                        <a:rPr lang="en-GB" sz="1100" b="0" i="0" u="none" strike="noStrike" dirty="0">
                          <a:solidFill>
                            <a:schemeClr val="tx1"/>
                          </a:solidFill>
                          <a:effectLst/>
                          <a:latin typeface="Arial"/>
                          <a:ea typeface="Riforma LL" panose="020B0504020101020102" pitchFamily="34" charset="0"/>
                          <a:cs typeface="Arial"/>
                        </a:rPr>
                        <a:t>7,9</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100" b="0" i="0" u="none" strike="noStrike" err="1">
                          <a:solidFill>
                            <a:schemeClr val="tx1"/>
                          </a:solidFill>
                          <a:effectLst/>
                          <a:latin typeface="Arial"/>
                          <a:ea typeface="Riforma LL" panose="020B0504020101020102" pitchFamily="34" charset="0"/>
                          <a:cs typeface="Arial"/>
                        </a:rPr>
                        <a:t>Zrozumineie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czy</a:t>
                      </a:r>
                      <a:r>
                        <a:rPr lang="en-GB" sz="1100" b="0" i="0" u="none" strike="noStrike" dirty="0">
                          <a:solidFill>
                            <a:schemeClr val="tx1"/>
                          </a:solidFill>
                          <a:effectLst/>
                          <a:latin typeface="Arial"/>
                          <a:ea typeface="Riforma LL" panose="020B0504020101020102" pitchFamily="34" charset="0"/>
                          <a:cs typeface="Arial"/>
                        </a:rPr>
                        <a:t> jest </a:t>
                      </a:r>
                      <a:r>
                        <a:rPr lang="en-GB" sz="1100" b="0" i="0" u="none" strike="noStrike" err="1">
                          <a:solidFill>
                            <a:schemeClr val="tx1"/>
                          </a:solidFill>
                          <a:effectLst/>
                          <a:latin typeface="Arial"/>
                          <a:ea typeface="Riforma LL" panose="020B0504020101020102" pitchFamily="34" charset="0"/>
                          <a:cs typeface="Arial"/>
                        </a:rPr>
                        <a:t>kreatnywy</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konfilkt</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musza</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być</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skoncentorowane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na</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problemie</a:t>
                      </a:r>
                      <a:r>
                        <a:rPr lang="en-GB" sz="1100" b="0" i="0" u="none" strike="noStrike" dirty="0">
                          <a:solidFill>
                            <a:schemeClr val="tx1"/>
                          </a:solidFill>
                          <a:effectLst/>
                          <a:latin typeface="Arial"/>
                          <a:ea typeface="Riforma LL" panose="020B0504020101020102" pitchFamily="34" charset="0"/>
                          <a:cs typeface="Arial"/>
                        </a:rPr>
                        <a:t> a </a:t>
                      </a:r>
                      <a:r>
                        <a:rPr lang="en-GB" sz="1100" b="0" i="0" u="none" strike="noStrike" err="1">
                          <a:solidFill>
                            <a:schemeClr val="tx1"/>
                          </a:solidFill>
                          <a:effectLst/>
                          <a:latin typeface="Arial"/>
                          <a:ea typeface="Riforma LL" panose="020B0504020101020102" pitchFamily="34" charset="0"/>
                          <a:cs typeface="Arial"/>
                        </a:rPr>
                        <a:t>nie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osobistych</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relacjach</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czas</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reakcji</a:t>
                      </a:r>
                      <a:r>
                        <a:rPr lang="en-GB" sz="1100" b="0" i="0" u="none" strike="noStrike" dirty="0">
                          <a:solidFill>
                            <a:schemeClr val="tx1"/>
                          </a:solidFill>
                          <a:effectLst/>
                          <a:latin typeface="Arial"/>
                          <a:ea typeface="Riforma LL" panose="020B0504020101020102" pitchFamily="34" charset="0"/>
                          <a:cs typeface="Arial"/>
                        </a:rPr>
                        <a:t> - </a:t>
                      </a:r>
                      <a:r>
                        <a:rPr lang="en-GB" sz="1100" b="0" i="0" u="none" strike="noStrike" err="1">
                          <a:solidFill>
                            <a:schemeClr val="tx1"/>
                          </a:solidFill>
                          <a:effectLst/>
                          <a:latin typeface="Arial"/>
                          <a:ea typeface="Riforma LL" panose="020B0504020101020102" pitchFamily="34" charset="0"/>
                          <a:cs typeface="Arial"/>
                        </a:rPr>
                        <a:t>szybkość</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rozwiązywania</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konfliktu</a:t>
                      </a:r>
                      <a:r>
                        <a:rPr lang="en-GB" sz="1100" b="0" i="0" u="none" strike="noStrike" dirty="0">
                          <a:solidFill>
                            <a:schemeClr val="tx1"/>
                          </a:solidFill>
                          <a:effectLst/>
                          <a:latin typeface="Arial"/>
                          <a:ea typeface="Riforma LL" panose="020B0504020101020102" pitchFamily="34" charset="0"/>
                          <a:cs typeface="Arial"/>
                        </a:rPr>
                        <a:t>, jak </a:t>
                      </a:r>
                      <a:r>
                        <a:rPr lang="en-GB" sz="1100" b="0" i="0" u="none" strike="noStrike" err="1">
                          <a:solidFill>
                            <a:schemeClr val="tx1"/>
                          </a:solidFill>
                          <a:effectLst/>
                          <a:latin typeface="Arial"/>
                          <a:ea typeface="Riforma LL" panose="020B0504020101020102" pitchFamily="34" charset="0"/>
                          <a:cs typeface="Arial"/>
                        </a:rPr>
                        <a:t>rozpoznać</a:t>
                      </a:r>
                      <a:r>
                        <a:rPr lang="en-GB" sz="1100" b="0" i="0" u="none" strike="noStrike" dirty="0">
                          <a:solidFill>
                            <a:schemeClr val="tx1"/>
                          </a:solidFill>
                          <a:effectLst/>
                          <a:latin typeface="Arial"/>
                          <a:ea typeface="Riforma LL" panose="020B0504020101020102" pitchFamily="34" charset="0"/>
                          <a:cs typeface="Arial"/>
                        </a:rPr>
                        <a:t> I </a:t>
                      </a:r>
                      <a:r>
                        <a:rPr lang="en-GB" sz="1100" b="0" i="0" u="none" strike="noStrike" err="1">
                          <a:solidFill>
                            <a:schemeClr val="tx1"/>
                          </a:solidFill>
                          <a:effectLst/>
                          <a:latin typeface="Arial"/>
                          <a:ea typeface="Riforma LL" panose="020B0504020101020102" pitchFamily="34" charset="0"/>
                          <a:cs typeface="Arial"/>
                        </a:rPr>
                        <a:t>wyłpać</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konflikt</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zbudowanie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kultury</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rozwiązywania</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konfliktów</a:t>
                      </a:r>
                      <a:r>
                        <a:rPr lang="en-GB" sz="1100" b="0" i="0" u="none" strike="noStrike" dirty="0">
                          <a:solidFill>
                            <a:schemeClr val="tx1"/>
                          </a:solidFill>
                          <a:effectLst/>
                          <a:latin typeface="Arial"/>
                          <a:ea typeface="Riforma LL" panose="020B0504020101020102" pitchFamily="34" charset="0"/>
                          <a:cs typeface="Arial"/>
                        </a:rPr>
                        <a:t> w </a:t>
                      </a:r>
                      <a:r>
                        <a:rPr lang="en-GB" sz="1100" b="0" i="0" u="none" strike="noStrike" err="1">
                          <a:solidFill>
                            <a:schemeClr val="tx1"/>
                          </a:solidFill>
                          <a:effectLst/>
                          <a:latin typeface="Arial"/>
                          <a:ea typeface="Riforma LL" panose="020B0504020101020102" pitchFamily="34" charset="0"/>
                          <a:cs typeface="Arial"/>
                        </a:rPr>
                        <a:t>zespołach</a:t>
                      </a:r>
                      <a:r>
                        <a:rPr lang="en-GB" sz="1100" b="0" i="0" u="none" strike="noStrike" dirty="0">
                          <a:solidFill>
                            <a:schemeClr val="tx1"/>
                          </a:solidFill>
                          <a:effectLst/>
                          <a:latin typeface="Arial"/>
                          <a:ea typeface="Riforma LL" panose="020B0504020101020102" pitchFamily="34" charset="0"/>
                          <a:cs typeface="Arial"/>
                        </a:rPr>
                        <a:t> - </a:t>
                      </a:r>
                      <a:r>
                        <a:rPr lang="en-GB" sz="1100" b="0" i="0" u="none" strike="noStrike" err="1">
                          <a:solidFill>
                            <a:schemeClr val="tx1"/>
                          </a:solidFill>
                          <a:effectLst/>
                          <a:latin typeface="Arial"/>
                          <a:ea typeface="Riforma LL" panose="020B0504020101020102" pitchFamily="34" charset="0"/>
                          <a:cs typeface="Arial"/>
                        </a:rPr>
                        <a:t>nie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eskalowanie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wyżej</a:t>
                      </a:r>
                      <a:r>
                        <a:rPr lang="en-GB" sz="1100" b="0" i="0" u="none" strike="noStrike" dirty="0">
                          <a:solidFill>
                            <a:schemeClr val="tx1"/>
                          </a:solidFill>
                          <a:effectLst/>
                          <a:latin typeface="Arial"/>
                          <a:ea typeface="Riforma LL" panose="020B0504020101020102" pitchFamily="34" charset="0"/>
                          <a:cs typeface="Arial"/>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4860994"/>
                  </a:ext>
                </a:extLst>
              </a:tr>
              <a:tr h="365841">
                <a:tc rowSpan="2">
                  <a:txBody>
                    <a:bodyPr/>
                    <a:lstStyle/>
                    <a:p>
                      <a:pPr lvl="0" algn="l" fontAlgn="t"/>
                      <a:r>
                        <a:rPr lang="en-GB" sz="1100" b="0" i="0" u="none" strike="noStrike" dirty="0">
                          <a:solidFill>
                            <a:schemeClr val="tx1"/>
                          </a:solidFill>
                          <a:effectLst/>
                          <a:latin typeface="Arial"/>
                          <a:ea typeface="Riforma LL" panose="020B0504020101020102" pitchFamily="34" charset="0"/>
                          <a:cs typeface="Arial"/>
                        </a:rPr>
                        <a:t>LACK OF COMMITMENT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r>
                        <a:rPr lang="en-GB" sz="1100" b="0" i="0" u="none" strike="noStrike" dirty="0">
                          <a:solidFill>
                            <a:schemeClr val="tx1"/>
                          </a:solidFill>
                          <a:effectLst/>
                          <a:latin typeface="Arial"/>
                          <a:ea typeface="Riforma LL" panose="020B0504020101020102" pitchFamily="34" charset="0"/>
                          <a:cs typeface="Arial"/>
                        </a:rPr>
                        <a:t>7,0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100" b="0" i="0" u="none" strike="noStrike" dirty="0" err="1">
                          <a:solidFill>
                            <a:schemeClr val="tx1"/>
                          </a:solidFill>
                          <a:effectLst/>
                          <a:latin typeface="Arial"/>
                          <a:ea typeface="Riforma LL" panose="020B0504020101020102" pitchFamily="34" charset="0"/>
                          <a:cs typeface="Arial"/>
                        </a:rPr>
                        <a:t>Pokazywanie</a:t>
                      </a:r>
                      <a:r>
                        <a:rPr lang="en-GB" sz="1100" b="0" i="0" u="none" strike="noStrike" dirty="0">
                          <a:solidFill>
                            <a:schemeClr val="tx1"/>
                          </a:solidFill>
                          <a:effectLst/>
                          <a:latin typeface="Arial"/>
                          <a:ea typeface="Riforma LL" panose="020B0504020101020102" pitchFamily="34" charset="0"/>
                          <a:cs typeface="Arial"/>
                        </a:rPr>
                        <a:t> I </a:t>
                      </a:r>
                      <a:r>
                        <a:rPr lang="en-GB" sz="1100" b="0" i="0" u="none" strike="noStrike" dirty="0" err="1">
                          <a:solidFill>
                            <a:schemeClr val="tx1"/>
                          </a:solidFill>
                          <a:effectLst/>
                          <a:latin typeface="Arial"/>
                          <a:ea typeface="Riforma LL" panose="020B0504020101020102" pitchFamily="34" charset="0"/>
                          <a:cs typeface="Arial"/>
                        </a:rPr>
                        <a:t>docenienie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dirty="0" err="1">
                          <a:solidFill>
                            <a:schemeClr val="tx1"/>
                          </a:solidFill>
                          <a:effectLst/>
                          <a:latin typeface="Arial"/>
                          <a:ea typeface="Riforma LL" panose="020B0504020101020102" pitchFamily="34" charset="0"/>
                          <a:cs typeface="Arial"/>
                        </a:rPr>
                        <a:t>zaangażowania</a:t>
                      </a:r>
                      <a:r>
                        <a:rPr lang="en-GB" sz="1100" b="0" i="0" u="none" strike="noStrike" dirty="0">
                          <a:solidFill>
                            <a:schemeClr val="tx1"/>
                          </a:solidFill>
                          <a:effectLst/>
                          <a:latin typeface="Arial"/>
                          <a:ea typeface="Riforma LL" panose="020B0504020101020102" pitchFamily="34" charset="0"/>
                          <a:cs typeface="Arial"/>
                        </a:rPr>
                        <a:t> (round tables, </a:t>
                      </a:r>
                      <a:r>
                        <a:rPr lang="en-GB" sz="1100" b="0" i="0" u="none" strike="noStrike" dirty="0" err="1">
                          <a:solidFill>
                            <a:schemeClr val="tx1"/>
                          </a:solidFill>
                          <a:effectLst/>
                          <a:latin typeface="Arial"/>
                          <a:ea typeface="Riforma LL" panose="020B0504020101020102" pitchFamily="34" charset="0"/>
                          <a:cs typeface="Arial"/>
                        </a:rPr>
                        <a:t>komunikacja</a:t>
                      </a:r>
                      <a:r>
                        <a:rPr lang="en-GB" sz="1100" b="0" i="0" u="none" strike="noStrike" dirty="0">
                          <a:solidFill>
                            <a:schemeClr val="tx1"/>
                          </a:solidFill>
                          <a:effectLst/>
                          <a:latin typeface="Arial"/>
                          <a:ea typeface="Riforma LL" panose="020B0504020101020102" pitchFamily="34" charset="0"/>
                          <a:cs typeface="Arial"/>
                        </a:rPr>
                        <a:t> co </a:t>
                      </a:r>
                      <a:r>
                        <a:rPr lang="en-GB" sz="1100" b="0" i="0" u="none" strike="noStrike" dirty="0" err="1">
                          <a:solidFill>
                            <a:schemeClr val="tx1"/>
                          </a:solidFill>
                          <a:effectLst/>
                          <a:latin typeface="Arial"/>
                          <a:ea typeface="Riforma LL" panose="020B0504020101020102" pitchFamily="34" charset="0"/>
                          <a:cs typeface="Arial"/>
                        </a:rPr>
                        <a:t>robimy</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dirty="0" err="1">
                          <a:solidFill>
                            <a:schemeClr val="tx1"/>
                          </a:solidFill>
                          <a:effectLst/>
                          <a:latin typeface="Arial"/>
                          <a:ea typeface="Riforma LL" panose="020B0504020101020102" pitchFamily="34" charset="0"/>
                          <a:cs typeface="Arial"/>
                        </a:rPr>
                        <a:t>pomagaznie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dirty="0" err="1">
                          <a:solidFill>
                            <a:schemeClr val="tx1"/>
                          </a:solidFill>
                          <a:effectLst/>
                          <a:latin typeface="Arial"/>
                          <a:ea typeface="Riforma LL" panose="020B0504020101020102" pitchFamily="34" charset="0"/>
                          <a:cs typeface="Arial"/>
                        </a:rPr>
                        <a:t>wzajemne</a:t>
                      </a:r>
                      <a:r>
                        <a:rPr lang="en-GB" sz="1100" b="0" i="0" u="none" strike="noStrike" dirty="0">
                          <a:solidFill>
                            <a:schemeClr val="tx1"/>
                          </a:solidFill>
                          <a:effectLst/>
                          <a:latin typeface="Arial"/>
                          <a:ea typeface="Riforma LL" panose="020B0504020101020102" pitchFamily="34" charset="0"/>
                          <a:cs typeface="Arial"/>
                        </a:rPr>
                        <a:t>, best practise sharing)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7127176"/>
                  </a:ext>
                </a:extLst>
              </a:tr>
              <a:tr h="282220">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100" b="0" i="0" u="none" strike="noStrike" dirty="0">
                          <a:solidFill>
                            <a:schemeClr val="tx1"/>
                          </a:solidFill>
                          <a:effectLst/>
                          <a:latin typeface="Arial"/>
                          <a:ea typeface="Riforma LL" panose="020B0504020101020102" pitchFamily="34" charset="0"/>
                          <a:cs typeface="Arial"/>
                        </a:rPr>
                        <a:t>Commitment w </a:t>
                      </a:r>
                      <a:r>
                        <a:rPr lang="en-GB" sz="1100" b="0" i="0" u="none" strike="noStrike" err="1">
                          <a:solidFill>
                            <a:schemeClr val="tx1"/>
                          </a:solidFill>
                          <a:effectLst/>
                          <a:latin typeface="Arial"/>
                          <a:ea typeface="Riforma LL" panose="020B0504020101020102" pitchFamily="34" charset="0"/>
                          <a:cs typeface="Arial"/>
                        </a:rPr>
                        <a:t>podjętej</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decyzji</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nawet</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pomimo</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osobistych</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obiekcji</a:t>
                      </a:r>
                      <a:r>
                        <a:rPr lang="en-GB" sz="1100" b="0" i="0" u="none" strike="noStrike" dirty="0">
                          <a:solidFill>
                            <a:schemeClr val="tx1"/>
                          </a:solidFill>
                          <a:effectLst/>
                          <a:latin typeface="Arial"/>
                          <a:ea typeface="Riforma LL" panose="020B0504020101020102" pitchFamily="34" charset="0"/>
                          <a:cs typeface="Arial"/>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5836976"/>
                  </a:ext>
                </a:extLst>
              </a:tr>
              <a:tr h="365841">
                <a:tc rowSpan="2">
                  <a:txBody>
                    <a:bodyPr/>
                    <a:lstStyle/>
                    <a:p>
                      <a:pPr lvl="0" algn="l" fontAlgn="t"/>
                      <a:r>
                        <a:rPr lang="en-GB" sz="1100" b="0" i="0" u="none" strike="noStrike" dirty="0">
                          <a:solidFill>
                            <a:schemeClr val="tx1"/>
                          </a:solidFill>
                          <a:effectLst/>
                          <a:latin typeface="Arial"/>
                          <a:ea typeface="Riforma LL" panose="020B0504020101020102" pitchFamily="34" charset="0"/>
                          <a:cs typeface="Arial"/>
                        </a:rPr>
                        <a:t>FEAR OF AVOIDANCE OF ACCOUNTABILITY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r>
                        <a:rPr lang="en-GB" sz="1100" b="0" i="0" u="none" strike="noStrike" dirty="0">
                          <a:solidFill>
                            <a:schemeClr val="tx1"/>
                          </a:solidFill>
                          <a:effectLst/>
                          <a:latin typeface="Arial"/>
                          <a:ea typeface="Riforma LL" panose="020B0504020101020102" pitchFamily="34" charset="0"/>
                          <a:cs typeface="Arial"/>
                        </a:rPr>
                        <a:t>6,5</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100" b="0" i="0" u="none" strike="noStrike" err="1">
                          <a:solidFill>
                            <a:schemeClr val="tx1"/>
                          </a:solidFill>
                          <a:effectLst/>
                          <a:latin typeface="Arial"/>
                          <a:ea typeface="Riforma LL" panose="020B0504020101020102" pitchFamily="34" charset="0"/>
                          <a:cs typeface="Arial"/>
                        </a:rPr>
                        <a:t>Zbudowanie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zaufania</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komfortu</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poczucia</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bezpieczestwa</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Umocowanie</a:t>
                      </a:r>
                      <a:r>
                        <a:rPr lang="en-GB" sz="1100" b="0" i="0" u="none" strike="noStrike" dirty="0">
                          <a:solidFill>
                            <a:schemeClr val="tx1"/>
                          </a:solidFill>
                          <a:effectLst/>
                          <a:latin typeface="Arial"/>
                          <a:ea typeface="Riforma LL" panose="020B0504020101020102" pitchFamily="34" charset="0"/>
                          <a:cs typeface="Arial"/>
                        </a:rPr>
                        <a:t> do </a:t>
                      </a:r>
                      <a:r>
                        <a:rPr lang="en-GB" sz="1100" b="0" i="0" u="none" strike="noStrike" err="1">
                          <a:solidFill>
                            <a:schemeClr val="tx1"/>
                          </a:solidFill>
                          <a:effectLst/>
                          <a:latin typeface="Arial"/>
                          <a:ea typeface="Riforma LL" panose="020B0504020101020102" pitchFamily="34" charset="0"/>
                          <a:cs typeface="Arial"/>
                        </a:rPr>
                        <a:t>decyzyjności</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konsekwencja</a:t>
                      </a:r>
                      <a:r>
                        <a:rPr lang="en-GB" sz="1100" b="0" i="0" u="none" strike="noStrike" dirty="0">
                          <a:solidFill>
                            <a:schemeClr val="tx1"/>
                          </a:solidFill>
                          <a:effectLst/>
                          <a:latin typeface="Arial"/>
                          <a:ea typeface="Riforma LL" panose="020B0504020101020102" pitchFamily="34" charset="0"/>
                          <a:cs typeface="Arial"/>
                        </a:rPr>
                        <a:t> I </a:t>
                      </a:r>
                      <a:r>
                        <a:rPr lang="en-GB" sz="1100" b="0" i="0" u="none" strike="noStrike" err="1">
                          <a:solidFill>
                            <a:schemeClr val="tx1"/>
                          </a:solidFill>
                          <a:effectLst/>
                          <a:latin typeface="Arial"/>
                          <a:ea typeface="Riforma LL" panose="020B0504020101020102" pitchFamily="34" charset="0"/>
                          <a:cs typeface="Arial"/>
                        </a:rPr>
                        <a:t>wsparcie</a:t>
                      </a:r>
                      <a:r>
                        <a:rPr lang="en-GB" sz="1100" b="0" i="0" u="none" strike="noStrike" dirty="0">
                          <a:solidFill>
                            <a:schemeClr val="tx1"/>
                          </a:solidFill>
                          <a:effectLst/>
                          <a:latin typeface="Arial"/>
                          <a:ea typeface="Riforma LL" panose="020B0504020101020102" pitchFamily="34" charset="0"/>
                          <a:cs typeface="Arial"/>
                        </a:rPr>
                        <a:t> w </a:t>
                      </a:r>
                      <a:r>
                        <a:rPr lang="en-GB" sz="1100" b="0" i="0" u="none" strike="noStrike" err="1">
                          <a:solidFill>
                            <a:schemeClr val="tx1"/>
                          </a:solidFill>
                          <a:effectLst/>
                          <a:latin typeface="Arial"/>
                          <a:ea typeface="Riforma LL" panose="020B0504020101020102" pitchFamily="34" charset="0"/>
                          <a:cs typeface="Arial"/>
                        </a:rPr>
                        <a:t>podejętych</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decyzjach</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regularny</a:t>
                      </a:r>
                      <a:r>
                        <a:rPr lang="en-GB" sz="1100" b="0" i="0" u="none" strike="noStrike" dirty="0">
                          <a:solidFill>
                            <a:schemeClr val="tx1"/>
                          </a:solidFill>
                          <a:effectLst/>
                          <a:latin typeface="Arial"/>
                          <a:ea typeface="Riforma LL" panose="020B0504020101020102" pitchFamily="34" charset="0"/>
                          <a:cs typeface="Arial"/>
                        </a:rPr>
                        <a:t> feedback, </a:t>
                      </a:r>
                      <a:r>
                        <a:rPr lang="en-GB" sz="1100" b="0" i="0" u="none" strike="noStrike" err="1">
                          <a:solidFill>
                            <a:schemeClr val="tx1"/>
                          </a:solidFill>
                          <a:effectLst/>
                          <a:latin typeface="Arial"/>
                          <a:ea typeface="Riforma LL" panose="020B0504020101020102" pitchFamily="34" charset="0"/>
                          <a:cs typeface="Arial"/>
                        </a:rPr>
                        <a:t>jasne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nakreślenie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celów</a:t>
                      </a:r>
                      <a:r>
                        <a:rPr lang="en-GB" sz="1100" b="0" i="0" u="none" strike="noStrike" dirty="0">
                          <a:solidFill>
                            <a:schemeClr val="tx1"/>
                          </a:solidFill>
                          <a:effectLst/>
                          <a:latin typeface="Arial"/>
                          <a:ea typeface="Riforma LL" panose="020B0504020101020102" pitchFamily="34" charset="0"/>
                          <a:cs typeface="Arial"/>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3902349"/>
                  </a:ext>
                </a:extLst>
              </a:tr>
              <a:tr h="282220">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100" b="0" i="0" u="none" strike="noStrike" dirty="0">
                          <a:solidFill>
                            <a:schemeClr val="tx1"/>
                          </a:solidFill>
                          <a:effectLst/>
                          <a:latin typeface="Arial"/>
                          <a:ea typeface="Riforma LL" panose="020B0504020101020102" pitchFamily="34" charset="0"/>
                          <a:cs typeface="Arial"/>
                        </a:rPr>
                        <a:t>Feedback 360 – z </a:t>
                      </a:r>
                      <a:r>
                        <a:rPr lang="en-GB" sz="1100" b="0" i="0" u="none" strike="noStrike" err="1">
                          <a:solidFill>
                            <a:schemeClr val="tx1"/>
                          </a:solidFill>
                          <a:effectLst/>
                          <a:latin typeface="Arial"/>
                          <a:ea typeface="Riforma LL" panose="020B0504020101020102" pitchFamily="34" charset="0"/>
                          <a:cs typeface="Arial"/>
                        </a:rPr>
                        <a:t>zespołu</a:t>
                      </a:r>
                      <a:r>
                        <a:rPr lang="en-GB" sz="1100" b="0" i="0" u="none" strike="noStrike" dirty="0">
                          <a:solidFill>
                            <a:schemeClr val="tx1"/>
                          </a:solidFill>
                          <a:effectLst/>
                          <a:latin typeface="Arial"/>
                          <a:ea typeface="Riforma LL" panose="020B0504020101020102" pitchFamily="34" charset="0"/>
                          <a:cs typeface="Arial"/>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4910896"/>
                  </a:ext>
                </a:extLst>
              </a:tr>
              <a:tr h="282220">
                <a:tc rowSpan="2">
                  <a:txBody>
                    <a:bodyPr/>
                    <a:lstStyle/>
                    <a:p>
                      <a:pPr lvl="0" algn="l" fontAlgn="t"/>
                      <a:r>
                        <a:rPr lang="en-GB" sz="1100" b="0" i="0" u="none" strike="noStrike" dirty="0">
                          <a:solidFill>
                            <a:schemeClr val="tx1"/>
                          </a:solidFill>
                          <a:effectLst/>
                          <a:latin typeface="Arial"/>
                          <a:ea typeface="Riforma LL" panose="020B0504020101020102" pitchFamily="34" charset="0"/>
                          <a:cs typeface="Arial"/>
                        </a:rPr>
                        <a:t>INATTENTION TO RESULTS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r>
                        <a:rPr lang="en-GB" sz="1100" b="0" i="0" u="none" strike="noStrike" dirty="0">
                          <a:solidFill>
                            <a:schemeClr val="tx1"/>
                          </a:solidFill>
                          <a:effectLst/>
                          <a:latin typeface="Arial"/>
                          <a:ea typeface="Riforma LL" panose="020B0504020101020102" pitchFamily="34" charset="0"/>
                          <a:cs typeface="Arial"/>
                        </a:rPr>
                        <a:t>7,2</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100" b="0" i="0" u="none" strike="noStrike" dirty="0">
                          <a:solidFill>
                            <a:schemeClr val="tx1"/>
                          </a:solidFill>
                          <a:effectLst/>
                          <a:latin typeface="Arial"/>
                          <a:ea typeface="Riforma LL" panose="020B0504020101020102" pitchFamily="34" charset="0"/>
                          <a:cs typeface="Arial"/>
                        </a:rPr>
                        <a:t>Clear goals, clear roles, tracking results, </a:t>
                      </a:r>
                      <a:r>
                        <a:rPr lang="en-GB" sz="1100" b="0" i="0" u="none" strike="noStrike" err="1">
                          <a:solidFill>
                            <a:schemeClr val="tx1"/>
                          </a:solidFill>
                          <a:effectLst/>
                          <a:latin typeface="Arial"/>
                          <a:ea typeface="Riforma LL" panose="020B0504020101020102" pitchFamily="34" charset="0"/>
                          <a:cs typeface="Arial"/>
                        </a:rPr>
                        <a:t>cele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spójne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dla</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zespolów</a:t>
                      </a:r>
                      <a:r>
                        <a:rPr lang="en-GB" sz="1100" b="0" i="0" u="none" strike="noStrike" dirty="0">
                          <a:solidFill>
                            <a:schemeClr val="tx1"/>
                          </a:solidFill>
                          <a:effectLst/>
                          <a:latin typeface="Arial"/>
                          <a:ea typeface="Riforma LL" panose="020B0504020101020102" pitchFamily="34" charset="0"/>
                          <a:cs typeface="Arial"/>
                        </a:rPr>
                        <a:t> I </a:t>
                      </a:r>
                      <a:r>
                        <a:rPr lang="en-GB" sz="1100" b="0" i="0" u="none" strike="noStrike" err="1">
                          <a:solidFill>
                            <a:schemeClr val="tx1"/>
                          </a:solidFill>
                          <a:effectLst/>
                          <a:latin typeface="Arial"/>
                          <a:ea typeface="Riforma LL" panose="020B0504020101020102" pitchFamily="34" charset="0"/>
                          <a:cs typeface="Arial"/>
                        </a:rPr>
                        <a:t>jednostek</a:t>
                      </a:r>
                      <a:r>
                        <a:rPr lang="en-GB" sz="1100" b="0" i="0" u="none" strike="noStrike" dirty="0">
                          <a:solidFill>
                            <a:schemeClr val="tx1"/>
                          </a:solidFill>
                          <a:effectLst/>
                          <a:latin typeface="Arial"/>
                          <a:ea typeface="Riforma LL" panose="020B0504020101020102" pitchFamily="34" charset="0"/>
                          <a:cs typeface="Arial"/>
                        </a:rPr>
                        <a:t> z </a:t>
                      </a:r>
                      <a:r>
                        <a:rPr lang="en-GB" sz="1100" b="0" i="0" u="none" strike="noStrike" err="1">
                          <a:solidFill>
                            <a:schemeClr val="tx1"/>
                          </a:solidFill>
                          <a:effectLst/>
                          <a:latin typeface="Arial"/>
                          <a:ea typeface="Riforma LL" panose="020B0504020101020102" pitchFamily="34" charset="0"/>
                          <a:cs typeface="Arial"/>
                        </a:rPr>
                        <a:t>zespołami</a:t>
                      </a:r>
                      <a:r>
                        <a:rPr lang="en-GB" sz="1100" b="0" i="0" u="none" strike="noStrike" dirty="0">
                          <a:solidFill>
                            <a:schemeClr val="tx1"/>
                          </a:solidFill>
                          <a:effectLst/>
                          <a:latin typeface="Arial"/>
                          <a:ea typeface="Riforma LL" panose="020B0504020101020102" pitchFamily="34" charset="0"/>
                          <a:cs typeface="Arial"/>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2850822"/>
                  </a:ext>
                </a:extLst>
              </a:tr>
              <a:tr h="365841">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100" b="0" i="0" u="none" strike="noStrike" err="1">
                          <a:solidFill>
                            <a:schemeClr val="tx1"/>
                          </a:solidFill>
                          <a:effectLst/>
                          <a:latin typeface="Arial"/>
                          <a:ea typeface="Riforma LL" panose="020B0504020101020102" pitchFamily="34" charset="0"/>
                          <a:cs typeface="Arial"/>
                        </a:rPr>
                        <a:t>zrozumienie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celów</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wyciąganie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wniosków</a:t>
                      </a:r>
                      <a:r>
                        <a:rPr lang="en-GB" sz="1100" b="0" i="0" u="none" strike="noStrike" dirty="0">
                          <a:solidFill>
                            <a:schemeClr val="tx1"/>
                          </a:solidFill>
                          <a:effectLst/>
                          <a:latin typeface="Arial"/>
                          <a:ea typeface="Riforma LL" panose="020B0504020101020102" pitchFamily="34" charset="0"/>
                          <a:cs typeface="Arial"/>
                        </a:rPr>
                        <a:t> z </a:t>
                      </a:r>
                      <a:r>
                        <a:rPr lang="en-GB" sz="1100" b="0" i="0" u="none" strike="noStrike" err="1">
                          <a:solidFill>
                            <a:schemeClr val="tx1"/>
                          </a:solidFill>
                          <a:effectLst/>
                          <a:latin typeface="Arial"/>
                          <a:ea typeface="Riforma LL" panose="020B0504020101020102" pitchFamily="34" charset="0"/>
                          <a:cs typeface="Arial"/>
                        </a:rPr>
                        <a:t>przeszłości</a:t>
                      </a:r>
                      <a:r>
                        <a:rPr lang="en-GB" sz="1100" b="0" i="0" u="none" strike="noStrike" dirty="0">
                          <a:solidFill>
                            <a:schemeClr val="tx1"/>
                          </a:solidFill>
                          <a:effectLst/>
                          <a:latin typeface="Arial"/>
                          <a:ea typeface="Riforma LL" panose="020B0504020101020102" pitchFamily="34" charset="0"/>
                          <a:cs typeface="Arial"/>
                        </a:rPr>
                        <a:t> - </a:t>
                      </a:r>
                      <a:r>
                        <a:rPr lang="en-GB" sz="1100" b="0" i="0" u="none" strike="noStrike" err="1">
                          <a:solidFill>
                            <a:schemeClr val="tx1"/>
                          </a:solidFill>
                          <a:effectLst/>
                          <a:latin typeface="Arial"/>
                          <a:ea typeface="Riforma LL" panose="020B0504020101020102" pitchFamily="34" charset="0"/>
                          <a:cs typeface="Arial"/>
                        </a:rPr>
                        <a:t>rozliczenie</a:t>
                      </a:r>
                      <a:r>
                        <a:rPr lang="en-GB" sz="1100" b="0" i="0" u="none" strike="noStrike" dirty="0">
                          <a:solidFill>
                            <a:schemeClr val="tx1"/>
                          </a:solidFill>
                          <a:effectLst/>
                          <a:latin typeface="Arial"/>
                          <a:ea typeface="Riforma LL" panose="020B0504020101020102" pitchFamily="34" charset="0"/>
                          <a:cs typeface="Arial"/>
                        </a:rPr>
                        <a:t> – </a:t>
                      </a:r>
                      <a:r>
                        <a:rPr lang="en-GB" sz="1100" b="0" i="0" u="none" strike="noStrike" err="1">
                          <a:solidFill>
                            <a:schemeClr val="tx1"/>
                          </a:solidFill>
                          <a:effectLst/>
                          <a:latin typeface="Arial"/>
                          <a:ea typeface="Riforma LL" panose="020B0504020101020102" pitchFamily="34" charset="0"/>
                          <a:cs typeface="Arial"/>
                        </a:rPr>
                        <a:t>podsumowanie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systemy</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premiowe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zorientowane</a:t>
                      </a:r>
                      <a:r>
                        <a:rPr lang="en-GB" sz="1100" b="0" i="0" u="none" strike="noStrike" dirty="0">
                          <a:solidFill>
                            <a:schemeClr val="tx1"/>
                          </a:solidFill>
                          <a:effectLst/>
                          <a:latin typeface="Arial"/>
                          <a:ea typeface="Riforma LL" panose="020B0504020101020102" pitchFamily="34" charset="0"/>
                          <a:cs typeface="Arial"/>
                        </a:rPr>
                        <a:t> </a:t>
                      </a:r>
                      <a:r>
                        <a:rPr lang="en-GB" sz="1100" b="0" i="0" u="none" strike="noStrike" err="1">
                          <a:solidFill>
                            <a:schemeClr val="tx1"/>
                          </a:solidFill>
                          <a:effectLst/>
                          <a:latin typeface="Arial"/>
                          <a:ea typeface="Riforma LL" panose="020B0504020101020102" pitchFamily="34" charset="0"/>
                          <a:cs typeface="Arial"/>
                        </a:rPr>
                        <a:t>na</a:t>
                      </a:r>
                      <a:r>
                        <a:rPr lang="en-GB" sz="1100" b="0" i="0" u="none" strike="noStrike" dirty="0">
                          <a:solidFill>
                            <a:schemeClr val="tx1"/>
                          </a:solidFill>
                          <a:effectLst/>
                          <a:latin typeface="Arial"/>
                          <a:ea typeface="Riforma LL" panose="020B0504020101020102" pitchFamily="34" charset="0"/>
                          <a:cs typeface="Arial"/>
                        </a:rPr>
                        <a:t> cel, follow up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614542"/>
                  </a:ext>
                </a:extLst>
              </a:tr>
            </a:tbl>
          </a:graphicData>
        </a:graphic>
      </p:graphicFrame>
      <p:graphicFrame>
        <p:nvGraphicFramePr>
          <p:cNvPr id="5" name="Table 4">
            <a:extLst>
              <a:ext uri="{FF2B5EF4-FFF2-40B4-BE49-F238E27FC236}">
                <a16:creationId xmlns:a16="http://schemas.microsoft.com/office/drawing/2014/main" id="{6299D935-5D86-5BBC-DFB2-D1461E84A089}"/>
              </a:ext>
            </a:extLst>
          </p:cNvPr>
          <p:cNvGraphicFramePr>
            <a:graphicFrameLocks noGrp="1"/>
          </p:cNvGraphicFramePr>
          <p:nvPr>
            <p:extLst>
              <p:ext uri="{D42A27DB-BD31-4B8C-83A1-F6EECF244321}">
                <p14:modId xmlns:p14="http://schemas.microsoft.com/office/powerpoint/2010/main" val="2643385496"/>
              </p:ext>
            </p:extLst>
          </p:nvPr>
        </p:nvGraphicFramePr>
        <p:xfrm>
          <a:off x="229691" y="5949869"/>
          <a:ext cx="9707740" cy="1364736"/>
        </p:xfrm>
        <a:graphic>
          <a:graphicData uri="http://schemas.openxmlformats.org/drawingml/2006/table">
            <a:tbl>
              <a:tblPr firstRow="1" bandRow="1">
                <a:tableStyleId>{2D5ABB26-0587-4C30-8999-92F81FD0307C}</a:tableStyleId>
              </a:tblPr>
              <a:tblGrid>
                <a:gridCol w="6770716">
                  <a:extLst>
                    <a:ext uri="{9D8B030D-6E8A-4147-A177-3AD203B41FA5}">
                      <a16:colId xmlns:a16="http://schemas.microsoft.com/office/drawing/2014/main" val="1435361538"/>
                    </a:ext>
                  </a:extLst>
                </a:gridCol>
                <a:gridCol w="1585913">
                  <a:extLst>
                    <a:ext uri="{9D8B030D-6E8A-4147-A177-3AD203B41FA5}">
                      <a16:colId xmlns:a16="http://schemas.microsoft.com/office/drawing/2014/main" val="3691210030"/>
                    </a:ext>
                  </a:extLst>
                </a:gridCol>
                <a:gridCol w="1351111">
                  <a:extLst>
                    <a:ext uri="{9D8B030D-6E8A-4147-A177-3AD203B41FA5}">
                      <a16:colId xmlns:a16="http://schemas.microsoft.com/office/drawing/2014/main" val="14683607"/>
                    </a:ext>
                  </a:extLst>
                </a:gridCol>
              </a:tblGrid>
              <a:tr h="32961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Calibri"/>
                        </a:rPr>
                        <a:t>What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Calibri"/>
                        </a:rPr>
                        <a:t>Who</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Calibri" panose="020F0502020204030204" pitchFamily="34" charset="0"/>
                        </a:rPr>
                        <a:t>When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343152">
                <a:tc>
                  <a:txBody>
                    <a:bodyPr/>
                    <a:lstStyle/>
                    <a:p>
                      <a:pPr lvl="0" algn="l">
                        <a:buNone/>
                      </a:pPr>
                      <a:r>
                        <a:rPr lang="en-GB" sz="1200" b="0" i="0" u="none" strike="noStrike" noProof="0" dirty="0">
                          <a:solidFill>
                            <a:schemeClr val="tx1"/>
                          </a:solidFill>
                          <a:effectLst/>
                          <a:latin typeface="Calibri"/>
                        </a:rPr>
                        <a:t>360 + "Thomas" </a:t>
                      </a:r>
                      <a:r>
                        <a:rPr lang="en-GB" sz="1200" b="0" i="0" u="none" strike="noStrike" noProof="0" dirty="0" err="1">
                          <a:solidFill>
                            <a:schemeClr val="tx1"/>
                          </a:solidFill>
                          <a:effectLst/>
                          <a:latin typeface="Calibri"/>
                        </a:rPr>
                        <a:t>zrobić</a:t>
                      </a:r>
                      <a:r>
                        <a:rPr lang="en-GB" sz="1200" b="0" i="0" u="none" strike="noStrike" noProof="0" dirty="0">
                          <a:solidFill>
                            <a:schemeClr val="tx1"/>
                          </a:solidFill>
                          <a:effectLst/>
                          <a:latin typeface="Calibri"/>
                        </a:rPr>
                        <a:t> </a:t>
                      </a:r>
                      <a:r>
                        <a:rPr lang="en-GB" sz="1200" b="0" i="0" u="none" strike="noStrike" noProof="0" dirty="0" err="1">
                          <a:solidFill>
                            <a:schemeClr val="tx1"/>
                          </a:solidFill>
                          <a:effectLst/>
                          <a:latin typeface="Calibri"/>
                        </a:rPr>
                        <a:t>chcemy</a:t>
                      </a:r>
                      <a:r>
                        <a:rPr lang="en-GB" sz="1200" b="0" i="0" u="none" strike="noStrike" noProof="0" dirty="0">
                          <a:solidFill>
                            <a:schemeClr val="tx1"/>
                          </a:solidFill>
                          <a:effectLst/>
                          <a:latin typeface="Calibri"/>
                        </a:rPr>
                        <a:t> z </a:t>
                      </a:r>
                      <a:r>
                        <a:rPr lang="en-GB" sz="1200" b="0" i="0" u="none" strike="noStrike" noProof="0" dirty="0" err="1">
                          <a:solidFill>
                            <a:schemeClr val="tx1"/>
                          </a:solidFill>
                          <a:effectLst/>
                          <a:latin typeface="Calibri"/>
                        </a:rPr>
                        <a:t>zespołami</a:t>
                      </a:r>
                      <a:r>
                        <a:rPr lang="en-GB" sz="1200" b="0" i="0" u="none" strike="noStrike" noProof="0" dirty="0">
                          <a:solidFill>
                            <a:schemeClr val="tx1"/>
                          </a:solidFill>
                          <a:effectLst/>
                          <a:latin typeface="Calibri"/>
                        </a:rPr>
                        <a:t> </a:t>
                      </a:r>
                      <a:endParaRPr lang="pl-PL"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Calibri"/>
                          <a:ea typeface="Riforma LL" panose="020B0504020101020102" pitchFamily="34" charset="0"/>
                          <a:cs typeface="Calibri"/>
                        </a:rPr>
                        <a:t>Patryk </a:t>
                      </a:r>
                      <a:endParaRPr lang="en-GB" sz="1200" b="0" i="0" u="none" strike="noStrike" dirty="0">
                        <a:solidFill>
                          <a:schemeClr val="bg1"/>
                        </a:solidFill>
                        <a:effectLst/>
                        <a:latin typeface="Calibri"/>
                        <a:ea typeface="Riforma LL" panose="020B0504020101020102" pitchFamily="34" charset="0"/>
                        <a:cs typeface="Calibri"/>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Calibri"/>
                          <a:ea typeface="Riforma LL" panose="020B0504020101020102" pitchFamily="34" charset="0"/>
                          <a:cs typeface="Calibri"/>
                        </a:rPr>
                        <a:t>December </a:t>
                      </a:r>
                      <a:endParaRPr lang="en-GB" sz="1200" b="0" i="0" u="none" strike="noStrike" dirty="0">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r h="343152">
                <a:tc>
                  <a:txBody>
                    <a:bodyPr/>
                    <a:lstStyle/>
                    <a:p>
                      <a:pPr lvl="0" algn="l">
                        <a:lnSpc>
                          <a:spcPct val="100000"/>
                        </a:lnSpc>
                        <a:spcBef>
                          <a:spcPts val="0"/>
                        </a:spcBef>
                        <a:spcAft>
                          <a:spcPts val="0"/>
                        </a:spcAft>
                        <a:buNone/>
                      </a:pPr>
                      <a:r>
                        <a:rPr lang="en-GB" sz="1200" b="0" i="0" u="none" strike="noStrike" noProof="0" dirty="0">
                          <a:solidFill>
                            <a:schemeClr val="tx1"/>
                          </a:solidFill>
                          <a:effectLst/>
                          <a:latin typeface="Calibri"/>
                        </a:rPr>
                        <a:t>Check team dysfunctions with teams (</a:t>
                      </a:r>
                      <a:r>
                        <a:rPr lang="en-GB" sz="1200" b="0" i="0" u="none" strike="noStrike" noProof="0" dirty="0" err="1">
                          <a:solidFill>
                            <a:schemeClr val="tx1"/>
                          </a:solidFill>
                          <a:effectLst/>
                          <a:latin typeface="Calibri"/>
                        </a:rPr>
                        <a:t>tłumaczenie</a:t>
                      </a:r>
                      <a:r>
                        <a:rPr lang="en-GB" sz="1200" b="0" i="0" u="none" strike="noStrike" noProof="0" dirty="0">
                          <a:solidFill>
                            <a:schemeClr val="tx1"/>
                          </a:solidFill>
                          <a:effectLst/>
                          <a:latin typeface="Calibri"/>
                        </a:rPr>
                        <a:t> </a:t>
                      </a:r>
                      <a:r>
                        <a:rPr lang="en-GB" sz="1200" b="0" i="0" u="none" strike="noStrike" noProof="0" dirty="0" err="1">
                          <a:solidFill>
                            <a:schemeClr val="tx1"/>
                          </a:solidFill>
                          <a:effectLst/>
                          <a:latin typeface="Calibri"/>
                        </a:rPr>
                        <a:t>tabelki</a:t>
                      </a:r>
                      <a:r>
                        <a:rPr lang="en-GB" sz="1200" b="0" i="0" u="none" strike="noStrike" noProof="0" dirty="0">
                          <a:solidFill>
                            <a:schemeClr val="tx1"/>
                          </a:solidFill>
                          <a:effectLst/>
                          <a:latin typeface="Calibri"/>
                        </a:rPr>
                        <a:t> PK - </a:t>
                      </a:r>
                      <a:r>
                        <a:rPr lang="en-GB" sz="1200" b="0" i="0" u="none" strike="noStrike" noProof="0" dirty="0" err="1">
                          <a:solidFill>
                            <a:schemeClr val="tx1"/>
                          </a:solidFill>
                          <a:effectLst/>
                          <a:latin typeface="Calibri"/>
                        </a:rPr>
                        <a:t>rozesłanie</a:t>
                      </a:r>
                      <a:r>
                        <a:rPr lang="en-GB" sz="1200" b="0" i="0" u="none" strike="noStrike" noProof="0" dirty="0">
                          <a:solidFill>
                            <a:schemeClr val="tx1"/>
                          </a:solidFill>
                          <a:effectLst/>
                          <a:latin typeface="Calibri"/>
                        </a:rPr>
                        <a:t> do FT team + </a:t>
                      </a:r>
                      <a:r>
                        <a:rPr lang="en-GB" sz="1200" b="0" i="0" u="none" strike="noStrike" noProof="0" dirty="0" err="1">
                          <a:solidFill>
                            <a:schemeClr val="tx1"/>
                          </a:solidFill>
                          <a:effectLst/>
                          <a:latin typeface="Calibri"/>
                        </a:rPr>
                        <a:t>wprowadzenie</a:t>
                      </a:r>
                      <a:r>
                        <a:rPr lang="en-GB" sz="1200" b="0" i="0" u="none" strike="noStrike" noProof="0" dirty="0">
                          <a:solidFill>
                            <a:schemeClr val="tx1"/>
                          </a:solidFill>
                          <a:effectLst/>
                          <a:latin typeface="Calibri"/>
                        </a:rPr>
                        <a:t>) </a:t>
                      </a:r>
                      <a:endParaRPr lang="pl-PL"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Calibri"/>
                          <a:ea typeface="Riforma LL" panose="020B0504020101020102" pitchFamily="34" charset="0"/>
                          <a:cs typeface="Calibri"/>
                        </a:rPr>
                        <a:t>All team </a:t>
                      </a:r>
                      <a:r>
                        <a:rPr lang="en-GB" sz="1200" b="0" i="0" u="none" strike="noStrike" dirty="0" err="1">
                          <a:solidFill>
                            <a:schemeClr val="tx1"/>
                          </a:solidFill>
                          <a:effectLst/>
                          <a:latin typeface="Calibri"/>
                          <a:ea typeface="Riforma LL" panose="020B0504020101020102" pitchFamily="34" charset="0"/>
                          <a:cs typeface="Calibri"/>
                        </a:rPr>
                        <a:t>leeder</a:t>
                      </a:r>
                      <a:r>
                        <a:rPr lang="en-GB" sz="1200" b="0" i="0" u="none" strike="noStrike" dirty="0">
                          <a:solidFill>
                            <a:schemeClr val="tx1"/>
                          </a:solidFill>
                          <a:effectLst/>
                          <a:latin typeface="Calibri"/>
                          <a:ea typeface="Riforma LL" panose="020B0504020101020102" pitchFamily="34" charset="0"/>
                          <a:cs typeface="Calibri"/>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Calibri"/>
                          <a:ea typeface="Riforma LL" panose="020B0504020101020102" pitchFamily="34" charset="0"/>
                          <a:cs typeface="Calibri"/>
                        </a:rPr>
                        <a:t>December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343152">
                <a:tc>
                  <a:txBody>
                    <a:bodyPr/>
                    <a:lstStyle/>
                    <a:p>
                      <a:pPr algn="l" fontAlgn="t"/>
                      <a:r>
                        <a:rPr lang="en-GB" sz="1200" b="0" i="0" u="none" strike="noStrike" dirty="0">
                          <a:solidFill>
                            <a:schemeClr val="tx1"/>
                          </a:solidFill>
                          <a:effectLst/>
                          <a:latin typeface="Calibri"/>
                          <a:ea typeface="Riforma LL" panose="020B0504020101020102" pitchFamily="34" charset="0"/>
                          <a:cs typeface="Calibri"/>
                        </a:rPr>
                        <a:t>Analiza Thomas w </a:t>
                      </a:r>
                      <a:r>
                        <a:rPr lang="en-GB" sz="1200" b="0" i="0" u="none" strike="noStrike" dirty="0" err="1">
                          <a:solidFill>
                            <a:schemeClr val="tx1"/>
                          </a:solidFill>
                          <a:effectLst/>
                          <a:latin typeface="Calibri"/>
                          <a:ea typeface="Riforma LL" panose="020B0504020101020102" pitchFamily="34" charset="0"/>
                          <a:cs typeface="Calibri"/>
                        </a:rPr>
                        <a:t>zespole</a:t>
                      </a:r>
                      <a:r>
                        <a:rPr lang="en-GB" sz="1200" b="0" i="0" u="none" strike="noStrike" dirty="0">
                          <a:solidFill>
                            <a:schemeClr val="tx1"/>
                          </a:solidFill>
                          <a:effectLst/>
                          <a:latin typeface="Calibri"/>
                          <a:ea typeface="Riforma LL" panose="020B0504020101020102" pitchFamily="34" charset="0"/>
                          <a:cs typeface="Calibri"/>
                        </a:rPr>
                        <a:t> Fast Track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Calibri"/>
                          <a:ea typeface="Riforma LL" panose="020B0504020101020102" pitchFamily="34" charset="0"/>
                          <a:cs typeface="Calibri"/>
                        </a:rPr>
                        <a:t>Ewa</a:t>
                      </a:r>
                      <a:endParaRPr lang="en-GB" sz="1200" b="0" i="0" u="none" strike="noStrike" dirty="0">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Calibri"/>
                          <a:ea typeface="Riforma LL" panose="020B0504020101020102" pitchFamily="34" charset="0"/>
                          <a:cs typeface="Calibri"/>
                        </a:rPr>
                        <a:t>Empty week </a:t>
                      </a:r>
                      <a:endParaRPr lang="en-GB" sz="1200" b="0" i="0" u="none" strike="noStrike" dirty="0">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4860994"/>
                  </a:ext>
                </a:extLst>
              </a:tr>
            </a:tbl>
          </a:graphicData>
        </a:graphic>
      </p:graphicFrame>
      <p:pic>
        <p:nvPicPr>
          <p:cNvPr id="7" name="Picture 6">
            <a:extLst>
              <a:ext uri="{FF2B5EF4-FFF2-40B4-BE49-F238E27FC236}">
                <a16:creationId xmlns:a16="http://schemas.microsoft.com/office/drawing/2014/main" id="{618CE0F8-17FE-6C52-B4BD-45C20D34A2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sp>
        <p:nvSpPr>
          <p:cNvPr id="6" name="TextBox 5">
            <a:extLst>
              <a:ext uri="{FF2B5EF4-FFF2-40B4-BE49-F238E27FC236}">
                <a16:creationId xmlns:a16="http://schemas.microsoft.com/office/drawing/2014/main" id="{2B9D2F5A-F904-B16E-20BD-22A4CA2C250A}"/>
              </a:ext>
            </a:extLst>
          </p:cNvPr>
          <p:cNvSpPr txBox="1"/>
          <p:nvPr/>
        </p:nvSpPr>
        <p:spPr>
          <a:xfrm>
            <a:off x="162482" y="655984"/>
            <a:ext cx="9707740" cy="646331"/>
          </a:xfrm>
          <a:prstGeom prst="rect">
            <a:avLst/>
          </a:prstGeom>
          <a:solidFill>
            <a:schemeClr val="bg2"/>
          </a:solidFill>
        </p:spPr>
        <p:txBody>
          <a:bodyPr wrap="square" lIns="91440" tIns="45720" rIns="91440" bIns="45720" rtlCol="0" anchor="t">
            <a:spAutoFit/>
          </a:bodyPr>
          <a:lstStyle/>
          <a:p>
            <a:pPr marL="0" marR="0" indent="0" defTabSz="914400" eaLnBrk="1" fontAlgn="auto" latinLnBrk="0" hangingPunct="1">
              <a:lnSpc>
                <a:spcPct val="100000"/>
              </a:lnSpc>
              <a:spcBef>
                <a:spcPts val="0"/>
              </a:spcBef>
              <a:spcAft>
                <a:spcPts val="0"/>
              </a:spcAft>
              <a:buClrTx/>
              <a:buSzTx/>
              <a:buFontTx/>
              <a:buNone/>
              <a:tabLst/>
              <a:defRPr/>
            </a:pPr>
            <a:r>
              <a:rPr lang="en-GB" sz="1200" b="0" i="0" u="none" strike="noStrike" dirty="0">
                <a:effectLst/>
                <a:latin typeface="Arial"/>
                <a:cs typeface="Arial"/>
              </a:rPr>
              <a:t>With the scores at hand, initiate an open and honest discussion within the team (during the Fast Track hour). Talk about the areas of strength, acknowledge the challenges, and collectively brainstorm on </a:t>
            </a:r>
            <a:r>
              <a:rPr lang="en-GB" sz="1200" b="0" i="0" u="none" strike="noStrike" dirty="0">
                <a:effectLst/>
                <a:highlight>
                  <a:srgbClr val="FFFF00"/>
                </a:highlight>
                <a:latin typeface="Arial"/>
                <a:cs typeface="Arial"/>
              </a:rPr>
              <a:t>actionable steps</a:t>
            </a:r>
            <a:r>
              <a:rPr lang="en-GB" sz="1200" b="0" i="0" u="none" strike="noStrike" dirty="0">
                <a:effectLst/>
                <a:latin typeface="Arial"/>
                <a:cs typeface="Arial"/>
              </a:rPr>
              <a:t> to overcome the dysfunctions. In the end, choose the most important 3 action points you want to implement first, assign a responsible person and a deadline.</a:t>
            </a:r>
          </a:p>
        </p:txBody>
      </p:sp>
      <p:cxnSp>
        <p:nvCxnSpPr>
          <p:cNvPr id="9" name="Straight Connector 8">
            <a:extLst>
              <a:ext uri="{FF2B5EF4-FFF2-40B4-BE49-F238E27FC236}">
                <a16:creationId xmlns:a16="http://schemas.microsoft.com/office/drawing/2014/main" id="{3C638621-3CD4-CC58-8D03-0981D8DB759F}"/>
              </a:ext>
            </a:extLst>
          </p:cNvPr>
          <p:cNvCxnSpPr>
            <a:cxnSpLocks/>
          </p:cNvCxnSpPr>
          <p:nvPr/>
        </p:nvCxnSpPr>
        <p:spPr>
          <a:xfrm flipH="1">
            <a:off x="0" y="540000"/>
            <a:ext cx="101493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8A76642-D343-493C-F922-4F49C5932654}"/>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0704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63303F-A64C-4156-FED0-8EF30C3304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0101"/>
            <a:ext cx="6503483" cy="465161"/>
          </a:xfrm>
          <a:prstGeom prst="rect">
            <a:avLst/>
          </a:prstGeom>
        </p:spPr>
      </p:pic>
      <p:pic>
        <p:nvPicPr>
          <p:cNvPr id="7" name="Picture 6">
            <a:extLst>
              <a:ext uri="{FF2B5EF4-FFF2-40B4-BE49-F238E27FC236}">
                <a16:creationId xmlns:a16="http://schemas.microsoft.com/office/drawing/2014/main" id="{328D056D-B237-9C25-C117-0D65A69AD5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graphicFrame>
        <p:nvGraphicFramePr>
          <p:cNvPr id="2" name="Table 1">
            <a:extLst>
              <a:ext uri="{FF2B5EF4-FFF2-40B4-BE49-F238E27FC236}">
                <a16:creationId xmlns:a16="http://schemas.microsoft.com/office/drawing/2014/main" id="{168CAB4A-D1FE-EC8A-DBBE-298C0CF2861D}"/>
              </a:ext>
            </a:extLst>
          </p:cNvPr>
          <p:cNvGraphicFramePr>
            <a:graphicFrameLocks noGrp="1"/>
          </p:cNvGraphicFramePr>
          <p:nvPr>
            <p:extLst>
              <p:ext uri="{D42A27DB-BD31-4B8C-83A1-F6EECF244321}">
                <p14:modId xmlns:p14="http://schemas.microsoft.com/office/powerpoint/2010/main" val="2973302771"/>
              </p:ext>
            </p:extLst>
          </p:nvPr>
        </p:nvGraphicFramePr>
        <p:xfrm>
          <a:off x="133922" y="727579"/>
          <a:ext cx="9910191" cy="6592471"/>
        </p:xfrm>
        <a:graphic>
          <a:graphicData uri="http://schemas.openxmlformats.org/drawingml/2006/table">
            <a:tbl>
              <a:tblPr>
                <a:tableStyleId>{2D5ABB26-0587-4C30-8999-92F81FD0307C}</a:tableStyleId>
              </a:tblPr>
              <a:tblGrid>
                <a:gridCol w="1600581">
                  <a:extLst>
                    <a:ext uri="{9D8B030D-6E8A-4147-A177-3AD203B41FA5}">
                      <a16:colId xmlns:a16="http://schemas.microsoft.com/office/drawing/2014/main" val="3396632856"/>
                    </a:ext>
                  </a:extLst>
                </a:gridCol>
                <a:gridCol w="1460028">
                  <a:extLst>
                    <a:ext uri="{9D8B030D-6E8A-4147-A177-3AD203B41FA5}">
                      <a16:colId xmlns:a16="http://schemas.microsoft.com/office/drawing/2014/main" val="1770714274"/>
                    </a:ext>
                  </a:extLst>
                </a:gridCol>
                <a:gridCol w="4372035">
                  <a:extLst>
                    <a:ext uri="{9D8B030D-6E8A-4147-A177-3AD203B41FA5}">
                      <a16:colId xmlns:a16="http://schemas.microsoft.com/office/drawing/2014/main" val="2054896753"/>
                    </a:ext>
                  </a:extLst>
                </a:gridCol>
                <a:gridCol w="2477547">
                  <a:extLst>
                    <a:ext uri="{9D8B030D-6E8A-4147-A177-3AD203B41FA5}">
                      <a16:colId xmlns:a16="http://schemas.microsoft.com/office/drawing/2014/main" val="37218262"/>
                    </a:ext>
                  </a:extLst>
                </a:gridCol>
              </a:tblGrid>
              <a:tr h="344802">
                <a:tc>
                  <a:txBody>
                    <a:bodyPr/>
                    <a:lstStyle/>
                    <a:p>
                      <a:pPr fontAlgn="b"/>
                      <a:r>
                        <a:rPr lang="en-GB" sz="1400" b="0" dirty="0">
                          <a:solidFill>
                            <a:schemeClr val="bg1"/>
                          </a:solidFill>
                          <a:effectLst/>
                          <a:latin typeface="Arial" panose="020B0604020202020204" pitchFamily="34" charset="0"/>
                          <a:cs typeface="Arial" panose="020B0604020202020204" pitchFamily="34" charset="0"/>
                        </a:rPr>
                        <a:t>Dysfunction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a:solidFill>
                            <a:schemeClr val="bg1"/>
                          </a:solidFill>
                          <a:effectLst/>
                          <a:latin typeface="Arial" panose="020B0604020202020204" pitchFamily="34" charset="0"/>
                          <a:cs typeface="Arial" panose="020B0604020202020204" pitchFamily="34" charset="0"/>
                        </a:rPr>
                        <a:t>Who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a:solidFill>
                            <a:schemeClr val="bg1"/>
                          </a:solidFill>
                          <a:effectLst/>
                          <a:latin typeface="Arial" panose="020B0604020202020204" pitchFamily="34" charset="0"/>
                          <a:cs typeface="Arial" panose="020B0604020202020204" pitchFamily="34" charset="0"/>
                        </a:rPr>
                        <a:t>What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dirty="0">
                          <a:solidFill>
                            <a:schemeClr val="bg1"/>
                          </a:solidFill>
                          <a:effectLst/>
                          <a:latin typeface="Arial" panose="020B0604020202020204" pitchFamily="34" charset="0"/>
                          <a:cs typeface="Arial" panose="020B0604020202020204" pitchFamily="34" charset="0"/>
                        </a:rPr>
                        <a:t>When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081422586"/>
                  </a:ext>
                </a:extLst>
              </a:tr>
              <a:tr h="674503">
                <a:tc rowSpan="2">
                  <a:txBody>
                    <a:bodyPr/>
                    <a:lstStyle/>
                    <a:p>
                      <a:pPr lvl="0" fontAlgn="base"/>
                      <a:r>
                        <a:rPr lang="en-GB" sz="1200" b="1" dirty="0">
                          <a:effectLst/>
                          <a:latin typeface="Arial" panose="020B0604020202020204" pitchFamily="34" charset="0"/>
                          <a:cs typeface="Arial" panose="020B0604020202020204" pitchFamily="34" charset="0"/>
                        </a:rPr>
                        <a:t>ABSENCE</a:t>
                      </a:r>
                    </a:p>
                    <a:p>
                      <a:pPr lvl="0" fontAlgn="base"/>
                      <a:r>
                        <a:rPr lang="en-GB" sz="1200" b="1" dirty="0">
                          <a:effectLst/>
                          <a:latin typeface="Arial" panose="020B0604020202020204" pitchFamily="34" charset="0"/>
                          <a:cs typeface="Arial" panose="020B0604020202020204" pitchFamily="34" charset="0"/>
                        </a:rPr>
                        <a:t>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Begin team meetings by sharing a personal story or a significant past challenge, encouraging others to do the same.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First 10 minutes of each team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334258"/>
                  </a:ext>
                </a:extLst>
              </a:tr>
              <a:tr h="617608">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Participate in a scheduled workshop using r Thomas PPA to explore and discuss each person’s traits and how they impact team dynamics.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 within the next 30 days, then bi-annual refresh sessions.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234934"/>
                  </a:ext>
                </a:extLst>
              </a:tr>
              <a:tr h="617608">
                <a:tc rowSpan="2">
                  <a:txBody>
                    <a:bodyPr/>
                    <a:lstStyle/>
                    <a:p>
                      <a:pPr lvl="0" fontAlgn="base"/>
                      <a:r>
                        <a:rPr lang="en-GB" sz="1200" b="1" dirty="0">
                          <a:effectLst/>
                          <a:latin typeface="Arial" panose="020B0604020202020204" pitchFamily="34" charset="0"/>
                          <a:cs typeface="Arial" panose="020B0604020202020204" pitchFamily="34" charset="0"/>
                        </a:rPr>
                        <a:t>FEAR OF CONFLICT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Facilitate a session to discuss hypothetical sensitive issues that could arise in projects, guiding the team through structured debates.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During the next monthly strategic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8677706"/>
                  </a:ext>
                </a:extLst>
              </a:tr>
              <a:tr h="715501">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Collaboratively develop and sign a conflict engagement charter using insights from the Thomas-Kilmann Instrument, outlining how to handle disagreements.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Implement in the next team meeting; annually review and update.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315370"/>
                  </a:ext>
                </a:extLst>
              </a:tr>
              <a:tr h="715501">
                <a:tc>
                  <a:txBody>
                    <a:bodyPr/>
                    <a:lstStyle/>
                    <a:p>
                      <a:pPr lvl="0" fontAlgn="base"/>
                      <a:r>
                        <a:rPr lang="en-GB" sz="1200" b="1" dirty="0">
                          <a:effectLst/>
                          <a:latin typeface="Arial" panose="020B0604020202020204" pitchFamily="34" charset="0"/>
                          <a:cs typeface="Arial" panose="020B0604020202020204" pitchFamily="34" charset="0"/>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 and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Explicitly state commitments at the end of each meeting, requesting each member to verbally agree or express disagreements before committing.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Last 10 minutes of every team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50663678"/>
                  </a:ext>
                </a:extLst>
              </a:tr>
              <a:tr h="715501">
                <a:tc rowSpan="2">
                  <a:txBody>
                    <a:bodyPr/>
                    <a:lstStyle/>
                    <a:p>
                      <a:pPr lvl="0" fontAlgn="base"/>
                      <a:r>
                        <a:rPr lang="en-GB" sz="1200" b="1" dirty="0">
                          <a:effectLst/>
                          <a:latin typeface="Arial" panose="020B0604020202020204" pitchFamily="34" charset="0"/>
                          <a:cs typeface="Arial" panose="020B0604020202020204" pitchFamily="34" charset="0"/>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At the start of each quarter, clearly outline individual and team goals, making these visible in the workplace and revisiting them in weekly updates.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First team meeting of each quarter.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3237145"/>
                  </a:ext>
                </a:extLst>
              </a:tr>
              <a:tr h="715501">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 peer-review sessions where team members provide specific feedback on each other’s contributions compared to the set goals.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Scheduled midway and at the end of each project phase.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6014976"/>
                  </a:ext>
                </a:extLst>
              </a:tr>
              <a:tr h="715501">
                <a:tc rowSpan="2">
                  <a:txBody>
                    <a:bodyPr/>
                    <a:lstStyle/>
                    <a:p>
                      <a:pPr marL="0" marR="0" lvl="0" indent="0" algn="l" defTabSz="913760" rtl="0" eaLnBrk="1" fontAlgn="base" latinLnBrk="0" hangingPunct="1">
                        <a:lnSpc>
                          <a:spcPct val="100000"/>
                        </a:lnSpc>
                        <a:spcBef>
                          <a:spcPts val="0"/>
                        </a:spcBef>
                        <a:spcAft>
                          <a:spcPts val="0"/>
                        </a:spcAft>
                        <a:buClrTx/>
                        <a:buSzTx/>
                        <a:buFontTx/>
                        <a:buNone/>
                        <a:tabLst/>
                        <a:defRPr/>
                      </a:pPr>
                      <a:r>
                        <a:rPr lang="en-GB" sz="1200" b="1" dirty="0">
                          <a:effectLst/>
                          <a:latin typeface="Arial" panose="020B0604020202020204" pitchFamily="34" charset="0"/>
                          <a:cs typeface="Arial" panose="020B0604020202020204" pitchFamily="34" charset="0"/>
                        </a:rPr>
                        <a:t>INATTENTION </a:t>
                      </a:r>
                    </a:p>
                    <a:p>
                      <a:pPr marL="0" marR="0" lvl="0" indent="0" algn="l" defTabSz="913760" rtl="0" eaLnBrk="1" fontAlgn="base" latinLnBrk="0" hangingPunct="1">
                        <a:lnSpc>
                          <a:spcPct val="100000"/>
                        </a:lnSpc>
                        <a:spcBef>
                          <a:spcPts val="0"/>
                        </a:spcBef>
                        <a:spcAft>
                          <a:spcPts val="0"/>
                        </a:spcAft>
                        <a:buClrTx/>
                        <a:buSzTx/>
                        <a:buFontTx/>
                        <a:buNone/>
                        <a:tabLst/>
                        <a:defRPr/>
                      </a:pPr>
                      <a:r>
                        <a:rPr lang="en-GB" sz="1200" b="1" dirty="0">
                          <a:effectLst/>
                          <a:latin typeface="Arial" panose="020B0604020202020204" pitchFamily="34" charset="0"/>
                          <a:cs typeface="Arial" panose="020B0604020202020204" pitchFamily="34" charset="0"/>
                        </a:rPr>
                        <a:t>TO RESULTS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CEO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Set up a scoreboard that tracks team progress against goals. Update and review this scoreboard in weekly team meetings.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Set up within the first week of the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0172732"/>
                  </a:ext>
                </a:extLst>
              </a:tr>
              <a:tr h="715501">
                <a:tc vMerge="1">
                  <a:txBody>
                    <a:bodyPr/>
                    <a:lstStyle/>
                    <a:p>
                      <a:pPr fontAlgn="base"/>
                      <a:endParaRPr lang="en-GB" sz="1400" dirty="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base" latinLnBrk="0" hangingPunct="1">
                        <a:lnSpc>
                          <a:spcPct val="100000"/>
                        </a:lnSpc>
                        <a:spcBef>
                          <a:spcPts val="0"/>
                        </a:spcBef>
                        <a:spcAft>
                          <a:spcPts val="0"/>
                        </a:spcAft>
                        <a:buClrTx/>
                        <a:buSzTx/>
                        <a:buFontTx/>
                        <a:buNone/>
                        <a:tabLst/>
                        <a:defRPr/>
                      </a:pPr>
                      <a:r>
                        <a:rPr lang="en-GB" sz="1200" kern="1200">
                          <a:solidFill>
                            <a:schemeClr val="tx1"/>
                          </a:solidFill>
                          <a:effectLst/>
                          <a:latin typeface="Arial" panose="020B0604020202020204" pitchFamily="34" charset="0"/>
                          <a:ea typeface="+mn-ea"/>
                          <a:cs typeface="Arial" panose="020B0604020202020204" pitchFamily="34" charset="0"/>
                        </a:rPr>
                        <a:t>Team Leader</a:t>
                      </a:r>
                    </a:p>
                    <a:p>
                      <a:pPr marL="0" algn="l" defTabSz="913760" rtl="0" eaLnBrk="1" fontAlgn="base" latinLnBrk="0" hangingPunct="1"/>
                      <a:endParaRPr lang="en-BG" sz="1200" kern="1200">
                        <a:solidFill>
                          <a:schemeClr val="tx1"/>
                        </a:solidFill>
                        <a:effectLst/>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Hold end-of-project retrospectives to assess the achievement of goals and discuss lessons learned and strategies for future improvement.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At the end of each project or quarterly cycle.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24359858"/>
                  </a:ext>
                </a:extLst>
              </a:tr>
            </a:tbl>
          </a:graphicData>
        </a:graphic>
      </p:graphicFrame>
      <p:cxnSp>
        <p:nvCxnSpPr>
          <p:cNvPr id="3" name="Straight Connector 2">
            <a:extLst>
              <a:ext uri="{FF2B5EF4-FFF2-40B4-BE49-F238E27FC236}">
                <a16:creationId xmlns:a16="http://schemas.microsoft.com/office/drawing/2014/main" id="{7516FE52-CFCB-598E-060B-C9FA42991ECD}"/>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6549982"/>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10865</TotalTime>
  <Words>519</Words>
  <Application>Microsoft Office PowerPoint</Application>
  <PresentationFormat>Custom</PresentationFormat>
  <Paragraphs>76</Paragraphs>
  <Slides>3</Slides>
  <Notes>3</Notes>
  <HiddenSlides>0</HiddenSlides>
  <MMClips>0</MMClips>
  <ScaleCrop>false</ScaleCrop>
  <HeadingPairs>
    <vt:vector size="4" baseType="variant">
      <vt:variant>
        <vt:lpstr>Theme</vt:lpstr>
      </vt:variant>
      <vt:variant>
        <vt:i4>3</vt:i4>
      </vt:variant>
      <vt:variant>
        <vt:lpstr>Slide Titles</vt:lpstr>
      </vt:variant>
      <vt:variant>
        <vt:i4>3</vt:i4>
      </vt:variant>
    </vt:vector>
  </HeadingPairs>
  <TitlesOfParts>
    <vt:vector size="6" baseType="lpstr">
      <vt:lpstr>4_Custom Design</vt:lpstr>
      <vt:lpstr>5_Custom Design</vt:lpstr>
      <vt:lpstr>SOLIDS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Nikol Nankova</cp:lastModifiedBy>
  <cp:revision>968</cp:revision>
  <cp:lastPrinted>2020-02-28T13:07:06Z</cp:lastPrinted>
  <dcterms:created xsi:type="dcterms:W3CDTF">2019-08-22T09:52:59Z</dcterms:created>
  <dcterms:modified xsi:type="dcterms:W3CDTF">2024-11-04T10:44:52Z</dcterms:modified>
</cp:coreProperties>
</file>