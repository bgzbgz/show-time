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7"/>
  </p:notesMasterIdLst>
  <p:handoutMasterIdLst>
    <p:handoutMasterId r:id="rId8"/>
  </p:handoutMasterIdLst>
  <p:sldIdLst>
    <p:sldId id="2583" r:id="rId4"/>
    <p:sldId id="2579" r:id="rId5"/>
    <p:sldId id="2588" r:id="rId6"/>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B29151-5ECD-625D-5008-3B5E184759A4}" v="37" dt="2025-01-30T13:19:31.5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1" autoAdjust="0"/>
    <p:restoredTop sz="84247" autoAdjust="0"/>
  </p:normalViewPr>
  <p:slideViewPr>
    <p:cSldViewPr snapToGrid="0">
      <p:cViewPr varScale="1">
        <p:scale>
          <a:sx n="96" d="100"/>
          <a:sy n="96" d="100"/>
        </p:scale>
        <p:origin x="2408"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oan Vasilev" userId="S::antoan@fasttrack-europe.com::4c94ef8f-3e30-4ae8-b29a-2c3468dc8f5d" providerId="AD" clId="Web-{F3B29151-5ECD-625D-5008-3B5E184759A4}"/>
    <pc:docChg chg="modSld">
      <pc:chgData name="Antoan Vasilev" userId="S::antoan@fasttrack-europe.com::4c94ef8f-3e30-4ae8-b29a-2c3468dc8f5d" providerId="AD" clId="Web-{F3B29151-5ECD-625D-5008-3B5E184759A4}" dt="2025-01-30T13:19:27.823" v="31"/>
      <pc:docMkLst>
        <pc:docMk/>
      </pc:docMkLst>
      <pc:sldChg chg="modSp">
        <pc:chgData name="Antoan Vasilev" userId="S::antoan@fasttrack-europe.com::4c94ef8f-3e30-4ae8-b29a-2c3468dc8f5d" providerId="AD" clId="Web-{F3B29151-5ECD-625D-5008-3B5E184759A4}" dt="2025-01-30T13:19:27.823" v="31"/>
        <pc:sldMkLst>
          <pc:docMk/>
          <pc:sldMk cId="4165827913" sldId="2583"/>
        </pc:sldMkLst>
        <pc:graphicFrameChg chg="mod modGraphic">
          <ac:chgData name="Antoan Vasilev" userId="S::antoan@fasttrack-europe.com::4c94ef8f-3e30-4ae8-b29a-2c3468dc8f5d" providerId="AD" clId="Web-{F3B29151-5ECD-625D-5008-3B5E184759A4}" dt="2025-01-30T13:19:27.823" v="31"/>
          <ac:graphicFrameMkLst>
            <pc:docMk/>
            <pc:sldMk cId="4165827913" sldId="2583"/>
            <ac:graphicFrameMk id="2" creationId="{D5AB1F6C-C39D-2919-A946-05CA775DE313}"/>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1/30/2025</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1/30/2025</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04415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67952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486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1738ED5-E9D1-73F8-82EA-74F27AC8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5" y="110784"/>
            <a:ext cx="5586388" cy="506266"/>
          </a:xfrm>
          <a:prstGeom prst="rect">
            <a:avLst/>
          </a:prstGeom>
        </p:spPr>
      </p:pic>
      <p:graphicFrame>
        <p:nvGraphicFramePr>
          <p:cNvPr id="2" name="Table 1">
            <a:extLst>
              <a:ext uri="{FF2B5EF4-FFF2-40B4-BE49-F238E27FC236}">
                <a16:creationId xmlns:a16="http://schemas.microsoft.com/office/drawing/2014/main" id="{D5AB1F6C-C39D-2919-A946-05CA775DE313}"/>
              </a:ext>
            </a:extLst>
          </p:cNvPr>
          <p:cNvGraphicFramePr>
            <a:graphicFrameLocks noGrp="1"/>
          </p:cNvGraphicFramePr>
          <p:nvPr>
            <p:extLst>
              <p:ext uri="{D42A27DB-BD31-4B8C-83A1-F6EECF244321}">
                <p14:modId xmlns:p14="http://schemas.microsoft.com/office/powerpoint/2010/main" val="3119173709"/>
              </p:ext>
            </p:extLst>
          </p:nvPr>
        </p:nvGraphicFramePr>
        <p:xfrm>
          <a:off x="258734" y="1859905"/>
          <a:ext cx="9707739" cy="5153787"/>
        </p:xfrm>
        <a:graphic>
          <a:graphicData uri="http://schemas.openxmlformats.org/drawingml/2006/table">
            <a:tbl>
              <a:tblPr firstRow="1" bandRow="1">
                <a:tableStyleId>{2D5ABB26-0587-4C30-8999-92F81FD0307C}</a:tableStyleId>
              </a:tblPr>
              <a:tblGrid>
                <a:gridCol w="1582636">
                  <a:extLst>
                    <a:ext uri="{9D8B030D-6E8A-4147-A177-3AD203B41FA5}">
                      <a16:colId xmlns:a16="http://schemas.microsoft.com/office/drawing/2014/main" val="1341437967"/>
                    </a:ext>
                  </a:extLst>
                </a:gridCol>
                <a:gridCol w="1582636">
                  <a:extLst>
                    <a:ext uri="{9D8B030D-6E8A-4147-A177-3AD203B41FA5}">
                      <a16:colId xmlns:a16="http://schemas.microsoft.com/office/drawing/2014/main" val="1435361538"/>
                    </a:ext>
                  </a:extLst>
                </a:gridCol>
                <a:gridCol w="1678348">
                  <a:extLst>
                    <a:ext uri="{9D8B030D-6E8A-4147-A177-3AD203B41FA5}">
                      <a16:colId xmlns:a16="http://schemas.microsoft.com/office/drawing/2014/main" val="3691210030"/>
                    </a:ext>
                  </a:extLst>
                </a:gridCol>
                <a:gridCol w="1570935">
                  <a:extLst>
                    <a:ext uri="{9D8B030D-6E8A-4147-A177-3AD203B41FA5}">
                      <a16:colId xmlns:a16="http://schemas.microsoft.com/office/drawing/2014/main" val="3917548566"/>
                    </a:ext>
                  </a:extLst>
                </a:gridCol>
                <a:gridCol w="1678348">
                  <a:extLst>
                    <a:ext uri="{9D8B030D-6E8A-4147-A177-3AD203B41FA5}">
                      <a16:colId xmlns:a16="http://schemas.microsoft.com/office/drawing/2014/main" val="14683607"/>
                    </a:ext>
                  </a:extLst>
                </a:gridCol>
                <a:gridCol w="1614836">
                  <a:extLst>
                    <a:ext uri="{9D8B030D-6E8A-4147-A177-3AD203B41FA5}">
                      <a16:colId xmlns:a16="http://schemas.microsoft.com/office/drawing/2014/main" val="2403508123"/>
                    </a:ext>
                  </a:extLst>
                </a:gridCol>
              </a:tblGrid>
              <a:tr h="61183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Team member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1:</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2:</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3:</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4:</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5:</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Inattention 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81369705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583697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0553704"/>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a:ea typeface="Riforma LL" panose="020B0504020101020102" pitchFamily="34" charset="0"/>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1303769"/>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a:ea typeface="Riforma LL" panose="020B0504020101020102" pitchFamily="34" charset="0"/>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9675350"/>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a:ea typeface="Riforma LL" panose="020B0504020101020102" pitchFamily="34" charset="0"/>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2572780"/>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4705117"/>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814905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0126311"/>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31150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0979690"/>
                  </a:ext>
                </a:extLst>
              </a:tr>
              <a:tr h="4780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b="0" i="0" kern="1200" dirty="0" err="1">
                          <a:solidFill>
                            <a:schemeClr val="bg1"/>
                          </a:solidFill>
                          <a:latin typeface="Arial"/>
                          <a:ea typeface="+mn-ea"/>
                          <a:cs typeface="Arial"/>
                        </a:rPr>
                        <a:t>Avg</a:t>
                      </a:r>
                      <a:r>
                        <a:rPr lang="en-GB" sz="1200" b="0" i="0" kern="1200" dirty="0">
                          <a:solidFill>
                            <a:schemeClr val="bg1"/>
                          </a:solidFill>
                          <a:latin typeface="Arial"/>
                          <a:ea typeface="+mn-ea"/>
                          <a:cs typeface="Arial"/>
                        </a:rPr>
                        <a:t> team scores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lvl="0" algn="ctr" fontAlgn="t"/>
                      <a:r>
                        <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dirty="0">
                          <a:solidFill>
                            <a:schemeClr val="bg1"/>
                          </a:solidFill>
                          <a:effectLst/>
                          <a:latin typeface="Arial"/>
                          <a:ea typeface="Riforma LL" panose="020B0504020101020102" pitchFamily="34" charset="0"/>
                          <a:cs typeface="Arial"/>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lang="en-GB" sz="1200" b="0" i="0" u="none" strike="noStrike" kern="1200" dirty="0">
                          <a:solidFill>
                            <a:schemeClr val="bg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17614542"/>
                  </a:ext>
                </a:extLst>
              </a:tr>
              <a:tr h="654061">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8304135"/>
                  </a:ext>
                </a:extLst>
              </a:tr>
            </a:tbl>
          </a:graphicData>
        </a:graphic>
      </p:graphicFrame>
      <p:pic>
        <p:nvPicPr>
          <p:cNvPr id="6" name="Picture 5">
            <a:extLst>
              <a:ext uri="{FF2B5EF4-FFF2-40B4-BE49-F238E27FC236}">
                <a16:creationId xmlns:a16="http://schemas.microsoft.com/office/drawing/2014/main" id="{54A37B33-B3BC-A3E0-A178-8230A0D3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4" name="TextBox 3">
            <a:extLst>
              <a:ext uri="{FF2B5EF4-FFF2-40B4-BE49-F238E27FC236}">
                <a16:creationId xmlns:a16="http://schemas.microsoft.com/office/drawing/2014/main" id="{8E1F5DB7-DC75-5B42-79EF-F4C52B3D546C}"/>
              </a:ext>
            </a:extLst>
          </p:cNvPr>
          <p:cNvSpPr txBox="1"/>
          <p:nvPr/>
        </p:nvSpPr>
        <p:spPr>
          <a:xfrm>
            <a:off x="258734" y="655984"/>
            <a:ext cx="9707740" cy="1015663"/>
          </a:xfrm>
          <a:prstGeom prst="rect">
            <a:avLst/>
          </a:prstGeom>
          <a:solidFill>
            <a:schemeClr val="bg2"/>
          </a:solidFill>
        </p:spPr>
        <p:txBody>
          <a:bodyPr wrap="square" lIns="91440" tIns="45720" rIns="91440" bIns="45720" rtlCol="0" anchor="t">
            <a:spAutoFit/>
          </a:bodyPr>
          <a:lstStyle/>
          <a:p>
            <a:r>
              <a:rPr lang="en-GB" sz="1200" dirty="0">
                <a:latin typeface="Arial" panose="020B0604020202020204" pitchFamily="34" charset="0"/>
                <a:ea typeface="Calibri"/>
                <a:cs typeface="Arial" panose="020B0604020202020204" pitchFamily="34" charset="0"/>
              </a:rPr>
              <a:t>Compile all team members’ scores together to have a comprehensive view of the team’s perceptions (done by the module guru).</a:t>
            </a:r>
          </a:p>
          <a:p>
            <a:r>
              <a:rPr lang="en-GB" sz="1200" b="1" dirty="0" err="1">
                <a:latin typeface="Arial" panose="020B0604020202020204" pitchFamily="34" charset="0"/>
                <a:ea typeface="Calibri"/>
                <a:cs typeface="Arial" panose="020B0604020202020204" pitchFamily="34" charset="0"/>
              </a:rPr>
              <a:t>Analyze</a:t>
            </a:r>
            <a:r>
              <a:rPr lang="en-GB" sz="1200" b="1" dirty="0">
                <a:latin typeface="Arial" panose="020B0604020202020204" pitchFamily="34" charset="0"/>
                <a:ea typeface="Calibri"/>
                <a:cs typeface="Arial" panose="020B0604020202020204" pitchFamily="34" charset="0"/>
              </a:rPr>
              <a:t> </a:t>
            </a:r>
            <a:r>
              <a:rPr lang="en-GB" sz="1200" b="1" i="0" u="none" strike="noStrike" dirty="0">
                <a:effectLst/>
                <a:latin typeface="Arial" panose="020B0604020202020204" pitchFamily="34" charset="0"/>
                <a:ea typeface="Calibri"/>
                <a:cs typeface="Arial" panose="020B0604020202020204" pitchFamily="34" charset="0"/>
              </a:rPr>
              <a:t>the total scores for each dysfunction</a:t>
            </a:r>
            <a:r>
              <a:rPr lang="en-GB" sz="1200" b="1" dirty="0">
                <a:latin typeface="Arial" panose="020B0604020202020204" pitchFamily="34" charset="0"/>
                <a:ea typeface="Calibri"/>
                <a:cs typeface="Arial" panose="020B0604020202020204" pitchFamily="34" charset="0"/>
              </a:rPr>
              <a:t> </a:t>
            </a:r>
            <a:endParaRPr lang="en-GB" sz="1200" b="1" i="0" u="none" strike="noStrike" dirty="0">
              <a:effectLst/>
              <a:latin typeface="Arial" panose="020B0604020202020204" pitchFamily="34" charset="0"/>
              <a:ea typeface="Calibri"/>
              <a:cs typeface="Arial" panose="020B0604020202020204" pitchFamily="34" charset="0"/>
            </a:endParaRPr>
          </a:p>
          <a:p>
            <a:pPr marL="171450" indent="-171450">
              <a:buFont typeface="Arial"/>
              <a:buChar char="•"/>
            </a:pPr>
            <a:r>
              <a:rPr lang="en-GB" sz="1200" dirty="0">
                <a:latin typeface="Arial" panose="020B0604020202020204" pitchFamily="34" charset="0"/>
                <a:cs typeface="Arial" panose="020B0604020202020204" pitchFamily="34" charset="0"/>
              </a:rPr>
              <a:t>A score between 9-8 indicates no problem</a:t>
            </a:r>
          </a:p>
          <a:p>
            <a:pPr marL="171450" indent="-171450">
              <a:buFont typeface="Arial"/>
              <a:buChar char="•"/>
            </a:pPr>
            <a:r>
              <a:rPr lang="en-GB" sz="1200" dirty="0">
                <a:latin typeface="Arial" panose="020B0604020202020204" pitchFamily="34" charset="0"/>
                <a:cs typeface="Arial" panose="020B0604020202020204" pitchFamily="34" charset="0"/>
              </a:rPr>
              <a:t>7-6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possible problem</a:t>
            </a:r>
          </a:p>
          <a:p>
            <a:pPr marL="171450" indent="-171450">
              <a:buFont typeface="Arial"/>
              <a:buChar char="•"/>
            </a:pPr>
            <a:r>
              <a:rPr lang="en-GB" sz="1200" dirty="0">
                <a:latin typeface="Arial" panose="020B0604020202020204" pitchFamily="34" charset="0"/>
                <a:cs typeface="Arial" panose="020B0604020202020204" pitchFamily="34" charset="0"/>
              </a:rPr>
              <a:t>3-5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serious problem</a:t>
            </a:r>
            <a:r>
              <a:rPr lang="en-GB" sz="1200" b="0" i="0" u="none" strike="noStrike" dirty="0">
                <a:effectLst/>
                <a:latin typeface="Arial" panose="020B0604020202020204" pitchFamily="34" charset="0"/>
                <a:cs typeface="Arial" panose="020B0604020202020204" pitchFamily="34" charset="0"/>
              </a:rPr>
              <a:t>.</a:t>
            </a:r>
            <a:endParaRPr lang="en-GB" sz="1200" dirty="0">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2111E4B7-C7EA-E5AE-8076-90D038889129}"/>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827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89E5E8-C3DB-3314-84F3-89C2C53E9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3" y="66962"/>
            <a:ext cx="6157913" cy="555302"/>
          </a:xfrm>
          <a:prstGeom prst="rect">
            <a:avLst/>
          </a:prstGeom>
        </p:spPr>
      </p:pic>
      <p:graphicFrame>
        <p:nvGraphicFramePr>
          <p:cNvPr id="4" name="Table 3">
            <a:extLst>
              <a:ext uri="{FF2B5EF4-FFF2-40B4-BE49-F238E27FC236}">
                <a16:creationId xmlns:a16="http://schemas.microsoft.com/office/drawing/2014/main" id="{C7B4E9FB-F0E9-A518-DC6D-E19ABF645AD4}"/>
              </a:ext>
            </a:extLst>
          </p:cNvPr>
          <p:cNvGraphicFramePr>
            <a:graphicFrameLocks noGrp="1"/>
          </p:cNvGraphicFramePr>
          <p:nvPr>
            <p:extLst>
              <p:ext uri="{D42A27DB-BD31-4B8C-83A1-F6EECF244321}">
                <p14:modId xmlns:p14="http://schemas.microsoft.com/office/powerpoint/2010/main" val="1711452625"/>
              </p:ext>
            </p:extLst>
          </p:nvPr>
        </p:nvGraphicFramePr>
        <p:xfrm>
          <a:off x="162482" y="1550732"/>
          <a:ext cx="9707740" cy="4172403"/>
        </p:xfrm>
        <a:graphic>
          <a:graphicData uri="http://schemas.openxmlformats.org/drawingml/2006/table">
            <a:tbl>
              <a:tblPr firstRow="1" bandRow="1">
                <a:tableStyleId>{2D5ABB26-0587-4C30-8999-92F81FD0307C}</a:tableStyleId>
              </a:tblPr>
              <a:tblGrid>
                <a:gridCol w="1817369">
                  <a:extLst>
                    <a:ext uri="{9D8B030D-6E8A-4147-A177-3AD203B41FA5}">
                      <a16:colId xmlns:a16="http://schemas.microsoft.com/office/drawing/2014/main" val="107519044"/>
                    </a:ext>
                  </a:extLst>
                </a:gridCol>
                <a:gridCol w="1181447">
                  <a:extLst>
                    <a:ext uri="{9D8B030D-6E8A-4147-A177-3AD203B41FA5}">
                      <a16:colId xmlns:a16="http://schemas.microsoft.com/office/drawing/2014/main" val="3128123737"/>
                    </a:ext>
                  </a:extLst>
                </a:gridCol>
                <a:gridCol w="6708924">
                  <a:extLst>
                    <a:ext uri="{9D8B030D-6E8A-4147-A177-3AD203B41FA5}">
                      <a16:colId xmlns:a16="http://schemas.microsoft.com/office/drawing/2014/main" val="1435361538"/>
                    </a:ext>
                  </a:extLst>
                </a:gridCol>
              </a:tblGrid>
              <a:tr h="371753">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Dysfunction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Team score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How can it be addressed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ABSENCE OF TRUST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CONFLICT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LACK OF COMMITMENT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AVOIDANCE OF ACCOUNTABILITY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3902349"/>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91089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14542"/>
                  </a:ext>
                </a:extLst>
              </a:tr>
            </a:tbl>
          </a:graphicData>
        </a:graphic>
      </p:graphicFrame>
      <p:graphicFrame>
        <p:nvGraphicFramePr>
          <p:cNvPr id="5" name="Table 4">
            <a:extLst>
              <a:ext uri="{FF2B5EF4-FFF2-40B4-BE49-F238E27FC236}">
                <a16:creationId xmlns:a16="http://schemas.microsoft.com/office/drawing/2014/main" id="{6299D935-5D86-5BBC-DFB2-D1461E84A089}"/>
              </a:ext>
            </a:extLst>
          </p:cNvPr>
          <p:cNvGraphicFramePr>
            <a:graphicFrameLocks noGrp="1"/>
          </p:cNvGraphicFramePr>
          <p:nvPr>
            <p:extLst>
              <p:ext uri="{D42A27DB-BD31-4B8C-83A1-F6EECF244321}">
                <p14:modId xmlns:p14="http://schemas.microsoft.com/office/powerpoint/2010/main" val="3704289808"/>
              </p:ext>
            </p:extLst>
          </p:nvPr>
        </p:nvGraphicFramePr>
        <p:xfrm>
          <a:off x="162482" y="5819151"/>
          <a:ext cx="9707740" cy="1364736"/>
        </p:xfrm>
        <a:graphic>
          <a:graphicData uri="http://schemas.openxmlformats.org/drawingml/2006/table">
            <a:tbl>
              <a:tblPr firstRow="1" bandRow="1">
                <a:tableStyleId>{2D5ABB26-0587-4C30-8999-92F81FD0307C}</a:tableStyleId>
              </a:tblPr>
              <a:tblGrid>
                <a:gridCol w="6770716">
                  <a:extLst>
                    <a:ext uri="{9D8B030D-6E8A-4147-A177-3AD203B41FA5}">
                      <a16:colId xmlns:a16="http://schemas.microsoft.com/office/drawing/2014/main" val="1435361538"/>
                    </a:ext>
                  </a:extLst>
                </a:gridCol>
                <a:gridCol w="1585913">
                  <a:extLst>
                    <a:ext uri="{9D8B030D-6E8A-4147-A177-3AD203B41FA5}">
                      <a16:colId xmlns:a16="http://schemas.microsoft.com/office/drawing/2014/main" val="3691210030"/>
                    </a:ext>
                  </a:extLst>
                </a:gridCol>
                <a:gridCol w="1351111">
                  <a:extLst>
                    <a:ext uri="{9D8B030D-6E8A-4147-A177-3AD203B41FA5}">
                      <a16:colId xmlns:a16="http://schemas.microsoft.com/office/drawing/2014/main" val="14683607"/>
                    </a:ext>
                  </a:extLst>
                </a:gridCol>
              </a:tblGrid>
              <a:tr h="29098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panose="020F050202020403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43152">
                <a:tc>
                  <a:txBody>
                    <a:bodyPr/>
                    <a:lstStyle/>
                    <a:p>
                      <a:pPr algn="l" fontAlgn="t"/>
                      <a:endParaRPr lang="en-GB" sz="1200" b="0" i="0" u="none" strike="noStrike" dirty="0">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bl>
          </a:graphicData>
        </a:graphic>
      </p:graphicFrame>
      <p:pic>
        <p:nvPicPr>
          <p:cNvPr id="7" name="Picture 6">
            <a:extLst>
              <a:ext uri="{FF2B5EF4-FFF2-40B4-BE49-F238E27FC236}">
                <a16:creationId xmlns:a16="http://schemas.microsoft.com/office/drawing/2014/main" id="{618CE0F8-17FE-6C52-B4BD-45C20D34A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6" name="TextBox 5">
            <a:extLst>
              <a:ext uri="{FF2B5EF4-FFF2-40B4-BE49-F238E27FC236}">
                <a16:creationId xmlns:a16="http://schemas.microsoft.com/office/drawing/2014/main" id="{2B9D2F5A-F904-B16E-20BD-22A4CA2C250A}"/>
              </a:ext>
            </a:extLst>
          </p:cNvPr>
          <p:cNvSpPr txBox="1"/>
          <p:nvPr/>
        </p:nvSpPr>
        <p:spPr>
          <a:xfrm>
            <a:off x="162482" y="655984"/>
            <a:ext cx="9707740" cy="646331"/>
          </a:xfrm>
          <a:prstGeom prst="rect">
            <a:avLst/>
          </a:prstGeom>
          <a:solidFill>
            <a:schemeClr val="bg2"/>
          </a:solidFill>
        </p:spPr>
        <p:txBody>
          <a:bodyPr wrap="square" rtlCol="0">
            <a:spAutoFit/>
          </a:bodyPr>
          <a:lstStyle/>
          <a:p>
            <a:pPr marL="0" marR="0" indent="0" defTabSz="914400" eaLnBrk="1" fontAlgn="auto" latinLnBrk="0" hangingPunct="1">
              <a:lnSpc>
                <a:spcPct val="100000"/>
              </a:lnSpc>
              <a:spcBef>
                <a:spcPts val="0"/>
              </a:spcBef>
              <a:spcAft>
                <a:spcPts val="0"/>
              </a:spcAft>
              <a:buClrTx/>
              <a:buSzTx/>
              <a:buFontTx/>
              <a:buNone/>
              <a:tabLst/>
              <a:defRPr/>
            </a:pPr>
            <a:r>
              <a:rPr lang="en-GB" sz="1200" b="0" i="0" u="none" strike="noStrike" dirty="0">
                <a:solidFill>
                  <a:schemeClr val="tx1"/>
                </a:solidFill>
                <a:effectLst/>
                <a:latin typeface="Arial" panose="020B0604020202020204" pitchFamily="34" charset="0"/>
                <a:cs typeface="Arial" panose="020B0604020202020204" pitchFamily="34" charset="0"/>
              </a:rPr>
              <a:t>With the scores at hand, initiate an open and honest discussion within the team (during the Fast Track hour). Talk about the areas of strength, acknowledge the challenges, and collectively brainstorm on actionable steps to overcome the dysfunctions. In the end, choose the most important 3 action points you want to implement first, assign a responsible person and a deadline.</a:t>
            </a:r>
          </a:p>
        </p:txBody>
      </p:sp>
      <p:cxnSp>
        <p:nvCxnSpPr>
          <p:cNvPr id="9" name="Straight Connector 8">
            <a:extLst>
              <a:ext uri="{FF2B5EF4-FFF2-40B4-BE49-F238E27FC236}">
                <a16:creationId xmlns:a16="http://schemas.microsoft.com/office/drawing/2014/main" id="{3C638621-3CD4-CC58-8D03-0981D8DB759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A76642-D343-493C-F922-4F49C5932654}"/>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704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303F-A64C-4156-FED0-8EF30C330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0101"/>
            <a:ext cx="6503483" cy="465161"/>
          </a:xfrm>
          <a:prstGeom prst="rect">
            <a:avLst/>
          </a:prstGeom>
        </p:spPr>
      </p:pic>
      <p:pic>
        <p:nvPicPr>
          <p:cNvPr id="7" name="Picture 6">
            <a:extLst>
              <a:ext uri="{FF2B5EF4-FFF2-40B4-BE49-F238E27FC236}">
                <a16:creationId xmlns:a16="http://schemas.microsoft.com/office/drawing/2014/main" id="{328D056D-B237-9C25-C117-0D65A69AD5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graphicFrame>
        <p:nvGraphicFramePr>
          <p:cNvPr id="2" name="Table 1">
            <a:extLst>
              <a:ext uri="{FF2B5EF4-FFF2-40B4-BE49-F238E27FC236}">
                <a16:creationId xmlns:a16="http://schemas.microsoft.com/office/drawing/2014/main" id="{168CAB4A-D1FE-EC8A-DBBE-298C0CF2861D}"/>
              </a:ext>
            </a:extLst>
          </p:cNvPr>
          <p:cNvGraphicFramePr>
            <a:graphicFrameLocks noGrp="1"/>
          </p:cNvGraphicFramePr>
          <p:nvPr>
            <p:extLst>
              <p:ext uri="{D42A27DB-BD31-4B8C-83A1-F6EECF244321}">
                <p14:modId xmlns:p14="http://schemas.microsoft.com/office/powerpoint/2010/main" val="2973302771"/>
              </p:ext>
            </p:extLst>
          </p:nvPr>
        </p:nvGraphicFramePr>
        <p:xfrm>
          <a:off x="133922" y="727579"/>
          <a:ext cx="9910191" cy="6592471"/>
        </p:xfrm>
        <a:graphic>
          <a:graphicData uri="http://schemas.openxmlformats.org/drawingml/2006/table">
            <a:tbl>
              <a:tblPr>
                <a:tableStyleId>{2D5ABB26-0587-4C30-8999-92F81FD0307C}</a:tableStyleId>
              </a:tblPr>
              <a:tblGrid>
                <a:gridCol w="1600581">
                  <a:extLst>
                    <a:ext uri="{9D8B030D-6E8A-4147-A177-3AD203B41FA5}">
                      <a16:colId xmlns:a16="http://schemas.microsoft.com/office/drawing/2014/main" val="3396632856"/>
                    </a:ext>
                  </a:extLst>
                </a:gridCol>
                <a:gridCol w="1460028">
                  <a:extLst>
                    <a:ext uri="{9D8B030D-6E8A-4147-A177-3AD203B41FA5}">
                      <a16:colId xmlns:a16="http://schemas.microsoft.com/office/drawing/2014/main" val="1770714274"/>
                    </a:ext>
                  </a:extLst>
                </a:gridCol>
                <a:gridCol w="4372035">
                  <a:extLst>
                    <a:ext uri="{9D8B030D-6E8A-4147-A177-3AD203B41FA5}">
                      <a16:colId xmlns:a16="http://schemas.microsoft.com/office/drawing/2014/main" val="2054896753"/>
                    </a:ext>
                  </a:extLst>
                </a:gridCol>
                <a:gridCol w="2477547">
                  <a:extLst>
                    <a:ext uri="{9D8B030D-6E8A-4147-A177-3AD203B41FA5}">
                      <a16:colId xmlns:a16="http://schemas.microsoft.com/office/drawing/2014/main" val="37218262"/>
                    </a:ext>
                  </a:extLst>
                </a:gridCol>
              </a:tblGrid>
              <a:tr h="344802">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Dysfunction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81422586"/>
                  </a:ext>
                </a:extLst>
              </a:tr>
              <a:tr h="674503">
                <a:tc rowSpan="2">
                  <a:txBody>
                    <a:bodyPr/>
                    <a:lstStyle/>
                    <a:p>
                      <a:pPr lvl="0" fontAlgn="base"/>
                      <a:r>
                        <a:rPr lang="en-GB" sz="1200" b="1" dirty="0">
                          <a:effectLst/>
                          <a:latin typeface="Arial" panose="020B0604020202020204" pitchFamily="34" charset="0"/>
                          <a:cs typeface="Arial" panose="020B0604020202020204" pitchFamily="34" charset="0"/>
                        </a:rPr>
                        <a:t>ABSENCE</a:t>
                      </a:r>
                    </a:p>
                    <a:p>
                      <a:pPr lvl="0" fontAlgn="base"/>
                      <a:r>
                        <a:rPr lang="en-GB" sz="1200" b="1" dirty="0">
                          <a:effectLst/>
                          <a:latin typeface="Arial" panose="020B0604020202020204" pitchFamily="34" charset="0"/>
                          <a:cs typeface="Arial" panose="020B0604020202020204" pitchFamily="34" charset="0"/>
                        </a:rPr>
                        <a:t>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Begin team meetings by sharing a personal story or a significant past challenge, encouraging others to do the same.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First 10 minutes of each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334258"/>
                  </a:ext>
                </a:extLst>
              </a:tr>
              <a:tr h="617608">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Participate in a scheduled workshop using r Thomas PPA to explore and discuss each person’s traits and how they impact team dynamics.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within the next 30 days, then bi-annual refresh sessions.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234934"/>
                  </a:ext>
                </a:extLst>
              </a:tr>
              <a:tr h="617608">
                <a:tc rowSpan="2">
                  <a:txBody>
                    <a:bodyPr/>
                    <a:lstStyle/>
                    <a:p>
                      <a:pPr lvl="0" fontAlgn="base"/>
                      <a:r>
                        <a:rPr lang="en-GB" sz="1200" b="1" dirty="0">
                          <a:effectLst/>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Facilitate a session to discuss hypothetical sensitive issues that could arise in projects, guiding the team through structured debates.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During the next monthly strategic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8677706"/>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Collaboratively develop and sign a conflict engagement charter using insights from the Thomas-Kilmann Instrument, outlining how to handle disagreements.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Implement in the next team meeting; annually review and update.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315370"/>
                  </a:ext>
                </a:extLst>
              </a:tr>
              <a:tr h="715501">
                <a:tc>
                  <a:txBody>
                    <a:bodyPr/>
                    <a:lstStyle/>
                    <a:p>
                      <a:pPr lvl="0" fontAlgn="base"/>
                      <a:r>
                        <a:rPr lang="en-GB" sz="1200" b="1" dirty="0">
                          <a:effectLst/>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 and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Explicitly state commitments at the end of each meeting, requesting each member to verbally agree or express disagreements before committing.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Last 10 minutes of every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0663678"/>
                  </a:ext>
                </a:extLst>
              </a:tr>
              <a:tr h="715501">
                <a:tc rowSpan="2">
                  <a:txBody>
                    <a:bodyPr/>
                    <a:lstStyle/>
                    <a:p>
                      <a:pPr lvl="0" fontAlgn="base"/>
                      <a:r>
                        <a:rPr lang="en-GB" sz="1200" b="1" dirty="0">
                          <a:effectLst/>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At the start of each quarter, clearly outline individual and team goals, making these visible in the workplace and revisiting them in weekly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First team meeting of each quarter.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237145"/>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peer-review sessions where team members provide specific feedback on each other’s contributions compared to the set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Scheduled midway and at the end of each project 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014976"/>
                  </a:ext>
                </a:extLst>
              </a:tr>
              <a:tr h="715501">
                <a:tc rowSpan="2">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INATTENTION </a:t>
                      </a:r>
                    </a:p>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a scoreboard that tracks team progress against goals. Update and review this scoreboard in weekly team meetings.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within the first week of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72732"/>
                  </a:ext>
                </a:extLst>
              </a:tr>
              <a:tr h="715501">
                <a:tc vMerge="1">
                  <a:txBody>
                    <a:bodyPr/>
                    <a:lstStyle/>
                    <a:p>
                      <a:pPr fontAlgn="base"/>
                      <a:endParaRPr lang="en-GB" sz="1400" dirty="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kern="1200">
                          <a:solidFill>
                            <a:schemeClr val="tx1"/>
                          </a:solidFill>
                          <a:effectLst/>
                          <a:latin typeface="Arial" panose="020B0604020202020204" pitchFamily="34" charset="0"/>
                          <a:ea typeface="+mn-ea"/>
                          <a:cs typeface="Arial" panose="020B0604020202020204" pitchFamily="34" charset="0"/>
                        </a:rPr>
                        <a:t>Team Leader</a:t>
                      </a:r>
                    </a:p>
                    <a:p>
                      <a:pPr marL="0" algn="l" defTabSz="913760" rtl="0" eaLnBrk="1" fontAlgn="base" latinLnBrk="0" hangingPunct="1"/>
                      <a:endParaRPr lang="en-BG" sz="1200" kern="1200">
                        <a:solidFill>
                          <a:schemeClr val="tx1"/>
                        </a:solidFill>
                        <a:effectLst/>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Hold end-of-project retrospectives to assess the achievement of goals and discuss lessons learned and strategies for future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At the end of each project or quarterly cycle.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4359858"/>
                  </a:ext>
                </a:extLst>
              </a:tr>
            </a:tbl>
          </a:graphicData>
        </a:graphic>
      </p:graphicFrame>
      <p:cxnSp>
        <p:nvCxnSpPr>
          <p:cNvPr id="3" name="Straight Connector 2">
            <a:extLst>
              <a:ext uri="{FF2B5EF4-FFF2-40B4-BE49-F238E27FC236}">
                <a16:creationId xmlns:a16="http://schemas.microsoft.com/office/drawing/2014/main" id="{7516FE52-CFCB-598E-060B-C9FA42991ECD}"/>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549982"/>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10865</TotalTime>
  <Words>519</Words>
  <Application>Microsoft Office PowerPoint</Application>
  <PresentationFormat>По избор</PresentationFormat>
  <Paragraphs>76</Paragraphs>
  <Slides>3</Slides>
  <Notes>3</Notes>
  <HiddenSlides>0</HiddenSlides>
  <MMClips>0</MMClips>
  <ScaleCrop>false</ScaleCrop>
  <HeadingPairs>
    <vt:vector size="4" baseType="variant">
      <vt:variant>
        <vt:lpstr>Тема</vt:lpstr>
      </vt:variant>
      <vt:variant>
        <vt:i4>3</vt:i4>
      </vt:variant>
      <vt:variant>
        <vt:lpstr>Заглавия на слайдовете</vt:lpstr>
      </vt:variant>
      <vt:variant>
        <vt:i4>3</vt:i4>
      </vt:variant>
    </vt:vector>
  </HeadingPairs>
  <TitlesOfParts>
    <vt:vector size="6" baseType="lpstr">
      <vt:lpstr>4_Custom Design</vt:lpstr>
      <vt:lpstr>5_Custom Design</vt:lpstr>
      <vt:lpstr>SOLIDS</vt:lpstr>
      <vt:lpstr>Презентация на PowerPoint</vt:lpstr>
      <vt:lpstr>Презентация на PowerPoint</vt:lpstr>
      <vt:lpstr>Презентация на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770</cp:revision>
  <cp:lastPrinted>2020-02-28T13:07:06Z</cp:lastPrinted>
  <dcterms:created xsi:type="dcterms:W3CDTF">2019-08-22T09:52:59Z</dcterms:created>
  <dcterms:modified xsi:type="dcterms:W3CDTF">2025-01-30T13:19:35Z</dcterms:modified>
</cp:coreProperties>
</file>